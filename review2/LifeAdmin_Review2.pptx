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1.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d08d6d1c-f674-b20f-c8cd-85d723154f23}">
          <p14:sldIdLst>
            <p14:sldId id="256"/>
            <p14:sldId id="257"/>
            <p14:sldId id="258"/>
          </p14:sldIdLst>
        </p14:section>
        <p14:section name="Architecture" id="{5c0ac3cc-29dd-1a87-1858-eaa1b0801834}">
          <p14:sldIdLst>
            <p14:sldId id="259"/>
            <p14:sldId id="260"/>
            <p14:sldId id="261"/>
            <p14:sldId id="262"/>
            <p14:sldId id="263"/>
          </p14:sldIdLst>
        </p14:section>
        <p14:section name="Website Roadmap" id="{a246edc6-eea6-fc09-6530-8d1846272816}">
          <p14:sldIdLst>
            <p14:sldId id="264"/>
            <p14:sldId id="265"/>
            <p14:sldId id="266"/>
          </p14:sldIdLst>
        </p14:section>
        <p14:section name="Code" id="{a9b3064d-83b5-a772-7c11-1531e89ad283}">
          <p14:sldIdLst>
            <p14:sldId id="267"/>
            <p14:sldId id="268"/>
            <p14:sldId id="269"/>
            <p14:sldId id="270"/>
          </p14:sldIdLst>
        </p14:section>
        <p14:section name="Demo" id="{a6b367bd-4c94-d308-ba2c-6457237e163b}">
          <p14:sldIdLst>
            <p14:sldId id="271"/>
            <p14:sldId id="272"/>
          </p14:sldIdLst>
        </p14:section>
        <p14:section name="Wrap-up" id="{57acb3ed-5bee-8767-b8e8-f7950e2623be}">
          <p14:sldIdLst>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FFFFFF"/>
                </a:solidFill>
                <a:latin typeface="+mn-lt"/>
              </a:defRPr>
            </a:pPr>
            <a:r>
              <a:rPr sz="1300" b="0" i="0" u="none" strike="noStrike">
                <a:solidFill>
                  <a:srgbClr val="FFFFFF"/>
                </a:solidFill>
                <a:latin typeface="+mn-lt"/>
              </a:rPr>
              <a:t>Lines of code per module</a:t>
            </a:r>
          </a:p>
        </c:rich>
      </c:tx>
      <c:layout/>
      <c:overlay val="0"/>
    </c:title>
    <c:autoTitleDeleted val="0"/>
    <c:plotArea>
      <c:layout/>
      <c:barChart>
        <c:barDir val="bar"/>
        <c:grouping val="clustered"/>
        <c:varyColors val="0"/>
        <c:ser>
          <c:idx val="0"/>
          <c:order val="0"/>
          <c:tx>
            <c:strRef>
              <c:f>Sheet1!$B$1</c:f>
              <c:strCache>
                <c:ptCount val="1"/>
                <c:pt idx="0">
                  <c:v>Lines</c:v>
                </c:pt>
              </c:strCache>
            </c:strRef>
          </c:tx>
          <c:spPr>
            <a:solidFill>
              <a:srgbClr val="5B5EF4"/>
            </a:solidFill>
            <a:effectLst/>
          </c:spPr>
          <c:invertIfNegative val="0"/>
          <c:dLbls>
            <c:numFmt formatCode="#,##0" sourceLinked="0"/>
            <c:txPr>
              <a:bodyPr/>
              <a:lstStyle/>
              <a:p>
                <a:pPr>
                  <a:defRPr b="0" i="0" strike="noStrike" sz="1000" u="none">
                    <a:solidFill>
                      <a:srgbClr val="C7CAFF"/>
                    </a:solidFill>
                    <a:latin typeface="+mn-lt"/>
                  </a:defRPr>
                </a:pPr>
              </a:p>
            </c:txPr>
            <c:showLegendKey val="0"/>
            <c:showVal val="1"/>
            <c:showCatName val="0"/>
            <c:showSerName val="0"/>
            <c:showPercent val="0"/>
            <c:showBubbleSize val="0"/>
            <c:showLeaderLines val="0"/>
          </c:dLbls>
          <c:cat>
            <c:multiLvlStrRef>
              <c:f>Sheet1!$A$2:$A$11</c:f>
              <c:multiLvlStrCache>
                <c:ptCount val="10"/>
                <c:lvl>
                  <c:pt idx="0">
                    <c:v>pipeline.py</c:v>
                  </c:pt>
                  <c:pt idx="1">
                    <c:v>models.py</c:v>
                  </c:pt>
                  <c:pt idx="2">
                    <c:v>export.py</c:v>
                  </c:pt>
                  <c:pt idx="3">
                    <c:v>health.py</c:v>
                  </c:pt>
                  <c:pt idx="4">
                    <c:v>classifier.py</c:v>
                  </c:pt>
                  <c:pt idx="5">
                    <c:v>preview.py</c:v>
                  </c:pt>
                  <c:pt idx="6">
                    <c:v>reminders.py</c:v>
                  </c:pt>
                  <c:pt idx="7">
                    <c:v>extractor.py</c:v>
                  </c:pt>
                  <c:pt idx="8">
                    <c:v>parser.py</c:v>
                  </c:pt>
                  <c:pt idx="9">
                    <c:v>database.py</c:v>
                  </c:pt>
                </c:lvl>
              </c:multiLvlStrCache>
            </c:multiLvlStrRef>
          </c:cat>
          <c:val>
            <c:numRef>
              <c:f>Sheet1!$B$2:$B$11</c:f>
              <c:numCache>
                <c:formatCode>General</c:formatCode>
                <c:ptCount val="10"/>
                <c:pt idx="0">
                  <c:v>48</c:v>
                </c:pt>
                <c:pt idx="1">
                  <c:v>54</c:v>
                </c:pt>
                <c:pt idx="2">
                  <c:v>55</c:v>
                </c:pt>
                <c:pt idx="3">
                  <c:v>60</c:v>
                </c:pt>
                <c:pt idx="4">
                  <c:v>61</c:v>
                </c:pt>
                <c:pt idx="5">
                  <c:v>71</c:v>
                </c:pt>
                <c:pt idx="6">
                  <c:v>116</c:v>
                </c:pt>
                <c:pt idx="7">
                  <c:v>125</c:v>
                </c:pt>
                <c:pt idx="8">
                  <c:v>168</c:v>
                </c:pt>
                <c:pt idx="9">
                  <c:v>184</c:v>
                </c:pt>
              </c:numCache>
            </c:numRef>
          </c:val>
        </c:ser>
        <c:dLbls>
          <c:numFmt formatCode="#,##0" sourceLinked="0"/>
          <c:txPr>
            <a:bodyPr/>
            <a:lstStyle/>
            <a:p>
              <a:pPr>
                <a:defRPr b="0" i="0" strike="noStrike" sz="1000" u="none">
                  <a:solidFill>
                    <a:srgbClr val="C7CAFF"/>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000" b="0" i="0" u="none" strike="noStrike">
                <a:solidFill>
                  <a:srgbClr val="A3ABD1"/>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LifeAdmin in one line: it reads personal documents, pulls out the expiry date and reminds you before it lapses. This review covers three things the panel asked for: the architecture, the website roadmap, and the backend and frontend Python files. Everything shown is running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pain: documents with deadlines are scattered, the date is buried inside the file, and generic reminder apps make you type the date yourself. LifeAdmin closes that gap: upload, it extracts, it tracks, it reminds. All of it runs locally with no paid services.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status. The application is about 2,400 lines of Python across 12 application files. All 28 tests pass, and a headless test opens all four screens. Six file formats are supported. It costs nothing to run because there are no paid APIs.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one: architecture. Four slides: the layers, the processing pipeline, the database, and the rules that decide when you get reminded.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system is layered so each file has one responsibility. The Streamlit UI only calls the application layer. pipeline.py runs validate, extract, classify, parse. The processing modules read files and pull out fields. The intelligence layer turns dates into statuses, health scores and calendar exports. The data layer is a single SQLite file plus the original uploads on disk.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upload goes through the same five steps. Validate, extract text, classify the document type, pull out the fields with regular expressions, then compute the status. Below is a real run on one of the sample PDFs: the left box is the raw text, the right is what LifeAdmin pre-fills into the review form. The user can correct anything before saving.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Storage is a single SQLite file. documents holds every extracted field; dates are stored as ISO strings. reminders records which deadlines the user marked as completed and cascades when a document is deleted. users stores the profile name, and activity_logs is the audit trail for every add, edit, delete and completion.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rule sets. First, status: more than 30 days is Active, 8 to 30 is Expiring soon, 7 or fewer is Critical, and past the date is Expired. Second, the health score averages completeness (five fields captured) and timeliness (how close to expiry). Reminders show up in the bell, the dashboard, the Reminders page and the user's own calendar.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two: the website roadmap. First the site map and user journey, then the build timeline: what's done and what comes after approval.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website has four screens, and every screen shares the sidebar, search, notification bell and profile menu. The user journey: upload a document, check and edit it in Documents, monitor everything on the Dashboard, and act on deadlines from Reminders.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one, finished on the 8th: the core engine. Phase two, finished on the 12th: the full user interface matching the design mockups, plus Word and Excel support. Today is Review 2. After approval: upload the source, push it to GitHub and deploy a public demo on Streamlit Community Cloud. Later: email or WhatsApp alerts, multi-user login, and a trained classifier.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three: the code. The backend modules, the frontend files, and two pieces of logic worth showing in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backend is ten modules inside the lifeadmin package, colour-coded by layer. The biggest are database.py and parser.py: storage and the regex extraction. Each module can be tested on its own, which is how the 28 tests are organised.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frontend is plain Python with Streamlit, so there's no separate JavaScript build. app.py is the entry point and has one function per screen. style.py holds the whole visual design: colours, CSS, icons and reusable HTML components. config.toml sets the dark theme and the 10 MB upload limit.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snippets, simplified from the real files. Left: the reminder rule. Four comparisons turn any date into a status, with 30 and 7 days as named constants so they can be tuned. Right: the regular expression that reads an insurance policy period. It finds the label, then two dates joined by 'to', 'till' or 'until', and parses both. Both are covered by unit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to the live app here if possible. Point out the four KPI cards, the health donut, upcoming deadlines sorted by urgency, recent documents and the top bar. The numbers update as soon as a document is saved.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flow: upload a sample PDF, show the pre-filled fields and the thumbnail, save it, then open Reminders to show it on the calendar and mark one deadline as completed.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Quality: all 28 unit tests pass, a headless test opens all four screens without errors, and the app was checked on two Streamlit versions. The stack is entirely free and open source; OCR is optional for scanned images.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I'm asking for today: approval to upload the files. The source zip is ready. After that: push to GitHub, deploy a public demo on Streamlit Community Cloud, then add email or WhatsApp alerts. To run it locally takes two commands, shown on the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asking for questions, then explicitly request approval to upload the source files.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LA_TITLE-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LA_DIVIDER-image-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image" Target="../media/LA_CONTENT-image-2.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LA_END-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A_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2194560"/>
            <a:ext cx="5669280" cy="1600200"/>
          </a:xfrm>
          <a:prstGeom prst="rect">
            <a:avLst/>
          </a:prstGeom>
          <a:noFill/>
          <a:ln/>
        </p:spPr>
        <p:txBody>
          <a:bodyPr wrap="square" rtlCol="0"/>
          <a:lstStyle>
            <a:lvl1pPr algn="l" indent="0" marL="0">
              <a:buNone/>
              <a:defRPr lang="en-US" sz="4000" b="1" dirty="0">
                <a:solidFill>
                  <a:schemeClr val="bg1"/>
                </a:solidFill>
                <a:latin typeface="Calibri" pitchFamily="34" charset="0"/>
                <a:ea typeface="Calibri" pitchFamily="34" charset="-122"/>
                <a:cs typeface="Calibri" pitchFamily="34" charset="-120"/>
              </a:defRPr>
            </a:lvl1pPr>
          </a:lstStyle>
          <a:p>
            <a:pPr algn="l" indent="0" marL="0">
              <a:buNone/>
            </a:pPr>
            <a:endParaRPr lang="en-US" sz="4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A_DIVIDER">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2788920"/>
            <a:ext cx="6949440" cy="914400"/>
          </a:xfrm>
          <a:prstGeom prst="rect">
            <a:avLst/>
          </a:prstGeom>
          <a:noFill/>
          <a:ln/>
        </p:spPr>
        <p:txBody>
          <a:bodyPr wrap="square" rtlCol="0"/>
          <a:lstStyle>
            <a:lvl1pPr algn="l" indent="0" marL="0">
              <a:buNone/>
              <a:defRPr lang="en-US" sz="4800" b="1" dirty="0">
                <a:solidFill>
                  <a:schemeClr val="bg1"/>
                </a:solidFill>
              </a:defRPr>
            </a:lvl1pPr>
          </a:lstStyle>
          <a:p>
            <a:pPr algn="l" indent="0" marL="0">
              <a:buNone/>
            </a:pPr>
            <a:endParaRPr lang="en-US" sz="4800" dirty="0"/>
          </a:p>
        </p:txBody>
      </p:sp>
      <p:sp>
        <p:nvSpPr>
          <p:cNvPr id="3" name="Text 0"/>
          <p:cNvSpPr/>
          <p:nvPr>
            <p:ph idx="101" type="body" hasCustomPrompt="1"/>
          </p:nvPr>
        </p:nvSpPr>
        <p:spPr>
          <a:xfrm>
            <a:off x="640080" y="3794760"/>
            <a:ext cx="6400800" cy="822960"/>
          </a:xfrm>
          <a:prstGeom prst="rect">
            <a:avLst/>
          </a:prstGeom>
          <a:noFill/>
          <a:ln/>
        </p:spPr>
        <p:txBody>
          <a:bodyPr wrap="square" rtlCol="0"/>
          <a:lstStyle>
            <a:lvl1pPr algn="l" indent="0" marL="0">
              <a:buNone/>
              <a:defRPr lang="en-US" sz="1800" dirty="0">
                <a:solidFill>
                  <a:schemeClr val="bg2"/>
                </a:solidFill>
              </a:defRPr>
            </a:lvl1pPr>
          </a:lstStyle>
          <a:p>
            <a:pPr algn="l" indent="0" marL="0">
              <a:buNone/>
            </a:pPr>
            <a:endParaRPr lang="en-US" sz="18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LA_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8229600" cy="274320"/>
          </a:xfrm>
          <a:prstGeom prst="rect">
            <a:avLst/>
          </a:prstGeom>
          <a:noFill/>
          <a:ln/>
        </p:spPr>
        <p:txBody>
          <a:bodyPr wrap="square" rtlCol="0"/>
          <a:lstStyle>
            <a:lvl1pPr algn="l" indent="0" marL="0">
              <a:buNone/>
              <a:defRPr lang="en-US" sz="1200" b="1" spc="200" kern="0" dirty="0">
                <a:solidFill>
                  <a:schemeClr val="accent2"/>
                </a:solidFill>
              </a:defRPr>
            </a:lvl1pPr>
          </a:lstStyle>
          <a:p>
            <a:pPr algn="l" indent="0" marL="0">
              <a:buNone/>
            </a:pPr>
            <a:endParaRPr lang="en-US" sz="1200" dirty="0"/>
          </a:p>
        </p:txBody>
      </p:sp>
      <p:sp>
        <p:nvSpPr>
          <p:cNvPr id="3" name="Text 0"/>
          <p:cNvSpPr/>
          <p:nvPr>
            <p:ph idx="101" type="title" hasCustomPrompt="1"/>
          </p:nvPr>
        </p:nvSpPr>
        <p:spPr>
          <a:xfrm>
            <a:off x="548640" y="603504"/>
            <a:ext cx="11064240" cy="685800"/>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pic>
        <p:nvPicPr>
          <p:cNvPr id="4" name="Image 0" descr="/tmp/claude-0/-home-claude/584731ee-e493-5c78-a637-0b254e057472/scratchpad/deck/img/logo.png">    </p:cNvPr>
          <p:cNvPicPr>
            <a:picLocks noChangeAspect="1"/>
          </p:cNvPicPr>
          <p:nvPr/>
        </p:nvPicPr>
        <p:blipFill>
          <a:blip r:embed="rId1"/>
          <a:stretch>
            <a:fillRect/>
          </a:stretch>
        </p:blipFill>
        <p:spPr>
          <a:xfrm>
            <a:off x="548640" y="6373368"/>
            <a:ext cx="237744" cy="237744"/>
          </a:xfrm>
          <a:prstGeom prst="rect">
            <a:avLst/>
          </a:prstGeom>
        </p:spPr>
      </p:pic>
      <p:sp>
        <p:nvSpPr>
          <p:cNvPr id="5" name="Text 0"/>
          <p:cNvSpPr/>
          <p:nvPr/>
        </p:nvSpPr>
        <p:spPr>
          <a:xfrm>
            <a:off x="868680" y="6355080"/>
            <a:ext cx="3657600" cy="274320"/>
          </a:xfrm>
          <a:prstGeom prst="rect">
            <a:avLst/>
          </a:prstGeom>
          <a:noFill/>
          <a:ln/>
        </p:spPr>
        <p:txBody>
          <a:bodyPr wrap="square" lIns="0" tIns="0" rIns="0" bIns="0" rtlCol="0" anchor="ctr"/>
          <a:lstStyle/>
          <a:p>
            <a:pPr indent="0" marL="0">
              <a:buNone/>
            </a:pPr>
            <a:r>
              <a:rPr lang="en-US" sz="1000" dirty="0">
                <a:solidFill>
                  <a:schemeClr val="bg2"/>
                </a:solidFill>
              </a:rPr>
              <a:t>LifeAdmin  ·  Project Review 2</a:t>
            </a:r>
            <a:endParaRPr lang="en-US" sz="1000" dirty="0"/>
          </a:p>
        </p:txBody>
      </p:sp>
      <p:sp>
        <p:nvSpPr>
          <p:cNvPr id="25" name="Slide Number Placeholder 0"/>
          <p:cNvSpPr>
            <a:spLocks noGrp="1"/>
          </p:cNvSpPr>
          <p:nvPr>
            <p:ph type="sldNum" sz="quarter" idx="4294967295"/>
          </p:nvPr>
        </p:nvSpPr>
        <p:spPr>
          <a:xfrm>
            <a:off x="11109960" y="6355080"/>
            <a:ext cx="530352"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bg2"/>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LA_EN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09960" y="6355080"/>
            <a:ext cx="530352"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bg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6.png"/><Relationship Id="rId9" Type="http://schemas.openxmlformats.org/officeDocument/2006/relationships/image" Target="../media/image-2-9.png"/><Relationship Id="rId10" Type="http://schemas.openxmlformats.org/officeDocument/2006/relationships/image" Target="../media/image-2-6.png"/><Relationship Id="rId11" Type="http://schemas.openxmlformats.org/officeDocument/2006/relationships/image" Target="../media/image-2-11.png"/><Relationship Id="rId12" Type="http://schemas.openxmlformats.org/officeDocument/2006/relationships/slideLayout" Target="../slideLayouts/slideLayout4.xml"/><Relationship Id="rId1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4.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4.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1.png"/><Relationship Id="rId3" Type="http://schemas.openxmlformats.org/officeDocument/2006/relationships/image" Target="../media/image-6-1.png"/><Relationship Id="rId4" Type="http://schemas.openxmlformats.org/officeDocument/2006/relationships/image" Target="../media/image-6-1.png"/><Relationship Id="rId5" Type="http://schemas.openxmlformats.org/officeDocument/2006/relationships/image" Target="../media/image-6-1.png"/><Relationship Id="rId6" Type="http://schemas.openxmlformats.org/officeDocument/2006/relationships/slideLayout" Target="../slideLayouts/slideLayout4.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1.png"/><Relationship Id="rId4" Type="http://schemas.openxmlformats.org/officeDocument/2006/relationships/image" Target="../media/image-7-2.png"/><Relationship Id="rId5" Type="http://schemas.openxmlformats.org/officeDocument/2006/relationships/image" Target="../media/image-7-1.png"/><Relationship Id="rId6" Type="http://schemas.openxmlformats.org/officeDocument/2006/relationships/image" Target="../media/image-7-2.png"/><Relationship Id="rId7" Type="http://schemas.openxmlformats.org/officeDocument/2006/relationships/image" Target="../media/image-7-1.png"/><Relationship Id="rId8" Type="http://schemas.openxmlformats.org/officeDocument/2006/relationships/image" Target="../media/image-7-2.png"/><Relationship Id="rId9" Type="http://schemas.openxmlformats.org/officeDocument/2006/relationships/image" Target="../media/image-7-9.png"/><Relationship Id="rId10" Type="http://schemas.openxmlformats.org/officeDocument/2006/relationships/image" Target="../media/image-7-10.png"/><Relationship Id="rId11" Type="http://schemas.openxmlformats.org/officeDocument/2006/relationships/slideLayout" Target="../slideLayouts/slideLayout4.xml"/><Relationship Id="rId1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4.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2.png"/><Relationship Id="rId5" Type="http://schemas.openxmlformats.org/officeDocument/2006/relationships/image" Target="../media/image-10-5.png"/><Relationship Id="rId6" Type="http://schemas.openxmlformats.org/officeDocument/2006/relationships/image" Target="../media/image-10-2.png"/><Relationship Id="rId7" Type="http://schemas.openxmlformats.org/officeDocument/2006/relationships/image" Target="../media/image-10-7.png"/><Relationship Id="rId8" Type="http://schemas.openxmlformats.org/officeDocument/2006/relationships/slideLayout" Target="../slideLayouts/slideLayout4.xml"/><Relationship Id="rId9"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1.png"/><Relationship Id="rId3" Type="http://schemas.openxmlformats.org/officeDocument/2006/relationships/slideLayout" Target="../slideLayouts/slideLayout4.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1" Type="http://schemas.openxmlformats.org/officeDocument/2006/relationships/chart" Target="/ppt/charts/chart1.xml"/><Relationship Id="rId1" Type="http://schemas.openxmlformats.org/officeDocument/2006/relationships/image" Target="../media/image-13-1.png"/><Relationship Id="rId2" Type="http://schemas.openxmlformats.org/officeDocument/2006/relationships/image" Target="../media/image-13-1.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image" Target="../media/image-13-8.png"/><Relationship Id="rId9" Type="http://schemas.openxmlformats.org/officeDocument/2006/relationships/image" Target="../media/image-13-9.png"/><Relationship Id="rId10" Type="http://schemas.openxmlformats.org/officeDocument/2006/relationships/image" Target="../media/image-13-10.png"/><Relationship Id="rId12" Type="http://schemas.openxmlformats.org/officeDocument/2006/relationships/slideLayout" Target="../slideLayouts/slideLayout4.xml"/><Relationship Id="rId1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4.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4.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4.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4.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5.xml"/><Relationship Id="rId4"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logo" descr="/tmp/claude-0/-home-claude/584731ee-e493-5c78-a637-0b254e057472/scratchpad/deck/img/logo.png">    </p:cNvPr>
          <p:cNvPicPr>
            <a:picLocks noChangeAspect="1"/>
          </p:cNvPicPr>
          <p:nvPr/>
        </p:nvPicPr>
        <p:blipFill>
          <a:blip r:embed="rId1"/>
          <a:stretch>
            <a:fillRect/>
          </a:stretch>
        </p:blipFill>
        <p:spPr>
          <a:xfrm>
            <a:off x="640080" y="658368"/>
            <a:ext cx="658368" cy="658368"/>
          </a:xfrm>
          <a:prstGeom prst="rect">
            <a:avLst/>
          </a:prstGeom>
        </p:spPr>
      </p:pic>
      <p:sp>
        <p:nvSpPr>
          <p:cNvPr id="3" name="text_1"/>
          <p:cNvSpPr txBox="1"/>
          <p:nvPr/>
        </p:nvSpPr>
        <p:spPr>
          <a:xfrm>
            <a:off x="1417320" y="713232"/>
            <a:ext cx="3200400" cy="548640"/>
          </a:xfrm>
          <a:prstGeom prst="rect">
            <a:avLst/>
          </a:prstGeom>
          <a:noFill/>
          <a:ln/>
        </p:spPr>
        <p:txBody>
          <a:bodyPr wrap="square" lIns="0" tIns="0" rIns="0" bIns="0" rtlCol="0" anchor="ctr"/>
          <a:lstStyle/>
          <a:p>
            <a:pPr indent="0" marL="0">
              <a:buNone/>
            </a:pPr>
            <a:r>
              <a:rPr lang="en-US" sz="2600" b="1" dirty="0">
                <a:solidFill>
                  <a:schemeClr val="bg1"/>
                </a:solidFill>
              </a:rPr>
              <a:t>LifeAdmin</a:t>
            </a:r>
            <a:endParaRPr lang="en-US" sz="2600" dirty="0"/>
          </a:p>
        </p:txBody>
      </p:sp>
      <p:sp>
        <p:nvSpPr>
          <p:cNvPr id="4" name="pill_2"/>
          <p:cNvSpPr/>
          <p:nvPr/>
        </p:nvSpPr>
        <p:spPr>
          <a:xfrm>
            <a:off x="640080" y="1664208"/>
            <a:ext cx="2240280" cy="365760"/>
          </a:xfrm>
          <a:prstGeom prst="roundRect">
            <a:avLst>
              <a:gd name="adj" fmla="val 50000"/>
            </a:avLst>
          </a:prstGeom>
          <a:solidFill>
            <a:schemeClr val="accent2">
              <a:alpha val="22000"/>
            </a:schemeClr>
          </a:solidFill>
          <a:ln/>
        </p:spPr>
      </p:sp>
      <p:sp>
        <p:nvSpPr>
          <p:cNvPr id="5" name="text_3"/>
          <p:cNvSpPr txBox="1"/>
          <p:nvPr/>
        </p:nvSpPr>
        <p:spPr>
          <a:xfrm>
            <a:off x="640080" y="1664208"/>
            <a:ext cx="2240280" cy="365760"/>
          </a:xfrm>
          <a:prstGeom prst="rect">
            <a:avLst/>
          </a:prstGeom>
          <a:noFill/>
          <a:ln/>
        </p:spPr>
        <p:txBody>
          <a:bodyPr wrap="square" lIns="0" tIns="0" rIns="0" bIns="0" rtlCol="0" anchor="ctr"/>
          <a:lstStyle/>
          <a:p>
            <a:pPr algn="ctr" indent="0" marL="0">
              <a:buNone/>
            </a:pPr>
            <a:r>
              <a:rPr lang="en-US" sz="1200" b="1" spc="200" kern="0" dirty="0">
                <a:solidFill>
                  <a:schemeClr val="accent2"/>
                </a:solidFill>
              </a:rPr>
              <a:t>PROJECT REVIEW 2</a:t>
            </a:r>
            <a:endParaRPr lang="en-US" sz="1200" dirty="0"/>
          </a:p>
        </p:txBody>
      </p:sp>
      <p:sp>
        <p:nvSpPr>
          <p:cNvPr id="6" name="Text 0"/>
          <p:cNvSpPr/>
          <p:nvPr>
            <p:ph idx="100" type="title" hasCustomPrompt="1"/>
          </p:nvPr>
        </p:nvSpPr>
        <p:spPr>
          <a:xfrm>
            <a:off x="640080" y="2194560"/>
            <a:ext cx="5669280" cy="1600200"/>
          </a:xfrm>
          <a:prstGeom prst="rect">
            <a:avLst/>
          </a:prstGeom>
          <a:noFill/>
          <a:ln/>
        </p:spPr>
        <p:txBody>
          <a:bodyPr wrap="square" lIns="0" tIns="0" rIns="0" bIns="0" rtlCol="0" anchor="t"/>
          <a:lstStyle/>
          <a:p>
            <a:pPr algn="l" indent="0" marL="0">
              <a:buNone/>
            </a:pPr>
            <a:r>
              <a:rPr lang="en-US" sz="4000" b="1" dirty="0">
                <a:solidFill>
                  <a:schemeClr val="bg1"/>
                </a:solidFill>
                <a:latin typeface="Calibri" pitchFamily="34" charset="0"/>
                <a:ea typeface="Calibri" pitchFamily="34" charset="-122"/>
                <a:cs typeface="Calibri" pitchFamily="34" charset="-120"/>
              </a:rPr>
              <a:t>Smart Personal Document &amp; Deadline Manager</a:t>
            </a:r>
            <a:endParaRPr lang="en-US" sz="4000" dirty="0"/>
          </a:p>
        </p:txBody>
      </p:sp>
      <p:sp>
        <p:nvSpPr>
          <p:cNvPr id="7" name="text_4"/>
          <p:cNvSpPr txBox="1"/>
          <p:nvPr/>
        </p:nvSpPr>
        <p:spPr>
          <a:xfrm>
            <a:off x="640080" y="3931920"/>
            <a:ext cx="5394960" cy="777240"/>
          </a:xfrm>
          <a:prstGeom prst="rect">
            <a:avLst/>
          </a:prstGeom>
          <a:noFill/>
          <a:ln/>
        </p:spPr>
        <p:txBody>
          <a:bodyPr wrap="square" lIns="0" tIns="0" rIns="0" bIns="0" rtlCol="0" anchor="t"/>
          <a:lstStyle/>
          <a:p>
            <a:pPr indent="0" marL="0">
              <a:buNone/>
            </a:pPr>
            <a:r>
              <a:rPr lang="en-US" sz="1600" dirty="0">
                <a:solidFill>
                  <a:schemeClr val="bg2"/>
                </a:solidFill>
              </a:rPr>
              <a:t>Upload a document. LifeAdmin finds the dates, tracks the deadline and warns you before it expires.</a:t>
            </a:r>
            <a:endParaRPr lang="en-US" sz="1600" dirty="0"/>
          </a:p>
        </p:txBody>
      </p:sp>
      <p:sp>
        <p:nvSpPr>
          <p:cNvPr id="8" name="text_5"/>
          <p:cNvSpPr txBox="1"/>
          <p:nvPr/>
        </p:nvSpPr>
        <p:spPr>
          <a:xfrm>
            <a:off x="640080" y="5120640"/>
            <a:ext cx="4572000" cy="347472"/>
          </a:xfrm>
          <a:prstGeom prst="rect">
            <a:avLst/>
          </a:prstGeom>
          <a:noFill/>
          <a:ln/>
        </p:spPr>
        <p:txBody>
          <a:bodyPr wrap="square" lIns="0" tIns="0" rIns="0" bIns="0" rtlCol="0" anchor="t"/>
          <a:lstStyle/>
          <a:p>
            <a:pPr indent="0" marL="0">
              <a:buNone/>
            </a:pPr>
            <a:r>
              <a:rPr lang="en-US" sz="1700" b="1" dirty="0">
                <a:solidFill>
                  <a:schemeClr val="bg1"/>
                </a:solidFill>
              </a:rPr>
              <a:t>A. Adityavardhan Reddy</a:t>
            </a:r>
            <a:endParaRPr lang="en-US" sz="1700" dirty="0"/>
          </a:p>
        </p:txBody>
      </p:sp>
      <p:sp>
        <p:nvSpPr>
          <p:cNvPr id="9" name="text_6"/>
          <p:cNvSpPr txBox="1"/>
          <p:nvPr/>
        </p:nvSpPr>
        <p:spPr>
          <a:xfrm>
            <a:off x="640080" y="5486400"/>
            <a:ext cx="5029200" cy="292608"/>
          </a:xfrm>
          <a:prstGeom prst="rect">
            <a:avLst/>
          </a:prstGeom>
          <a:noFill/>
          <a:ln/>
        </p:spPr>
        <p:txBody>
          <a:bodyPr wrap="square" lIns="0" tIns="0" rIns="0" bIns="0" rtlCol="0" anchor="t"/>
          <a:lstStyle/>
          <a:p>
            <a:pPr indent="0" marL="0">
              <a:buNone/>
            </a:pPr>
            <a:r>
              <a:rPr lang="en-US" sz="1300" dirty="0">
                <a:solidFill>
                  <a:schemeClr val="bg2"/>
                </a:solidFill>
              </a:rPr>
              <a:t>Reg. No. 23MID0186   ·   15 October 2026</a:t>
            </a:r>
            <a:endParaRPr lang="en-US" sz="1300" dirty="0"/>
          </a:p>
        </p:txBody>
      </p:sp>
      <p:sp>
        <p:nvSpPr>
          <p:cNvPr id="10" name="hero_frame_7"/>
          <p:cNvSpPr/>
          <p:nvPr/>
        </p:nvSpPr>
        <p:spPr>
          <a:xfrm>
            <a:off x="6400800" y="914400"/>
            <a:ext cx="6583680" cy="4224528"/>
          </a:xfrm>
          <a:prstGeom prst="roundRect">
            <a:avLst>
              <a:gd name="adj" fmla="val 2597"/>
            </a:avLst>
          </a:prstGeom>
          <a:solidFill>
            <a:schemeClr val="tx2"/>
          </a:solidFill>
          <a:ln w="12700">
            <a:solidFill>
              <a:srgbClr val="3B44A0"/>
            </a:solidFill>
            <a:prstDash val="solid"/>
          </a:ln>
          <a:effectLst>
            <a:outerShdw sx="100000" sy="100000" kx="0" ky="0" algn="bl" rotWithShape="0" blurRad="127000" dist="38100" dir="5400000">
              <a:srgbClr val="000000">
                <a:alpha val="35000"/>
              </a:srgbClr>
            </a:outerShdw>
          </a:effectLst>
        </p:spPr>
      </p:sp>
      <p:pic>
        <p:nvPicPr>
          <p:cNvPr id="11" name="hero_screenshot" descr="/tmp/claude-0/-home-claude/584731ee-e493-5c78-a637-0b254e057472/scratchpad/deck/img/dashboard.png">    </p:cNvPr>
          <p:cNvPicPr>
            <a:picLocks noChangeAspect="1"/>
          </p:cNvPicPr>
          <p:nvPr/>
        </p:nvPicPr>
        <p:blipFill>
          <a:blip r:embed="rId2"/>
          <a:stretch>
            <a:fillRect/>
          </a:stretch>
        </p:blipFill>
        <p:spPr>
          <a:xfrm>
            <a:off x="6510528" y="1024128"/>
            <a:ext cx="6309360" cy="3943350"/>
          </a:xfrm>
          <a:prstGeom prst="rect">
            <a:avLst/>
          </a:prstGeom>
        </p:spPr>
      </p:pic>
      <p:sp>
        <p:nvSpPr>
          <p:cNvPr id="12" name="notif_chip_8"/>
          <p:cNvSpPr/>
          <p:nvPr/>
        </p:nvSpPr>
        <p:spPr>
          <a:xfrm>
            <a:off x="5806440" y="4617720"/>
            <a:ext cx="3566160" cy="868680"/>
          </a:xfrm>
          <a:prstGeom prst="roundRect">
            <a:avLst>
              <a:gd name="adj" fmla="val 14737"/>
            </a:avLst>
          </a:prstGeom>
          <a:solidFill>
            <a:srgbClr val="161E52"/>
          </a:solidFill>
          <a:ln w="12700">
            <a:solidFill>
              <a:srgbClr val="4B4FE0"/>
            </a:solidFill>
            <a:prstDash val="solid"/>
          </a:ln>
          <a:effectLst>
            <a:outerShdw sx="100000" sy="100000" kx="0" ky="0" algn="bl" rotWithShape="0" blurRad="127000" dist="38100" dir="5400000">
              <a:srgbClr val="000000">
                <a:alpha val="35000"/>
              </a:srgbClr>
            </a:outerShdw>
          </a:effectLst>
        </p:spPr>
      </p:sp>
      <p:sp>
        <p:nvSpPr>
          <p:cNvPr id="13" name="icon_bg_9"/>
          <p:cNvSpPr/>
          <p:nvPr/>
        </p:nvSpPr>
        <p:spPr>
          <a:xfrm>
            <a:off x="5943600" y="4754880"/>
            <a:ext cx="594360" cy="594360"/>
          </a:xfrm>
          <a:prstGeom prst="roundRect">
            <a:avLst>
              <a:gd name="adj" fmla="val 24000"/>
            </a:avLst>
          </a:prstGeom>
          <a:solidFill>
            <a:schemeClr val="accent5">
              <a:alpha val="22000"/>
            </a:schemeClr>
          </a:solidFill>
          <a:ln/>
        </p:spPr>
      </p:sp>
      <p:pic>
        <p:nvPicPr>
          <p:cNvPr id="14" name="icon_10" descr="/tmp/claude-0/-home-claude/584731ee-e493-5c78-a637-0b254e057472/scratchpad/deck/img/i_alert.png">    </p:cNvPr>
          <p:cNvPicPr>
            <a:picLocks noChangeAspect="1"/>
          </p:cNvPicPr>
          <p:nvPr/>
        </p:nvPicPr>
        <p:blipFill>
          <a:blip r:embed="rId3"/>
          <a:stretch>
            <a:fillRect/>
          </a:stretch>
        </p:blipFill>
        <p:spPr>
          <a:xfrm>
            <a:off x="6086246" y="4897526"/>
            <a:ext cx="309067" cy="309067"/>
          </a:xfrm>
          <a:prstGeom prst="rect">
            <a:avLst/>
          </a:prstGeom>
        </p:spPr>
      </p:pic>
      <p:sp>
        <p:nvSpPr>
          <p:cNvPr id="15" name="text_11"/>
          <p:cNvSpPr txBox="1"/>
          <p:nvPr/>
        </p:nvSpPr>
        <p:spPr>
          <a:xfrm>
            <a:off x="6675120" y="4754880"/>
            <a:ext cx="2560320" cy="292608"/>
          </a:xfrm>
          <a:prstGeom prst="rect">
            <a:avLst/>
          </a:prstGeom>
          <a:noFill/>
          <a:ln/>
        </p:spPr>
        <p:txBody>
          <a:bodyPr wrap="square" lIns="0" tIns="0" rIns="0" bIns="0" rtlCol="0" anchor="t"/>
          <a:lstStyle/>
          <a:p>
            <a:pPr indent="0" marL="0">
              <a:buNone/>
            </a:pPr>
            <a:r>
              <a:rPr lang="en-US" sz="1400" b="1" dirty="0">
                <a:solidFill>
                  <a:schemeClr val="bg1"/>
                </a:solidFill>
              </a:rPr>
              <a:t>Car Insurance</a:t>
            </a:r>
            <a:endParaRPr lang="en-US" sz="1400" dirty="0"/>
          </a:p>
        </p:txBody>
      </p:sp>
      <p:sp>
        <p:nvSpPr>
          <p:cNvPr id="16" name="text_12"/>
          <p:cNvSpPr txBox="1"/>
          <p:nvPr/>
        </p:nvSpPr>
        <p:spPr>
          <a:xfrm>
            <a:off x="6675120" y="5047488"/>
            <a:ext cx="2606040" cy="274320"/>
          </a:xfrm>
          <a:prstGeom prst="rect">
            <a:avLst/>
          </a:prstGeom>
          <a:noFill/>
          <a:ln/>
        </p:spPr>
        <p:txBody>
          <a:bodyPr wrap="square" lIns="0" tIns="0" rIns="0" bIns="0" rtlCol="0" anchor="t"/>
          <a:lstStyle/>
          <a:p>
            <a:pPr indent="0" marL="0">
              <a:buNone/>
            </a:pPr>
            <a:r>
              <a:rPr lang="en-US" sz="1200" dirty="0">
                <a:solidFill>
                  <a:srgbClr val="FCA5A5"/>
                </a:solidFill>
              </a:rPr>
              <a:t>Critical · expires in 6 days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8229600" cy="274320"/>
          </a:xfrm>
          <a:prstGeom prst="rect">
            <a:avLst/>
          </a:prstGeom>
          <a:noFill/>
          <a:ln/>
        </p:spPr>
        <p:txBody>
          <a:bodyPr wrap="square" lIns="0" tIns="0" rIns="0" bIns="0" rtlCol="0" anchor="ctr"/>
          <a:lstStyle/>
          <a:p>
            <a:pPr algn="l" indent="0" marL="0">
              <a:buNone/>
            </a:pPr>
            <a:r>
              <a:rPr lang="en-US" sz="1200" b="1" spc="200" kern="0" dirty="0">
                <a:solidFill>
                  <a:schemeClr val="accent2"/>
                </a:solidFill>
              </a:rPr>
              <a:t>THE PROBLEM</a:t>
            </a:r>
            <a:endParaRPr lang="en-US" sz="1200" dirty="0"/>
          </a:p>
        </p:txBody>
      </p:sp>
      <p:sp>
        <p:nvSpPr>
          <p:cNvPr id="3" name="Text 0"/>
          <p:cNvSpPr/>
          <p:nvPr>
            <p:ph idx="101" type="title" hasCustomPrompt="1"/>
          </p:nvPr>
        </p:nvSpPr>
        <p:spPr>
          <a:xfrm>
            <a:off x="548640" y="603504"/>
            <a:ext cx="11064240" cy="685800"/>
          </a:xfrm>
          <a:prstGeom prst="rect">
            <a:avLst/>
          </a:prstGeom>
          <a:noFill/>
          <a:ln/>
        </p:spPr>
        <p:txBody>
          <a:bodyPr wrap="square" lIns="0" tIns="0" rIns="0" bIns="0" rtlCol="0" anchor="ctr"/>
          <a:lstStyle/>
          <a:p>
            <a:pPr algn="l" indent="0" marL="0">
              <a:buNone/>
            </a:pPr>
            <a:r>
              <a:rPr lang="en-US" sz="3200" b="1" dirty="0">
                <a:solidFill>
                  <a:schemeClr val="bg1"/>
                </a:solidFill>
              </a:rPr>
              <a:t>Important documents expire silently</a:t>
            </a:r>
            <a:endParaRPr lang="en-US" sz="3200" dirty="0"/>
          </a:p>
        </p:txBody>
      </p:sp>
      <p:sp>
        <p:nvSpPr>
          <p:cNvPr id="4" name="pain_card_13"/>
          <p:cNvSpPr/>
          <p:nvPr/>
        </p:nvSpPr>
        <p:spPr>
          <a:xfrm>
            <a:off x="548640" y="1600200"/>
            <a:ext cx="5577840" cy="950976"/>
          </a:xfrm>
          <a:prstGeom prst="roundRect">
            <a:avLst>
              <a:gd name="adj" fmla="val 11538"/>
            </a:avLst>
          </a:prstGeom>
          <a:solidFill>
            <a:schemeClr val="tx2"/>
          </a:solidFill>
          <a:ln w="9525">
            <a:solidFill>
              <a:srgbClr val="2B3470"/>
            </a:solidFill>
            <a:prstDash val="solid"/>
          </a:ln>
        </p:spPr>
      </p:sp>
      <p:sp>
        <p:nvSpPr>
          <p:cNvPr id="5" name="icon_bg_14"/>
          <p:cNvSpPr/>
          <p:nvPr/>
        </p:nvSpPr>
        <p:spPr>
          <a:xfrm>
            <a:off x="749808" y="1783080"/>
            <a:ext cx="585216" cy="585216"/>
          </a:xfrm>
          <a:prstGeom prst="roundRect">
            <a:avLst>
              <a:gd name="adj" fmla="val 24000"/>
            </a:avLst>
          </a:prstGeom>
          <a:solidFill>
            <a:schemeClr val="accent2">
              <a:alpha val="22000"/>
            </a:schemeClr>
          </a:solidFill>
          <a:ln/>
        </p:spPr>
      </p:sp>
      <p:pic>
        <p:nvPicPr>
          <p:cNvPr id="6" name="icon_15" descr="/tmp/claude-0/-home-claude/584731ee-e493-5c78-a637-0b254e057472/scratchpad/deck/img/i_folder.png">    </p:cNvPr>
          <p:cNvPicPr>
            <a:picLocks noChangeAspect="1"/>
          </p:cNvPicPr>
          <p:nvPr/>
        </p:nvPicPr>
        <p:blipFill>
          <a:blip r:embed="rId1"/>
          <a:stretch>
            <a:fillRect/>
          </a:stretch>
        </p:blipFill>
        <p:spPr>
          <a:xfrm>
            <a:off x="890260" y="1923532"/>
            <a:ext cx="304312" cy="304312"/>
          </a:xfrm>
          <a:prstGeom prst="rect">
            <a:avLst/>
          </a:prstGeom>
        </p:spPr>
      </p:pic>
      <p:sp>
        <p:nvSpPr>
          <p:cNvPr id="7" name="text_16"/>
          <p:cNvSpPr txBox="1"/>
          <p:nvPr/>
        </p:nvSpPr>
        <p:spPr>
          <a:xfrm>
            <a:off x="1554480" y="1755648"/>
            <a:ext cx="4434840" cy="310896"/>
          </a:xfrm>
          <a:prstGeom prst="rect">
            <a:avLst/>
          </a:prstGeom>
          <a:noFill/>
          <a:ln/>
        </p:spPr>
        <p:txBody>
          <a:bodyPr wrap="square" lIns="0" tIns="0" rIns="0" bIns="0" rtlCol="0" anchor="t"/>
          <a:lstStyle/>
          <a:p>
            <a:pPr indent="0" marL="0">
              <a:buNone/>
            </a:pPr>
            <a:r>
              <a:rPr lang="en-US" sz="1600" b="1" dirty="0">
                <a:solidFill>
                  <a:schemeClr val="bg1"/>
                </a:solidFill>
              </a:rPr>
              <a:t>Scattered everywhere</a:t>
            </a:r>
            <a:endParaRPr lang="en-US" sz="1600" dirty="0"/>
          </a:p>
        </p:txBody>
      </p:sp>
      <p:sp>
        <p:nvSpPr>
          <p:cNvPr id="8" name="text_17"/>
          <p:cNvSpPr txBox="1"/>
          <p:nvPr/>
        </p:nvSpPr>
        <p:spPr>
          <a:xfrm>
            <a:off x="1554480" y="2075688"/>
            <a:ext cx="4434840" cy="384048"/>
          </a:xfrm>
          <a:prstGeom prst="rect">
            <a:avLst/>
          </a:prstGeom>
          <a:noFill/>
          <a:ln/>
        </p:spPr>
        <p:txBody>
          <a:bodyPr wrap="square" lIns="0" tIns="0" rIns="0" bIns="0" rtlCol="0" anchor="t"/>
          <a:lstStyle/>
          <a:p>
            <a:pPr indent="0" marL="0">
              <a:buNone/>
            </a:pPr>
            <a:r>
              <a:rPr lang="en-US" sz="1250" dirty="0">
                <a:solidFill>
                  <a:schemeClr val="bg2"/>
                </a:solidFill>
              </a:rPr>
              <a:t>IDs, insurance, PUC, warranties and bills sit in folders, inboxes and drawers.</a:t>
            </a:r>
            <a:endParaRPr lang="en-US" sz="1250" dirty="0"/>
          </a:p>
        </p:txBody>
      </p:sp>
      <p:sp>
        <p:nvSpPr>
          <p:cNvPr id="9" name="pain_card_18"/>
          <p:cNvSpPr/>
          <p:nvPr/>
        </p:nvSpPr>
        <p:spPr>
          <a:xfrm>
            <a:off x="548640" y="2715768"/>
            <a:ext cx="5577840" cy="950976"/>
          </a:xfrm>
          <a:prstGeom prst="roundRect">
            <a:avLst>
              <a:gd name="adj" fmla="val 11538"/>
            </a:avLst>
          </a:prstGeom>
          <a:solidFill>
            <a:schemeClr val="tx2"/>
          </a:solidFill>
          <a:ln w="9525">
            <a:solidFill>
              <a:srgbClr val="2B3470"/>
            </a:solidFill>
            <a:prstDash val="solid"/>
          </a:ln>
        </p:spPr>
      </p:sp>
      <p:sp>
        <p:nvSpPr>
          <p:cNvPr id="10" name="icon_bg_19"/>
          <p:cNvSpPr/>
          <p:nvPr/>
        </p:nvSpPr>
        <p:spPr>
          <a:xfrm>
            <a:off x="749808" y="2898648"/>
            <a:ext cx="585216" cy="585216"/>
          </a:xfrm>
          <a:prstGeom prst="roundRect">
            <a:avLst>
              <a:gd name="adj" fmla="val 24000"/>
            </a:avLst>
          </a:prstGeom>
          <a:solidFill>
            <a:schemeClr val="accent1">
              <a:alpha val="22000"/>
            </a:schemeClr>
          </a:solidFill>
          <a:ln/>
        </p:spPr>
      </p:sp>
      <p:pic>
        <p:nvPicPr>
          <p:cNvPr id="11" name="icon_20" descr="/tmp/claude-0/-home-claude/584731ee-e493-5c78-a637-0b254e057472/scratchpad/deck/img/i_search.png">    </p:cNvPr>
          <p:cNvPicPr>
            <a:picLocks noChangeAspect="1"/>
          </p:cNvPicPr>
          <p:nvPr/>
        </p:nvPicPr>
        <p:blipFill>
          <a:blip r:embed="rId2"/>
          <a:stretch>
            <a:fillRect/>
          </a:stretch>
        </p:blipFill>
        <p:spPr>
          <a:xfrm>
            <a:off x="890260" y="3039100"/>
            <a:ext cx="304312" cy="304312"/>
          </a:xfrm>
          <a:prstGeom prst="rect">
            <a:avLst/>
          </a:prstGeom>
        </p:spPr>
      </p:pic>
      <p:sp>
        <p:nvSpPr>
          <p:cNvPr id="12" name="text_21"/>
          <p:cNvSpPr txBox="1"/>
          <p:nvPr/>
        </p:nvSpPr>
        <p:spPr>
          <a:xfrm>
            <a:off x="1554480" y="2871216"/>
            <a:ext cx="4434840" cy="310896"/>
          </a:xfrm>
          <a:prstGeom prst="rect">
            <a:avLst/>
          </a:prstGeom>
          <a:noFill/>
          <a:ln/>
        </p:spPr>
        <p:txBody>
          <a:bodyPr wrap="square" lIns="0" tIns="0" rIns="0" bIns="0" rtlCol="0" anchor="t"/>
          <a:lstStyle/>
          <a:p>
            <a:pPr indent="0" marL="0">
              <a:buNone/>
            </a:pPr>
            <a:r>
              <a:rPr lang="en-US" sz="1600" b="1" dirty="0">
                <a:solidFill>
                  <a:schemeClr val="bg1"/>
                </a:solidFill>
              </a:rPr>
              <a:t>Dates hidden in the fine print</a:t>
            </a:r>
            <a:endParaRPr lang="en-US" sz="1600" dirty="0"/>
          </a:p>
        </p:txBody>
      </p:sp>
      <p:sp>
        <p:nvSpPr>
          <p:cNvPr id="13" name="text_22"/>
          <p:cNvSpPr txBox="1"/>
          <p:nvPr/>
        </p:nvSpPr>
        <p:spPr>
          <a:xfrm>
            <a:off x="1554480" y="3191256"/>
            <a:ext cx="4434840" cy="384048"/>
          </a:xfrm>
          <a:prstGeom prst="rect">
            <a:avLst/>
          </a:prstGeom>
          <a:noFill/>
          <a:ln/>
        </p:spPr>
        <p:txBody>
          <a:bodyPr wrap="square" lIns="0" tIns="0" rIns="0" bIns="0" rtlCol="0" anchor="t"/>
          <a:lstStyle/>
          <a:p>
            <a:pPr indent="0" marL="0">
              <a:buNone/>
            </a:pPr>
            <a:r>
              <a:rPr lang="en-US" sz="1250" dirty="0">
                <a:solidFill>
                  <a:schemeClr val="bg2"/>
                </a:solidFill>
              </a:rPr>
              <a:t>The one date that matters is buried inside a PDF.</a:t>
            </a:r>
            <a:endParaRPr lang="en-US" sz="1250" dirty="0"/>
          </a:p>
        </p:txBody>
      </p:sp>
      <p:sp>
        <p:nvSpPr>
          <p:cNvPr id="14" name="pain_card_23"/>
          <p:cNvSpPr/>
          <p:nvPr/>
        </p:nvSpPr>
        <p:spPr>
          <a:xfrm>
            <a:off x="548640" y="3831336"/>
            <a:ext cx="5577840" cy="950976"/>
          </a:xfrm>
          <a:prstGeom prst="roundRect">
            <a:avLst>
              <a:gd name="adj" fmla="val 11538"/>
            </a:avLst>
          </a:prstGeom>
          <a:solidFill>
            <a:schemeClr val="tx2"/>
          </a:solidFill>
          <a:ln w="9525">
            <a:solidFill>
              <a:srgbClr val="2B3470"/>
            </a:solidFill>
            <a:prstDash val="solid"/>
          </a:ln>
        </p:spPr>
      </p:sp>
      <p:sp>
        <p:nvSpPr>
          <p:cNvPr id="15" name="icon_bg_24"/>
          <p:cNvSpPr/>
          <p:nvPr/>
        </p:nvSpPr>
        <p:spPr>
          <a:xfrm>
            <a:off x="749808" y="4014216"/>
            <a:ext cx="585216" cy="585216"/>
          </a:xfrm>
          <a:prstGeom prst="roundRect">
            <a:avLst>
              <a:gd name="adj" fmla="val 24000"/>
            </a:avLst>
          </a:prstGeom>
          <a:solidFill>
            <a:schemeClr val="accent5">
              <a:alpha val="22000"/>
            </a:schemeClr>
          </a:solidFill>
          <a:ln/>
        </p:spPr>
      </p:sp>
      <p:pic>
        <p:nvPicPr>
          <p:cNvPr id="16" name="icon_25" descr="/tmp/claude-0/-home-claude/584731ee-e493-5c78-a637-0b254e057472/scratchpad/deck/img/i_alert.png">    </p:cNvPr>
          <p:cNvPicPr>
            <a:picLocks noChangeAspect="1"/>
          </p:cNvPicPr>
          <p:nvPr/>
        </p:nvPicPr>
        <p:blipFill>
          <a:blip r:embed="rId3"/>
          <a:stretch>
            <a:fillRect/>
          </a:stretch>
        </p:blipFill>
        <p:spPr>
          <a:xfrm>
            <a:off x="890260" y="4154668"/>
            <a:ext cx="304312" cy="304312"/>
          </a:xfrm>
          <a:prstGeom prst="rect">
            <a:avLst/>
          </a:prstGeom>
        </p:spPr>
      </p:pic>
      <p:sp>
        <p:nvSpPr>
          <p:cNvPr id="17" name="text_26"/>
          <p:cNvSpPr txBox="1"/>
          <p:nvPr/>
        </p:nvSpPr>
        <p:spPr>
          <a:xfrm>
            <a:off x="1554480" y="3986784"/>
            <a:ext cx="4434840" cy="310896"/>
          </a:xfrm>
          <a:prstGeom prst="rect">
            <a:avLst/>
          </a:prstGeom>
          <a:noFill/>
          <a:ln/>
        </p:spPr>
        <p:txBody>
          <a:bodyPr wrap="square" lIns="0" tIns="0" rIns="0" bIns="0" rtlCol="0" anchor="t"/>
          <a:lstStyle/>
          <a:p>
            <a:pPr indent="0" marL="0">
              <a:buNone/>
            </a:pPr>
            <a:r>
              <a:rPr lang="en-US" sz="1600" b="1" dirty="0">
                <a:solidFill>
                  <a:schemeClr val="bg1"/>
                </a:solidFill>
              </a:rPr>
              <a:t>Missed renewals cost money</a:t>
            </a:r>
            <a:endParaRPr lang="en-US" sz="1600" dirty="0"/>
          </a:p>
        </p:txBody>
      </p:sp>
      <p:sp>
        <p:nvSpPr>
          <p:cNvPr id="18" name="text_27"/>
          <p:cNvSpPr txBox="1"/>
          <p:nvPr/>
        </p:nvSpPr>
        <p:spPr>
          <a:xfrm>
            <a:off x="1554480" y="4306824"/>
            <a:ext cx="4434840" cy="384048"/>
          </a:xfrm>
          <a:prstGeom prst="rect">
            <a:avLst/>
          </a:prstGeom>
          <a:noFill/>
          <a:ln/>
        </p:spPr>
        <p:txBody>
          <a:bodyPr wrap="square" lIns="0" tIns="0" rIns="0" bIns="0" rtlCol="0" anchor="t"/>
          <a:lstStyle/>
          <a:p>
            <a:pPr indent="0" marL="0">
              <a:buNone/>
            </a:pPr>
            <a:r>
              <a:rPr lang="en-US" sz="1250" dirty="0">
                <a:solidFill>
                  <a:schemeClr val="bg2"/>
                </a:solidFill>
              </a:rPr>
              <a:t>Lapsed insurance cover, fines for an expired PUC, refused warranty claims.</a:t>
            </a:r>
            <a:endParaRPr lang="en-US" sz="1250" dirty="0"/>
          </a:p>
        </p:txBody>
      </p:sp>
      <p:sp>
        <p:nvSpPr>
          <p:cNvPr id="19" name="pain_card_28"/>
          <p:cNvSpPr/>
          <p:nvPr/>
        </p:nvSpPr>
        <p:spPr>
          <a:xfrm>
            <a:off x="548640" y="4946904"/>
            <a:ext cx="5577840" cy="950976"/>
          </a:xfrm>
          <a:prstGeom prst="roundRect">
            <a:avLst>
              <a:gd name="adj" fmla="val 11538"/>
            </a:avLst>
          </a:prstGeom>
          <a:solidFill>
            <a:schemeClr val="tx2"/>
          </a:solidFill>
          <a:ln w="9525">
            <a:solidFill>
              <a:srgbClr val="2B3470"/>
            </a:solidFill>
            <a:prstDash val="solid"/>
          </a:ln>
        </p:spPr>
      </p:sp>
      <p:sp>
        <p:nvSpPr>
          <p:cNvPr id="20" name="icon_bg_29"/>
          <p:cNvSpPr/>
          <p:nvPr/>
        </p:nvSpPr>
        <p:spPr>
          <a:xfrm>
            <a:off x="749808" y="5129784"/>
            <a:ext cx="585216" cy="585216"/>
          </a:xfrm>
          <a:prstGeom prst="roundRect">
            <a:avLst>
              <a:gd name="adj" fmla="val 24000"/>
            </a:avLst>
          </a:prstGeom>
          <a:solidFill>
            <a:schemeClr val="accent4">
              <a:alpha val="22000"/>
            </a:schemeClr>
          </a:solidFill>
          <a:ln/>
        </p:spPr>
      </p:sp>
      <p:pic>
        <p:nvPicPr>
          <p:cNvPr id="21" name="icon_30" descr="/tmp/claude-0/-home-claude/584731ee-e493-5c78-a637-0b254e057472/scratchpad/deck/img/i_bell.png">    </p:cNvPr>
          <p:cNvPicPr>
            <a:picLocks noChangeAspect="1"/>
          </p:cNvPicPr>
          <p:nvPr/>
        </p:nvPicPr>
        <p:blipFill>
          <a:blip r:embed="rId4"/>
          <a:stretch>
            <a:fillRect/>
          </a:stretch>
        </p:blipFill>
        <p:spPr>
          <a:xfrm>
            <a:off x="890260" y="5270236"/>
            <a:ext cx="304312" cy="304312"/>
          </a:xfrm>
          <a:prstGeom prst="rect">
            <a:avLst/>
          </a:prstGeom>
        </p:spPr>
      </p:pic>
      <p:sp>
        <p:nvSpPr>
          <p:cNvPr id="22" name="text_31"/>
          <p:cNvSpPr txBox="1"/>
          <p:nvPr/>
        </p:nvSpPr>
        <p:spPr>
          <a:xfrm>
            <a:off x="1554480" y="5102352"/>
            <a:ext cx="4434840" cy="310896"/>
          </a:xfrm>
          <a:prstGeom prst="rect">
            <a:avLst/>
          </a:prstGeom>
          <a:noFill/>
          <a:ln/>
        </p:spPr>
        <p:txBody>
          <a:bodyPr wrap="square" lIns="0" tIns="0" rIns="0" bIns="0" rtlCol="0" anchor="t"/>
          <a:lstStyle/>
          <a:p>
            <a:pPr indent="0" marL="0">
              <a:buNone/>
            </a:pPr>
            <a:r>
              <a:rPr lang="en-US" sz="1600" b="1" dirty="0">
                <a:solidFill>
                  <a:schemeClr val="bg1"/>
                </a:solidFill>
              </a:rPr>
              <a:t>Reminder apps can't read documents</a:t>
            </a:r>
            <a:endParaRPr lang="en-US" sz="1600" dirty="0"/>
          </a:p>
        </p:txBody>
      </p:sp>
      <p:sp>
        <p:nvSpPr>
          <p:cNvPr id="23" name="text_32"/>
          <p:cNvSpPr txBox="1"/>
          <p:nvPr/>
        </p:nvSpPr>
        <p:spPr>
          <a:xfrm>
            <a:off x="1554480" y="5422392"/>
            <a:ext cx="4434840" cy="384048"/>
          </a:xfrm>
          <a:prstGeom prst="rect">
            <a:avLst/>
          </a:prstGeom>
          <a:noFill/>
          <a:ln/>
        </p:spPr>
        <p:txBody>
          <a:bodyPr wrap="square" lIns="0" tIns="0" rIns="0" bIns="0" rtlCol="0" anchor="t"/>
          <a:lstStyle/>
          <a:p>
            <a:pPr indent="0" marL="0">
              <a:buNone/>
            </a:pPr>
            <a:r>
              <a:rPr lang="en-US" sz="1250" dirty="0">
                <a:solidFill>
                  <a:schemeClr val="bg2"/>
                </a:solidFill>
              </a:rPr>
              <a:t>Every date still has to be typed in by hand.</a:t>
            </a:r>
            <a:endParaRPr lang="en-US" sz="1250" dirty="0"/>
          </a:p>
        </p:txBody>
      </p:sp>
      <p:sp>
        <p:nvSpPr>
          <p:cNvPr id="24" name="solution_33"/>
          <p:cNvSpPr/>
          <p:nvPr/>
        </p:nvSpPr>
        <p:spPr>
          <a:xfrm>
            <a:off x="6492240" y="1600200"/>
            <a:ext cx="5120640" cy="4297680"/>
          </a:xfrm>
          <a:prstGeom prst="roundRect">
            <a:avLst>
              <a:gd name="adj" fmla="val 3404"/>
            </a:avLst>
          </a:prstGeom>
          <a:solidFill>
            <a:schemeClr val="accent1">
              <a:alpha val="92000"/>
            </a:schemeClr>
          </a:solidFill>
          <a:ln/>
          <a:effectLst>
            <a:outerShdw sx="100000" sy="100000" kx="0" ky="0" algn="bl" rotWithShape="0" blurRad="127000" dist="38100" dir="5400000">
              <a:srgbClr val="000000">
                <a:alpha val="35000"/>
              </a:srgbClr>
            </a:outerShdw>
          </a:effectLst>
        </p:spPr>
      </p:sp>
      <p:sp>
        <p:nvSpPr>
          <p:cNvPr id="25" name="text_34"/>
          <p:cNvSpPr txBox="1"/>
          <p:nvPr/>
        </p:nvSpPr>
        <p:spPr>
          <a:xfrm>
            <a:off x="6858000" y="1874520"/>
            <a:ext cx="3657600" cy="274320"/>
          </a:xfrm>
          <a:prstGeom prst="rect">
            <a:avLst/>
          </a:prstGeom>
          <a:noFill/>
          <a:ln/>
        </p:spPr>
        <p:txBody>
          <a:bodyPr wrap="square" lIns="0" tIns="0" rIns="0" bIns="0" rtlCol="0" anchor="t"/>
          <a:lstStyle/>
          <a:p>
            <a:pPr indent="0" marL="0">
              <a:buNone/>
            </a:pPr>
            <a:r>
              <a:rPr lang="en-US" sz="1200" b="1" spc="200" kern="0" dirty="0">
                <a:solidFill>
                  <a:srgbClr val="E0E1FF"/>
                </a:solidFill>
              </a:rPr>
              <a:t>THE SOLUTION</a:t>
            </a:r>
            <a:endParaRPr lang="en-US" sz="1200" dirty="0"/>
          </a:p>
        </p:txBody>
      </p:sp>
      <p:sp>
        <p:nvSpPr>
          <p:cNvPr id="26" name="text_35"/>
          <p:cNvSpPr txBox="1"/>
          <p:nvPr/>
        </p:nvSpPr>
        <p:spPr>
          <a:xfrm>
            <a:off x="6858000" y="2212848"/>
            <a:ext cx="4480560" cy="914400"/>
          </a:xfrm>
          <a:prstGeom prst="rect">
            <a:avLst/>
          </a:prstGeom>
          <a:noFill/>
          <a:ln/>
        </p:spPr>
        <p:txBody>
          <a:bodyPr wrap="square" lIns="0" tIns="0" rIns="0" bIns="0" rtlCol="0" anchor="t"/>
          <a:lstStyle/>
          <a:p>
            <a:pPr indent="0" marL="0">
              <a:buNone/>
            </a:pPr>
            <a:r>
              <a:rPr lang="en-US" sz="2600" b="1" dirty="0">
                <a:solidFill>
                  <a:schemeClr val="bg1"/>
                </a:solidFill>
              </a:rPr>
              <a:t>LifeAdmin reads the document for you</a:t>
            </a:r>
            <a:endParaRPr lang="en-US" sz="2600" dirty="0"/>
          </a:p>
        </p:txBody>
      </p:sp>
      <p:sp>
        <p:nvSpPr>
          <p:cNvPr id="27" name="text_36"/>
          <p:cNvSpPr txBox="1"/>
          <p:nvPr/>
        </p:nvSpPr>
        <p:spPr>
          <a:xfrm>
            <a:off x="6858000" y="3200400"/>
            <a:ext cx="4434840" cy="914400"/>
          </a:xfrm>
          <a:prstGeom prst="rect">
            <a:avLst/>
          </a:prstGeom>
          <a:noFill/>
          <a:ln/>
        </p:spPr>
        <p:txBody>
          <a:bodyPr wrap="square" lIns="0" tIns="0" rIns="0" bIns="0" rtlCol="0" anchor="t"/>
          <a:lstStyle/>
          <a:p>
            <a:pPr indent="0" marL="0">
              <a:buNone/>
            </a:pPr>
            <a:r>
              <a:rPr lang="en-US" sz="1400" dirty="0">
                <a:solidFill>
                  <a:srgbClr val="E8E9FF"/>
                </a:solidFill>
              </a:rPr>
              <a:t>Upload once. It extracts the key details, stores them on your computer and warns you 30 and 7 days before anything expires.</a:t>
            </a:r>
            <a:endParaRPr lang="en-US" sz="1400" dirty="0"/>
          </a:p>
        </p:txBody>
      </p:sp>
      <p:sp>
        <p:nvSpPr>
          <p:cNvPr id="28" name="step_37"/>
          <p:cNvSpPr/>
          <p:nvPr/>
        </p:nvSpPr>
        <p:spPr>
          <a:xfrm>
            <a:off x="6858000" y="4251960"/>
            <a:ext cx="713232" cy="713232"/>
          </a:xfrm>
          <a:prstGeom prst="ellipse">
            <a:avLst/>
          </a:prstGeom>
          <a:solidFill>
            <a:srgbClr val="2E2FA8"/>
          </a:solidFill>
          <a:ln/>
        </p:spPr>
      </p:sp>
      <p:pic>
        <p:nvPicPr>
          <p:cNvPr id="29" name="step_icon_38" descr="/tmp/claude-0/-home-claude/584731ee-e493-5c78-a637-0b254e057472/scratchpad/deck/img/i_white_upload.png">    </p:cNvPr>
          <p:cNvPicPr>
            <a:picLocks noChangeAspect="1"/>
          </p:cNvPicPr>
          <p:nvPr/>
        </p:nvPicPr>
        <p:blipFill>
          <a:blip r:embed="rId5"/>
          <a:stretch>
            <a:fillRect/>
          </a:stretch>
        </p:blipFill>
        <p:spPr>
          <a:xfrm>
            <a:off x="7050024" y="4443984"/>
            <a:ext cx="329184" cy="329184"/>
          </a:xfrm>
          <a:prstGeom prst="rect">
            <a:avLst/>
          </a:prstGeom>
        </p:spPr>
      </p:pic>
      <p:sp>
        <p:nvSpPr>
          <p:cNvPr id="30" name="text_39"/>
          <p:cNvSpPr txBox="1"/>
          <p:nvPr/>
        </p:nvSpPr>
        <p:spPr>
          <a:xfrm>
            <a:off x="6675120" y="5029200"/>
            <a:ext cx="1078992" cy="274320"/>
          </a:xfrm>
          <a:prstGeom prst="rect">
            <a:avLst/>
          </a:prstGeom>
          <a:noFill/>
          <a:ln/>
        </p:spPr>
        <p:txBody>
          <a:bodyPr wrap="square" lIns="0" tIns="0" rIns="0" bIns="0" rtlCol="0" anchor="t"/>
          <a:lstStyle/>
          <a:p>
            <a:pPr algn="ctr" indent="0" marL="0">
              <a:buNone/>
            </a:pPr>
            <a:r>
              <a:rPr lang="en-US" sz="1200" b="1" dirty="0">
                <a:solidFill>
                  <a:schemeClr val="bg1"/>
                </a:solidFill>
              </a:rPr>
              <a:t>Upload</a:t>
            </a:r>
            <a:endParaRPr lang="en-US" sz="1200" dirty="0"/>
          </a:p>
        </p:txBody>
      </p:sp>
      <p:pic>
        <p:nvPicPr>
          <p:cNvPr id="31" name="arrow_40" descr="/tmp/claude-0/-home-claude/584731ee-e493-5c78-a637-0b254e057472/scratchpad/deck/img/i_arrow.png">    </p:cNvPr>
          <p:cNvPicPr>
            <a:picLocks noChangeAspect="1"/>
          </p:cNvPicPr>
          <p:nvPr/>
        </p:nvPicPr>
        <p:blipFill>
          <a:blip r:embed="rId6"/>
          <a:stretch>
            <a:fillRect/>
          </a:stretch>
        </p:blipFill>
        <p:spPr>
          <a:xfrm>
            <a:off x="7644384" y="4507992"/>
            <a:ext cx="219456" cy="219456"/>
          </a:xfrm>
          <a:prstGeom prst="rect">
            <a:avLst/>
          </a:prstGeom>
        </p:spPr>
      </p:pic>
      <p:sp>
        <p:nvSpPr>
          <p:cNvPr id="32" name="step_41"/>
          <p:cNvSpPr/>
          <p:nvPr/>
        </p:nvSpPr>
        <p:spPr>
          <a:xfrm>
            <a:off x="7973568" y="4251960"/>
            <a:ext cx="713232" cy="713232"/>
          </a:xfrm>
          <a:prstGeom prst="ellipse">
            <a:avLst/>
          </a:prstGeom>
          <a:solidFill>
            <a:srgbClr val="2E2FA8"/>
          </a:solidFill>
          <a:ln/>
        </p:spPr>
      </p:sp>
      <p:pic>
        <p:nvPicPr>
          <p:cNvPr id="33" name="step_icon_42" descr="/tmp/claude-0/-home-claude/584731ee-e493-5c78-a637-0b254e057472/scratchpad/deck/img/i_white_magic.png">    </p:cNvPr>
          <p:cNvPicPr>
            <a:picLocks noChangeAspect="1"/>
          </p:cNvPicPr>
          <p:nvPr/>
        </p:nvPicPr>
        <p:blipFill>
          <a:blip r:embed="rId7"/>
          <a:stretch>
            <a:fillRect/>
          </a:stretch>
        </p:blipFill>
        <p:spPr>
          <a:xfrm>
            <a:off x="8165592" y="4443984"/>
            <a:ext cx="329184" cy="329184"/>
          </a:xfrm>
          <a:prstGeom prst="rect">
            <a:avLst/>
          </a:prstGeom>
        </p:spPr>
      </p:pic>
      <p:sp>
        <p:nvSpPr>
          <p:cNvPr id="34" name="text_43"/>
          <p:cNvSpPr txBox="1"/>
          <p:nvPr/>
        </p:nvSpPr>
        <p:spPr>
          <a:xfrm>
            <a:off x="7790688" y="5029200"/>
            <a:ext cx="1078992" cy="274320"/>
          </a:xfrm>
          <a:prstGeom prst="rect">
            <a:avLst/>
          </a:prstGeom>
          <a:noFill/>
          <a:ln/>
        </p:spPr>
        <p:txBody>
          <a:bodyPr wrap="square" lIns="0" tIns="0" rIns="0" bIns="0" rtlCol="0" anchor="t"/>
          <a:lstStyle/>
          <a:p>
            <a:pPr algn="ctr" indent="0" marL="0">
              <a:buNone/>
            </a:pPr>
            <a:r>
              <a:rPr lang="en-US" sz="1200" b="1" dirty="0">
                <a:solidFill>
                  <a:schemeClr val="bg1"/>
                </a:solidFill>
              </a:rPr>
              <a:t>Extract</a:t>
            </a:r>
            <a:endParaRPr lang="en-US" sz="1200" dirty="0"/>
          </a:p>
        </p:txBody>
      </p:sp>
      <p:pic>
        <p:nvPicPr>
          <p:cNvPr id="35" name="arrow_44" descr="/tmp/claude-0/-home-claude/584731ee-e493-5c78-a637-0b254e057472/scratchpad/deck/img/i_arrow.png">    </p:cNvPr>
          <p:cNvPicPr>
            <a:picLocks noChangeAspect="1"/>
          </p:cNvPicPr>
          <p:nvPr/>
        </p:nvPicPr>
        <p:blipFill>
          <a:blip r:embed="rId8"/>
          <a:stretch>
            <a:fillRect/>
          </a:stretch>
        </p:blipFill>
        <p:spPr>
          <a:xfrm>
            <a:off x="8759952" y="4507992"/>
            <a:ext cx="219456" cy="219456"/>
          </a:xfrm>
          <a:prstGeom prst="rect">
            <a:avLst/>
          </a:prstGeom>
        </p:spPr>
      </p:pic>
      <p:sp>
        <p:nvSpPr>
          <p:cNvPr id="36" name="step_45"/>
          <p:cNvSpPr/>
          <p:nvPr/>
        </p:nvSpPr>
        <p:spPr>
          <a:xfrm>
            <a:off x="9089136" y="4251960"/>
            <a:ext cx="713232" cy="713232"/>
          </a:xfrm>
          <a:prstGeom prst="ellipse">
            <a:avLst/>
          </a:prstGeom>
          <a:solidFill>
            <a:srgbClr val="2E2FA8"/>
          </a:solidFill>
          <a:ln/>
        </p:spPr>
      </p:sp>
      <p:pic>
        <p:nvPicPr>
          <p:cNvPr id="37" name="step_icon_46" descr="/tmp/claude-0/-home-claude/584731ee-e493-5c78-a637-0b254e057472/scratchpad/deck/img/i_white_chart.png">    </p:cNvPr>
          <p:cNvPicPr>
            <a:picLocks noChangeAspect="1"/>
          </p:cNvPicPr>
          <p:nvPr/>
        </p:nvPicPr>
        <p:blipFill>
          <a:blip r:embed="rId9"/>
          <a:stretch>
            <a:fillRect/>
          </a:stretch>
        </p:blipFill>
        <p:spPr>
          <a:xfrm>
            <a:off x="9281160" y="4443984"/>
            <a:ext cx="329184" cy="329184"/>
          </a:xfrm>
          <a:prstGeom prst="rect">
            <a:avLst/>
          </a:prstGeom>
        </p:spPr>
      </p:pic>
      <p:sp>
        <p:nvSpPr>
          <p:cNvPr id="38" name="text_47"/>
          <p:cNvSpPr txBox="1"/>
          <p:nvPr/>
        </p:nvSpPr>
        <p:spPr>
          <a:xfrm>
            <a:off x="8906256" y="5029200"/>
            <a:ext cx="1078992" cy="274320"/>
          </a:xfrm>
          <a:prstGeom prst="rect">
            <a:avLst/>
          </a:prstGeom>
          <a:noFill/>
          <a:ln/>
        </p:spPr>
        <p:txBody>
          <a:bodyPr wrap="square" lIns="0" tIns="0" rIns="0" bIns="0" rtlCol="0" anchor="t"/>
          <a:lstStyle/>
          <a:p>
            <a:pPr algn="ctr" indent="0" marL="0">
              <a:buNone/>
            </a:pPr>
            <a:r>
              <a:rPr lang="en-US" sz="1200" b="1" dirty="0">
                <a:solidFill>
                  <a:schemeClr val="bg1"/>
                </a:solidFill>
              </a:rPr>
              <a:t>Track</a:t>
            </a:r>
            <a:endParaRPr lang="en-US" sz="1200" dirty="0"/>
          </a:p>
        </p:txBody>
      </p:sp>
      <p:pic>
        <p:nvPicPr>
          <p:cNvPr id="39" name="arrow_48" descr="/tmp/claude-0/-home-claude/584731ee-e493-5c78-a637-0b254e057472/scratchpad/deck/img/i_arrow.png">    </p:cNvPr>
          <p:cNvPicPr>
            <a:picLocks noChangeAspect="1"/>
          </p:cNvPicPr>
          <p:nvPr/>
        </p:nvPicPr>
        <p:blipFill>
          <a:blip r:embed="rId10"/>
          <a:stretch>
            <a:fillRect/>
          </a:stretch>
        </p:blipFill>
        <p:spPr>
          <a:xfrm>
            <a:off x="9875520" y="4507992"/>
            <a:ext cx="219456" cy="219456"/>
          </a:xfrm>
          <a:prstGeom prst="rect">
            <a:avLst/>
          </a:prstGeom>
        </p:spPr>
      </p:pic>
      <p:sp>
        <p:nvSpPr>
          <p:cNvPr id="40" name="step_49"/>
          <p:cNvSpPr/>
          <p:nvPr/>
        </p:nvSpPr>
        <p:spPr>
          <a:xfrm>
            <a:off x="10204704" y="4251960"/>
            <a:ext cx="713232" cy="713232"/>
          </a:xfrm>
          <a:prstGeom prst="ellipse">
            <a:avLst/>
          </a:prstGeom>
          <a:solidFill>
            <a:srgbClr val="2E2FA8"/>
          </a:solidFill>
          <a:ln/>
        </p:spPr>
      </p:sp>
      <p:pic>
        <p:nvPicPr>
          <p:cNvPr id="41" name="step_icon_50" descr="/tmp/claude-0/-home-claude/584731ee-e493-5c78-a637-0b254e057472/scratchpad/deck/img/i_white_bell.png">    </p:cNvPr>
          <p:cNvPicPr>
            <a:picLocks noChangeAspect="1"/>
          </p:cNvPicPr>
          <p:nvPr/>
        </p:nvPicPr>
        <p:blipFill>
          <a:blip r:embed="rId11"/>
          <a:stretch>
            <a:fillRect/>
          </a:stretch>
        </p:blipFill>
        <p:spPr>
          <a:xfrm>
            <a:off x="10396728" y="4443984"/>
            <a:ext cx="329184" cy="329184"/>
          </a:xfrm>
          <a:prstGeom prst="rect">
            <a:avLst/>
          </a:prstGeom>
        </p:spPr>
      </p:pic>
      <p:sp>
        <p:nvSpPr>
          <p:cNvPr id="42" name="text_51"/>
          <p:cNvSpPr txBox="1"/>
          <p:nvPr/>
        </p:nvSpPr>
        <p:spPr>
          <a:xfrm>
            <a:off x="10021824" y="5029200"/>
            <a:ext cx="1078992" cy="274320"/>
          </a:xfrm>
          <a:prstGeom prst="rect">
            <a:avLst/>
          </a:prstGeom>
          <a:noFill/>
          <a:ln/>
        </p:spPr>
        <p:txBody>
          <a:bodyPr wrap="square" lIns="0" tIns="0" rIns="0" bIns="0" rtlCol="0" anchor="t"/>
          <a:lstStyle/>
          <a:p>
            <a:pPr algn="ctr" indent="0" marL="0">
              <a:buNone/>
            </a:pPr>
            <a:r>
              <a:rPr lang="en-US" sz="1200" b="1" dirty="0">
                <a:solidFill>
                  <a:schemeClr val="bg1"/>
                </a:solidFill>
              </a:rPr>
              <a:t>Remind</a:t>
            </a:r>
            <a:endParaRPr lang="en-US" sz="1200" dirty="0"/>
          </a:p>
        </p:txBody>
      </p:sp>
      <p:sp>
        <p:nvSpPr>
          <p:cNvPr id="43" name="text_52"/>
          <p:cNvSpPr txBox="1"/>
          <p:nvPr/>
        </p:nvSpPr>
        <p:spPr>
          <a:xfrm>
            <a:off x="6858000" y="5440680"/>
            <a:ext cx="4389120" cy="274320"/>
          </a:xfrm>
          <a:prstGeom prst="rect">
            <a:avLst/>
          </a:prstGeom>
          <a:noFill/>
          <a:ln/>
        </p:spPr>
        <p:txBody>
          <a:bodyPr wrap="square" lIns="0" tIns="0" rIns="0" bIns="0" rtlCol="0" anchor="t"/>
          <a:lstStyle/>
          <a:p>
            <a:pPr indent="0" marL="0">
              <a:buNone/>
            </a:pPr>
            <a:r>
              <a:rPr lang="en-US" sz="1200" i="1" dirty="0">
                <a:solidFill>
                  <a:srgbClr val="D6D8FF"/>
                </a:solidFill>
              </a:rPr>
              <a:t>100% local  ·  no paid AI  ·  no API keys</a:t>
            </a:r>
            <a:endParaRPr lang="en-US" sz="1200" dirty="0"/>
          </a:p>
        </p:txBody>
      </p:sp>
      <p:sp>
        <p:nvSpPr>
          <p:cNvPr id="25" name="Slide Number Placeholder 0"/>
          <p:cNvSpPr>
            <a:spLocks noGrp="1"/>
          </p:cNvSpPr>
          <p:nvPr>
            <p:ph type="sldNum" sz="quarter" idx="4294967295"/>
          </p:nvPr>
        </p:nvSpPr>
        <p:spPr>
          <a:xfrm>
            <a:off x="11109960" y="6355080"/>
            <a:ext cx="530352"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bg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8229600" cy="274320"/>
          </a:xfrm>
          <a:prstGeom prst="rect">
            <a:avLst/>
          </a:prstGeom>
          <a:noFill/>
          <a:ln/>
        </p:spPr>
        <p:txBody>
          <a:bodyPr wrap="square" lIns="0" tIns="0" rIns="0" bIns="0" rtlCol="0" anchor="ctr"/>
          <a:lstStyle/>
          <a:p>
            <a:pPr algn="l" indent="0" marL="0">
              <a:buNone/>
            </a:pPr>
            <a:r>
              <a:rPr lang="en-US" sz="1200" b="1" spc="200" kern="0" dirty="0">
                <a:solidFill>
                  <a:schemeClr val="accent2"/>
                </a:solidFill>
              </a:rPr>
              <a:t>STATUS AT REVIEW 2</a:t>
            </a:r>
            <a:endParaRPr lang="en-US" sz="1200" dirty="0"/>
          </a:p>
        </p:txBody>
      </p:sp>
      <p:sp>
        <p:nvSpPr>
          <p:cNvPr id="3" name="Text 0"/>
          <p:cNvSpPr/>
          <p:nvPr>
            <p:ph idx="101" type="title" hasCustomPrompt="1"/>
          </p:nvPr>
        </p:nvSpPr>
        <p:spPr>
          <a:xfrm>
            <a:off x="548640" y="603504"/>
            <a:ext cx="11064240" cy="685800"/>
          </a:xfrm>
          <a:prstGeom prst="rect">
            <a:avLst/>
          </a:prstGeom>
          <a:noFill/>
          <a:ln/>
        </p:spPr>
        <p:txBody>
          <a:bodyPr wrap="square" lIns="0" tIns="0" rIns="0" bIns="0" rtlCol="0" anchor="ctr"/>
          <a:lstStyle/>
          <a:p>
            <a:pPr algn="l" indent="0" marL="0">
              <a:buNone/>
            </a:pPr>
            <a:r>
              <a:rPr lang="en-US" sz="3200" b="1" dirty="0">
                <a:solidFill>
                  <a:schemeClr val="bg1"/>
                </a:solidFill>
              </a:rPr>
              <a:t>What's built and working today</a:t>
            </a:r>
            <a:endParaRPr lang="en-US" sz="3200" dirty="0"/>
          </a:p>
        </p:txBody>
      </p:sp>
      <p:sp>
        <p:nvSpPr>
          <p:cNvPr id="4" name="stat_tile_53"/>
          <p:cNvSpPr/>
          <p:nvPr/>
        </p:nvSpPr>
        <p:spPr>
          <a:xfrm>
            <a:off x="548640" y="1554480"/>
            <a:ext cx="3520440" cy="2103120"/>
          </a:xfrm>
          <a:prstGeom prst="roundRect">
            <a:avLst>
              <a:gd name="adj" fmla="val 5217"/>
            </a:avLst>
          </a:prstGeom>
          <a:solidFill>
            <a:schemeClr val="tx2"/>
          </a:solidFill>
          <a:ln w="9525">
            <a:solidFill>
              <a:srgbClr val="2B3470"/>
            </a:solidFill>
            <a:prstDash val="solid"/>
          </a:ln>
        </p:spPr>
      </p:sp>
      <p:sp>
        <p:nvSpPr>
          <p:cNvPr id="5" name="icon_bg_54"/>
          <p:cNvSpPr/>
          <p:nvPr/>
        </p:nvSpPr>
        <p:spPr>
          <a:xfrm>
            <a:off x="822960" y="1828800"/>
            <a:ext cx="548640" cy="548640"/>
          </a:xfrm>
          <a:prstGeom prst="roundRect">
            <a:avLst>
              <a:gd name="adj" fmla="val 24000"/>
            </a:avLst>
          </a:prstGeom>
          <a:solidFill>
            <a:schemeClr val="accent1">
              <a:alpha val="22000"/>
            </a:schemeClr>
          </a:solidFill>
          <a:ln/>
        </p:spPr>
      </p:sp>
      <p:pic>
        <p:nvPicPr>
          <p:cNvPr id="6" name="icon_55" descr="/tmp/claude-0/-home-claude/584731ee-e493-5c78-a637-0b254e057472/scratchpad/deck/img/i_code.png">    </p:cNvPr>
          <p:cNvPicPr>
            <a:picLocks noChangeAspect="1"/>
          </p:cNvPicPr>
          <p:nvPr/>
        </p:nvPicPr>
        <p:blipFill>
          <a:blip r:embed="rId1"/>
          <a:stretch>
            <a:fillRect/>
          </a:stretch>
        </p:blipFill>
        <p:spPr>
          <a:xfrm>
            <a:off x="954634" y="1960474"/>
            <a:ext cx="285293" cy="285293"/>
          </a:xfrm>
          <a:prstGeom prst="rect">
            <a:avLst/>
          </a:prstGeom>
        </p:spPr>
      </p:pic>
      <p:sp>
        <p:nvSpPr>
          <p:cNvPr id="7" name="text_56"/>
          <p:cNvSpPr txBox="1"/>
          <p:nvPr/>
        </p:nvSpPr>
        <p:spPr>
          <a:xfrm>
            <a:off x="822960" y="2395728"/>
            <a:ext cx="3017520" cy="731520"/>
          </a:xfrm>
          <a:prstGeom prst="rect">
            <a:avLst/>
          </a:prstGeom>
          <a:noFill/>
          <a:ln/>
        </p:spPr>
        <p:txBody>
          <a:bodyPr wrap="square" lIns="0" tIns="0" rIns="0" bIns="0" rtlCol="0" anchor="t"/>
          <a:lstStyle/>
          <a:p>
            <a:pPr indent="0" marL="0">
              <a:buNone/>
            </a:pPr>
            <a:r>
              <a:rPr lang="en-US" sz="4400" b="1" dirty="0">
                <a:solidFill>
                  <a:schemeClr val="accent1"/>
                </a:solidFill>
              </a:rPr>
              <a:t>2,412</a:t>
            </a:r>
            <a:endParaRPr lang="en-US" sz="4400" dirty="0"/>
          </a:p>
        </p:txBody>
      </p:sp>
      <p:sp>
        <p:nvSpPr>
          <p:cNvPr id="8" name="text_57"/>
          <p:cNvSpPr txBox="1"/>
          <p:nvPr/>
        </p:nvSpPr>
        <p:spPr>
          <a:xfrm>
            <a:off x="822960" y="3090672"/>
            <a:ext cx="3017520" cy="274320"/>
          </a:xfrm>
          <a:prstGeom prst="rect">
            <a:avLst/>
          </a:prstGeom>
          <a:noFill/>
          <a:ln/>
        </p:spPr>
        <p:txBody>
          <a:bodyPr wrap="square" lIns="0" tIns="0" rIns="0" bIns="0" rtlCol="0" anchor="t"/>
          <a:lstStyle/>
          <a:p>
            <a:pPr indent="0" marL="0">
              <a:buNone/>
            </a:pPr>
            <a:r>
              <a:rPr lang="en-US" sz="1500" b="1" dirty="0">
                <a:solidFill>
                  <a:schemeClr val="bg1"/>
                </a:solidFill>
              </a:rPr>
              <a:t>lines of Python</a:t>
            </a:r>
            <a:endParaRPr lang="en-US" sz="1500" dirty="0"/>
          </a:p>
        </p:txBody>
      </p:sp>
      <p:sp>
        <p:nvSpPr>
          <p:cNvPr id="9" name="text_58"/>
          <p:cNvSpPr txBox="1"/>
          <p:nvPr/>
        </p:nvSpPr>
        <p:spPr>
          <a:xfrm>
            <a:off x="822960" y="3364992"/>
            <a:ext cx="3108960" cy="256032"/>
          </a:xfrm>
          <a:prstGeom prst="rect">
            <a:avLst/>
          </a:prstGeom>
          <a:noFill/>
          <a:ln/>
        </p:spPr>
        <p:txBody>
          <a:bodyPr wrap="square" lIns="0" tIns="0" rIns="0" bIns="0" rtlCol="0" anchor="t"/>
          <a:lstStyle/>
          <a:p>
            <a:pPr indent="0" marL="0">
              <a:buNone/>
            </a:pPr>
            <a:r>
              <a:rPr lang="en-US" sz="1150" dirty="0">
                <a:solidFill>
                  <a:schemeClr val="bg2"/>
                </a:solidFill>
              </a:rPr>
              <a:t>across the app, modules, tests and scripts</a:t>
            </a:r>
            <a:endParaRPr lang="en-US" sz="1150" dirty="0"/>
          </a:p>
        </p:txBody>
      </p:sp>
      <p:sp>
        <p:nvSpPr>
          <p:cNvPr id="10" name="stat_tile_59"/>
          <p:cNvSpPr/>
          <p:nvPr/>
        </p:nvSpPr>
        <p:spPr>
          <a:xfrm>
            <a:off x="4343400" y="1554480"/>
            <a:ext cx="3520440" cy="2103120"/>
          </a:xfrm>
          <a:prstGeom prst="roundRect">
            <a:avLst>
              <a:gd name="adj" fmla="val 5217"/>
            </a:avLst>
          </a:prstGeom>
          <a:solidFill>
            <a:schemeClr val="tx2"/>
          </a:solidFill>
          <a:ln w="9525">
            <a:solidFill>
              <a:srgbClr val="2B3470"/>
            </a:solidFill>
            <a:prstDash val="solid"/>
          </a:ln>
        </p:spPr>
      </p:sp>
      <p:sp>
        <p:nvSpPr>
          <p:cNvPr id="11" name="icon_bg_60"/>
          <p:cNvSpPr/>
          <p:nvPr/>
        </p:nvSpPr>
        <p:spPr>
          <a:xfrm>
            <a:off x="4617720" y="1828800"/>
            <a:ext cx="548640" cy="548640"/>
          </a:xfrm>
          <a:prstGeom prst="roundRect">
            <a:avLst>
              <a:gd name="adj" fmla="val 24000"/>
            </a:avLst>
          </a:prstGeom>
          <a:solidFill>
            <a:schemeClr val="accent2">
              <a:alpha val="22000"/>
            </a:schemeClr>
          </a:solidFill>
          <a:ln/>
        </p:spPr>
      </p:sp>
      <p:pic>
        <p:nvPicPr>
          <p:cNvPr id="12" name="icon_61" descr="/tmp/claude-0/-home-claude/584731ee-e493-5c78-a637-0b254e057472/scratchpad/deck/img/i_gears.png">    </p:cNvPr>
          <p:cNvPicPr>
            <a:picLocks noChangeAspect="1"/>
          </p:cNvPicPr>
          <p:nvPr/>
        </p:nvPicPr>
        <p:blipFill>
          <a:blip r:embed="rId2"/>
          <a:stretch>
            <a:fillRect/>
          </a:stretch>
        </p:blipFill>
        <p:spPr>
          <a:xfrm>
            <a:off x="4749394" y="1960474"/>
            <a:ext cx="285293" cy="285293"/>
          </a:xfrm>
          <a:prstGeom prst="rect">
            <a:avLst/>
          </a:prstGeom>
        </p:spPr>
      </p:pic>
      <p:sp>
        <p:nvSpPr>
          <p:cNvPr id="13" name="text_62"/>
          <p:cNvSpPr txBox="1"/>
          <p:nvPr/>
        </p:nvSpPr>
        <p:spPr>
          <a:xfrm>
            <a:off x="4617720" y="2395728"/>
            <a:ext cx="3017520" cy="731520"/>
          </a:xfrm>
          <a:prstGeom prst="rect">
            <a:avLst/>
          </a:prstGeom>
          <a:noFill/>
          <a:ln/>
        </p:spPr>
        <p:txBody>
          <a:bodyPr wrap="square" lIns="0" tIns="0" rIns="0" bIns="0" rtlCol="0" anchor="t"/>
          <a:lstStyle/>
          <a:p>
            <a:pPr indent="0" marL="0">
              <a:buNone/>
            </a:pPr>
            <a:r>
              <a:rPr lang="en-US" sz="4400" b="1" dirty="0">
                <a:solidFill>
                  <a:schemeClr val="accent2"/>
                </a:solidFill>
              </a:rPr>
              <a:t>12</a:t>
            </a:r>
            <a:endParaRPr lang="en-US" sz="4400" dirty="0"/>
          </a:p>
        </p:txBody>
      </p:sp>
      <p:sp>
        <p:nvSpPr>
          <p:cNvPr id="14" name="text_63"/>
          <p:cNvSpPr txBox="1"/>
          <p:nvPr/>
        </p:nvSpPr>
        <p:spPr>
          <a:xfrm>
            <a:off x="4617720" y="3090672"/>
            <a:ext cx="3017520" cy="274320"/>
          </a:xfrm>
          <a:prstGeom prst="rect">
            <a:avLst/>
          </a:prstGeom>
          <a:noFill/>
          <a:ln/>
        </p:spPr>
        <p:txBody>
          <a:bodyPr wrap="square" lIns="0" tIns="0" rIns="0" bIns="0" rtlCol="0" anchor="t"/>
          <a:lstStyle/>
          <a:p>
            <a:pPr indent="0" marL="0">
              <a:buNone/>
            </a:pPr>
            <a:r>
              <a:rPr lang="en-US" sz="1500" b="1" dirty="0">
                <a:solidFill>
                  <a:schemeClr val="bg1"/>
                </a:solidFill>
              </a:rPr>
              <a:t>application files</a:t>
            </a:r>
            <a:endParaRPr lang="en-US" sz="1500" dirty="0"/>
          </a:p>
        </p:txBody>
      </p:sp>
      <p:sp>
        <p:nvSpPr>
          <p:cNvPr id="15" name="text_64"/>
          <p:cNvSpPr txBox="1"/>
          <p:nvPr/>
        </p:nvSpPr>
        <p:spPr>
          <a:xfrm>
            <a:off x="4617720" y="3364992"/>
            <a:ext cx="3108960" cy="256032"/>
          </a:xfrm>
          <a:prstGeom prst="rect">
            <a:avLst/>
          </a:prstGeom>
          <a:noFill/>
          <a:ln/>
        </p:spPr>
        <p:txBody>
          <a:bodyPr wrap="square" lIns="0" tIns="0" rIns="0" bIns="0" rtlCol="0" anchor="t"/>
          <a:lstStyle/>
          <a:p>
            <a:pPr indent="0" marL="0">
              <a:buNone/>
            </a:pPr>
            <a:r>
              <a:rPr lang="en-US" sz="1150" dirty="0">
                <a:solidFill>
                  <a:schemeClr val="bg2"/>
                </a:solidFill>
              </a:rPr>
              <a:t>app.py + 11 modules in the lifeadmin package</a:t>
            </a:r>
            <a:endParaRPr lang="en-US" sz="1150" dirty="0"/>
          </a:p>
        </p:txBody>
      </p:sp>
      <p:sp>
        <p:nvSpPr>
          <p:cNvPr id="16" name="stat_tile_65"/>
          <p:cNvSpPr/>
          <p:nvPr/>
        </p:nvSpPr>
        <p:spPr>
          <a:xfrm>
            <a:off x="8138160" y="1554480"/>
            <a:ext cx="3520440" cy="2103120"/>
          </a:xfrm>
          <a:prstGeom prst="roundRect">
            <a:avLst>
              <a:gd name="adj" fmla="val 5217"/>
            </a:avLst>
          </a:prstGeom>
          <a:solidFill>
            <a:schemeClr val="tx2"/>
          </a:solidFill>
          <a:ln w="9525">
            <a:solidFill>
              <a:srgbClr val="2B3470"/>
            </a:solidFill>
            <a:prstDash val="solid"/>
          </a:ln>
        </p:spPr>
      </p:sp>
      <p:sp>
        <p:nvSpPr>
          <p:cNvPr id="17" name="icon_bg_66"/>
          <p:cNvSpPr/>
          <p:nvPr/>
        </p:nvSpPr>
        <p:spPr>
          <a:xfrm>
            <a:off x="8412480" y="1828800"/>
            <a:ext cx="548640" cy="548640"/>
          </a:xfrm>
          <a:prstGeom prst="roundRect">
            <a:avLst>
              <a:gd name="adj" fmla="val 24000"/>
            </a:avLst>
          </a:prstGeom>
          <a:solidFill>
            <a:schemeClr val="accent3">
              <a:alpha val="22000"/>
            </a:schemeClr>
          </a:solidFill>
          <a:ln/>
        </p:spPr>
      </p:sp>
      <p:pic>
        <p:nvPicPr>
          <p:cNvPr id="18" name="icon_67" descr="/tmp/claude-0/-home-claude/584731ee-e493-5c78-a637-0b254e057472/scratchpad/deck/img/i_flask.png">    </p:cNvPr>
          <p:cNvPicPr>
            <a:picLocks noChangeAspect="1"/>
          </p:cNvPicPr>
          <p:nvPr/>
        </p:nvPicPr>
        <p:blipFill>
          <a:blip r:embed="rId3"/>
          <a:stretch>
            <a:fillRect/>
          </a:stretch>
        </p:blipFill>
        <p:spPr>
          <a:xfrm>
            <a:off x="8544154" y="1960474"/>
            <a:ext cx="285293" cy="285293"/>
          </a:xfrm>
          <a:prstGeom prst="rect">
            <a:avLst/>
          </a:prstGeom>
        </p:spPr>
      </p:pic>
      <p:sp>
        <p:nvSpPr>
          <p:cNvPr id="19" name="text_68"/>
          <p:cNvSpPr txBox="1"/>
          <p:nvPr/>
        </p:nvSpPr>
        <p:spPr>
          <a:xfrm>
            <a:off x="8412480" y="2395728"/>
            <a:ext cx="3017520" cy="731520"/>
          </a:xfrm>
          <a:prstGeom prst="rect">
            <a:avLst/>
          </a:prstGeom>
          <a:noFill/>
          <a:ln/>
        </p:spPr>
        <p:txBody>
          <a:bodyPr wrap="square" lIns="0" tIns="0" rIns="0" bIns="0" rtlCol="0" anchor="t"/>
          <a:lstStyle/>
          <a:p>
            <a:pPr indent="0" marL="0">
              <a:buNone/>
            </a:pPr>
            <a:r>
              <a:rPr lang="en-US" sz="4400" b="1" dirty="0">
                <a:solidFill>
                  <a:schemeClr val="accent3"/>
                </a:solidFill>
              </a:rPr>
              <a:t>28/28</a:t>
            </a:r>
            <a:endParaRPr lang="en-US" sz="4400" dirty="0"/>
          </a:p>
        </p:txBody>
      </p:sp>
      <p:sp>
        <p:nvSpPr>
          <p:cNvPr id="20" name="text_69"/>
          <p:cNvSpPr txBox="1"/>
          <p:nvPr/>
        </p:nvSpPr>
        <p:spPr>
          <a:xfrm>
            <a:off x="8412480" y="3090672"/>
            <a:ext cx="3017520" cy="274320"/>
          </a:xfrm>
          <a:prstGeom prst="rect">
            <a:avLst/>
          </a:prstGeom>
          <a:noFill/>
          <a:ln/>
        </p:spPr>
        <p:txBody>
          <a:bodyPr wrap="square" lIns="0" tIns="0" rIns="0" bIns="0" rtlCol="0" anchor="t"/>
          <a:lstStyle/>
          <a:p>
            <a:pPr indent="0" marL="0">
              <a:buNone/>
            </a:pPr>
            <a:r>
              <a:rPr lang="en-US" sz="1500" b="1" dirty="0">
                <a:solidFill>
                  <a:schemeClr val="bg1"/>
                </a:solidFill>
              </a:rPr>
              <a:t>tests passing</a:t>
            </a:r>
            <a:endParaRPr lang="en-US" sz="1500" dirty="0"/>
          </a:p>
        </p:txBody>
      </p:sp>
      <p:sp>
        <p:nvSpPr>
          <p:cNvPr id="21" name="text_70"/>
          <p:cNvSpPr txBox="1"/>
          <p:nvPr/>
        </p:nvSpPr>
        <p:spPr>
          <a:xfrm>
            <a:off x="8412480" y="3364992"/>
            <a:ext cx="3108960" cy="256032"/>
          </a:xfrm>
          <a:prstGeom prst="rect">
            <a:avLst/>
          </a:prstGeom>
          <a:noFill/>
          <a:ln/>
        </p:spPr>
        <p:txBody>
          <a:bodyPr wrap="square" lIns="0" tIns="0" rIns="0" bIns="0" rtlCol="0" anchor="t"/>
          <a:lstStyle/>
          <a:p>
            <a:pPr indent="0" marL="0">
              <a:buNone/>
            </a:pPr>
            <a:r>
              <a:rPr lang="en-US" sz="1150" dirty="0">
                <a:solidFill>
                  <a:schemeClr val="bg2"/>
                </a:solidFill>
              </a:rPr>
              <a:t>pytest suite + headless check of every screen</a:t>
            </a:r>
            <a:endParaRPr lang="en-US" sz="1150" dirty="0"/>
          </a:p>
        </p:txBody>
      </p:sp>
      <p:sp>
        <p:nvSpPr>
          <p:cNvPr id="22" name="stat_tile_71"/>
          <p:cNvSpPr/>
          <p:nvPr/>
        </p:nvSpPr>
        <p:spPr>
          <a:xfrm>
            <a:off x="548640" y="3886200"/>
            <a:ext cx="3520440" cy="2103120"/>
          </a:xfrm>
          <a:prstGeom prst="roundRect">
            <a:avLst>
              <a:gd name="adj" fmla="val 5217"/>
            </a:avLst>
          </a:prstGeom>
          <a:solidFill>
            <a:schemeClr val="tx2"/>
          </a:solidFill>
          <a:ln w="9525">
            <a:solidFill>
              <a:srgbClr val="2B3470"/>
            </a:solidFill>
            <a:prstDash val="solid"/>
          </a:ln>
        </p:spPr>
      </p:sp>
      <p:sp>
        <p:nvSpPr>
          <p:cNvPr id="23" name="icon_bg_72"/>
          <p:cNvSpPr/>
          <p:nvPr/>
        </p:nvSpPr>
        <p:spPr>
          <a:xfrm>
            <a:off x="822960" y="4160520"/>
            <a:ext cx="548640" cy="548640"/>
          </a:xfrm>
          <a:prstGeom prst="roundRect">
            <a:avLst>
              <a:gd name="adj" fmla="val 24000"/>
            </a:avLst>
          </a:prstGeom>
          <a:solidFill>
            <a:schemeClr val="accent2">
              <a:alpha val="22000"/>
            </a:schemeClr>
          </a:solidFill>
          <a:ln/>
        </p:spPr>
      </p:sp>
      <p:pic>
        <p:nvPicPr>
          <p:cNvPr id="24" name="icon_73" descr="/tmp/claude-0/-home-claude/584731ee-e493-5c78-a637-0b254e057472/scratchpad/deck/img/i_layout.png">    </p:cNvPr>
          <p:cNvPicPr>
            <a:picLocks noChangeAspect="1"/>
          </p:cNvPicPr>
          <p:nvPr/>
        </p:nvPicPr>
        <p:blipFill>
          <a:blip r:embed="rId4"/>
          <a:stretch>
            <a:fillRect/>
          </a:stretch>
        </p:blipFill>
        <p:spPr>
          <a:xfrm>
            <a:off x="954634" y="4292194"/>
            <a:ext cx="285293" cy="285293"/>
          </a:xfrm>
          <a:prstGeom prst="rect">
            <a:avLst/>
          </a:prstGeom>
        </p:spPr>
      </p:pic>
      <p:sp>
        <p:nvSpPr>
          <p:cNvPr id="25" name="text_74"/>
          <p:cNvSpPr txBox="1"/>
          <p:nvPr/>
        </p:nvSpPr>
        <p:spPr>
          <a:xfrm>
            <a:off x="822960" y="4727448"/>
            <a:ext cx="3017520" cy="731520"/>
          </a:xfrm>
          <a:prstGeom prst="rect">
            <a:avLst/>
          </a:prstGeom>
          <a:noFill/>
          <a:ln/>
        </p:spPr>
        <p:txBody>
          <a:bodyPr wrap="square" lIns="0" tIns="0" rIns="0" bIns="0" rtlCol="0" anchor="t"/>
          <a:lstStyle/>
          <a:p>
            <a:pPr indent="0" marL="0">
              <a:buNone/>
            </a:pPr>
            <a:r>
              <a:rPr lang="en-US" sz="4400" b="1" dirty="0">
                <a:solidFill>
                  <a:schemeClr val="accent2"/>
                </a:solidFill>
              </a:rPr>
              <a:t>4</a:t>
            </a:r>
            <a:endParaRPr lang="en-US" sz="4400" dirty="0"/>
          </a:p>
        </p:txBody>
      </p:sp>
      <p:sp>
        <p:nvSpPr>
          <p:cNvPr id="26" name="text_75"/>
          <p:cNvSpPr txBox="1"/>
          <p:nvPr/>
        </p:nvSpPr>
        <p:spPr>
          <a:xfrm>
            <a:off x="822960" y="5422392"/>
            <a:ext cx="3017520" cy="274320"/>
          </a:xfrm>
          <a:prstGeom prst="rect">
            <a:avLst/>
          </a:prstGeom>
          <a:noFill/>
          <a:ln/>
        </p:spPr>
        <p:txBody>
          <a:bodyPr wrap="square" lIns="0" tIns="0" rIns="0" bIns="0" rtlCol="0" anchor="t"/>
          <a:lstStyle/>
          <a:p>
            <a:pPr indent="0" marL="0">
              <a:buNone/>
            </a:pPr>
            <a:r>
              <a:rPr lang="en-US" sz="1500" b="1" dirty="0">
                <a:solidFill>
                  <a:schemeClr val="bg1"/>
                </a:solidFill>
              </a:rPr>
              <a:t>screens</a:t>
            </a:r>
            <a:endParaRPr lang="en-US" sz="1500" dirty="0"/>
          </a:p>
        </p:txBody>
      </p:sp>
      <p:sp>
        <p:nvSpPr>
          <p:cNvPr id="27" name="text_76"/>
          <p:cNvSpPr txBox="1"/>
          <p:nvPr/>
        </p:nvSpPr>
        <p:spPr>
          <a:xfrm>
            <a:off x="822960" y="5696712"/>
            <a:ext cx="3108960" cy="256032"/>
          </a:xfrm>
          <a:prstGeom prst="rect">
            <a:avLst/>
          </a:prstGeom>
          <a:noFill/>
          <a:ln/>
        </p:spPr>
        <p:txBody>
          <a:bodyPr wrap="square" lIns="0" tIns="0" rIns="0" bIns="0" rtlCol="0" anchor="t"/>
          <a:lstStyle/>
          <a:p>
            <a:pPr indent="0" marL="0">
              <a:buNone/>
            </a:pPr>
            <a:r>
              <a:rPr lang="en-US" sz="1150" dirty="0">
                <a:solidFill>
                  <a:schemeClr val="bg2"/>
                </a:solidFill>
              </a:rPr>
              <a:t>Dashboard · Upload · Documents · Reminders</a:t>
            </a:r>
            <a:endParaRPr lang="en-US" sz="1150" dirty="0"/>
          </a:p>
        </p:txBody>
      </p:sp>
      <p:sp>
        <p:nvSpPr>
          <p:cNvPr id="28" name="stat_tile_77"/>
          <p:cNvSpPr/>
          <p:nvPr/>
        </p:nvSpPr>
        <p:spPr>
          <a:xfrm>
            <a:off x="4343400" y="3886200"/>
            <a:ext cx="3520440" cy="2103120"/>
          </a:xfrm>
          <a:prstGeom prst="roundRect">
            <a:avLst>
              <a:gd name="adj" fmla="val 5217"/>
            </a:avLst>
          </a:prstGeom>
          <a:solidFill>
            <a:schemeClr val="tx2"/>
          </a:solidFill>
          <a:ln w="9525">
            <a:solidFill>
              <a:srgbClr val="2B3470"/>
            </a:solidFill>
            <a:prstDash val="solid"/>
          </a:ln>
        </p:spPr>
      </p:sp>
      <p:sp>
        <p:nvSpPr>
          <p:cNvPr id="29" name="icon_bg_78"/>
          <p:cNvSpPr/>
          <p:nvPr/>
        </p:nvSpPr>
        <p:spPr>
          <a:xfrm>
            <a:off x="4617720" y="4160520"/>
            <a:ext cx="548640" cy="548640"/>
          </a:xfrm>
          <a:prstGeom prst="roundRect">
            <a:avLst>
              <a:gd name="adj" fmla="val 24000"/>
            </a:avLst>
          </a:prstGeom>
          <a:solidFill>
            <a:schemeClr val="accent6">
              <a:alpha val="22000"/>
            </a:schemeClr>
          </a:solidFill>
          <a:ln/>
        </p:spPr>
      </p:sp>
      <p:pic>
        <p:nvPicPr>
          <p:cNvPr id="30" name="icon_79" descr="/tmp/claude-0/-home-claude/584731ee-e493-5c78-a637-0b254e057472/scratchpad/deck/img/i_file.png">    </p:cNvPr>
          <p:cNvPicPr>
            <a:picLocks noChangeAspect="1"/>
          </p:cNvPicPr>
          <p:nvPr/>
        </p:nvPicPr>
        <p:blipFill>
          <a:blip r:embed="rId5"/>
          <a:stretch>
            <a:fillRect/>
          </a:stretch>
        </p:blipFill>
        <p:spPr>
          <a:xfrm>
            <a:off x="4749394" y="4292194"/>
            <a:ext cx="285293" cy="285293"/>
          </a:xfrm>
          <a:prstGeom prst="rect">
            <a:avLst/>
          </a:prstGeom>
        </p:spPr>
      </p:pic>
      <p:sp>
        <p:nvSpPr>
          <p:cNvPr id="31" name="text_80"/>
          <p:cNvSpPr txBox="1"/>
          <p:nvPr/>
        </p:nvSpPr>
        <p:spPr>
          <a:xfrm>
            <a:off x="4617720" y="4727448"/>
            <a:ext cx="3017520" cy="731520"/>
          </a:xfrm>
          <a:prstGeom prst="rect">
            <a:avLst/>
          </a:prstGeom>
          <a:noFill/>
          <a:ln/>
        </p:spPr>
        <p:txBody>
          <a:bodyPr wrap="square" lIns="0" tIns="0" rIns="0" bIns="0" rtlCol="0" anchor="t"/>
          <a:lstStyle/>
          <a:p>
            <a:pPr indent="0" marL="0">
              <a:buNone/>
            </a:pPr>
            <a:r>
              <a:rPr lang="en-US" sz="4400" b="1" dirty="0">
                <a:solidFill>
                  <a:schemeClr val="accent6"/>
                </a:solidFill>
              </a:rPr>
              <a:t>6</a:t>
            </a:r>
            <a:endParaRPr lang="en-US" sz="4400" dirty="0"/>
          </a:p>
        </p:txBody>
      </p:sp>
      <p:sp>
        <p:nvSpPr>
          <p:cNvPr id="32" name="text_81"/>
          <p:cNvSpPr txBox="1"/>
          <p:nvPr/>
        </p:nvSpPr>
        <p:spPr>
          <a:xfrm>
            <a:off x="4617720" y="5422392"/>
            <a:ext cx="3017520" cy="274320"/>
          </a:xfrm>
          <a:prstGeom prst="rect">
            <a:avLst/>
          </a:prstGeom>
          <a:noFill/>
          <a:ln/>
        </p:spPr>
        <p:txBody>
          <a:bodyPr wrap="square" lIns="0" tIns="0" rIns="0" bIns="0" rtlCol="0" anchor="t"/>
          <a:lstStyle/>
          <a:p>
            <a:pPr indent="0" marL="0">
              <a:buNone/>
            </a:pPr>
            <a:r>
              <a:rPr lang="en-US" sz="1500" b="1" dirty="0">
                <a:solidFill>
                  <a:schemeClr val="bg1"/>
                </a:solidFill>
              </a:rPr>
              <a:t>file formats</a:t>
            </a:r>
            <a:endParaRPr lang="en-US" sz="1500" dirty="0"/>
          </a:p>
        </p:txBody>
      </p:sp>
      <p:sp>
        <p:nvSpPr>
          <p:cNvPr id="33" name="text_82"/>
          <p:cNvSpPr txBox="1"/>
          <p:nvPr/>
        </p:nvSpPr>
        <p:spPr>
          <a:xfrm>
            <a:off x="4617720" y="5696712"/>
            <a:ext cx="3108960" cy="256032"/>
          </a:xfrm>
          <a:prstGeom prst="rect">
            <a:avLst/>
          </a:prstGeom>
          <a:noFill/>
          <a:ln/>
        </p:spPr>
        <p:txBody>
          <a:bodyPr wrap="square" lIns="0" tIns="0" rIns="0" bIns="0" rtlCol="0" anchor="t"/>
          <a:lstStyle/>
          <a:p>
            <a:pPr indent="0" marL="0">
              <a:buNone/>
            </a:pPr>
            <a:r>
              <a:rPr lang="en-US" sz="1150" dirty="0">
                <a:solidFill>
                  <a:schemeClr val="bg2"/>
                </a:solidFill>
              </a:rPr>
              <a:t>PDF, JPG, PNG, DOCX, XLSX and TXT</a:t>
            </a:r>
            <a:endParaRPr lang="en-US" sz="1150" dirty="0"/>
          </a:p>
        </p:txBody>
      </p:sp>
      <p:sp>
        <p:nvSpPr>
          <p:cNvPr id="34" name="stat_tile_83"/>
          <p:cNvSpPr/>
          <p:nvPr/>
        </p:nvSpPr>
        <p:spPr>
          <a:xfrm>
            <a:off x="8138160" y="3886200"/>
            <a:ext cx="3520440" cy="2103120"/>
          </a:xfrm>
          <a:prstGeom prst="roundRect">
            <a:avLst>
              <a:gd name="adj" fmla="val 5217"/>
            </a:avLst>
          </a:prstGeom>
          <a:solidFill>
            <a:schemeClr val="tx2"/>
          </a:solidFill>
          <a:ln w="9525">
            <a:solidFill>
              <a:srgbClr val="2B3470"/>
            </a:solidFill>
            <a:prstDash val="solid"/>
          </a:ln>
        </p:spPr>
      </p:sp>
      <p:sp>
        <p:nvSpPr>
          <p:cNvPr id="35" name="icon_bg_84"/>
          <p:cNvSpPr/>
          <p:nvPr/>
        </p:nvSpPr>
        <p:spPr>
          <a:xfrm>
            <a:off x="8412480" y="4160520"/>
            <a:ext cx="548640" cy="548640"/>
          </a:xfrm>
          <a:prstGeom prst="roundRect">
            <a:avLst>
              <a:gd name="adj" fmla="val 24000"/>
            </a:avLst>
          </a:prstGeom>
          <a:solidFill>
            <a:schemeClr val="accent4">
              <a:alpha val="22000"/>
            </a:schemeClr>
          </a:solidFill>
          <a:ln/>
        </p:spPr>
      </p:sp>
      <p:pic>
        <p:nvPicPr>
          <p:cNvPr id="36" name="icon_85" descr="/tmp/claude-0/-home-claude/584731ee-e493-5c78-a637-0b254e057472/scratchpad/deck/img/i_lock.png">    </p:cNvPr>
          <p:cNvPicPr>
            <a:picLocks noChangeAspect="1"/>
          </p:cNvPicPr>
          <p:nvPr/>
        </p:nvPicPr>
        <p:blipFill>
          <a:blip r:embed="rId6"/>
          <a:stretch>
            <a:fillRect/>
          </a:stretch>
        </p:blipFill>
        <p:spPr>
          <a:xfrm>
            <a:off x="8544154" y="4292194"/>
            <a:ext cx="285293" cy="285293"/>
          </a:xfrm>
          <a:prstGeom prst="rect">
            <a:avLst/>
          </a:prstGeom>
        </p:spPr>
      </p:pic>
      <p:sp>
        <p:nvSpPr>
          <p:cNvPr id="37" name="text_86"/>
          <p:cNvSpPr txBox="1"/>
          <p:nvPr/>
        </p:nvSpPr>
        <p:spPr>
          <a:xfrm>
            <a:off x="8412480" y="4727448"/>
            <a:ext cx="3017520" cy="731520"/>
          </a:xfrm>
          <a:prstGeom prst="rect">
            <a:avLst/>
          </a:prstGeom>
          <a:noFill/>
          <a:ln/>
        </p:spPr>
        <p:txBody>
          <a:bodyPr wrap="square" lIns="0" tIns="0" rIns="0" bIns="0" rtlCol="0" anchor="t"/>
          <a:lstStyle/>
          <a:p>
            <a:pPr indent="0" marL="0">
              <a:buNone/>
            </a:pPr>
            <a:r>
              <a:rPr lang="en-US" sz="4400" b="1" dirty="0">
                <a:solidFill>
                  <a:schemeClr val="accent4"/>
                </a:solidFill>
              </a:rPr>
              <a:t>₹0</a:t>
            </a:r>
            <a:endParaRPr lang="en-US" sz="4400" dirty="0"/>
          </a:p>
        </p:txBody>
      </p:sp>
      <p:sp>
        <p:nvSpPr>
          <p:cNvPr id="38" name="text_87"/>
          <p:cNvSpPr txBox="1"/>
          <p:nvPr/>
        </p:nvSpPr>
        <p:spPr>
          <a:xfrm>
            <a:off x="8412480" y="5422392"/>
            <a:ext cx="3017520" cy="274320"/>
          </a:xfrm>
          <a:prstGeom prst="rect">
            <a:avLst/>
          </a:prstGeom>
          <a:noFill/>
          <a:ln/>
        </p:spPr>
        <p:txBody>
          <a:bodyPr wrap="square" lIns="0" tIns="0" rIns="0" bIns="0" rtlCol="0" anchor="t"/>
          <a:lstStyle/>
          <a:p>
            <a:pPr indent="0" marL="0">
              <a:buNone/>
            </a:pPr>
            <a:r>
              <a:rPr lang="en-US" sz="1500" b="1" dirty="0">
                <a:solidFill>
                  <a:schemeClr val="bg1"/>
                </a:solidFill>
              </a:rPr>
              <a:t>running cost</a:t>
            </a:r>
            <a:endParaRPr lang="en-US" sz="1500" dirty="0"/>
          </a:p>
        </p:txBody>
      </p:sp>
      <p:sp>
        <p:nvSpPr>
          <p:cNvPr id="39" name="text_88"/>
          <p:cNvSpPr txBox="1"/>
          <p:nvPr/>
        </p:nvSpPr>
        <p:spPr>
          <a:xfrm>
            <a:off x="8412480" y="5696712"/>
            <a:ext cx="3108960" cy="256032"/>
          </a:xfrm>
          <a:prstGeom prst="rect">
            <a:avLst/>
          </a:prstGeom>
          <a:noFill/>
          <a:ln/>
        </p:spPr>
        <p:txBody>
          <a:bodyPr wrap="square" lIns="0" tIns="0" rIns="0" bIns="0" rtlCol="0" anchor="t"/>
          <a:lstStyle/>
          <a:p>
            <a:pPr indent="0" marL="0">
              <a:buNone/>
            </a:pPr>
            <a:r>
              <a:rPr lang="en-US" sz="1150" dirty="0">
                <a:solidFill>
                  <a:schemeClr val="bg2"/>
                </a:solidFill>
              </a:rPr>
              <a:t>runs offline: no paid AI, no API keys</a:t>
            </a:r>
            <a:endParaRPr lang="en-US" sz="1150" dirty="0"/>
          </a:p>
        </p:txBody>
      </p:sp>
      <p:sp>
        <p:nvSpPr>
          <p:cNvPr id="25" name="Slide Number Placeholder 0"/>
          <p:cNvSpPr>
            <a:spLocks noGrp="1"/>
          </p:cNvSpPr>
          <p:nvPr>
            <p:ph type="sldNum" sz="quarter" idx="4294967295"/>
          </p:nvPr>
        </p:nvSpPr>
        <p:spPr>
          <a:xfrm>
            <a:off x="11109960" y="6355080"/>
            <a:ext cx="530352"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bg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_89"/>
          <p:cNvSpPr txBox="1"/>
          <p:nvPr/>
        </p:nvSpPr>
        <p:spPr>
          <a:xfrm>
            <a:off x="566928" y="822960"/>
            <a:ext cx="4572000" cy="1920240"/>
          </a:xfrm>
          <a:prstGeom prst="rect">
            <a:avLst/>
          </a:prstGeom>
          <a:noFill/>
          <a:ln/>
        </p:spPr>
        <p:txBody>
          <a:bodyPr wrap="square" lIns="0" tIns="0" rIns="0" bIns="0" rtlCol="0" anchor="t"/>
          <a:lstStyle/>
          <a:p>
            <a:pPr indent="0" marL="0">
              <a:buNone/>
            </a:pPr>
            <a:r>
              <a:rPr lang="en-US" sz="14000" b="1" dirty="0">
                <a:solidFill>
                  <a:schemeClr val="accent1">
                    <a:alpha val="80000"/>
                  </a:schemeClr>
                </a:solidFill>
              </a:rPr>
              <a:t>01</a:t>
            </a:r>
            <a:endParaRPr lang="en-US" sz="14000" dirty="0"/>
          </a:p>
        </p:txBody>
      </p:sp>
      <p:sp>
        <p:nvSpPr>
          <p:cNvPr id="3" name="Text 0"/>
          <p:cNvSpPr/>
          <p:nvPr>
            <p:ph idx="100" type="title" hasCustomPrompt="1"/>
          </p:nvPr>
        </p:nvSpPr>
        <p:spPr>
          <a:xfrm>
            <a:off x="640080" y="2788920"/>
            <a:ext cx="6949440" cy="914400"/>
          </a:xfrm>
          <a:prstGeom prst="rect">
            <a:avLst/>
          </a:prstGeom>
          <a:noFill/>
          <a:ln/>
        </p:spPr>
        <p:txBody>
          <a:bodyPr wrap="square" lIns="0" tIns="0" rIns="0" bIns="0" rtlCol="0" anchor="t"/>
          <a:lstStyle/>
          <a:p>
            <a:pPr algn="l" indent="0" marL="0">
              <a:buNone/>
            </a:pPr>
            <a:r>
              <a:rPr lang="en-US" sz="4800" b="1" dirty="0">
                <a:solidFill>
                  <a:schemeClr val="bg1"/>
                </a:solidFill>
              </a:rPr>
              <a:t>Architecture</a:t>
            </a:r>
            <a:endParaRPr lang="en-US" sz="4800" dirty="0"/>
          </a:p>
        </p:txBody>
      </p:sp>
      <p:sp>
        <p:nvSpPr>
          <p:cNvPr id="4" name="Text 0"/>
          <p:cNvSpPr/>
          <p:nvPr>
            <p:ph idx="101" type="body" hasCustomPrompt="1"/>
          </p:nvPr>
        </p:nvSpPr>
        <p:spPr>
          <a:xfrm>
            <a:off x="640080" y="3794760"/>
            <a:ext cx="6400800" cy="822960"/>
          </a:xfrm>
          <a:prstGeom prst="rect">
            <a:avLst/>
          </a:prstGeom>
          <a:noFill/>
          <a:ln/>
        </p:spPr>
        <p:txBody>
          <a:bodyPr wrap="square" lIns="0" tIns="0" rIns="0" bIns="0" rtlCol="0" anchor="t"/>
          <a:lstStyle/>
          <a:p>
            <a:pPr algn="l" indent="0" marL="0">
              <a:buNone/>
            </a:pPr>
            <a:r>
              <a:rPr lang="en-US" sz="1800" dirty="0">
                <a:solidFill>
                  <a:schemeClr val="bg2"/>
                </a:solidFill>
              </a:rPr>
              <a:t>How a document travels from upload to reminder</a:t>
            </a:r>
            <a:endParaRPr lang="en-US" sz="1800" dirty="0"/>
          </a:p>
        </p:txBody>
      </p:sp>
      <p:sp>
        <p:nvSpPr>
          <p:cNvPr id="5" name="text_90"/>
          <p:cNvSpPr txBox="1"/>
          <p:nvPr/>
        </p:nvSpPr>
        <p:spPr>
          <a:xfrm>
            <a:off x="640080" y="4846320"/>
            <a:ext cx="3657600" cy="274320"/>
          </a:xfrm>
          <a:prstGeom prst="rect">
            <a:avLst/>
          </a:prstGeom>
          <a:noFill/>
          <a:ln/>
        </p:spPr>
        <p:txBody>
          <a:bodyPr wrap="square" lIns="0" tIns="0" rIns="0" bIns="0" rtlCol="0" anchor="t"/>
          <a:lstStyle/>
          <a:p>
            <a:pPr indent="0" marL="0">
              <a:buNone/>
            </a:pPr>
            <a:r>
              <a:rPr lang="en-US" sz="1100" b="1" spc="200" kern="0" dirty="0">
                <a:solidFill>
                  <a:schemeClr val="accent2"/>
                </a:solidFill>
              </a:rPr>
              <a:t>IN THIS SECTION</a:t>
            </a:r>
            <a:endParaRPr lang="en-US" sz="1100" dirty="0"/>
          </a:p>
        </p:txBody>
      </p:sp>
      <p:sp>
        <p:nvSpPr>
          <p:cNvPr id="6" name="pill_91"/>
          <p:cNvSpPr/>
          <p:nvPr/>
        </p:nvSpPr>
        <p:spPr>
          <a:xfrm>
            <a:off x="640080" y="5212080"/>
            <a:ext cx="1513332" cy="384048"/>
          </a:xfrm>
          <a:prstGeom prst="roundRect">
            <a:avLst>
              <a:gd name="adj" fmla="val 50000"/>
            </a:avLst>
          </a:prstGeom>
          <a:solidFill>
            <a:schemeClr val="accent1">
              <a:alpha val="22000"/>
            </a:schemeClr>
          </a:solidFill>
          <a:ln/>
        </p:spPr>
      </p:sp>
      <p:sp>
        <p:nvSpPr>
          <p:cNvPr id="7" name="text_92"/>
          <p:cNvSpPr txBox="1"/>
          <p:nvPr/>
        </p:nvSpPr>
        <p:spPr>
          <a:xfrm>
            <a:off x="640080" y="5212080"/>
            <a:ext cx="1513332" cy="384048"/>
          </a:xfrm>
          <a:prstGeom prst="rect">
            <a:avLst/>
          </a:prstGeom>
          <a:noFill/>
          <a:ln/>
        </p:spPr>
        <p:txBody>
          <a:bodyPr wrap="square" lIns="0" tIns="0" rIns="0" bIns="0" rtlCol="0" anchor="ctr"/>
          <a:lstStyle/>
          <a:p>
            <a:pPr algn="ctr" indent="0" marL="0">
              <a:buNone/>
            </a:pPr>
            <a:r>
              <a:rPr lang="en-US" sz="1200" b="1" dirty="0">
                <a:solidFill>
                  <a:schemeClr val="bg1"/>
                </a:solidFill>
              </a:rPr>
              <a:t>System layers</a:t>
            </a:r>
            <a:endParaRPr lang="en-US" sz="1200" dirty="0"/>
          </a:p>
        </p:txBody>
      </p:sp>
      <p:sp>
        <p:nvSpPr>
          <p:cNvPr id="8" name="pill_93"/>
          <p:cNvSpPr/>
          <p:nvPr/>
        </p:nvSpPr>
        <p:spPr>
          <a:xfrm>
            <a:off x="2290572" y="5212080"/>
            <a:ext cx="1078992" cy="384048"/>
          </a:xfrm>
          <a:prstGeom prst="roundRect">
            <a:avLst>
              <a:gd name="adj" fmla="val 50000"/>
            </a:avLst>
          </a:prstGeom>
          <a:solidFill>
            <a:schemeClr val="accent1">
              <a:alpha val="22000"/>
            </a:schemeClr>
          </a:solidFill>
          <a:ln/>
        </p:spPr>
      </p:sp>
      <p:sp>
        <p:nvSpPr>
          <p:cNvPr id="9" name="text_94"/>
          <p:cNvSpPr txBox="1"/>
          <p:nvPr/>
        </p:nvSpPr>
        <p:spPr>
          <a:xfrm>
            <a:off x="2290572" y="5212080"/>
            <a:ext cx="1078992" cy="384048"/>
          </a:xfrm>
          <a:prstGeom prst="rect">
            <a:avLst/>
          </a:prstGeom>
          <a:noFill/>
          <a:ln/>
        </p:spPr>
        <p:txBody>
          <a:bodyPr wrap="square" lIns="0" tIns="0" rIns="0" bIns="0" rtlCol="0" anchor="ctr"/>
          <a:lstStyle/>
          <a:p>
            <a:pPr algn="ctr" indent="0" marL="0">
              <a:buNone/>
            </a:pPr>
            <a:r>
              <a:rPr lang="en-US" sz="1200" b="1" dirty="0">
                <a:solidFill>
                  <a:schemeClr val="bg1"/>
                </a:solidFill>
              </a:rPr>
              <a:t>Pipeline</a:t>
            </a:r>
            <a:endParaRPr lang="en-US" sz="1200" dirty="0"/>
          </a:p>
        </p:txBody>
      </p:sp>
      <p:sp>
        <p:nvSpPr>
          <p:cNvPr id="10" name="pill_95"/>
          <p:cNvSpPr/>
          <p:nvPr/>
        </p:nvSpPr>
        <p:spPr>
          <a:xfrm>
            <a:off x="3506724" y="5212080"/>
            <a:ext cx="1078992" cy="384048"/>
          </a:xfrm>
          <a:prstGeom prst="roundRect">
            <a:avLst>
              <a:gd name="adj" fmla="val 50000"/>
            </a:avLst>
          </a:prstGeom>
          <a:solidFill>
            <a:schemeClr val="accent1">
              <a:alpha val="22000"/>
            </a:schemeClr>
          </a:solidFill>
          <a:ln/>
        </p:spPr>
      </p:sp>
      <p:sp>
        <p:nvSpPr>
          <p:cNvPr id="11" name="text_96"/>
          <p:cNvSpPr txBox="1"/>
          <p:nvPr/>
        </p:nvSpPr>
        <p:spPr>
          <a:xfrm>
            <a:off x="3506724" y="5212080"/>
            <a:ext cx="1078992" cy="384048"/>
          </a:xfrm>
          <a:prstGeom prst="rect">
            <a:avLst/>
          </a:prstGeom>
          <a:noFill/>
          <a:ln/>
        </p:spPr>
        <p:txBody>
          <a:bodyPr wrap="square" lIns="0" tIns="0" rIns="0" bIns="0" rtlCol="0" anchor="ctr"/>
          <a:lstStyle/>
          <a:p>
            <a:pPr algn="ctr" indent="0" marL="0">
              <a:buNone/>
            </a:pPr>
            <a:r>
              <a:rPr lang="en-US" sz="1200" b="1" dirty="0">
                <a:solidFill>
                  <a:schemeClr val="bg1"/>
                </a:solidFill>
              </a:rPr>
              <a:t>Database</a:t>
            </a:r>
            <a:endParaRPr lang="en-US" sz="1200" dirty="0"/>
          </a:p>
        </p:txBody>
      </p:sp>
      <p:sp>
        <p:nvSpPr>
          <p:cNvPr id="12" name="pill_97"/>
          <p:cNvSpPr/>
          <p:nvPr/>
        </p:nvSpPr>
        <p:spPr>
          <a:xfrm>
            <a:off x="4722876" y="5212080"/>
            <a:ext cx="1600200" cy="384048"/>
          </a:xfrm>
          <a:prstGeom prst="roundRect">
            <a:avLst>
              <a:gd name="adj" fmla="val 50000"/>
            </a:avLst>
          </a:prstGeom>
          <a:solidFill>
            <a:schemeClr val="accent1">
              <a:alpha val="22000"/>
            </a:schemeClr>
          </a:solidFill>
          <a:ln/>
        </p:spPr>
      </p:sp>
      <p:sp>
        <p:nvSpPr>
          <p:cNvPr id="13" name="text_98"/>
          <p:cNvSpPr txBox="1"/>
          <p:nvPr/>
        </p:nvSpPr>
        <p:spPr>
          <a:xfrm>
            <a:off x="4722876" y="5212080"/>
            <a:ext cx="1600200" cy="384048"/>
          </a:xfrm>
          <a:prstGeom prst="rect">
            <a:avLst/>
          </a:prstGeom>
          <a:noFill/>
          <a:ln/>
        </p:spPr>
        <p:txBody>
          <a:bodyPr wrap="square" lIns="0" tIns="0" rIns="0" bIns="0" rtlCol="0" anchor="ctr"/>
          <a:lstStyle/>
          <a:p>
            <a:pPr algn="ctr" indent="0" marL="0">
              <a:buNone/>
            </a:pPr>
            <a:r>
              <a:rPr lang="en-US" sz="1200" b="1" dirty="0">
                <a:solidFill>
                  <a:schemeClr val="bg1"/>
                </a:solidFill>
              </a:rPr>
              <a:t>Reminder rules</a:t>
            </a:r>
            <a:endParaRPr lang="en-US" sz="1200" dirty="0"/>
          </a:p>
        </p:txBody>
      </p:sp>
      <p:pic>
        <p:nvPicPr>
          <p:cNvPr id="14" name="logo_watermark_99" descr="/tmp/claude-0/-home-claude/584731ee-e493-5c78-a637-0b254e057472/scratchpad/deck/img/logo.png">    </p:cNvPr>
          <p:cNvPicPr>
            <a:picLocks noChangeAspect="1"/>
          </p:cNvPicPr>
          <p:nvPr/>
        </p:nvPicPr>
        <p:blipFill>
          <a:blip r:embed="rId1">
            <a:alphaModFix amt="18000"/>
          </a:blip>
          <a:stretch>
            <a:fillRect/>
          </a:stretch>
        </p:blipFill>
        <p:spPr>
          <a:xfrm>
            <a:off x="8229600" y="1463040"/>
            <a:ext cx="3291840" cy="329184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8229600" cy="274320"/>
          </a:xfrm>
          <a:prstGeom prst="rect">
            <a:avLst/>
          </a:prstGeom>
          <a:noFill/>
          <a:ln/>
        </p:spPr>
        <p:txBody>
          <a:bodyPr wrap="square" lIns="0" tIns="0" rIns="0" bIns="0" rtlCol="0" anchor="ctr"/>
          <a:lstStyle/>
          <a:p>
            <a:pPr algn="l" indent="0" marL="0">
              <a:buNone/>
            </a:pPr>
            <a:r>
              <a:rPr lang="en-US" sz="1200" b="1" spc="200" kern="0" dirty="0">
                <a:solidFill>
                  <a:schemeClr val="accent2"/>
                </a:solidFill>
              </a:rPr>
              <a:t>01 · ARCHITECTURE</a:t>
            </a:r>
            <a:endParaRPr lang="en-US" sz="1200" dirty="0"/>
          </a:p>
        </p:txBody>
      </p:sp>
      <p:sp>
        <p:nvSpPr>
          <p:cNvPr id="3" name="Text 0"/>
          <p:cNvSpPr/>
          <p:nvPr>
            <p:ph idx="101" type="title" hasCustomPrompt="1"/>
          </p:nvPr>
        </p:nvSpPr>
        <p:spPr>
          <a:xfrm>
            <a:off x="548640" y="603504"/>
            <a:ext cx="11064240" cy="685800"/>
          </a:xfrm>
          <a:prstGeom prst="rect">
            <a:avLst/>
          </a:prstGeom>
          <a:noFill/>
          <a:ln/>
        </p:spPr>
        <p:txBody>
          <a:bodyPr wrap="square" lIns="0" tIns="0" rIns="0" bIns="0" rtlCol="0" anchor="ctr"/>
          <a:lstStyle/>
          <a:p>
            <a:pPr algn="l" indent="0" marL="0">
              <a:buNone/>
            </a:pPr>
            <a:r>
              <a:rPr lang="en-US" sz="3200" b="1" dirty="0">
                <a:solidFill>
                  <a:schemeClr val="bg1"/>
                </a:solidFill>
              </a:rPr>
              <a:t>Five layers, each with one job</a:t>
            </a:r>
            <a:endParaRPr lang="en-US" sz="3200" dirty="0"/>
          </a:p>
        </p:txBody>
      </p:sp>
      <p:sp>
        <p:nvSpPr>
          <p:cNvPr id="4" name="layer_label_100"/>
          <p:cNvSpPr/>
          <p:nvPr/>
        </p:nvSpPr>
        <p:spPr>
          <a:xfrm>
            <a:off x="548640" y="1536192"/>
            <a:ext cx="2514600" cy="786384"/>
          </a:xfrm>
          <a:prstGeom prst="roundRect">
            <a:avLst>
              <a:gd name="adj" fmla="val 13953"/>
            </a:avLst>
          </a:prstGeom>
          <a:solidFill>
            <a:schemeClr val="accent2">
              <a:alpha val="18000"/>
            </a:schemeClr>
          </a:solidFill>
          <a:ln w="9525">
            <a:solidFill>
              <a:schemeClr val="accent2"/>
            </a:solidFill>
            <a:prstDash val="solid"/>
          </a:ln>
        </p:spPr>
      </p:sp>
      <p:sp>
        <p:nvSpPr>
          <p:cNvPr id="5" name="icon_bg_101"/>
          <p:cNvSpPr/>
          <p:nvPr/>
        </p:nvSpPr>
        <p:spPr>
          <a:xfrm>
            <a:off x="685800" y="1691640"/>
            <a:ext cx="475488" cy="475488"/>
          </a:xfrm>
          <a:prstGeom prst="roundRect">
            <a:avLst>
              <a:gd name="adj" fmla="val 24000"/>
            </a:avLst>
          </a:prstGeom>
          <a:solidFill>
            <a:schemeClr val="accent2">
              <a:alpha val="22000"/>
            </a:schemeClr>
          </a:solidFill>
          <a:ln/>
        </p:spPr>
      </p:sp>
      <p:pic>
        <p:nvPicPr>
          <p:cNvPr id="6" name="icon_102" descr="/tmp/claude-0/-home-claude/584731ee-e493-5c78-a637-0b254e057472/scratchpad/deck/img/i_layout.png">    </p:cNvPr>
          <p:cNvPicPr>
            <a:picLocks noChangeAspect="1"/>
          </p:cNvPicPr>
          <p:nvPr/>
        </p:nvPicPr>
        <p:blipFill>
          <a:blip r:embed="rId1"/>
          <a:stretch>
            <a:fillRect/>
          </a:stretch>
        </p:blipFill>
        <p:spPr>
          <a:xfrm>
            <a:off x="799917" y="1805757"/>
            <a:ext cx="247254" cy="247254"/>
          </a:xfrm>
          <a:prstGeom prst="rect">
            <a:avLst/>
          </a:prstGeom>
        </p:spPr>
      </p:pic>
      <p:sp>
        <p:nvSpPr>
          <p:cNvPr id="7" name="text_103"/>
          <p:cNvSpPr txBox="1"/>
          <p:nvPr/>
        </p:nvSpPr>
        <p:spPr>
          <a:xfrm>
            <a:off x="1280160" y="1664208"/>
            <a:ext cx="1737360" cy="292608"/>
          </a:xfrm>
          <a:prstGeom prst="rect">
            <a:avLst/>
          </a:prstGeom>
          <a:noFill/>
          <a:ln/>
        </p:spPr>
        <p:txBody>
          <a:bodyPr wrap="square" lIns="0" tIns="0" rIns="0" bIns="0" rtlCol="0" anchor="t"/>
          <a:lstStyle/>
          <a:p>
            <a:pPr indent="0" marL="0">
              <a:buNone/>
            </a:pPr>
            <a:r>
              <a:rPr lang="en-US" sz="1500" b="1" dirty="0">
                <a:solidFill>
                  <a:schemeClr val="bg1"/>
                </a:solidFill>
              </a:rPr>
              <a:t>Presentation</a:t>
            </a:r>
            <a:endParaRPr lang="en-US" sz="1500" dirty="0"/>
          </a:p>
        </p:txBody>
      </p:sp>
      <p:sp>
        <p:nvSpPr>
          <p:cNvPr id="8" name="text_104"/>
          <p:cNvSpPr txBox="1"/>
          <p:nvPr/>
        </p:nvSpPr>
        <p:spPr>
          <a:xfrm>
            <a:off x="1280160" y="1956816"/>
            <a:ext cx="1737360" cy="256032"/>
          </a:xfrm>
          <a:prstGeom prst="rect">
            <a:avLst/>
          </a:prstGeom>
          <a:noFill/>
          <a:ln/>
        </p:spPr>
        <p:txBody>
          <a:bodyPr wrap="square" lIns="0" tIns="0" rIns="0" bIns="0" rtlCol="0" anchor="t"/>
          <a:lstStyle/>
          <a:p>
            <a:pPr indent="0" marL="0">
              <a:buNone/>
            </a:pPr>
            <a:r>
              <a:rPr lang="en-US" sz="1150" dirty="0">
                <a:solidFill>
                  <a:schemeClr val="bg2"/>
                </a:solidFill>
              </a:rPr>
              <a:t>Streamlit UI</a:t>
            </a:r>
            <a:endParaRPr lang="en-US" sz="1150" dirty="0"/>
          </a:p>
        </p:txBody>
      </p:sp>
      <p:sp>
        <p:nvSpPr>
          <p:cNvPr id="9" name="module_chip_105"/>
          <p:cNvSpPr/>
          <p:nvPr/>
        </p:nvSpPr>
        <p:spPr>
          <a:xfrm>
            <a:off x="3246120" y="1536192"/>
            <a:ext cx="2703576" cy="786384"/>
          </a:xfrm>
          <a:prstGeom prst="roundRect">
            <a:avLst>
              <a:gd name="adj" fmla="val 13953"/>
            </a:avLst>
          </a:prstGeom>
          <a:solidFill>
            <a:schemeClr val="tx2"/>
          </a:solidFill>
          <a:ln w="9525">
            <a:solidFill>
              <a:srgbClr val="2B3470"/>
            </a:solidFill>
            <a:prstDash val="solid"/>
          </a:ln>
        </p:spPr>
      </p:sp>
      <p:sp>
        <p:nvSpPr>
          <p:cNvPr id="10" name="text_106"/>
          <p:cNvSpPr txBox="1"/>
          <p:nvPr/>
        </p:nvSpPr>
        <p:spPr>
          <a:xfrm>
            <a:off x="3410712" y="1655064"/>
            <a:ext cx="2429256" cy="292608"/>
          </a:xfrm>
          <a:prstGeom prst="rect">
            <a:avLst/>
          </a:prstGeom>
          <a:noFill/>
          <a:ln/>
        </p:spPr>
        <p:txBody>
          <a:bodyPr wrap="square" lIns="0" tIns="0" rIns="0" bIns="0" rtlCol="0" anchor="t"/>
          <a:lstStyle/>
          <a:p>
            <a:pPr indent="0" marL="0">
              <a:buNone/>
            </a:pPr>
            <a:r>
              <a:rPr lang="en-US" sz="1350" b="1" dirty="0">
                <a:solidFill>
                  <a:srgbClr val="C7CAFF"/>
                </a:solidFill>
                <a:latin typeface="Courier New" pitchFamily="34" charset="0"/>
                <a:ea typeface="Courier New" pitchFamily="34" charset="-122"/>
                <a:cs typeface="Courier New" pitchFamily="34" charset="-120"/>
              </a:rPr>
              <a:t>app.py</a:t>
            </a:r>
            <a:endParaRPr lang="en-US" sz="1350" dirty="0"/>
          </a:p>
        </p:txBody>
      </p:sp>
      <p:sp>
        <p:nvSpPr>
          <p:cNvPr id="11" name="text_107"/>
          <p:cNvSpPr txBox="1"/>
          <p:nvPr/>
        </p:nvSpPr>
        <p:spPr>
          <a:xfrm>
            <a:off x="3410712" y="1965960"/>
            <a:ext cx="2429256" cy="274320"/>
          </a:xfrm>
          <a:prstGeom prst="rect">
            <a:avLst/>
          </a:prstGeom>
          <a:noFill/>
          <a:ln/>
        </p:spPr>
        <p:txBody>
          <a:bodyPr wrap="square" lIns="0" tIns="0" rIns="0" bIns="0" rtlCol="0" anchor="t"/>
          <a:lstStyle/>
          <a:p>
            <a:pPr indent="0" marL="0">
              <a:buNone/>
            </a:pPr>
            <a:r>
              <a:rPr lang="en-US" sz="1150" dirty="0">
                <a:solidFill>
                  <a:schemeClr val="bg2"/>
                </a:solidFill>
              </a:rPr>
              <a:t>4 screens, navigation, forms</a:t>
            </a:r>
            <a:endParaRPr lang="en-US" sz="1150" dirty="0"/>
          </a:p>
        </p:txBody>
      </p:sp>
      <p:sp>
        <p:nvSpPr>
          <p:cNvPr id="12" name="module_chip_108"/>
          <p:cNvSpPr/>
          <p:nvPr/>
        </p:nvSpPr>
        <p:spPr>
          <a:xfrm>
            <a:off x="6077712" y="1536192"/>
            <a:ext cx="2703576" cy="786384"/>
          </a:xfrm>
          <a:prstGeom prst="roundRect">
            <a:avLst>
              <a:gd name="adj" fmla="val 13953"/>
            </a:avLst>
          </a:prstGeom>
          <a:solidFill>
            <a:schemeClr val="tx2"/>
          </a:solidFill>
          <a:ln w="9525">
            <a:solidFill>
              <a:srgbClr val="2B3470"/>
            </a:solidFill>
            <a:prstDash val="solid"/>
          </a:ln>
        </p:spPr>
      </p:sp>
      <p:sp>
        <p:nvSpPr>
          <p:cNvPr id="13" name="text_109"/>
          <p:cNvSpPr txBox="1"/>
          <p:nvPr/>
        </p:nvSpPr>
        <p:spPr>
          <a:xfrm>
            <a:off x="6242304" y="1655064"/>
            <a:ext cx="2429256" cy="292608"/>
          </a:xfrm>
          <a:prstGeom prst="rect">
            <a:avLst/>
          </a:prstGeom>
          <a:noFill/>
          <a:ln/>
        </p:spPr>
        <p:txBody>
          <a:bodyPr wrap="square" lIns="0" tIns="0" rIns="0" bIns="0" rtlCol="0" anchor="t"/>
          <a:lstStyle/>
          <a:p>
            <a:pPr indent="0" marL="0">
              <a:buNone/>
            </a:pPr>
            <a:r>
              <a:rPr lang="en-US" sz="1350" b="1" dirty="0">
                <a:solidFill>
                  <a:srgbClr val="C7CAFF"/>
                </a:solidFill>
                <a:latin typeface="Courier New" pitchFamily="34" charset="0"/>
                <a:ea typeface="Courier New" pitchFamily="34" charset="-122"/>
                <a:cs typeface="Courier New" pitchFamily="34" charset="-120"/>
              </a:rPr>
              <a:t>style.py</a:t>
            </a:r>
            <a:endParaRPr lang="en-US" sz="1350" dirty="0"/>
          </a:p>
        </p:txBody>
      </p:sp>
      <p:sp>
        <p:nvSpPr>
          <p:cNvPr id="14" name="text_110"/>
          <p:cNvSpPr txBox="1"/>
          <p:nvPr/>
        </p:nvSpPr>
        <p:spPr>
          <a:xfrm>
            <a:off x="6242304" y="1965960"/>
            <a:ext cx="2429256" cy="274320"/>
          </a:xfrm>
          <a:prstGeom prst="rect">
            <a:avLst/>
          </a:prstGeom>
          <a:noFill/>
          <a:ln/>
        </p:spPr>
        <p:txBody>
          <a:bodyPr wrap="square" lIns="0" tIns="0" rIns="0" bIns="0" rtlCol="0" anchor="t"/>
          <a:lstStyle/>
          <a:p>
            <a:pPr indent="0" marL="0">
              <a:buNone/>
            </a:pPr>
            <a:r>
              <a:rPr lang="en-US" sz="1150" dirty="0">
                <a:solidFill>
                  <a:schemeClr val="bg2"/>
                </a:solidFill>
              </a:rPr>
              <a:t>theme, icons, components</a:t>
            </a:r>
            <a:endParaRPr lang="en-US" sz="1150" dirty="0"/>
          </a:p>
        </p:txBody>
      </p:sp>
      <p:sp>
        <p:nvSpPr>
          <p:cNvPr id="15" name="module_chip_111"/>
          <p:cNvSpPr/>
          <p:nvPr/>
        </p:nvSpPr>
        <p:spPr>
          <a:xfrm>
            <a:off x="8909304" y="1536192"/>
            <a:ext cx="2703576" cy="786384"/>
          </a:xfrm>
          <a:prstGeom prst="roundRect">
            <a:avLst>
              <a:gd name="adj" fmla="val 13953"/>
            </a:avLst>
          </a:prstGeom>
          <a:solidFill>
            <a:schemeClr val="tx2"/>
          </a:solidFill>
          <a:ln w="9525">
            <a:solidFill>
              <a:srgbClr val="2B3470"/>
            </a:solidFill>
            <a:prstDash val="solid"/>
          </a:ln>
        </p:spPr>
      </p:sp>
      <p:sp>
        <p:nvSpPr>
          <p:cNvPr id="16" name="text_112"/>
          <p:cNvSpPr txBox="1"/>
          <p:nvPr/>
        </p:nvSpPr>
        <p:spPr>
          <a:xfrm>
            <a:off x="9073896" y="1655064"/>
            <a:ext cx="2429256" cy="292608"/>
          </a:xfrm>
          <a:prstGeom prst="rect">
            <a:avLst/>
          </a:prstGeom>
          <a:noFill/>
          <a:ln/>
        </p:spPr>
        <p:txBody>
          <a:bodyPr wrap="square" lIns="0" tIns="0" rIns="0" bIns="0" rtlCol="0" anchor="t"/>
          <a:lstStyle/>
          <a:p>
            <a:pPr indent="0" marL="0">
              <a:buNone/>
            </a:pPr>
            <a:r>
              <a:rPr lang="en-US" sz="1350" b="1" dirty="0">
                <a:solidFill>
                  <a:srgbClr val="C7CAFF"/>
                </a:solidFill>
                <a:latin typeface="Courier New" pitchFamily="34" charset="0"/>
                <a:ea typeface="Courier New" pitchFamily="34" charset="-122"/>
                <a:cs typeface="Courier New" pitchFamily="34" charset="-120"/>
              </a:rPr>
              <a:t>config.toml</a:t>
            </a:r>
            <a:endParaRPr lang="en-US" sz="1350" dirty="0"/>
          </a:p>
        </p:txBody>
      </p:sp>
      <p:sp>
        <p:nvSpPr>
          <p:cNvPr id="17" name="text_113"/>
          <p:cNvSpPr txBox="1"/>
          <p:nvPr/>
        </p:nvSpPr>
        <p:spPr>
          <a:xfrm>
            <a:off x="9073896" y="1965960"/>
            <a:ext cx="2429256" cy="274320"/>
          </a:xfrm>
          <a:prstGeom prst="rect">
            <a:avLst/>
          </a:prstGeom>
          <a:noFill/>
          <a:ln/>
        </p:spPr>
        <p:txBody>
          <a:bodyPr wrap="square" lIns="0" tIns="0" rIns="0" bIns="0" rtlCol="0" anchor="t"/>
          <a:lstStyle/>
          <a:p>
            <a:pPr indent="0" marL="0">
              <a:buNone/>
            </a:pPr>
            <a:r>
              <a:rPr lang="en-US" sz="1150" dirty="0">
                <a:solidFill>
                  <a:schemeClr val="bg2"/>
                </a:solidFill>
              </a:rPr>
              <a:t>dark theme, 10 MB limit</a:t>
            </a:r>
            <a:endParaRPr lang="en-US" sz="1150" dirty="0"/>
          </a:p>
        </p:txBody>
      </p:sp>
      <p:sp>
        <p:nvSpPr>
          <p:cNvPr id="18" name="layer_label_114"/>
          <p:cNvSpPr/>
          <p:nvPr/>
        </p:nvSpPr>
        <p:spPr>
          <a:xfrm>
            <a:off x="548640" y="2468880"/>
            <a:ext cx="2514600" cy="786384"/>
          </a:xfrm>
          <a:prstGeom prst="roundRect">
            <a:avLst>
              <a:gd name="adj" fmla="val 13953"/>
            </a:avLst>
          </a:prstGeom>
          <a:solidFill>
            <a:schemeClr val="accent1">
              <a:alpha val="18000"/>
            </a:schemeClr>
          </a:solidFill>
          <a:ln w="9525">
            <a:solidFill>
              <a:schemeClr val="accent1"/>
            </a:solidFill>
            <a:prstDash val="solid"/>
          </a:ln>
        </p:spPr>
      </p:sp>
      <p:sp>
        <p:nvSpPr>
          <p:cNvPr id="19" name="icon_bg_115"/>
          <p:cNvSpPr/>
          <p:nvPr/>
        </p:nvSpPr>
        <p:spPr>
          <a:xfrm>
            <a:off x="685800" y="2624328"/>
            <a:ext cx="475488" cy="475488"/>
          </a:xfrm>
          <a:prstGeom prst="roundRect">
            <a:avLst>
              <a:gd name="adj" fmla="val 24000"/>
            </a:avLst>
          </a:prstGeom>
          <a:solidFill>
            <a:schemeClr val="accent1">
              <a:alpha val="22000"/>
            </a:schemeClr>
          </a:solidFill>
          <a:ln/>
        </p:spPr>
      </p:sp>
      <p:pic>
        <p:nvPicPr>
          <p:cNvPr id="20" name="icon_116" descr="/tmp/claude-0/-home-claude/584731ee-e493-5c78-a637-0b254e057472/scratchpad/deck/img/i_gears.png">    </p:cNvPr>
          <p:cNvPicPr>
            <a:picLocks noChangeAspect="1"/>
          </p:cNvPicPr>
          <p:nvPr/>
        </p:nvPicPr>
        <p:blipFill>
          <a:blip r:embed="rId2"/>
          <a:stretch>
            <a:fillRect/>
          </a:stretch>
        </p:blipFill>
        <p:spPr>
          <a:xfrm>
            <a:off x="799917" y="2738445"/>
            <a:ext cx="247254" cy="247254"/>
          </a:xfrm>
          <a:prstGeom prst="rect">
            <a:avLst/>
          </a:prstGeom>
        </p:spPr>
      </p:pic>
      <p:sp>
        <p:nvSpPr>
          <p:cNvPr id="21" name="text_117"/>
          <p:cNvSpPr txBox="1"/>
          <p:nvPr/>
        </p:nvSpPr>
        <p:spPr>
          <a:xfrm>
            <a:off x="1280160" y="2596896"/>
            <a:ext cx="1737360" cy="292608"/>
          </a:xfrm>
          <a:prstGeom prst="rect">
            <a:avLst/>
          </a:prstGeom>
          <a:noFill/>
          <a:ln/>
        </p:spPr>
        <p:txBody>
          <a:bodyPr wrap="square" lIns="0" tIns="0" rIns="0" bIns="0" rtlCol="0" anchor="t"/>
          <a:lstStyle/>
          <a:p>
            <a:pPr indent="0" marL="0">
              <a:buNone/>
            </a:pPr>
            <a:r>
              <a:rPr lang="en-US" sz="1500" b="1" dirty="0">
                <a:solidFill>
                  <a:schemeClr val="bg1"/>
                </a:solidFill>
              </a:rPr>
              <a:t>Application</a:t>
            </a:r>
            <a:endParaRPr lang="en-US" sz="1500" dirty="0"/>
          </a:p>
        </p:txBody>
      </p:sp>
      <p:sp>
        <p:nvSpPr>
          <p:cNvPr id="22" name="text_118"/>
          <p:cNvSpPr txBox="1"/>
          <p:nvPr/>
        </p:nvSpPr>
        <p:spPr>
          <a:xfrm>
            <a:off x="1280160" y="2889504"/>
            <a:ext cx="1737360" cy="256032"/>
          </a:xfrm>
          <a:prstGeom prst="rect">
            <a:avLst/>
          </a:prstGeom>
          <a:noFill/>
          <a:ln/>
        </p:spPr>
        <p:txBody>
          <a:bodyPr wrap="square" lIns="0" tIns="0" rIns="0" bIns="0" rtlCol="0" anchor="t"/>
          <a:lstStyle/>
          <a:p>
            <a:pPr indent="0" marL="0">
              <a:buNone/>
            </a:pPr>
            <a:r>
              <a:rPr lang="en-US" sz="1150" dirty="0">
                <a:solidFill>
                  <a:schemeClr val="bg2"/>
                </a:solidFill>
              </a:rPr>
              <a:t>orchestration</a:t>
            </a:r>
            <a:endParaRPr lang="en-US" sz="1150" dirty="0"/>
          </a:p>
        </p:txBody>
      </p:sp>
      <p:sp>
        <p:nvSpPr>
          <p:cNvPr id="23" name="module_chip_119"/>
          <p:cNvSpPr/>
          <p:nvPr/>
        </p:nvSpPr>
        <p:spPr>
          <a:xfrm>
            <a:off x="3246120" y="2468880"/>
            <a:ext cx="4119372" cy="786384"/>
          </a:xfrm>
          <a:prstGeom prst="roundRect">
            <a:avLst>
              <a:gd name="adj" fmla="val 13953"/>
            </a:avLst>
          </a:prstGeom>
          <a:solidFill>
            <a:schemeClr val="tx2"/>
          </a:solidFill>
          <a:ln w="9525">
            <a:solidFill>
              <a:srgbClr val="2B3470"/>
            </a:solidFill>
            <a:prstDash val="solid"/>
          </a:ln>
        </p:spPr>
      </p:sp>
      <p:sp>
        <p:nvSpPr>
          <p:cNvPr id="24" name="text_120"/>
          <p:cNvSpPr txBox="1"/>
          <p:nvPr/>
        </p:nvSpPr>
        <p:spPr>
          <a:xfrm>
            <a:off x="3410712" y="2587752"/>
            <a:ext cx="3845052" cy="292608"/>
          </a:xfrm>
          <a:prstGeom prst="rect">
            <a:avLst/>
          </a:prstGeom>
          <a:noFill/>
          <a:ln/>
        </p:spPr>
        <p:txBody>
          <a:bodyPr wrap="square" lIns="0" tIns="0" rIns="0" bIns="0" rtlCol="0" anchor="t"/>
          <a:lstStyle/>
          <a:p>
            <a:pPr indent="0" marL="0">
              <a:buNone/>
            </a:pPr>
            <a:r>
              <a:rPr lang="en-US" sz="1350" b="1" dirty="0">
                <a:solidFill>
                  <a:srgbClr val="C7CAFF"/>
                </a:solidFill>
                <a:latin typeface="Courier New" pitchFamily="34" charset="0"/>
                <a:ea typeface="Courier New" pitchFamily="34" charset="-122"/>
                <a:cs typeface="Courier New" pitchFamily="34" charset="-120"/>
              </a:rPr>
              <a:t>pipeline.py</a:t>
            </a:r>
            <a:endParaRPr lang="en-US" sz="1350" dirty="0"/>
          </a:p>
        </p:txBody>
      </p:sp>
      <p:sp>
        <p:nvSpPr>
          <p:cNvPr id="25" name="text_121"/>
          <p:cNvSpPr txBox="1"/>
          <p:nvPr/>
        </p:nvSpPr>
        <p:spPr>
          <a:xfrm>
            <a:off x="3410712" y="2898648"/>
            <a:ext cx="3845052" cy="274320"/>
          </a:xfrm>
          <a:prstGeom prst="rect">
            <a:avLst/>
          </a:prstGeom>
          <a:noFill/>
          <a:ln/>
        </p:spPr>
        <p:txBody>
          <a:bodyPr wrap="square" lIns="0" tIns="0" rIns="0" bIns="0" rtlCol="0" anchor="t"/>
          <a:lstStyle/>
          <a:p>
            <a:pPr indent="0" marL="0">
              <a:buNone/>
            </a:pPr>
            <a:r>
              <a:rPr lang="en-US" sz="1150" dirty="0">
                <a:solidFill>
                  <a:schemeClr val="bg2"/>
                </a:solidFill>
              </a:rPr>
              <a:t>analyse_upload()  →  store_upload()</a:t>
            </a:r>
            <a:endParaRPr lang="en-US" sz="1150" dirty="0"/>
          </a:p>
        </p:txBody>
      </p:sp>
      <p:sp>
        <p:nvSpPr>
          <p:cNvPr id="26" name="module_chip_122"/>
          <p:cNvSpPr/>
          <p:nvPr/>
        </p:nvSpPr>
        <p:spPr>
          <a:xfrm>
            <a:off x="7493508" y="2468880"/>
            <a:ext cx="4119372" cy="786384"/>
          </a:xfrm>
          <a:prstGeom prst="roundRect">
            <a:avLst>
              <a:gd name="adj" fmla="val 13953"/>
            </a:avLst>
          </a:prstGeom>
          <a:solidFill>
            <a:schemeClr val="tx2"/>
          </a:solidFill>
          <a:ln w="9525">
            <a:solidFill>
              <a:srgbClr val="2B3470"/>
            </a:solidFill>
            <a:prstDash val="solid"/>
          </a:ln>
        </p:spPr>
      </p:sp>
      <p:sp>
        <p:nvSpPr>
          <p:cNvPr id="27" name="text_123"/>
          <p:cNvSpPr txBox="1"/>
          <p:nvPr/>
        </p:nvSpPr>
        <p:spPr>
          <a:xfrm>
            <a:off x="7658100" y="2587752"/>
            <a:ext cx="3845052" cy="292608"/>
          </a:xfrm>
          <a:prstGeom prst="rect">
            <a:avLst/>
          </a:prstGeom>
          <a:noFill/>
          <a:ln/>
        </p:spPr>
        <p:txBody>
          <a:bodyPr wrap="square" lIns="0" tIns="0" rIns="0" bIns="0" rtlCol="0" anchor="t"/>
          <a:lstStyle/>
          <a:p>
            <a:pPr indent="0" marL="0">
              <a:buNone/>
            </a:pPr>
            <a:r>
              <a:rPr lang="en-US" sz="1300" b="1" dirty="0">
                <a:solidFill>
                  <a:schemeClr val="bg1"/>
                </a:solidFill>
              </a:rPr>
              <a:t>validate → extract → classify → parse</a:t>
            </a:r>
            <a:endParaRPr lang="en-US" sz="1300" dirty="0"/>
          </a:p>
        </p:txBody>
      </p:sp>
      <p:sp>
        <p:nvSpPr>
          <p:cNvPr id="28" name="text_124"/>
          <p:cNvSpPr txBox="1"/>
          <p:nvPr/>
        </p:nvSpPr>
        <p:spPr>
          <a:xfrm>
            <a:off x="7658100" y="2898648"/>
            <a:ext cx="3845052" cy="274320"/>
          </a:xfrm>
          <a:prstGeom prst="rect">
            <a:avLst/>
          </a:prstGeom>
          <a:noFill/>
          <a:ln/>
        </p:spPr>
        <p:txBody>
          <a:bodyPr wrap="square" lIns="0" tIns="0" rIns="0" bIns="0" rtlCol="0" anchor="t"/>
          <a:lstStyle/>
          <a:p>
            <a:pPr indent="0" marL="0">
              <a:buNone/>
            </a:pPr>
            <a:r>
              <a:rPr lang="en-US" sz="1150" dirty="0">
                <a:solidFill>
                  <a:schemeClr val="bg2"/>
                </a:solidFill>
              </a:rPr>
              <a:t>one call per uploaded file</a:t>
            </a:r>
            <a:endParaRPr lang="en-US" sz="1150" dirty="0"/>
          </a:p>
        </p:txBody>
      </p:sp>
      <p:sp>
        <p:nvSpPr>
          <p:cNvPr id="29" name="layer_label_125"/>
          <p:cNvSpPr/>
          <p:nvPr/>
        </p:nvSpPr>
        <p:spPr>
          <a:xfrm>
            <a:off x="548640" y="3401568"/>
            <a:ext cx="2514600" cy="786384"/>
          </a:xfrm>
          <a:prstGeom prst="roundRect">
            <a:avLst>
              <a:gd name="adj" fmla="val 13953"/>
            </a:avLst>
          </a:prstGeom>
          <a:solidFill>
            <a:schemeClr val="accent1">
              <a:alpha val="18000"/>
            </a:schemeClr>
          </a:solidFill>
          <a:ln w="9525">
            <a:solidFill>
              <a:schemeClr val="accent1"/>
            </a:solidFill>
            <a:prstDash val="solid"/>
          </a:ln>
        </p:spPr>
      </p:sp>
      <p:sp>
        <p:nvSpPr>
          <p:cNvPr id="30" name="icon_bg_126"/>
          <p:cNvSpPr/>
          <p:nvPr/>
        </p:nvSpPr>
        <p:spPr>
          <a:xfrm>
            <a:off x="685800" y="3557016"/>
            <a:ext cx="475488" cy="475488"/>
          </a:xfrm>
          <a:prstGeom prst="roundRect">
            <a:avLst>
              <a:gd name="adj" fmla="val 24000"/>
            </a:avLst>
          </a:prstGeom>
          <a:solidFill>
            <a:schemeClr val="accent1">
              <a:alpha val="22000"/>
            </a:schemeClr>
          </a:solidFill>
          <a:ln/>
        </p:spPr>
      </p:sp>
      <p:pic>
        <p:nvPicPr>
          <p:cNvPr id="31" name="icon_127" descr="/tmp/claude-0/-home-claude/584731ee-e493-5c78-a637-0b254e057472/scratchpad/deck/img/i_magic.png">    </p:cNvPr>
          <p:cNvPicPr>
            <a:picLocks noChangeAspect="1"/>
          </p:cNvPicPr>
          <p:nvPr/>
        </p:nvPicPr>
        <p:blipFill>
          <a:blip r:embed="rId3"/>
          <a:stretch>
            <a:fillRect/>
          </a:stretch>
        </p:blipFill>
        <p:spPr>
          <a:xfrm>
            <a:off x="799917" y="3671133"/>
            <a:ext cx="247254" cy="247254"/>
          </a:xfrm>
          <a:prstGeom prst="rect">
            <a:avLst/>
          </a:prstGeom>
        </p:spPr>
      </p:pic>
      <p:sp>
        <p:nvSpPr>
          <p:cNvPr id="32" name="text_128"/>
          <p:cNvSpPr txBox="1"/>
          <p:nvPr/>
        </p:nvSpPr>
        <p:spPr>
          <a:xfrm>
            <a:off x="1280160" y="3529584"/>
            <a:ext cx="1737360" cy="292608"/>
          </a:xfrm>
          <a:prstGeom prst="rect">
            <a:avLst/>
          </a:prstGeom>
          <a:noFill/>
          <a:ln/>
        </p:spPr>
        <p:txBody>
          <a:bodyPr wrap="square" lIns="0" tIns="0" rIns="0" bIns="0" rtlCol="0" anchor="t"/>
          <a:lstStyle/>
          <a:p>
            <a:pPr indent="0" marL="0">
              <a:buNone/>
            </a:pPr>
            <a:r>
              <a:rPr lang="en-US" sz="1500" b="1" dirty="0">
                <a:solidFill>
                  <a:schemeClr val="bg1"/>
                </a:solidFill>
              </a:rPr>
              <a:t>Processing</a:t>
            </a:r>
            <a:endParaRPr lang="en-US" sz="1500" dirty="0"/>
          </a:p>
        </p:txBody>
      </p:sp>
      <p:sp>
        <p:nvSpPr>
          <p:cNvPr id="33" name="text_129"/>
          <p:cNvSpPr txBox="1"/>
          <p:nvPr/>
        </p:nvSpPr>
        <p:spPr>
          <a:xfrm>
            <a:off x="1280160" y="3822192"/>
            <a:ext cx="1737360" cy="256032"/>
          </a:xfrm>
          <a:prstGeom prst="rect">
            <a:avLst/>
          </a:prstGeom>
          <a:noFill/>
          <a:ln/>
        </p:spPr>
        <p:txBody>
          <a:bodyPr wrap="square" lIns="0" tIns="0" rIns="0" bIns="0" rtlCol="0" anchor="t"/>
          <a:lstStyle/>
          <a:p>
            <a:pPr indent="0" marL="0">
              <a:buNone/>
            </a:pPr>
            <a:r>
              <a:rPr lang="en-US" sz="1150" dirty="0">
                <a:solidFill>
                  <a:schemeClr val="bg2"/>
                </a:solidFill>
              </a:rPr>
              <a:t>read &amp; understand</a:t>
            </a:r>
            <a:endParaRPr lang="en-US" sz="1150" dirty="0"/>
          </a:p>
        </p:txBody>
      </p:sp>
      <p:sp>
        <p:nvSpPr>
          <p:cNvPr id="34" name="module_chip_130"/>
          <p:cNvSpPr/>
          <p:nvPr/>
        </p:nvSpPr>
        <p:spPr>
          <a:xfrm>
            <a:off x="3246120" y="3401568"/>
            <a:ext cx="1995678" cy="786384"/>
          </a:xfrm>
          <a:prstGeom prst="roundRect">
            <a:avLst>
              <a:gd name="adj" fmla="val 13953"/>
            </a:avLst>
          </a:prstGeom>
          <a:solidFill>
            <a:schemeClr val="tx2"/>
          </a:solidFill>
          <a:ln w="9525">
            <a:solidFill>
              <a:srgbClr val="2B3470"/>
            </a:solidFill>
            <a:prstDash val="solid"/>
          </a:ln>
        </p:spPr>
      </p:sp>
      <p:sp>
        <p:nvSpPr>
          <p:cNvPr id="35" name="text_131"/>
          <p:cNvSpPr txBox="1"/>
          <p:nvPr/>
        </p:nvSpPr>
        <p:spPr>
          <a:xfrm>
            <a:off x="3410712" y="3520440"/>
            <a:ext cx="1721358" cy="292608"/>
          </a:xfrm>
          <a:prstGeom prst="rect">
            <a:avLst/>
          </a:prstGeom>
          <a:noFill/>
          <a:ln/>
        </p:spPr>
        <p:txBody>
          <a:bodyPr wrap="square" lIns="0" tIns="0" rIns="0" bIns="0" rtlCol="0" anchor="t"/>
          <a:lstStyle/>
          <a:p>
            <a:pPr indent="0" marL="0">
              <a:buNone/>
            </a:pPr>
            <a:r>
              <a:rPr lang="en-US" sz="1350" b="1" dirty="0">
                <a:solidFill>
                  <a:srgbClr val="C7CAFF"/>
                </a:solidFill>
                <a:latin typeface="Courier New" pitchFamily="34" charset="0"/>
                <a:ea typeface="Courier New" pitchFamily="34" charset="-122"/>
                <a:cs typeface="Courier New" pitchFamily="34" charset="-120"/>
              </a:rPr>
              <a:t>extractor.py</a:t>
            </a:r>
            <a:endParaRPr lang="en-US" sz="1350" dirty="0"/>
          </a:p>
        </p:txBody>
      </p:sp>
      <p:sp>
        <p:nvSpPr>
          <p:cNvPr id="36" name="text_132"/>
          <p:cNvSpPr txBox="1"/>
          <p:nvPr/>
        </p:nvSpPr>
        <p:spPr>
          <a:xfrm>
            <a:off x="3410712" y="3831336"/>
            <a:ext cx="1721358" cy="274320"/>
          </a:xfrm>
          <a:prstGeom prst="rect">
            <a:avLst/>
          </a:prstGeom>
          <a:noFill/>
          <a:ln/>
        </p:spPr>
        <p:txBody>
          <a:bodyPr wrap="square" lIns="0" tIns="0" rIns="0" bIns="0" rtlCol="0" anchor="t"/>
          <a:lstStyle/>
          <a:p>
            <a:pPr indent="0" marL="0">
              <a:buNone/>
            </a:pPr>
            <a:r>
              <a:rPr lang="en-US" sz="1150" dirty="0">
                <a:solidFill>
                  <a:schemeClr val="bg2"/>
                </a:solidFill>
              </a:rPr>
              <a:t>PDF, DOCX, XLSX, OCR</a:t>
            </a:r>
            <a:endParaRPr lang="en-US" sz="1150" dirty="0"/>
          </a:p>
        </p:txBody>
      </p:sp>
      <p:sp>
        <p:nvSpPr>
          <p:cNvPr id="37" name="module_chip_133"/>
          <p:cNvSpPr/>
          <p:nvPr/>
        </p:nvSpPr>
        <p:spPr>
          <a:xfrm>
            <a:off x="5369814" y="3401568"/>
            <a:ext cx="1995678" cy="786384"/>
          </a:xfrm>
          <a:prstGeom prst="roundRect">
            <a:avLst>
              <a:gd name="adj" fmla="val 13953"/>
            </a:avLst>
          </a:prstGeom>
          <a:solidFill>
            <a:schemeClr val="tx2"/>
          </a:solidFill>
          <a:ln w="9525">
            <a:solidFill>
              <a:srgbClr val="2B3470"/>
            </a:solidFill>
            <a:prstDash val="solid"/>
          </a:ln>
        </p:spPr>
      </p:sp>
      <p:sp>
        <p:nvSpPr>
          <p:cNvPr id="38" name="text_134"/>
          <p:cNvSpPr txBox="1"/>
          <p:nvPr/>
        </p:nvSpPr>
        <p:spPr>
          <a:xfrm>
            <a:off x="5534406" y="3520440"/>
            <a:ext cx="1721358" cy="292608"/>
          </a:xfrm>
          <a:prstGeom prst="rect">
            <a:avLst/>
          </a:prstGeom>
          <a:noFill/>
          <a:ln/>
        </p:spPr>
        <p:txBody>
          <a:bodyPr wrap="square" lIns="0" tIns="0" rIns="0" bIns="0" rtlCol="0" anchor="t"/>
          <a:lstStyle/>
          <a:p>
            <a:pPr indent="0" marL="0">
              <a:buNone/>
            </a:pPr>
            <a:r>
              <a:rPr lang="en-US" sz="1350" b="1" dirty="0">
                <a:solidFill>
                  <a:srgbClr val="C7CAFF"/>
                </a:solidFill>
                <a:latin typeface="Courier New" pitchFamily="34" charset="0"/>
                <a:ea typeface="Courier New" pitchFamily="34" charset="-122"/>
                <a:cs typeface="Courier New" pitchFamily="34" charset="-120"/>
              </a:rPr>
              <a:t>classifier.py</a:t>
            </a:r>
            <a:endParaRPr lang="en-US" sz="1350" dirty="0"/>
          </a:p>
        </p:txBody>
      </p:sp>
      <p:sp>
        <p:nvSpPr>
          <p:cNvPr id="39" name="text_135"/>
          <p:cNvSpPr txBox="1"/>
          <p:nvPr/>
        </p:nvSpPr>
        <p:spPr>
          <a:xfrm>
            <a:off x="5534406" y="3831336"/>
            <a:ext cx="1721358" cy="274320"/>
          </a:xfrm>
          <a:prstGeom prst="rect">
            <a:avLst/>
          </a:prstGeom>
          <a:noFill/>
          <a:ln/>
        </p:spPr>
        <p:txBody>
          <a:bodyPr wrap="square" lIns="0" tIns="0" rIns="0" bIns="0" rtlCol="0" anchor="t"/>
          <a:lstStyle/>
          <a:p>
            <a:pPr indent="0" marL="0">
              <a:buNone/>
            </a:pPr>
            <a:r>
              <a:rPr lang="en-US" sz="1150" dirty="0">
                <a:solidFill>
                  <a:schemeClr val="bg2"/>
                </a:solidFill>
              </a:rPr>
              <a:t>keyword scoring → type</a:t>
            </a:r>
            <a:endParaRPr lang="en-US" sz="1150" dirty="0"/>
          </a:p>
        </p:txBody>
      </p:sp>
      <p:sp>
        <p:nvSpPr>
          <p:cNvPr id="40" name="module_chip_136"/>
          <p:cNvSpPr/>
          <p:nvPr/>
        </p:nvSpPr>
        <p:spPr>
          <a:xfrm>
            <a:off x="7493508" y="3401568"/>
            <a:ext cx="1995678" cy="786384"/>
          </a:xfrm>
          <a:prstGeom prst="roundRect">
            <a:avLst>
              <a:gd name="adj" fmla="val 13953"/>
            </a:avLst>
          </a:prstGeom>
          <a:solidFill>
            <a:schemeClr val="tx2"/>
          </a:solidFill>
          <a:ln w="9525">
            <a:solidFill>
              <a:srgbClr val="2B3470"/>
            </a:solidFill>
            <a:prstDash val="solid"/>
          </a:ln>
        </p:spPr>
      </p:sp>
      <p:sp>
        <p:nvSpPr>
          <p:cNvPr id="41" name="text_137"/>
          <p:cNvSpPr txBox="1"/>
          <p:nvPr/>
        </p:nvSpPr>
        <p:spPr>
          <a:xfrm>
            <a:off x="7658100" y="3520440"/>
            <a:ext cx="1721358" cy="292608"/>
          </a:xfrm>
          <a:prstGeom prst="rect">
            <a:avLst/>
          </a:prstGeom>
          <a:noFill/>
          <a:ln/>
        </p:spPr>
        <p:txBody>
          <a:bodyPr wrap="square" lIns="0" tIns="0" rIns="0" bIns="0" rtlCol="0" anchor="t"/>
          <a:lstStyle/>
          <a:p>
            <a:pPr indent="0" marL="0">
              <a:buNone/>
            </a:pPr>
            <a:r>
              <a:rPr lang="en-US" sz="1350" b="1" dirty="0">
                <a:solidFill>
                  <a:srgbClr val="C7CAFF"/>
                </a:solidFill>
                <a:latin typeface="Courier New" pitchFamily="34" charset="0"/>
                <a:ea typeface="Courier New" pitchFamily="34" charset="-122"/>
                <a:cs typeface="Courier New" pitchFamily="34" charset="-120"/>
              </a:rPr>
              <a:t>parser.py</a:t>
            </a:r>
            <a:endParaRPr lang="en-US" sz="1350" dirty="0"/>
          </a:p>
        </p:txBody>
      </p:sp>
      <p:sp>
        <p:nvSpPr>
          <p:cNvPr id="42" name="text_138"/>
          <p:cNvSpPr txBox="1"/>
          <p:nvPr/>
        </p:nvSpPr>
        <p:spPr>
          <a:xfrm>
            <a:off x="7658100" y="3831336"/>
            <a:ext cx="1721358" cy="274320"/>
          </a:xfrm>
          <a:prstGeom prst="rect">
            <a:avLst/>
          </a:prstGeom>
          <a:noFill/>
          <a:ln/>
        </p:spPr>
        <p:txBody>
          <a:bodyPr wrap="square" lIns="0" tIns="0" rIns="0" bIns="0" rtlCol="0" anchor="t"/>
          <a:lstStyle/>
          <a:p>
            <a:pPr indent="0" marL="0">
              <a:buNone/>
            </a:pPr>
            <a:r>
              <a:rPr lang="en-US" sz="1150" dirty="0">
                <a:solidFill>
                  <a:schemeClr val="bg2"/>
                </a:solidFill>
              </a:rPr>
              <a:t>regex → dates, IDs, ₹</a:t>
            </a:r>
            <a:endParaRPr lang="en-US" sz="1150" dirty="0"/>
          </a:p>
        </p:txBody>
      </p:sp>
      <p:sp>
        <p:nvSpPr>
          <p:cNvPr id="43" name="module_chip_139"/>
          <p:cNvSpPr/>
          <p:nvPr/>
        </p:nvSpPr>
        <p:spPr>
          <a:xfrm>
            <a:off x="9617202" y="3401568"/>
            <a:ext cx="1995678" cy="786384"/>
          </a:xfrm>
          <a:prstGeom prst="roundRect">
            <a:avLst>
              <a:gd name="adj" fmla="val 13953"/>
            </a:avLst>
          </a:prstGeom>
          <a:solidFill>
            <a:schemeClr val="tx2"/>
          </a:solidFill>
          <a:ln w="9525">
            <a:solidFill>
              <a:srgbClr val="2B3470"/>
            </a:solidFill>
            <a:prstDash val="solid"/>
          </a:ln>
        </p:spPr>
      </p:sp>
      <p:sp>
        <p:nvSpPr>
          <p:cNvPr id="44" name="text_140"/>
          <p:cNvSpPr txBox="1"/>
          <p:nvPr/>
        </p:nvSpPr>
        <p:spPr>
          <a:xfrm>
            <a:off x="9781794" y="3520440"/>
            <a:ext cx="1721358" cy="292608"/>
          </a:xfrm>
          <a:prstGeom prst="rect">
            <a:avLst/>
          </a:prstGeom>
          <a:noFill/>
          <a:ln/>
        </p:spPr>
        <p:txBody>
          <a:bodyPr wrap="square" lIns="0" tIns="0" rIns="0" bIns="0" rtlCol="0" anchor="t"/>
          <a:lstStyle/>
          <a:p>
            <a:pPr indent="0" marL="0">
              <a:buNone/>
            </a:pPr>
            <a:r>
              <a:rPr lang="en-US" sz="1350" b="1" dirty="0">
                <a:solidFill>
                  <a:srgbClr val="C7CAFF"/>
                </a:solidFill>
                <a:latin typeface="Courier New" pitchFamily="34" charset="0"/>
                <a:ea typeface="Courier New" pitchFamily="34" charset="-122"/>
                <a:cs typeface="Courier New" pitchFamily="34" charset="-120"/>
              </a:rPr>
              <a:t>preview.py</a:t>
            </a:r>
            <a:endParaRPr lang="en-US" sz="1350" dirty="0"/>
          </a:p>
        </p:txBody>
      </p:sp>
      <p:sp>
        <p:nvSpPr>
          <p:cNvPr id="45" name="text_141"/>
          <p:cNvSpPr txBox="1"/>
          <p:nvPr/>
        </p:nvSpPr>
        <p:spPr>
          <a:xfrm>
            <a:off x="9781794" y="3831336"/>
            <a:ext cx="1721358" cy="274320"/>
          </a:xfrm>
          <a:prstGeom prst="rect">
            <a:avLst/>
          </a:prstGeom>
          <a:noFill/>
          <a:ln/>
        </p:spPr>
        <p:txBody>
          <a:bodyPr wrap="square" lIns="0" tIns="0" rIns="0" bIns="0" rtlCol="0" anchor="t"/>
          <a:lstStyle/>
          <a:p>
            <a:pPr indent="0" marL="0">
              <a:buNone/>
            </a:pPr>
            <a:r>
              <a:rPr lang="en-US" sz="1150" dirty="0">
                <a:solidFill>
                  <a:schemeClr val="bg2"/>
                </a:solidFill>
              </a:rPr>
              <a:t>thumbnails, masking</a:t>
            </a:r>
            <a:endParaRPr lang="en-US" sz="1150" dirty="0"/>
          </a:p>
        </p:txBody>
      </p:sp>
      <p:sp>
        <p:nvSpPr>
          <p:cNvPr id="46" name="layer_label_142"/>
          <p:cNvSpPr/>
          <p:nvPr/>
        </p:nvSpPr>
        <p:spPr>
          <a:xfrm>
            <a:off x="548640" y="4334256"/>
            <a:ext cx="2514600" cy="786384"/>
          </a:xfrm>
          <a:prstGeom prst="roundRect">
            <a:avLst>
              <a:gd name="adj" fmla="val 13953"/>
            </a:avLst>
          </a:prstGeom>
          <a:solidFill>
            <a:schemeClr val="accent4">
              <a:alpha val="18000"/>
            </a:schemeClr>
          </a:solidFill>
          <a:ln w="9525">
            <a:solidFill>
              <a:schemeClr val="accent4"/>
            </a:solidFill>
            <a:prstDash val="solid"/>
          </a:ln>
        </p:spPr>
      </p:sp>
      <p:sp>
        <p:nvSpPr>
          <p:cNvPr id="47" name="icon_bg_143"/>
          <p:cNvSpPr/>
          <p:nvPr/>
        </p:nvSpPr>
        <p:spPr>
          <a:xfrm>
            <a:off x="685800" y="4489704"/>
            <a:ext cx="475488" cy="475488"/>
          </a:xfrm>
          <a:prstGeom prst="roundRect">
            <a:avLst>
              <a:gd name="adj" fmla="val 24000"/>
            </a:avLst>
          </a:prstGeom>
          <a:solidFill>
            <a:schemeClr val="accent4">
              <a:alpha val="22000"/>
            </a:schemeClr>
          </a:solidFill>
          <a:ln/>
        </p:spPr>
      </p:sp>
      <p:pic>
        <p:nvPicPr>
          <p:cNvPr id="48" name="icon_144" descr="/tmp/claude-0/-home-claude/584731ee-e493-5c78-a637-0b254e057472/scratchpad/deck/img/i_brain.png">    </p:cNvPr>
          <p:cNvPicPr>
            <a:picLocks noChangeAspect="1"/>
          </p:cNvPicPr>
          <p:nvPr/>
        </p:nvPicPr>
        <p:blipFill>
          <a:blip r:embed="rId4"/>
          <a:stretch>
            <a:fillRect/>
          </a:stretch>
        </p:blipFill>
        <p:spPr>
          <a:xfrm>
            <a:off x="799917" y="4603821"/>
            <a:ext cx="247254" cy="247254"/>
          </a:xfrm>
          <a:prstGeom prst="rect">
            <a:avLst/>
          </a:prstGeom>
        </p:spPr>
      </p:pic>
      <p:sp>
        <p:nvSpPr>
          <p:cNvPr id="49" name="text_145"/>
          <p:cNvSpPr txBox="1"/>
          <p:nvPr/>
        </p:nvSpPr>
        <p:spPr>
          <a:xfrm>
            <a:off x="1280160" y="4462272"/>
            <a:ext cx="1737360" cy="292608"/>
          </a:xfrm>
          <a:prstGeom prst="rect">
            <a:avLst/>
          </a:prstGeom>
          <a:noFill/>
          <a:ln/>
        </p:spPr>
        <p:txBody>
          <a:bodyPr wrap="square" lIns="0" tIns="0" rIns="0" bIns="0" rtlCol="0" anchor="t"/>
          <a:lstStyle/>
          <a:p>
            <a:pPr indent="0" marL="0">
              <a:buNone/>
            </a:pPr>
            <a:r>
              <a:rPr lang="en-US" sz="1500" b="1" dirty="0">
                <a:solidFill>
                  <a:schemeClr val="bg1"/>
                </a:solidFill>
              </a:rPr>
              <a:t>Intelligence</a:t>
            </a:r>
            <a:endParaRPr lang="en-US" sz="1500" dirty="0"/>
          </a:p>
        </p:txBody>
      </p:sp>
      <p:sp>
        <p:nvSpPr>
          <p:cNvPr id="50" name="text_146"/>
          <p:cNvSpPr txBox="1"/>
          <p:nvPr/>
        </p:nvSpPr>
        <p:spPr>
          <a:xfrm>
            <a:off x="1280160" y="4754880"/>
            <a:ext cx="1737360" cy="256032"/>
          </a:xfrm>
          <a:prstGeom prst="rect">
            <a:avLst/>
          </a:prstGeom>
          <a:noFill/>
          <a:ln/>
        </p:spPr>
        <p:txBody>
          <a:bodyPr wrap="square" lIns="0" tIns="0" rIns="0" bIns="0" rtlCol="0" anchor="t"/>
          <a:lstStyle/>
          <a:p>
            <a:pPr indent="0" marL="0">
              <a:buNone/>
            </a:pPr>
            <a:r>
              <a:rPr lang="en-US" sz="1150" dirty="0">
                <a:solidFill>
                  <a:schemeClr val="bg2"/>
                </a:solidFill>
              </a:rPr>
              <a:t>rules &amp; output</a:t>
            </a:r>
            <a:endParaRPr lang="en-US" sz="1150" dirty="0"/>
          </a:p>
        </p:txBody>
      </p:sp>
      <p:sp>
        <p:nvSpPr>
          <p:cNvPr id="51" name="module_chip_147"/>
          <p:cNvSpPr/>
          <p:nvPr/>
        </p:nvSpPr>
        <p:spPr>
          <a:xfrm>
            <a:off x="3246120" y="4334256"/>
            <a:ext cx="2703576" cy="786384"/>
          </a:xfrm>
          <a:prstGeom prst="roundRect">
            <a:avLst>
              <a:gd name="adj" fmla="val 13953"/>
            </a:avLst>
          </a:prstGeom>
          <a:solidFill>
            <a:schemeClr val="tx2"/>
          </a:solidFill>
          <a:ln w="9525">
            <a:solidFill>
              <a:srgbClr val="2B3470"/>
            </a:solidFill>
            <a:prstDash val="solid"/>
          </a:ln>
        </p:spPr>
      </p:sp>
      <p:sp>
        <p:nvSpPr>
          <p:cNvPr id="52" name="text_148"/>
          <p:cNvSpPr txBox="1"/>
          <p:nvPr/>
        </p:nvSpPr>
        <p:spPr>
          <a:xfrm>
            <a:off x="3410712" y="4453128"/>
            <a:ext cx="2429256" cy="292608"/>
          </a:xfrm>
          <a:prstGeom prst="rect">
            <a:avLst/>
          </a:prstGeom>
          <a:noFill/>
          <a:ln/>
        </p:spPr>
        <p:txBody>
          <a:bodyPr wrap="square" lIns="0" tIns="0" rIns="0" bIns="0" rtlCol="0" anchor="t"/>
          <a:lstStyle/>
          <a:p>
            <a:pPr indent="0" marL="0">
              <a:buNone/>
            </a:pPr>
            <a:r>
              <a:rPr lang="en-US" sz="1350" b="1" dirty="0">
                <a:solidFill>
                  <a:srgbClr val="C7CAFF"/>
                </a:solidFill>
                <a:latin typeface="Courier New" pitchFamily="34" charset="0"/>
                <a:ea typeface="Courier New" pitchFamily="34" charset="-122"/>
                <a:cs typeface="Courier New" pitchFamily="34" charset="-120"/>
              </a:rPr>
              <a:t>reminders.py</a:t>
            </a:r>
            <a:endParaRPr lang="en-US" sz="1350" dirty="0"/>
          </a:p>
        </p:txBody>
      </p:sp>
      <p:sp>
        <p:nvSpPr>
          <p:cNvPr id="53" name="text_149"/>
          <p:cNvSpPr txBox="1"/>
          <p:nvPr/>
        </p:nvSpPr>
        <p:spPr>
          <a:xfrm>
            <a:off x="3410712" y="4764024"/>
            <a:ext cx="2429256" cy="274320"/>
          </a:xfrm>
          <a:prstGeom prst="rect">
            <a:avLst/>
          </a:prstGeom>
          <a:noFill/>
          <a:ln/>
        </p:spPr>
        <p:txBody>
          <a:bodyPr wrap="square" lIns="0" tIns="0" rIns="0" bIns="0" rtlCol="0" anchor="t"/>
          <a:lstStyle/>
          <a:p>
            <a:pPr indent="0" marL="0">
              <a:buNone/>
            </a:pPr>
            <a:r>
              <a:rPr lang="en-US" sz="1150" dirty="0">
                <a:solidFill>
                  <a:schemeClr val="bg2"/>
                </a:solidFill>
              </a:rPr>
              <a:t>30 / 7-day status rules</a:t>
            </a:r>
            <a:endParaRPr lang="en-US" sz="1150" dirty="0"/>
          </a:p>
        </p:txBody>
      </p:sp>
      <p:sp>
        <p:nvSpPr>
          <p:cNvPr id="54" name="module_chip_150"/>
          <p:cNvSpPr/>
          <p:nvPr/>
        </p:nvSpPr>
        <p:spPr>
          <a:xfrm>
            <a:off x="6077712" y="4334256"/>
            <a:ext cx="2703576" cy="786384"/>
          </a:xfrm>
          <a:prstGeom prst="roundRect">
            <a:avLst>
              <a:gd name="adj" fmla="val 13953"/>
            </a:avLst>
          </a:prstGeom>
          <a:solidFill>
            <a:schemeClr val="tx2"/>
          </a:solidFill>
          <a:ln w="9525">
            <a:solidFill>
              <a:srgbClr val="2B3470"/>
            </a:solidFill>
            <a:prstDash val="solid"/>
          </a:ln>
        </p:spPr>
      </p:sp>
      <p:sp>
        <p:nvSpPr>
          <p:cNvPr id="55" name="text_151"/>
          <p:cNvSpPr txBox="1"/>
          <p:nvPr/>
        </p:nvSpPr>
        <p:spPr>
          <a:xfrm>
            <a:off x="6242304" y="4453128"/>
            <a:ext cx="2429256" cy="292608"/>
          </a:xfrm>
          <a:prstGeom prst="rect">
            <a:avLst/>
          </a:prstGeom>
          <a:noFill/>
          <a:ln/>
        </p:spPr>
        <p:txBody>
          <a:bodyPr wrap="square" lIns="0" tIns="0" rIns="0" bIns="0" rtlCol="0" anchor="t"/>
          <a:lstStyle/>
          <a:p>
            <a:pPr indent="0" marL="0">
              <a:buNone/>
            </a:pPr>
            <a:r>
              <a:rPr lang="en-US" sz="1350" b="1" dirty="0">
                <a:solidFill>
                  <a:srgbClr val="C7CAFF"/>
                </a:solidFill>
                <a:latin typeface="Courier New" pitchFamily="34" charset="0"/>
                <a:ea typeface="Courier New" pitchFamily="34" charset="-122"/>
                <a:cs typeface="Courier New" pitchFamily="34" charset="-120"/>
              </a:rPr>
              <a:t>health.py</a:t>
            </a:r>
            <a:endParaRPr lang="en-US" sz="1350" dirty="0"/>
          </a:p>
        </p:txBody>
      </p:sp>
      <p:sp>
        <p:nvSpPr>
          <p:cNvPr id="56" name="text_152"/>
          <p:cNvSpPr txBox="1"/>
          <p:nvPr/>
        </p:nvSpPr>
        <p:spPr>
          <a:xfrm>
            <a:off x="6242304" y="4764024"/>
            <a:ext cx="2429256" cy="274320"/>
          </a:xfrm>
          <a:prstGeom prst="rect">
            <a:avLst/>
          </a:prstGeom>
          <a:noFill/>
          <a:ln/>
        </p:spPr>
        <p:txBody>
          <a:bodyPr wrap="square" lIns="0" tIns="0" rIns="0" bIns="0" rtlCol="0" anchor="t"/>
          <a:lstStyle/>
          <a:p>
            <a:pPr indent="0" marL="0">
              <a:buNone/>
            </a:pPr>
            <a:r>
              <a:rPr lang="en-US" sz="1150" dirty="0">
                <a:solidFill>
                  <a:schemeClr val="bg2"/>
                </a:solidFill>
              </a:rPr>
              <a:t>completeness + timeliness</a:t>
            </a:r>
            <a:endParaRPr lang="en-US" sz="1150" dirty="0"/>
          </a:p>
        </p:txBody>
      </p:sp>
      <p:sp>
        <p:nvSpPr>
          <p:cNvPr id="57" name="module_chip_153"/>
          <p:cNvSpPr/>
          <p:nvPr/>
        </p:nvSpPr>
        <p:spPr>
          <a:xfrm>
            <a:off x="8909304" y="4334256"/>
            <a:ext cx="2703576" cy="786384"/>
          </a:xfrm>
          <a:prstGeom prst="roundRect">
            <a:avLst>
              <a:gd name="adj" fmla="val 13953"/>
            </a:avLst>
          </a:prstGeom>
          <a:solidFill>
            <a:schemeClr val="tx2"/>
          </a:solidFill>
          <a:ln w="9525">
            <a:solidFill>
              <a:srgbClr val="2B3470"/>
            </a:solidFill>
            <a:prstDash val="solid"/>
          </a:ln>
        </p:spPr>
      </p:sp>
      <p:sp>
        <p:nvSpPr>
          <p:cNvPr id="58" name="text_154"/>
          <p:cNvSpPr txBox="1"/>
          <p:nvPr/>
        </p:nvSpPr>
        <p:spPr>
          <a:xfrm>
            <a:off x="9073896" y="4453128"/>
            <a:ext cx="2429256" cy="292608"/>
          </a:xfrm>
          <a:prstGeom prst="rect">
            <a:avLst/>
          </a:prstGeom>
          <a:noFill/>
          <a:ln/>
        </p:spPr>
        <p:txBody>
          <a:bodyPr wrap="square" lIns="0" tIns="0" rIns="0" bIns="0" rtlCol="0" anchor="t"/>
          <a:lstStyle/>
          <a:p>
            <a:pPr indent="0" marL="0">
              <a:buNone/>
            </a:pPr>
            <a:r>
              <a:rPr lang="en-US" sz="1350" b="1" dirty="0">
                <a:solidFill>
                  <a:srgbClr val="C7CAFF"/>
                </a:solidFill>
                <a:latin typeface="Courier New" pitchFamily="34" charset="0"/>
                <a:ea typeface="Courier New" pitchFamily="34" charset="-122"/>
                <a:cs typeface="Courier New" pitchFamily="34" charset="-120"/>
              </a:rPr>
              <a:t>export.py</a:t>
            </a:r>
            <a:endParaRPr lang="en-US" sz="1350" dirty="0"/>
          </a:p>
        </p:txBody>
      </p:sp>
      <p:sp>
        <p:nvSpPr>
          <p:cNvPr id="59" name="text_155"/>
          <p:cNvSpPr txBox="1"/>
          <p:nvPr/>
        </p:nvSpPr>
        <p:spPr>
          <a:xfrm>
            <a:off x="9073896" y="4764024"/>
            <a:ext cx="2429256" cy="274320"/>
          </a:xfrm>
          <a:prstGeom prst="rect">
            <a:avLst/>
          </a:prstGeom>
          <a:noFill/>
          <a:ln/>
        </p:spPr>
        <p:txBody>
          <a:bodyPr wrap="square" lIns="0" tIns="0" rIns="0" bIns="0" rtlCol="0" anchor="t"/>
          <a:lstStyle/>
          <a:p>
            <a:pPr indent="0" marL="0">
              <a:buNone/>
            </a:pPr>
            <a:r>
              <a:rPr lang="en-US" sz="1150" dirty="0">
                <a:solidFill>
                  <a:schemeClr val="bg2"/>
                </a:solidFill>
              </a:rPr>
              <a:t>CSV + .ics calendar</a:t>
            </a:r>
            <a:endParaRPr lang="en-US" sz="1150" dirty="0"/>
          </a:p>
        </p:txBody>
      </p:sp>
      <p:sp>
        <p:nvSpPr>
          <p:cNvPr id="60" name="layer_label_156"/>
          <p:cNvSpPr/>
          <p:nvPr/>
        </p:nvSpPr>
        <p:spPr>
          <a:xfrm>
            <a:off x="548640" y="5266944"/>
            <a:ext cx="2514600" cy="786384"/>
          </a:xfrm>
          <a:prstGeom prst="roundRect">
            <a:avLst>
              <a:gd name="adj" fmla="val 13953"/>
            </a:avLst>
          </a:prstGeom>
          <a:solidFill>
            <a:schemeClr val="accent6">
              <a:alpha val="18000"/>
            </a:schemeClr>
          </a:solidFill>
          <a:ln w="9525">
            <a:solidFill>
              <a:schemeClr val="accent6"/>
            </a:solidFill>
            <a:prstDash val="solid"/>
          </a:ln>
        </p:spPr>
      </p:sp>
      <p:sp>
        <p:nvSpPr>
          <p:cNvPr id="61" name="icon_bg_157"/>
          <p:cNvSpPr/>
          <p:nvPr/>
        </p:nvSpPr>
        <p:spPr>
          <a:xfrm>
            <a:off x="685800" y="5422392"/>
            <a:ext cx="475488" cy="475488"/>
          </a:xfrm>
          <a:prstGeom prst="roundRect">
            <a:avLst>
              <a:gd name="adj" fmla="val 24000"/>
            </a:avLst>
          </a:prstGeom>
          <a:solidFill>
            <a:schemeClr val="accent6">
              <a:alpha val="22000"/>
            </a:schemeClr>
          </a:solidFill>
          <a:ln/>
        </p:spPr>
      </p:sp>
      <p:pic>
        <p:nvPicPr>
          <p:cNvPr id="62" name="icon_158" descr="/tmp/claude-0/-home-claude/584731ee-e493-5c78-a637-0b254e057472/scratchpad/deck/img/i_db.png">    </p:cNvPr>
          <p:cNvPicPr>
            <a:picLocks noChangeAspect="1"/>
          </p:cNvPicPr>
          <p:nvPr/>
        </p:nvPicPr>
        <p:blipFill>
          <a:blip r:embed="rId5"/>
          <a:stretch>
            <a:fillRect/>
          </a:stretch>
        </p:blipFill>
        <p:spPr>
          <a:xfrm>
            <a:off x="799917" y="5536509"/>
            <a:ext cx="247254" cy="247254"/>
          </a:xfrm>
          <a:prstGeom prst="rect">
            <a:avLst/>
          </a:prstGeom>
        </p:spPr>
      </p:pic>
      <p:sp>
        <p:nvSpPr>
          <p:cNvPr id="63" name="text_159"/>
          <p:cNvSpPr txBox="1"/>
          <p:nvPr/>
        </p:nvSpPr>
        <p:spPr>
          <a:xfrm>
            <a:off x="1280160" y="5394960"/>
            <a:ext cx="1737360" cy="292608"/>
          </a:xfrm>
          <a:prstGeom prst="rect">
            <a:avLst/>
          </a:prstGeom>
          <a:noFill/>
          <a:ln/>
        </p:spPr>
        <p:txBody>
          <a:bodyPr wrap="square" lIns="0" tIns="0" rIns="0" bIns="0" rtlCol="0" anchor="t"/>
          <a:lstStyle/>
          <a:p>
            <a:pPr indent="0" marL="0">
              <a:buNone/>
            </a:pPr>
            <a:r>
              <a:rPr lang="en-US" sz="1500" b="1" dirty="0">
                <a:solidFill>
                  <a:schemeClr val="bg1"/>
                </a:solidFill>
              </a:rPr>
              <a:t>Data</a:t>
            </a:r>
            <a:endParaRPr lang="en-US" sz="1500" dirty="0"/>
          </a:p>
        </p:txBody>
      </p:sp>
      <p:sp>
        <p:nvSpPr>
          <p:cNvPr id="64" name="text_160"/>
          <p:cNvSpPr txBox="1"/>
          <p:nvPr/>
        </p:nvSpPr>
        <p:spPr>
          <a:xfrm>
            <a:off x="1280160" y="5687568"/>
            <a:ext cx="1737360" cy="256032"/>
          </a:xfrm>
          <a:prstGeom prst="rect">
            <a:avLst/>
          </a:prstGeom>
          <a:noFill/>
          <a:ln/>
        </p:spPr>
        <p:txBody>
          <a:bodyPr wrap="square" lIns="0" tIns="0" rIns="0" bIns="0" rtlCol="0" anchor="t"/>
          <a:lstStyle/>
          <a:p>
            <a:pPr indent="0" marL="0">
              <a:buNone/>
            </a:pPr>
            <a:r>
              <a:rPr lang="en-US" sz="1150" dirty="0">
                <a:solidFill>
                  <a:schemeClr val="bg2"/>
                </a:solidFill>
              </a:rPr>
              <a:t>storage</a:t>
            </a:r>
            <a:endParaRPr lang="en-US" sz="1150" dirty="0"/>
          </a:p>
        </p:txBody>
      </p:sp>
      <p:sp>
        <p:nvSpPr>
          <p:cNvPr id="65" name="module_chip_161"/>
          <p:cNvSpPr/>
          <p:nvPr/>
        </p:nvSpPr>
        <p:spPr>
          <a:xfrm>
            <a:off x="3246120" y="5266944"/>
            <a:ext cx="2703576" cy="786384"/>
          </a:xfrm>
          <a:prstGeom prst="roundRect">
            <a:avLst>
              <a:gd name="adj" fmla="val 13953"/>
            </a:avLst>
          </a:prstGeom>
          <a:solidFill>
            <a:schemeClr val="tx2"/>
          </a:solidFill>
          <a:ln w="9525">
            <a:solidFill>
              <a:srgbClr val="2B3470"/>
            </a:solidFill>
            <a:prstDash val="solid"/>
          </a:ln>
        </p:spPr>
      </p:sp>
      <p:sp>
        <p:nvSpPr>
          <p:cNvPr id="66" name="text_162"/>
          <p:cNvSpPr txBox="1"/>
          <p:nvPr/>
        </p:nvSpPr>
        <p:spPr>
          <a:xfrm>
            <a:off x="3410712" y="5385816"/>
            <a:ext cx="2429256" cy="292608"/>
          </a:xfrm>
          <a:prstGeom prst="rect">
            <a:avLst/>
          </a:prstGeom>
          <a:noFill/>
          <a:ln/>
        </p:spPr>
        <p:txBody>
          <a:bodyPr wrap="square" lIns="0" tIns="0" rIns="0" bIns="0" rtlCol="0" anchor="t"/>
          <a:lstStyle/>
          <a:p>
            <a:pPr indent="0" marL="0">
              <a:buNone/>
            </a:pPr>
            <a:r>
              <a:rPr lang="en-US" sz="1350" b="1" dirty="0">
                <a:solidFill>
                  <a:srgbClr val="C7CAFF"/>
                </a:solidFill>
                <a:latin typeface="Courier New" pitchFamily="34" charset="0"/>
                <a:ea typeface="Courier New" pitchFamily="34" charset="-122"/>
                <a:cs typeface="Courier New" pitchFamily="34" charset="-120"/>
              </a:rPr>
              <a:t>database.py</a:t>
            </a:r>
            <a:endParaRPr lang="en-US" sz="1350" dirty="0"/>
          </a:p>
        </p:txBody>
      </p:sp>
      <p:sp>
        <p:nvSpPr>
          <p:cNvPr id="67" name="text_163"/>
          <p:cNvSpPr txBox="1"/>
          <p:nvPr/>
        </p:nvSpPr>
        <p:spPr>
          <a:xfrm>
            <a:off x="3410712" y="5696712"/>
            <a:ext cx="2429256" cy="274320"/>
          </a:xfrm>
          <a:prstGeom prst="rect">
            <a:avLst/>
          </a:prstGeom>
          <a:noFill/>
          <a:ln/>
        </p:spPr>
        <p:txBody>
          <a:bodyPr wrap="square" lIns="0" tIns="0" rIns="0" bIns="0" rtlCol="0" anchor="t"/>
          <a:lstStyle/>
          <a:p>
            <a:pPr indent="0" marL="0">
              <a:buNone/>
            </a:pPr>
            <a:r>
              <a:rPr lang="en-US" sz="1150" dirty="0">
                <a:solidFill>
                  <a:schemeClr val="bg2"/>
                </a:solidFill>
              </a:rPr>
              <a:t>SQLite · 4 tables</a:t>
            </a:r>
            <a:endParaRPr lang="en-US" sz="1150" dirty="0"/>
          </a:p>
        </p:txBody>
      </p:sp>
      <p:sp>
        <p:nvSpPr>
          <p:cNvPr id="68" name="module_chip_164"/>
          <p:cNvSpPr/>
          <p:nvPr/>
        </p:nvSpPr>
        <p:spPr>
          <a:xfrm>
            <a:off x="6077712" y="5266944"/>
            <a:ext cx="2703576" cy="786384"/>
          </a:xfrm>
          <a:prstGeom prst="roundRect">
            <a:avLst>
              <a:gd name="adj" fmla="val 13953"/>
            </a:avLst>
          </a:prstGeom>
          <a:solidFill>
            <a:schemeClr val="tx2"/>
          </a:solidFill>
          <a:ln w="9525">
            <a:solidFill>
              <a:srgbClr val="2B3470"/>
            </a:solidFill>
            <a:prstDash val="solid"/>
          </a:ln>
        </p:spPr>
      </p:sp>
      <p:sp>
        <p:nvSpPr>
          <p:cNvPr id="69" name="text_165"/>
          <p:cNvSpPr txBox="1"/>
          <p:nvPr/>
        </p:nvSpPr>
        <p:spPr>
          <a:xfrm>
            <a:off x="6242304" y="5385816"/>
            <a:ext cx="2429256" cy="292608"/>
          </a:xfrm>
          <a:prstGeom prst="rect">
            <a:avLst/>
          </a:prstGeom>
          <a:noFill/>
          <a:ln/>
        </p:spPr>
        <p:txBody>
          <a:bodyPr wrap="square" lIns="0" tIns="0" rIns="0" bIns="0" rtlCol="0" anchor="t"/>
          <a:lstStyle/>
          <a:p>
            <a:pPr indent="0" marL="0">
              <a:buNone/>
            </a:pPr>
            <a:r>
              <a:rPr lang="en-US" sz="1350" b="1" dirty="0">
                <a:solidFill>
                  <a:srgbClr val="C7CAFF"/>
                </a:solidFill>
                <a:latin typeface="Courier New" pitchFamily="34" charset="0"/>
                <a:ea typeface="Courier New" pitchFamily="34" charset="-122"/>
                <a:cs typeface="Courier New" pitchFamily="34" charset="-120"/>
              </a:rPr>
              <a:t>models.py</a:t>
            </a:r>
            <a:endParaRPr lang="en-US" sz="1350" dirty="0"/>
          </a:p>
        </p:txBody>
      </p:sp>
      <p:sp>
        <p:nvSpPr>
          <p:cNvPr id="70" name="text_166"/>
          <p:cNvSpPr txBox="1"/>
          <p:nvPr/>
        </p:nvSpPr>
        <p:spPr>
          <a:xfrm>
            <a:off x="6242304" y="5696712"/>
            <a:ext cx="2429256" cy="274320"/>
          </a:xfrm>
          <a:prstGeom prst="rect">
            <a:avLst/>
          </a:prstGeom>
          <a:noFill/>
          <a:ln/>
        </p:spPr>
        <p:txBody>
          <a:bodyPr wrap="square" lIns="0" tIns="0" rIns="0" bIns="0" rtlCol="0" anchor="t"/>
          <a:lstStyle/>
          <a:p>
            <a:pPr indent="0" marL="0">
              <a:buNone/>
            </a:pPr>
            <a:r>
              <a:rPr lang="en-US" sz="1150" dirty="0">
                <a:solidFill>
                  <a:schemeClr val="bg2"/>
                </a:solidFill>
              </a:rPr>
              <a:t>Document dataclass</a:t>
            </a:r>
            <a:endParaRPr lang="en-US" sz="1150" dirty="0"/>
          </a:p>
        </p:txBody>
      </p:sp>
      <p:sp>
        <p:nvSpPr>
          <p:cNvPr id="71" name="module_chip_167"/>
          <p:cNvSpPr/>
          <p:nvPr/>
        </p:nvSpPr>
        <p:spPr>
          <a:xfrm>
            <a:off x="8909304" y="5266944"/>
            <a:ext cx="2703576" cy="786384"/>
          </a:xfrm>
          <a:prstGeom prst="roundRect">
            <a:avLst>
              <a:gd name="adj" fmla="val 13953"/>
            </a:avLst>
          </a:prstGeom>
          <a:solidFill>
            <a:schemeClr val="tx2"/>
          </a:solidFill>
          <a:ln w="9525">
            <a:solidFill>
              <a:srgbClr val="2B3470"/>
            </a:solidFill>
            <a:prstDash val="solid"/>
          </a:ln>
        </p:spPr>
      </p:sp>
      <p:sp>
        <p:nvSpPr>
          <p:cNvPr id="72" name="text_168"/>
          <p:cNvSpPr txBox="1"/>
          <p:nvPr/>
        </p:nvSpPr>
        <p:spPr>
          <a:xfrm>
            <a:off x="9073896" y="5385816"/>
            <a:ext cx="2429256" cy="292608"/>
          </a:xfrm>
          <a:prstGeom prst="rect">
            <a:avLst/>
          </a:prstGeom>
          <a:noFill/>
          <a:ln/>
        </p:spPr>
        <p:txBody>
          <a:bodyPr wrap="square" lIns="0" tIns="0" rIns="0" bIns="0" rtlCol="0" anchor="t"/>
          <a:lstStyle/>
          <a:p>
            <a:pPr indent="0" marL="0">
              <a:buNone/>
            </a:pPr>
            <a:r>
              <a:rPr lang="en-US" sz="1350" b="1" dirty="0">
                <a:solidFill>
                  <a:srgbClr val="C7CAFF"/>
                </a:solidFill>
                <a:latin typeface="Courier New" pitchFamily="34" charset="0"/>
                <a:ea typeface="Courier New" pitchFamily="34" charset="-122"/>
                <a:cs typeface="Courier New" pitchFamily="34" charset="-120"/>
              </a:rPr>
              <a:t>data/uploads/</a:t>
            </a:r>
            <a:endParaRPr lang="en-US" sz="1350" dirty="0"/>
          </a:p>
        </p:txBody>
      </p:sp>
      <p:sp>
        <p:nvSpPr>
          <p:cNvPr id="73" name="text_169"/>
          <p:cNvSpPr txBox="1"/>
          <p:nvPr/>
        </p:nvSpPr>
        <p:spPr>
          <a:xfrm>
            <a:off x="9073896" y="5696712"/>
            <a:ext cx="2429256" cy="274320"/>
          </a:xfrm>
          <a:prstGeom prst="rect">
            <a:avLst/>
          </a:prstGeom>
          <a:noFill/>
          <a:ln/>
        </p:spPr>
        <p:txBody>
          <a:bodyPr wrap="square" lIns="0" tIns="0" rIns="0" bIns="0" rtlCol="0" anchor="t"/>
          <a:lstStyle/>
          <a:p>
            <a:pPr indent="0" marL="0">
              <a:buNone/>
            </a:pPr>
            <a:r>
              <a:rPr lang="en-US" sz="1150" dirty="0">
                <a:solidFill>
                  <a:schemeClr val="bg2"/>
                </a:solidFill>
              </a:rPr>
              <a:t>original files on disk</a:t>
            </a:r>
            <a:endParaRPr lang="en-US" sz="1150" dirty="0"/>
          </a:p>
        </p:txBody>
      </p:sp>
      <p:sp>
        <p:nvSpPr>
          <p:cNvPr id="25" name="Slide Number Placeholder 0"/>
          <p:cNvSpPr>
            <a:spLocks noGrp="1"/>
          </p:cNvSpPr>
          <p:nvPr>
            <p:ph type="sldNum" sz="quarter" idx="4294967295"/>
          </p:nvPr>
        </p:nvSpPr>
        <p:spPr>
          <a:xfrm>
            <a:off x="11109960" y="6355080"/>
            <a:ext cx="530352"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bg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8229600" cy="274320"/>
          </a:xfrm>
          <a:prstGeom prst="rect">
            <a:avLst/>
          </a:prstGeom>
          <a:noFill/>
          <a:ln/>
        </p:spPr>
        <p:txBody>
          <a:bodyPr wrap="square" lIns="0" tIns="0" rIns="0" bIns="0" rtlCol="0" anchor="ctr"/>
          <a:lstStyle/>
          <a:p>
            <a:pPr algn="l" indent="0" marL="0">
              <a:buNone/>
            </a:pPr>
            <a:r>
              <a:rPr lang="en-US" sz="1200" b="1" spc="200" kern="0" dirty="0">
                <a:solidFill>
                  <a:schemeClr val="accent2"/>
                </a:solidFill>
              </a:rPr>
              <a:t>01 · ARCHITECTURE</a:t>
            </a:r>
            <a:endParaRPr lang="en-US" sz="1200" dirty="0"/>
          </a:p>
        </p:txBody>
      </p:sp>
      <p:sp>
        <p:nvSpPr>
          <p:cNvPr id="3" name="Text 0"/>
          <p:cNvSpPr/>
          <p:nvPr>
            <p:ph idx="101" type="title" hasCustomPrompt="1"/>
          </p:nvPr>
        </p:nvSpPr>
        <p:spPr>
          <a:xfrm>
            <a:off x="548640" y="603504"/>
            <a:ext cx="11064240" cy="685800"/>
          </a:xfrm>
          <a:prstGeom prst="rect">
            <a:avLst/>
          </a:prstGeom>
          <a:noFill/>
          <a:ln/>
        </p:spPr>
        <p:txBody>
          <a:bodyPr wrap="square" lIns="0" tIns="0" rIns="0" bIns="0" rtlCol="0" anchor="ctr"/>
          <a:lstStyle/>
          <a:p>
            <a:pPr algn="l" indent="0" marL="0">
              <a:buNone/>
            </a:pPr>
            <a:r>
              <a:rPr lang="en-US" sz="3200" b="1" dirty="0">
                <a:solidFill>
                  <a:schemeClr val="bg1"/>
                </a:solidFill>
              </a:rPr>
              <a:t>From upload to reminder in five steps</a:t>
            </a:r>
            <a:endParaRPr lang="en-US" sz="3200" dirty="0"/>
          </a:p>
        </p:txBody>
      </p:sp>
      <p:sp>
        <p:nvSpPr>
          <p:cNvPr id="4" name="step_card_170"/>
          <p:cNvSpPr/>
          <p:nvPr/>
        </p:nvSpPr>
        <p:spPr>
          <a:xfrm>
            <a:off x="548640" y="1554480"/>
            <a:ext cx="2029968" cy="2514600"/>
          </a:xfrm>
          <a:prstGeom prst="roundRect">
            <a:avLst>
              <a:gd name="adj" fmla="val 5405"/>
            </a:avLst>
          </a:prstGeom>
          <a:solidFill>
            <a:schemeClr val="tx2"/>
          </a:solidFill>
          <a:ln w="9525">
            <a:solidFill>
              <a:srgbClr val="2B3470"/>
            </a:solidFill>
            <a:prstDash val="solid"/>
          </a:ln>
        </p:spPr>
      </p:sp>
      <p:sp>
        <p:nvSpPr>
          <p:cNvPr id="5" name="num_171"/>
          <p:cNvSpPr/>
          <p:nvPr/>
        </p:nvSpPr>
        <p:spPr>
          <a:xfrm>
            <a:off x="731520" y="1755648"/>
            <a:ext cx="457200" cy="457200"/>
          </a:xfrm>
          <a:prstGeom prst="ellipse">
            <a:avLst/>
          </a:prstGeom>
          <a:solidFill>
            <a:schemeClr val="accent1"/>
          </a:solidFill>
          <a:ln/>
        </p:spPr>
      </p:sp>
      <p:sp>
        <p:nvSpPr>
          <p:cNvPr id="6" name="text_172"/>
          <p:cNvSpPr txBox="1"/>
          <p:nvPr/>
        </p:nvSpPr>
        <p:spPr>
          <a:xfrm>
            <a:off x="731520" y="1755648"/>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7" name="text_173"/>
          <p:cNvSpPr txBox="1"/>
          <p:nvPr/>
        </p:nvSpPr>
        <p:spPr>
          <a:xfrm>
            <a:off x="731520" y="2331720"/>
            <a:ext cx="1709928" cy="310896"/>
          </a:xfrm>
          <a:prstGeom prst="rect">
            <a:avLst/>
          </a:prstGeom>
          <a:noFill/>
          <a:ln/>
        </p:spPr>
        <p:txBody>
          <a:bodyPr wrap="square" lIns="0" tIns="0" rIns="0" bIns="0" rtlCol="0" anchor="t"/>
          <a:lstStyle/>
          <a:p>
            <a:pPr indent="0" marL="0">
              <a:buNone/>
            </a:pPr>
            <a:r>
              <a:rPr lang="en-US" sz="1500" b="1" dirty="0">
                <a:solidFill>
                  <a:schemeClr val="bg1"/>
                </a:solidFill>
              </a:rPr>
              <a:t>Validate &amp; save</a:t>
            </a:r>
            <a:endParaRPr lang="en-US" sz="1500" dirty="0"/>
          </a:p>
        </p:txBody>
      </p:sp>
      <p:sp>
        <p:nvSpPr>
          <p:cNvPr id="8" name="text_174"/>
          <p:cNvSpPr txBox="1"/>
          <p:nvPr/>
        </p:nvSpPr>
        <p:spPr>
          <a:xfrm>
            <a:off x="731520" y="2670048"/>
            <a:ext cx="1709928" cy="822960"/>
          </a:xfrm>
          <a:prstGeom prst="rect">
            <a:avLst/>
          </a:prstGeom>
          <a:noFill/>
          <a:ln/>
        </p:spPr>
        <p:txBody>
          <a:bodyPr wrap="square" lIns="0" tIns="0" rIns="0" bIns="0" rtlCol="0" anchor="t"/>
          <a:lstStyle/>
          <a:p>
            <a:pPr indent="0" marL="0">
              <a:buNone/>
            </a:pPr>
            <a:r>
              <a:rPr lang="en-US" sz="1200" dirty="0">
                <a:solidFill>
                  <a:schemeClr val="bg2"/>
                </a:solidFill>
              </a:rPr>
              <a:t>Checks type and size (≤ 10 MB); keeps the original in data/uploads/</a:t>
            </a:r>
            <a:endParaRPr lang="en-US" sz="1200" dirty="0"/>
          </a:p>
        </p:txBody>
      </p:sp>
      <p:sp>
        <p:nvSpPr>
          <p:cNvPr id="9" name="pill_175"/>
          <p:cNvSpPr/>
          <p:nvPr/>
        </p:nvSpPr>
        <p:spPr>
          <a:xfrm>
            <a:off x="713232" y="3566160"/>
            <a:ext cx="1700784" cy="310896"/>
          </a:xfrm>
          <a:prstGeom prst="roundRect">
            <a:avLst>
              <a:gd name="adj" fmla="val 50000"/>
            </a:avLst>
          </a:prstGeom>
          <a:solidFill>
            <a:schemeClr val="accent2">
              <a:alpha val="22000"/>
            </a:schemeClr>
          </a:solidFill>
          <a:ln/>
        </p:spPr>
      </p:sp>
      <p:sp>
        <p:nvSpPr>
          <p:cNvPr id="10" name="text_176"/>
          <p:cNvSpPr txBox="1"/>
          <p:nvPr/>
        </p:nvSpPr>
        <p:spPr>
          <a:xfrm>
            <a:off x="713232" y="3566160"/>
            <a:ext cx="1700784" cy="310896"/>
          </a:xfrm>
          <a:prstGeom prst="rect">
            <a:avLst/>
          </a:prstGeom>
          <a:noFill/>
          <a:ln/>
        </p:spPr>
        <p:txBody>
          <a:bodyPr wrap="square" lIns="0" tIns="0" rIns="0" bIns="0" rtlCol="0" anchor="ctr"/>
          <a:lstStyle/>
          <a:p>
            <a:pPr algn="ctr" indent="0" marL="0">
              <a:buNone/>
            </a:pPr>
            <a:r>
              <a:rPr lang="en-US" sz="1050" b="1" dirty="0">
                <a:solidFill>
                  <a:schemeClr val="accent2"/>
                </a:solidFill>
              </a:rPr>
              <a:t>extractor.validate_file</a:t>
            </a:r>
            <a:endParaRPr lang="en-US" sz="1050" dirty="0"/>
          </a:p>
        </p:txBody>
      </p:sp>
      <p:pic>
        <p:nvPicPr>
          <p:cNvPr id="11" name="arrow_177" descr="/tmp/claude-0/-home-claude/584731ee-e493-5c78-a637-0b254e057472/scratchpad/deck/img/i_arrow.png">    </p:cNvPr>
          <p:cNvPicPr>
            <a:picLocks noChangeAspect="1"/>
          </p:cNvPicPr>
          <p:nvPr/>
        </p:nvPicPr>
        <p:blipFill>
          <a:blip r:embed="rId1"/>
          <a:stretch>
            <a:fillRect/>
          </a:stretch>
        </p:blipFill>
        <p:spPr>
          <a:xfrm>
            <a:off x="2610612" y="2688336"/>
            <a:ext cx="164592" cy="164592"/>
          </a:xfrm>
          <a:prstGeom prst="rect">
            <a:avLst/>
          </a:prstGeom>
        </p:spPr>
      </p:pic>
      <p:sp>
        <p:nvSpPr>
          <p:cNvPr id="12" name="step_card_178"/>
          <p:cNvSpPr/>
          <p:nvPr/>
        </p:nvSpPr>
        <p:spPr>
          <a:xfrm>
            <a:off x="2807208" y="1554480"/>
            <a:ext cx="2029968" cy="2514600"/>
          </a:xfrm>
          <a:prstGeom prst="roundRect">
            <a:avLst>
              <a:gd name="adj" fmla="val 5405"/>
            </a:avLst>
          </a:prstGeom>
          <a:solidFill>
            <a:schemeClr val="tx2"/>
          </a:solidFill>
          <a:ln w="9525">
            <a:solidFill>
              <a:srgbClr val="2B3470"/>
            </a:solidFill>
            <a:prstDash val="solid"/>
          </a:ln>
        </p:spPr>
      </p:sp>
      <p:sp>
        <p:nvSpPr>
          <p:cNvPr id="13" name="num_179"/>
          <p:cNvSpPr/>
          <p:nvPr/>
        </p:nvSpPr>
        <p:spPr>
          <a:xfrm>
            <a:off x="2990088" y="1755648"/>
            <a:ext cx="457200" cy="457200"/>
          </a:xfrm>
          <a:prstGeom prst="ellipse">
            <a:avLst/>
          </a:prstGeom>
          <a:solidFill>
            <a:schemeClr val="accent1"/>
          </a:solidFill>
          <a:ln/>
        </p:spPr>
      </p:sp>
      <p:sp>
        <p:nvSpPr>
          <p:cNvPr id="14" name="text_180"/>
          <p:cNvSpPr txBox="1"/>
          <p:nvPr/>
        </p:nvSpPr>
        <p:spPr>
          <a:xfrm>
            <a:off x="2990088" y="1755648"/>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15" name="text_181"/>
          <p:cNvSpPr txBox="1"/>
          <p:nvPr/>
        </p:nvSpPr>
        <p:spPr>
          <a:xfrm>
            <a:off x="2990088" y="2331720"/>
            <a:ext cx="1709928" cy="310896"/>
          </a:xfrm>
          <a:prstGeom prst="rect">
            <a:avLst/>
          </a:prstGeom>
          <a:noFill/>
          <a:ln/>
        </p:spPr>
        <p:txBody>
          <a:bodyPr wrap="square" lIns="0" tIns="0" rIns="0" bIns="0" rtlCol="0" anchor="t"/>
          <a:lstStyle/>
          <a:p>
            <a:pPr indent="0" marL="0">
              <a:buNone/>
            </a:pPr>
            <a:r>
              <a:rPr lang="en-US" sz="1500" b="1" dirty="0">
                <a:solidFill>
                  <a:schemeClr val="bg1"/>
                </a:solidFill>
              </a:rPr>
              <a:t>Extract text</a:t>
            </a:r>
            <a:endParaRPr lang="en-US" sz="1500" dirty="0"/>
          </a:p>
        </p:txBody>
      </p:sp>
      <p:sp>
        <p:nvSpPr>
          <p:cNvPr id="16" name="text_182"/>
          <p:cNvSpPr txBox="1"/>
          <p:nvPr/>
        </p:nvSpPr>
        <p:spPr>
          <a:xfrm>
            <a:off x="2990088" y="2670048"/>
            <a:ext cx="1709928" cy="822960"/>
          </a:xfrm>
          <a:prstGeom prst="rect">
            <a:avLst/>
          </a:prstGeom>
          <a:noFill/>
          <a:ln/>
        </p:spPr>
        <p:txBody>
          <a:bodyPr wrap="square" lIns="0" tIns="0" rIns="0" bIns="0" rtlCol="0" anchor="t"/>
          <a:lstStyle/>
          <a:p>
            <a:pPr indent="0" marL="0">
              <a:buNone/>
            </a:pPr>
            <a:r>
              <a:rPr lang="en-US" sz="1200" dirty="0">
                <a:solidFill>
                  <a:schemeClr val="bg2"/>
                </a:solidFill>
              </a:rPr>
              <a:t>pypdf, python-docx, openpyxl; optional OCR for scanned files</a:t>
            </a:r>
            <a:endParaRPr lang="en-US" sz="1200" dirty="0"/>
          </a:p>
        </p:txBody>
      </p:sp>
      <p:sp>
        <p:nvSpPr>
          <p:cNvPr id="17" name="pill_183"/>
          <p:cNvSpPr/>
          <p:nvPr/>
        </p:nvSpPr>
        <p:spPr>
          <a:xfrm>
            <a:off x="2971800" y="3566160"/>
            <a:ext cx="1700784" cy="310896"/>
          </a:xfrm>
          <a:prstGeom prst="roundRect">
            <a:avLst>
              <a:gd name="adj" fmla="val 50000"/>
            </a:avLst>
          </a:prstGeom>
          <a:solidFill>
            <a:schemeClr val="accent2">
              <a:alpha val="22000"/>
            </a:schemeClr>
          </a:solidFill>
          <a:ln/>
        </p:spPr>
      </p:sp>
      <p:sp>
        <p:nvSpPr>
          <p:cNvPr id="18" name="text_184"/>
          <p:cNvSpPr txBox="1"/>
          <p:nvPr/>
        </p:nvSpPr>
        <p:spPr>
          <a:xfrm>
            <a:off x="2971800" y="3566160"/>
            <a:ext cx="1700784" cy="310896"/>
          </a:xfrm>
          <a:prstGeom prst="rect">
            <a:avLst/>
          </a:prstGeom>
          <a:noFill/>
          <a:ln/>
        </p:spPr>
        <p:txBody>
          <a:bodyPr wrap="square" lIns="0" tIns="0" rIns="0" bIns="0" rtlCol="0" anchor="ctr"/>
          <a:lstStyle/>
          <a:p>
            <a:pPr algn="ctr" indent="0" marL="0">
              <a:buNone/>
            </a:pPr>
            <a:r>
              <a:rPr lang="en-US" sz="1050" b="1" dirty="0">
                <a:solidFill>
                  <a:schemeClr val="accent2"/>
                </a:solidFill>
              </a:rPr>
              <a:t>extractor.py</a:t>
            </a:r>
            <a:endParaRPr lang="en-US" sz="1050" dirty="0"/>
          </a:p>
        </p:txBody>
      </p:sp>
      <p:pic>
        <p:nvPicPr>
          <p:cNvPr id="19" name="arrow_185" descr="/tmp/claude-0/-home-claude/584731ee-e493-5c78-a637-0b254e057472/scratchpad/deck/img/i_arrow.png">    </p:cNvPr>
          <p:cNvPicPr>
            <a:picLocks noChangeAspect="1"/>
          </p:cNvPicPr>
          <p:nvPr/>
        </p:nvPicPr>
        <p:blipFill>
          <a:blip r:embed="rId2"/>
          <a:stretch>
            <a:fillRect/>
          </a:stretch>
        </p:blipFill>
        <p:spPr>
          <a:xfrm>
            <a:off x="4869180" y="2688336"/>
            <a:ext cx="164592" cy="164592"/>
          </a:xfrm>
          <a:prstGeom prst="rect">
            <a:avLst/>
          </a:prstGeom>
        </p:spPr>
      </p:pic>
      <p:sp>
        <p:nvSpPr>
          <p:cNvPr id="20" name="step_card_186"/>
          <p:cNvSpPr/>
          <p:nvPr/>
        </p:nvSpPr>
        <p:spPr>
          <a:xfrm>
            <a:off x="5065776" y="1554480"/>
            <a:ext cx="2029968" cy="2514600"/>
          </a:xfrm>
          <a:prstGeom prst="roundRect">
            <a:avLst>
              <a:gd name="adj" fmla="val 5405"/>
            </a:avLst>
          </a:prstGeom>
          <a:solidFill>
            <a:schemeClr val="tx2"/>
          </a:solidFill>
          <a:ln w="9525">
            <a:solidFill>
              <a:srgbClr val="2B3470"/>
            </a:solidFill>
            <a:prstDash val="solid"/>
          </a:ln>
        </p:spPr>
      </p:sp>
      <p:sp>
        <p:nvSpPr>
          <p:cNvPr id="21" name="num_187"/>
          <p:cNvSpPr/>
          <p:nvPr/>
        </p:nvSpPr>
        <p:spPr>
          <a:xfrm>
            <a:off x="5248656" y="1755648"/>
            <a:ext cx="457200" cy="457200"/>
          </a:xfrm>
          <a:prstGeom prst="ellipse">
            <a:avLst/>
          </a:prstGeom>
          <a:solidFill>
            <a:schemeClr val="accent1"/>
          </a:solidFill>
          <a:ln/>
        </p:spPr>
      </p:sp>
      <p:sp>
        <p:nvSpPr>
          <p:cNvPr id="22" name="text_188"/>
          <p:cNvSpPr txBox="1"/>
          <p:nvPr/>
        </p:nvSpPr>
        <p:spPr>
          <a:xfrm>
            <a:off x="5248656" y="1755648"/>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23" name="text_189"/>
          <p:cNvSpPr txBox="1"/>
          <p:nvPr/>
        </p:nvSpPr>
        <p:spPr>
          <a:xfrm>
            <a:off x="5248656" y="2331720"/>
            <a:ext cx="1709928" cy="310896"/>
          </a:xfrm>
          <a:prstGeom prst="rect">
            <a:avLst/>
          </a:prstGeom>
          <a:noFill/>
          <a:ln/>
        </p:spPr>
        <p:txBody>
          <a:bodyPr wrap="square" lIns="0" tIns="0" rIns="0" bIns="0" rtlCol="0" anchor="t"/>
          <a:lstStyle/>
          <a:p>
            <a:pPr indent="0" marL="0">
              <a:buNone/>
            </a:pPr>
            <a:r>
              <a:rPr lang="en-US" sz="1500" b="1" dirty="0">
                <a:solidFill>
                  <a:schemeClr val="bg1"/>
                </a:solidFill>
              </a:rPr>
              <a:t>Classify</a:t>
            </a:r>
            <a:endParaRPr lang="en-US" sz="1500" dirty="0"/>
          </a:p>
        </p:txBody>
      </p:sp>
      <p:sp>
        <p:nvSpPr>
          <p:cNvPr id="24" name="text_190"/>
          <p:cNvSpPr txBox="1"/>
          <p:nvPr/>
        </p:nvSpPr>
        <p:spPr>
          <a:xfrm>
            <a:off x="5248656" y="2670048"/>
            <a:ext cx="1709928" cy="822960"/>
          </a:xfrm>
          <a:prstGeom prst="rect">
            <a:avLst/>
          </a:prstGeom>
          <a:noFill/>
          <a:ln/>
        </p:spPr>
        <p:txBody>
          <a:bodyPr wrap="square" lIns="0" tIns="0" rIns="0" bIns="0" rtlCol="0" anchor="t"/>
          <a:lstStyle/>
          <a:p>
            <a:pPr indent="0" marL="0">
              <a:buNone/>
            </a:pPr>
            <a:r>
              <a:rPr lang="en-US" sz="1200" dirty="0">
                <a:solidFill>
                  <a:schemeClr val="bg2"/>
                </a:solidFill>
              </a:rPr>
              <a:t>Keyword scoring picks one of 8 types, with a confidence score</a:t>
            </a:r>
            <a:endParaRPr lang="en-US" sz="1200" dirty="0"/>
          </a:p>
        </p:txBody>
      </p:sp>
      <p:sp>
        <p:nvSpPr>
          <p:cNvPr id="25" name="pill_191"/>
          <p:cNvSpPr/>
          <p:nvPr/>
        </p:nvSpPr>
        <p:spPr>
          <a:xfrm>
            <a:off x="5230368" y="3566160"/>
            <a:ext cx="1700784" cy="310896"/>
          </a:xfrm>
          <a:prstGeom prst="roundRect">
            <a:avLst>
              <a:gd name="adj" fmla="val 50000"/>
            </a:avLst>
          </a:prstGeom>
          <a:solidFill>
            <a:schemeClr val="accent2">
              <a:alpha val="22000"/>
            </a:schemeClr>
          </a:solidFill>
          <a:ln/>
        </p:spPr>
      </p:sp>
      <p:sp>
        <p:nvSpPr>
          <p:cNvPr id="26" name="text_192"/>
          <p:cNvSpPr txBox="1"/>
          <p:nvPr/>
        </p:nvSpPr>
        <p:spPr>
          <a:xfrm>
            <a:off x="5230368" y="3566160"/>
            <a:ext cx="1700784" cy="310896"/>
          </a:xfrm>
          <a:prstGeom prst="rect">
            <a:avLst/>
          </a:prstGeom>
          <a:noFill/>
          <a:ln/>
        </p:spPr>
        <p:txBody>
          <a:bodyPr wrap="square" lIns="0" tIns="0" rIns="0" bIns="0" rtlCol="0" anchor="ctr"/>
          <a:lstStyle/>
          <a:p>
            <a:pPr algn="ctr" indent="0" marL="0">
              <a:buNone/>
            </a:pPr>
            <a:r>
              <a:rPr lang="en-US" sz="1050" b="1" dirty="0">
                <a:solidFill>
                  <a:schemeClr val="accent2"/>
                </a:solidFill>
              </a:rPr>
              <a:t>classifier.py</a:t>
            </a:r>
            <a:endParaRPr lang="en-US" sz="1050" dirty="0"/>
          </a:p>
        </p:txBody>
      </p:sp>
      <p:pic>
        <p:nvPicPr>
          <p:cNvPr id="27" name="arrow_193" descr="/tmp/claude-0/-home-claude/584731ee-e493-5c78-a637-0b254e057472/scratchpad/deck/img/i_arrow.png">    </p:cNvPr>
          <p:cNvPicPr>
            <a:picLocks noChangeAspect="1"/>
          </p:cNvPicPr>
          <p:nvPr/>
        </p:nvPicPr>
        <p:blipFill>
          <a:blip r:embed="rId3"/>
          <a:stretch>
            <a:fillRect/>
          </a:stretch>
        </p:blipFill>
        <p:spPr>
          <a:xfrm>
            <a:off x="7127748" y="2688336"/>
            <a:ext cx="164592" cy="164592"/>
          </a:xfrm>
          <a:prstGeom prst="rect">
            <a:avLst/>
          </a:prstGeom>
        </p:spPr>
      </p:pic>
      <p:sp>
        <p:nvSpPr>
          <p:cNvPr id="28" name="step_card_194"/>
          <p:cNvSpPr/>
          <p:nvPr/>
        </p:nvSpPr>
        <p:spPr>
          <a:xfrm>
            <a:off x="7324344" y="1554480"/>
            <a:ext cx="2029968" cy="2514600"/>
          </a:xfrm>
          <a:prstGeom prst="roundRect">
            <a:avLst>
              <a:gd name="adj" fmla="val 5405"/>
            </a:avLst>
          </a:prstGeom>
          <a:solidFill>
            <a:schemeClr val="tx2"/>
          </a:solidFill>
          <a:ln w="9525">
            <a:solidFill>
              <a:srgbClr val="2B3470"/>
            </a:solidFill>
            <a:prstDash val="solid"/>
          </a:ln>
        </p:spPr>
      </p:sp>
      <p:sp>
        <p:nvSpPr>
          <p:cNvPr id="29" name="num_195"/>
          <p:cNvSpPr/>
          <p:nvPr/>
        </p:nvSpPr>
        <p:spPr>
          <a:xfrm>
            <a:off x="7507224" y="1755648"/>
            <a:ext cx="457200" cy="457200"/>
          </a:xfrm>
          <a:prstGeom prst="ellipse">
            <a:avLst/>
          </a:prstGeom>
          <a:solidFill>
            <a:schemeClr val="accent1"/>
          </a:solidFill>
          <a:ln/>
        </p:spPr>
      </p:sp>
      <p:sp>
        <p:nvSpPr>
          <p:cNvPr id="30" name="text_196"/>
          <p:cNvSpPr txBox="1"/>
          <p:nvPr/>
        </p:nvSpPr>
        <p:spPr>
          <a:xfrm>
            <a:off x="7507224" y="1755648"/>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4</a:t>
            </a:r>
            <a:endParaRPr lang="en-US" sz="1500" dirty="0"/>
          </a:p>
        </p:txBody>
      </p:sp>
      <p:sp>
        <p:nvSpPr>
          <p:cNvPr id="31" name="text_197"/>
          <p:cNvSpPr txBox="1"/>
          <p:nvPr/>
        </p:nvSpPr>
        <p:spPr>
          <a:xfrm>
            <a:off x="7507224" y="2331720"/>
            <a:ext cx="1709928" cy="310896"/>
          </a:xfrm>
          <a:prstGeom prst="rect">
            <a:avLst/>
          </a:prstGeom>
          <a:noFill/>
          <a:ln/>
        </p:spPr>
        <p:txBody>
          <a:bodyPr wrap="square" lIns="0" tIns="0" rIns="0" bIns="0" rtlCol="0" anchor="t"/>
          <a:lstStyle/>
          <a:p>
            <a:pPr indent="0" marL="0">
              <a:buNone/>
            </a:pPr>
            <a:r>
              <a:rPr lang="en-US" sz="1500" b="1" dirty="0">
                <a:solidFill>
                  <a:schemeClr val="bg1"/>
                </a:solidFill>
              </a:rPr>
              <a:t>Extract fields</a:t>
            </a:r>
            <a:endParaRPr lang="en-US" sz="1500" dirty="0"/>
          </a:p>
        </p:txBody>
      </p:sp>
      <p:sp>
        <p:nvSpPr>
          <p:cNvPr id="32" name="text_198"/>
          <p:cNvSpPr txBox="1"/>
          <p:nvPr/>
        </p:nvSpPr>
        <p:spPr>
          <a:xfrm>
            <a:off x="7507224" y="2670048"/>
            <a:ext cx="1709928" cy="822960"/>
          </a:xfrm>
          <a:prstGeom prst="rect">
            <a:avLst/>
          </a:prstGeom>
          <a:noFill/>
          <a:ln/>
        </p:spPr>
        <p:txBody>
          <a:bodyPr wrap="square" lIns="0" tIns="0" rIns="0" bIns="0" rtlCol="0" anchor="t"/>
          <a:lstStyle/>
          <a:p>
            <a:pPr indent="0" marL="0">
              <a:buNone/>
            </a:pPr>
            <a:r>
              <a:rPr lang="en-US" sz="1200" dirty="0">
                <a:solidFill>
                  <a:schemeClr val="bg2"/>
                </a:solidFill>
              </a:rPr>
              <a:t>Regex finds dates, policy numbers, names, vehicle no. and ₹ amounts</a:t>
            </a:r>
            <a:endParaRPr lang="en-US" sz="1200" dirty="0"/>
          </a:p>
        </p:txBody>
      </p:sp>
      <p:sp>
        <p:nvSpPr>
          <p:cNvPr id="33" name="pill_199"/>
          <p:cNvSpPr/>
          <p:nvPr/>
        </p:nvSpPr>
        <p:spPr>
          <a:xfrm>
            <a:off x="7488936" y="3566160"/>
            <a:ext cx="1700784" cy="310896"/>
          </a:xfrm>
          <a:prstGeom prst="roundRect">
            <a:avLst>
              <a:gd name="adj" fmla="val 50000"/>
            </a:avLst>
          </a:prstGeom>
          <a:solidFill>
            <a:schemeClr val="accent2">
              <a:alpha val="22000"/>
            </a:schemeClr>
          </a:solidFill>
          <a:ln/>
        </p:spPr>
      </p:sp>
      <p:sp>
        <p:nvSpPr>
          <p:cNvPr id="34" name="text_200"/>
          <p:cNvSpPr txBox="1"/>
          <p:nvPr/>
        </p:nvSpPr>
        <p:spPr>
          <a:xfrm>
            <a:off x="7488936" y="3566160"/>
            <a:ext cx="1700784" cy="310896"/>
          </a:xfrm>
          <a:prstGeom prst="rect">
            <a:avLst/>
          </a:prstGeom>
          <a:noFill/>
          <a:ln/>
        </p:spPr>
        <p:txBody>
          <a:bodyPr wrap="square" lIns="0" tIns="0" rIns="0" bIns="0" rtlCol="0" anchor="ctr"/>
          <a:lstStyle/>
          <a:p>
            <a:pPr algn="ctr" indent="0" marL="0">
              <a:buNone/>
            </a:pPr>
            <a:r>
              <a:rPr lang="en-US" sz="1050" b="1" dirty="0">
                <a:solidFill>
                  <a:schemeClr val="accent2"/>
                </a:solidFill>
              </a:rPr>
              <a:t>parser.py</a:t>
            </a:r>
            <a:endParaRPr lang="en-US" sz="1050" dirty="0"/>
          </a:p>
        </p:txBody>
      </p:sp>
      <p:pic>
        <p:nvPicPr>
          <p:cNvPr id="35" name="arrow_201" descr="/tmp/claude-0/-home-claude/584731ee-e493-5c78-a637-0b254e057472/scratchpad/deck/img/i_arrow.png">    </p:cNvPr>
          <p:cNvPicPr>
            <a:picLocks noChangeAspect="1"/>
          </p:cNvPicPr>
          <p:nvPr/>
        </p:nvPicPr>
        <p:blipFill>
          <a:blip r:embed="rId4"/>
          <a:stretch>
            <a:fillRect/>
          </a:stretch>
        </p:blipFill>
        <p:spPr>
          <a:xfrm>
            <a:off x="9386316" y="2688336"/>
            <a:ext cx="164592" cy="164592"/>
          </a:xfrm>
          <a:prstGeom prst="rect">
            <a:avLst/>
          </a:prstGeom>
        </p:spPr>
      </p:pic>
      <p:sp>
        <p:nvSpPr>
          <p:cNvPr id="36" name="step_card_202"/>
          <p:cNvSpPr/>
          <p:nvPr/>
        </p:nvSpPr>
        <p:spPr>
          <a:xfrm>
            <a:off x="9582912" y="1554480"/>
            <a:ext cx="2029968" cy="2514600"/>
          </a:xfrm>
          <a:prstGeom prst="roundRect">
            <a:avLst>
              <a:gd name="adj" fmla="val 5405"/>
            </a:avLst>
          </a:prstGeom>
          <a:solidFill>
            <a:schemeClr val="tx2"/>
          </a:solidFill>
          <a:ln w="9525">
            <a:solidFill>
              <a:srgbClr val="2B3470"/>
            </a:solidFill>
            <a:prstDash val="solid"/>
          </a:ln>
        </p:spPr>
      </p:sp>
      <p:sp>
        <p:nvSpPr>
          <p:cNvPr id="37" name="num_203"/>
          <p:cNvSpPr/>
          <p:nvPr/>
        </p:nvSpPr>
        <p:spPr>
          <a:xfrm>
            <a:off x="9765792" y="1755648"/>
            <a:ext cx="457200" cy="457200"/>
          </a:xfrm>
          <a:prstGeom prst="ellipse">
            <a:avLst/>
          </a:prstGeom>
          <a:solidFill>
            <a:schemeClr val="accent1"/>
          </a:solidFill>
          <a:ln/>
        </p:spPr>
      </p:sp>
      <p:sp>
        <p:nvSpPr>
          <p:cNvPr id="38" name="text_204"/>
          <p:cNvSpPr txBox="1"/>
          <p:nvPr/>
        </p:nvSpPr>
        <p:spPr>
          <a:xfrm>
            <a:off x="9765792" y="1755648"/>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5</a:t>
            </a:r>
            <a:endParaRPr lang="en-US" sz="1500" dirty="0"/>
          </a:p>
        </p:txBody>
      </p:sp>
      <p:sp>
        <p:nvSpPr>
          <p:cNvPr id="39" name="text_205"/>
          <p:cNvSpPr txBox="1"/>
          <p:nvPr/>
        </p:nvSpPr>
        <p:spPr>
          <a:xfrm>
            <a:off x="9765792" y="2331720"/>
            <a:ext cx="1709928" cy="310896"/>
          </a:xfrm>
          <a:prstGeom prst="rect">
            <a:avLst/>
          </a:prstGeom>
          <a:noFill/>
          <a:ln/>
        </p:spPr>
        <p:txBody>
          <a:bodyPr wrap="square" lIns="0" tIns="0" rIns="0" bIns="0" rtlCol="0" anchor="t"/>
          <a:lstStyle/>
          <a:p>
            <a:pPr indent="0" marL="0">
              <a:buNone/>
            </a:pPr>
            <a:r>
              <a:rPr lang="en-US" sz="1500" b="1" dirty="0">
                <a:solidFill>
                  <a:schemeClr val="bg1"/>
                </a:solidFill>
              </a:rPr>
              <a:t>Status &amp; save</a:t>
            </a:r>
            <a:endParaRPr lang="en-US" sz="1500" dirty="0"/>
          </a:p>
        </p:txBody>
      </p:sp>
      <p:sp>
        <p:nvSpPr>
          <p:cNvPr id="40" name="text_206"/>
          <p:cNvSpPr txBox="1"/>
          <p:nvPr/>
        </p:nvSpPr>
        <p:spPr>
          <a:xfrm>
            <a:off x="9765792" y="2670048"/>
            <a:ext cx="1709928" cy="822960"/>
          </a:xfrm>
          <a:prstGeom prst="rect">
            <a:avLst/>
          </a:prstGeom>
          <a:noFill/>
          <a:ln/>
        </p:spPr>
        <p:txBody>
          <a:bodyPr wrap="square" lIns="0" tIns="0" rIns="0" bIns="0" rtlCol="0" anchor="t"/>
          <a:lstStyle/>
          <a:p>
            <a:pPr indent="0" marL="0">
              <a:buNone/>
            </a:pPr>
            <a:r>
              <a:rPr lang="en-US" sz="1200" dirty="0">
                <a:solidFill>
                  <a:schemeClr val="bg2"/>
                </a:solidFill>
              </a:rPr>
              <a:t>Rules assign Active / Expiring / Critical; user reviews, then SQLite</a:t>
            </a:r>
            <a:endParaRPr lang="en-US" sz="1200" dirty="0"/>
          </a:p>
        </p:txBody>
      </p:sp>
      <p:sp>
        <p:nvSpPr>
          <p:cNvPr id="41" name="pill_207"/>
          <p:cNvSpPr/>
          <p:nvPr/>
        </p:nvSpPr>
        <p:spPr>
          <a:xfrm>
            <a:off x="9747504" y="3566160"/>
            <a:ext cx="1700784" cy="310896"/>
          </a:xfrm>
          <a:prstGeom prst="roundRect">
            <a:avLst>
              <a:gd name="adj" fmla="val 50000"/>
            </a:avLst>
          </a:prstGeom>
          <a:solidFill>
            <a:schemeClr val="accent2">
              <a:alpha val="22000"/>
            </a:schemeClr>
          </a:solidFill>
          <a:ln/>
        </p:spPr>
      </p:sp>
      <p:sp>
        <p:nvSpPr>
          <p:cNvPr id="42" name="text_208"/>
          <p:cNvSpPr txBox="1"/>
          <p:nvPr/>
        </p:nvSpPr>
        <p:spPr>
          <a:xfrm>
            <a:off x="9747504" y="3566160"/>
            <a:ext cx="1700784" cy="310896"/>
          </a:xfrm>
          <a:prstGeom prst="rect">
            <a:avLst/>
          </a:prstGeom>
          <a:noFill/>
          <a:ln/>
        </p:spPr>
        <p:txBody>
          <a:bodyPr wrap="square" lIns="0" tIns="0" rIns="0" bIns="0" rtlCol="0" anchor="ctr"/>
          <a:lstStyle/>
          <a:p>
            <a:pPr algn="ctr" indent="0" marL="0">
              <a:buNone/>
            </a:pPr>
            <a:r>
              <a:rPr lang="en-US" sz="1050" b="1" dirty="0">
                <a:solidFill>
                  <a:schemeClr val="accent2"/>
                </a:solidFill>
              </a:rPr>
              <a:t>reminders · database</a:t>
            </a:r>
            <a:endParaRPr lang="en-US" sz="1050" dirty="0"/>
          </a:p>
        </p:txBody>
      </p:sp>
      <p:sp>
        <p:nvSpPr>
          <p:cNvPr id="43" name="example_209"/>
          <p:cNvSpPr/>
          <p:nvPr/>
        </p:nvSpPr>
        <p:spPr>
          <a:xfrm>
            <a:off x="548640" y="4279392"/>
            <a:ext cx="11064240" cy="1874520"/>
          </a:xfrm>
          <a:prstGeom prst="roundRect">
            <a:avLst>
              <a:gd name="adj" fmla="val 5854"/>
            </a:avLst>
          </a:prstGeom>
          <a:solidFill>
            <a:srgbClr val="0E1438"/>
          </a:solidFill>
          <a:ln w="9525">
            <a:solidFill>
              <a:srgbClr val="2B3470"/>
            </a:solidFill>
            <a:prstDash val="solid"/>
          </a:ln>
        </p:spPr>
      </p:sp>
      <p:sp>
        <p:nvSpPr>
          <p:cNvPr id="44" name="text_210"/>
          <p:cNvSpPr txBox="1"/>
          <p:nvPr/>
        </p:nvSpPr>
        <p:spPr>
          <a:xfrm>
            <a:off x="777240" y="4425696"/>
            <a:ext cx="4114800" cy="237744"/>
          </a:xfrm>
          <a:prstGeom prst="rect">
            <a:avLst/>
          </a:prstGeom>
          <a:noFill/>
          <a:ln/>
        </p:spPr>
        <p:txBody>
          <a:bodyPr wrap="square" lIns="0" tIns="0" rIns="0" bIns="0" rtlCol="0" anchor="t"/>
          <a:lstStyle/>
          <a:p>
            <a:pPr indent="0" marL="0">
              <a:buNone/>
            </a:pPr>
            <a:r>
              <a:rPr lang="en-US" sz="1100" b="1" spc="100" kern="0" dirty="0">
                <a:solidFill>
                  <a:schemeClr val="accent2"/>
                </a:solidFill>
              </a:rPr>
              <a:t>INPUT  ·  car_insurance.pdf</a:t>
            </a:r>
            <a:endParaRPr lang="en-US" sz="1100" dirty="0"/>
          </a:p>
        </p:txBody>
      </p:sp>
      <p:sp>
        <p:nvSpPr>
          <p:cNvPr id="45" name="text_211"/>
          <p:cNvSpPr txBox="1"/>
          <p:nvPr/>
        </p:nvSpPr>
        <p:spPr>
          <a:xfrm>
            <a:off x="777240" y="4709160"/>
            <a:ext cx="4343400" cy="1325880"/>
          </a:xfrm>
          <a:prstGeom prst="rect">
            <a:avLst/>
          </a:prstGeom>
          <a:noFill/>
          <a:ln/>
        </p:spPr>
        <p:txBody>
          <a:bodyPr wrap="square" lIns="0" tIns="0" rIns="0" bIns="0" rtlCol="0" anchor="t"/>
          <a:lstStyle/>
          <a:p>
            <a:pPr indent="0" marL="0">
              <a:lnSpc>
                <a:spcPct val="105000"/>
              </a:lnSpc>
              <a:buNone/>
            </a:pPr>
            <a:r>
              <a:rPr lang="en-US" sz="1050" dirty="0">
                <a:solidFill>
                  <a:srgbClr val="C9CDEB"/>
                </a:solidFill>
                <a:latin typeface="Courier New" pitchFamily="34" charset="0"/>
                <a:ea typeface="Courier New" pitchFamily="34" charset="-122"/>
                <a:cs typeface="Courier New" pitchFamily="34" charset="-120"/>
              </a:rPr>
              <a:t>Sundaram General Insurance Company Ltd</a:t>
            </a:r>
            <a:endParaRPr lang="en-US" sz="1050" dirty="0"/>
          </a:p>
          <a:p>
            <a:pPr indent="0" marL="0">
              <a:lnSpc>
                <a:spcPct val="105000"/>
              </a:lnSpc>
              <a:buNone/>
            </a:pPr>
            <a:r>
              <a:rPr lang="en-US" sz="1050" dirty="0">
                <a:solidFill>
                  <a:srgbClr val="C9CDEB"/>
                </a:solidFill>
                <a:latin typeface="Courier New" pitchFamily="34" charset="0"/>
                <a:ea typeface="Courier New" pitchFamily="34" charset="-122"/>
                <a:cs typeface="Courier New" pitchFamily="34" charset="-120"/>
              </a:rPr>
              <a:t>Policy No: INS784521</a:t>
            </a:r>
            <a:endParaRPr lang="en-US" sz="1050" dirty="0"/>
          </a:p>
          <a:p>
            <a:pPr indent="0" marL="0">
              <a:lnSpc>
                <a:spcPct val="105000"/>
              </a:lnSpc>
              <a:buNone/>
            </a:pPr>
            <a:r>
              <a:rPr lang="en-US" sz="1050" dirty="0">
                <a:solidFill>
                  <a:srgbClr val="C9CDEB"/>
                </a:solidFill>
                <a:latin typeface="Courier New" pitchFamily="34" charset="0"/>
                <a:ea typeface="Courier New" pitchFamily="34" charset="-122"/>
                <a:cs typeface="Courier New" pitchFamily="34" charset="-120"/>
              </a:rPr>
              <a:t>Insured Name: Arun Kumar</a:t>
            </a:r>
            <a:endParaRPr lang="en-US" sz="1050" dirty="0"/>
          </a:p>
          <a:p>
            <a:pPr indent="0" marL="0">
              <a:lnSpc>
                <a:spcPct val="105000"/>
              </a:lnSpc>
              <a:buNone/>
            </a:pPr>
            <a:r>
              <a:rPr lang="en-US" sz="1050" dirty="0">
                <a:solidFill>
                  <a:srgbClr val="C9CDEB"/>
                </a:solidFill>
                <a:latin typeface="Courier New" pitchFamily="34" charset="0"/>
                <a:ea typeface="Courier New" pitchFamily="34" charset="-122"/>
                <a:cs typeface="Courier New" pitchFamily="34" charset="-120"/>
              </a:rPr>
              <a:t>Vehicle Registration No: TN 63 AB 1234</a:t>
            </a:r>
            <a:endParaRPr lang="en-US" sz="1050" dirty="0"/>
          </a:p>
          <a:p>
            <a:pPr indent="0" marL="0">
              <a:lnSpc>
                <a:spcPct val="105000"/>
              </a:lnSpc>
              <a:buNone/>
            </a:pPr>
            <a:r>
              <a:rPr lang="en-US" sz="1050" dirty="0">
                <a:solidFill>
                  <a:srgbClr val="C9CDEB"/>
                </a:solidFill>
                <a:latin typeface="Courier New" pitchFamily="34" charset="0"/>
                <a:ea typeface="Courier New" pitchFamily="34" charset="-122"/>
                <a:cs typeface="Courier New" pitchFamily="34" charset="-120"/>
              </a:rPr>
              <a:t>Period of Insurance: 20/10/2025 to 20/10/2026</a:t>
            </a:r>
            <a:endParaRPr lang="en-US" sz="1050" dirty="0"/>
          </a:p>
          <a:p>
            <a:pPr indent="0" marL="0">
              <a:lnSpc>
                <a:spcPct val="105000"/>
              </a:lnSpc>
              <a:buNone/>
            </a:pPr>
            <a:r>
              <a:rPr lang="en-US" sz="1050" dirty="0">
                <a:solidFill>
                  <a:srgbClr val="C9CDEB"/>
                </a:solidFill>
                <a:latin typeface="Courier New" pitchFamily="34" charset="0"/>
                <a:ea typeface="Courier New" pitchFamily="34" charset="-122"/>
                <a:cs typeface="Courier New" pitchFamily="34" charset="-120"/>
              </a:rPr>
              <a:t>Total Premium: Rs. 14,250.00</a:t>
            </a:r>
            <a:endParaRPr lang="en-US" sz="1050" dirty="0"/>
          </a:p>
        </p:txBody>
      </p:sp>
      <p:pic>
        <p:nvPicPr>
          <p:cNvPr id="46" name="example_arrow" descr="/tmp/claude-0/-home-claude/584731ee-e493-5c78-a637-0b254e057472/scratchpad/deck/img/i_arrow.png">    </p:cNvPr>
          <p:cNvPicPr>
            <a:picLocks noChangeAspect="1"/>
          </p:cNvPicPr>
          <p:nvPr/>
        </p:nvPicPr>
        <p:blipFill>
          <a:blip r:embed="rId5"/>
          <a:stretch>
            <a:fillRect/>
          </a:stretch>
        </p:blipFill>
        <p:spPr>
          <a:xfrm>
            <a:off x="5230368" y="5029200"/>
            <a:ext cx="329184" cy="329184"/>
          </a:xfrm>
          <a:prstGeom prst="rect">
            <a:avLst/>
          </a:prstGeom>
        </p:spPr>
      </p:pic>
      <p:sp>
        <p:nvSpPr>
          <p:cNvPr id="47" name="text_212"/>
          <p:cNvSpPr txBox="1"/>
          <p:nvPr/>
        </p:nvSpPr>
        <p:spPr>
          <a:xfrm>
            <a:off x="5760720" y="4425696"/>
            <a:ext cx="5486400" cy="237744"/>
          </a:xfrm>
          <a:prstGeom prst="rect">
            <a:avLst/>
          </a:prstGeom>
          <a:noFill/>
          <a:ln/>
        </p:spPr>
        <p:txBody>
          <a:bodyPr wrap="square" lIns="0" tIns="0" rIns="0" bIns="0" rtlCol="0" anchor="t"/>
          <a:lstStyle/>
          <a:p>
            <a:pPr indent="0" marL="0">
              <a:buNone/>
            </a:pPr>
            <a:r>
              <a:rPr lang="en-US" sz="1100" b="1" spc="100" kern="0" dirty="0">
                <a:solidFill>
                  <a:schemeClr val="accent3"/>
                </a:solidFill>
              </a:rPr>
              <a:t>OUTPUT  ·  pre-filled form, saved to SQLite</a:t>
            </a:r>
            <a:endParaRPr lang="en-US" sz="1100" dirty="0"/>
          </a:p>
        </p:txBody>
      </p:sp>
      <p:sp>
        <p:nvSpPr>
          <p:cNvPr id="48" name="text_213"/>
          <p:cNvSpPr txBox="1"/>
          <p:nvPr/>
        </p:nvSpPr>
        <p:spPr>
          <a:xfrm>
            <a:off x="5760720" y="4727448"/>
            <a:ext cx="1828800" cy="219456"/>
          </a:xfrm>
          <a:prstGeom prst="rect">
            <a:avLst/>
          </a:prstGeom>
          <a:noFill/>
          <a:ln/>
        </p:spPr>
        <p:txBody>
          <a:bodyPr wrap="square" lIns="0" tIns="0" rIns="0" bIns="0" rtlCol="0" anchor="t"/>
          <a:lstStyle/>
          <a:p>
            <a:pPr indent="0" marL="0">
              <a:buNone/>
            </a:pPr>
            <a:r>
              <a:rPr lang="en-US" sz="1050" dirty="0">
                <a:solidFill>
                  <a:schemeClr val="bg2"/>
                </a:solidFill>
              </a:rPr>
              <a:t>Type</a:t>
            </a:r>
            <a:endParaRPr lang="en-US" sz="1050" dirty="0"/>
          </a:p>
        </p:txBody>
      </p:sp>
      <p:sp>
        <p:nvSpPr>
          <p:cNvPr id="49" name="text_214"/>
          <p:cNvSpPr txBox="1"/>
          <p:nvPr/>
        </p:nvSpPr>
        <p:spPr>
          <a:xfrm>
            <a:off x="5760720" y="4946904"/>
            <a:ext cx="1828800" cy="274320"/>
          </a:xfrm>
          <a:prstGeom prst="rect">
            <a:avLst/>
          </a:prstGeom>
          <a:noFill/>
          <a:ln/>
        </p:spPr>
        <p:txBody>
          <a:bodyPr wrap="square" lIns="0" tIns="0" rIns="0" bIns="0" rtlCol="0" anchor="t"/>
          <a:lstStyle/>
          <a:p>
            <a:pPr indent="0" marL="0">
              <a:buNone/>
            </a:pPr>
            <a:r>
              <a:rPr lang="en-US" sz="1350" b="1" dirty="0">
                <a:solidFill>
                  <a:schemeClr val="bg1"/>
                </a:solidFill>
              </a:rPr>
              <a:t>Insurance (90%)</a:t>
            </a:r>
            <a:endParaRPr lang="en-US" sz="1350" dirty="0"/>
          </a:p>
        </p:txBody>
      </p:sp>
      <p:sp>
        <p:nvSpPr>
          <p:cNvPr id="50" name="text_215"/>
          <p:cNvSpPr txBox="1"/>
          <p:nvPr/>
        </p:nvSpPr>
        <p:spPr>
          <a:xfrm>
            <a:off x="7680960" y="4727448"/>
            <a:ext cx="1828800" cy="219456"/>
          </a:xfrm>
          <a:prstGeom prst="rect">
            <a:avLst/>
          </a:prstGeom>
          <a:noFill/>
          <a:ln/>
        </p:spPr>
        <p:txBody>
          <a:bodyPr wrap="square" lIns="0" tIns="0" rIns="0" bIns="0" rtlCol="0" anchor="t"/>
          <a:lstStyle/>
          <a:p>
            <a:pPr indent="0" marL="0">
              <a:buNone/>
            </a:pPr>
            <a:r>
              <a:rPr lang="en-US" sz="1050" dirty="0">
                <a:solidFill>
                  <a:schemeClr val="bg2"/>
                </a:solidFill>
              </a:rPr>
              <a:t>Policy No</a:t>
            </a:r>
            <a:endParaRPr lang="en-US" sz="1050" dirty="0"/>
          </a:p>
        </p:txBody>
      </p:sp>
      <p:sp>
        <p:nvSpPr>
          <p:cNvPr id="51" name="text_216"/>
          <p:cNvSpPr txBox="1"/>
          <p:nvPr/>
        </p:nvSpPr>
        <p:spPr>
          <a:xfrm>
            <a:off x="7680960" y="4946904"/>
            <a:ext cx="1828800" cy="274320"/>
          </a:xfrm>
          <a:prstGeom prst="rect">
            <a:avLst/>
          </a:prstGeom>
          <a:noFill/>
          <a:ln/>
        </p:spPr>
        <p:txBody>
          <a:bodyPr wrap="square" lIns="0" tIns="0" rIns="0" bIns="0" rtlCol="0" anchor="t"/>
          <a:lstStyle/>
          <a:p>
            <a:pPr indent="0" marL="0">
              <a:buNone/>
            </a:pPr>
            <a:r>
              <a:rPr lang="en-US" sz="1350" b="1" dirty="0">
                <a:solidFill>
                  <a:schemeClr val="bg1"/>
                </a:solidFill>
              </a:rPr>
              <a:t>INS784521</a:t>
            </a:r>
            <a:endParaRPr lang="en-US" sz="1350" dirty="0"/>
          </a:p>
        </p:txBody>
      </p:sp>
      <p:sp>
        <p:nvSpPr>
          <p:cNvPr id="52" name="text_217"/>
          <p:cNvSpPr txBox="1"/>
          <p:nvPr/>
        </p:nvSpPr>
        <p:spPr>
          <a:xfrm>
            <a:off x="9601200" y="4727448"/>
            <a:ext cx="1828800" cy="219456"/>
          </a:xfrm>
          <a:prstGeom prst="rect">
            <a:avLst/>
          </a:prstGeom>
          <a:noFill/>
          <a:ln/>
        </p:spPr>
        <p:txBody>
          <a:bodyPr wrap="square" lIns="0" tIns="0" rIns="0" bIns="0" rtlCol="0" anchor="t"/>
          <a:lstStyle/>
          <a:p>
            <a:pPr indent="0" marL="0">
              <a:buNone/>
            </a:pPr>
            <a:r>
              <a:rPr lang="en-US" sz="1050" dirty="0">
                <a:solidFill>
                  <a:schemeClr val="bg2"/>
                </a:solidFill>
              </a:rPr>
              <a:t>Holder</a:t>
            </a:r>
            <a:endParaRPr lang="en-US" sz="1050" dirty="0"/>
          </a:p>
        </p:txBody>
      </p:sp>
      <p:sp>
        <p:nvSpPr>
          <p:cNvPr id="53" name="text_218"/>
          <p:cNvSpPr txBox="1"/>
          <p:nvPr/>
        </p:nvSpPr>
        <p:spPr>
          <a:xfrm>
            <a:off x="9601200" y="4946904"/>
            <a:ext cx="1828800" cy="274320"/>
          </a:xfrm>
          <a:prstGeom prst="rect">
            <a:avLst/>
          </a:prstGeom>
          <a:noFill/>
          <a:ln/>
        </p:spPr>
        <p:txBody>
          <a:bodyPr wrap="square" lIns="0" tIns="0" rIns="0" bIns="0" rtlCol="0" anchor="t"/>
          <a:lstStyle/>
          <a:p>
            <a:pPr indent="0" marL="0">
              <a:buNone/>
            </a:pPr>
            <a:r>
              <a:rPr lang="en-US" sz="1350" b="1" dirty="0">
                <a:solidFill>
                  <a:schemeClr val="bg1"/>
                </a:solidFill>
              </a:rPr>
              <a:t>Arun Kumar</a:t>
            </a:r>
            <a:endParaRPr lang="en-US" sz="1350" dirty="0"/>
          </a:p>
        </p:txBody>
      </p:sp>
      <p:sp>
        <p:nvSpPr>
          <p:cNvPr id="54" name="text_219"/>
          <p:cNvSpPr txBox="1"/>
          <p:nvPr/>
        </p:nvSpPr>
        <p:spPr>
          <a:xfrm>
            <a:off x="5760720" y="5330952"/>
            <a:ext cx="1828800" cy="219456"/>
          </a:xfrm>
          <a:prstGeom prst="rect">
            <a:avLst/>
          </a:prstGeom>
          <a:noFill/>
          <a:ln/>
        </p:spPr>
        <p:txBody>
          <a:bodyPr wrap="square" lIns="0" tIns="0" rIns="0" bIns="0" rtlCol="0" anchor="t"/>
          <a:lstStyle/>
          <a:p>
            <a:pPr indent="0" marL="0">
              <a:buNone/>
            </a:pPr>
            <a:r>
              <a:rPr lang="en-US" sz="1050" dirty="0">
                <a:solidFill>
                  <a:schemeClr val="bg2"/>
                </a:solidFill>
              </a:rPr>
              <a:t>Vehicle</a:t>
            </a:r>
            <a:endParaRPr lang="en-US" sz="1050" dirty="0"/>
          </a:p>
        </p:txBody>
      </p:sp>
      <p:sp>
        <p:nvSpPr>
          <p:cNvPr id="55" name="text_220"/>
          <p:cNvSpPr txBox="1"/>
          <p:nvPr/>
        </p:nvSpPr>
        <p:spPr>
          <a:xfrm>
            <a:off x="5760720" y="5550408"/>
            <a:ext cx="1828800" cy="274320"/>
          </a:xfrm>
          <a:prstGeom prst="rect">
            <a:avLst/>
          </a:prstGeom>
          <a:noFill/>
          <a:ln/>
        </p:spPr>
        <p:txBody>
          <a:bodyPr wrap="square" lIns="0" tIns="0" rIns="0" bIns="0" rtlCol="0" anchor="t"/>
          <a:lstStyle/>
          <a:p>
            <a:pPr indent="0" marL="0">
              <a:buNone/>
            </a:pPr>
            <a:r>
              <a:rPr lang="en-US" sz="1350" b="1" dirty="0">
                <a:solidFill>
                  <a:schemeClr val="bg1"/>
                </a:solidFill>
              </a:rPr>
              <a:t>TN 63 AB 1234</a:t>
            </a:r>
            <a:endParaRPr lang="en-US" sz="1350" dirty="0"/>
          </a:p>
        </p:txBody>
      </p:sp>
      <p:sp>
        <p:nvSpPr>
          <p:cNvPr id="56" name="text_221"/>
          <p:cNvSpPr txBox="1"/>
          <p:nvPr/>
        </p:nvSpPr>
        <p:spPr>
          <a:xfrm>
            <a:off x="7680960" y="5330952"/>
            <a:ext cx="1828800" cy="219456"/>
          </a:xfrm>
          <a:prstGeom prst="rect">
            <a:avLst/>
          </a:prstGeom>
          <a:noFill/>
          <a:ln/>
        </p:spPr>
        <p:txBody>
          <a:bodyPr wrap="square" lIns="0" tIns="0" rIns="0" bIns="0" rtlCol="0" anchor="t"/>
          <a:lstStyle/>
          <a:p>
            <a:pPr indent="0" marL="0">
              <a:buNone/>
            </a:pPr>
            <a:r>
              <a:rPr lang="en-US" sz="1050" dirty="0">
                <a:solidFill>
                  <a:schemeClr val="bg2"/>
                </a:solidFill>
              </a:rPr>
              <a:t>Valid till</a:t>
            </a:r>
            <a:endParaRPr lang="en-US" sz="1050" dirty="0"/>
          </a:p>
        </p:txBody>
      </p:sp>
      <p:sp>
        <p:nvSpPr>
          <p:cNvPr id="57" name="text_222"/>
          <p:cNvSpPr txBox="1"/>
          <p:nvPr/>
        </p:nvSpPr>
        <p:spPr>
          <a:xfrm>
            <a:off x="7680960" y="5550408"/>
            <a:ext cx="1828800" cy="274320"/>
          </a:xfrm>
          <a:prstGeom prst="rect">
            <a:avLst/>
          </a:prstGeom>
          <a:noFill/>
          <a:ln/>
        </p:spPr>
        <p:txBody>
          <a:bodyPr wrap="square" lIns="0" tIns="0" rIns="0" bIns="0" rtlCol="0" anchor="t"/>
          <a:lstStyle/>
          <a:p>
            <a:pPr indent="0" marL="0">
              <a:buNone/>
            </a:pPr>
            <a:r>
              <a:rPr lang="en-US" sz="1350" b="1" dirty="0">
                <a:solidFill>
                  <a:schemeClr val="bg1"/>
                </a:solidFill>
              </a:rPr>
              <a:t>20 Oct 2026</a:t>
            </a:r>
            <a:endParaRPr lang="en-US" sz="1350" dirty="0"/>
          </a:p>
        </p:txBody>
      </p:sp>
      <p:sp>
        <p:nvSpPr>
          <p:cNvPr id="58" name="text_223"/>
          <p:cNvSpPr txBox="1"/>
          <p:nvPr/>
        </p:nvSpPr>
        <p:spPr>
          <a:xfrm>
            <a:off x="9601200" y="5330952"/>
            <a:ext cx="1828800" cy="219456"/>
          </a:xfrm>
          <a:prstGeom prst="rect">
            <a:avLst/>
          </a:prstGeom>
          <a:noFill/>
          <a:ln/>
        </p:spPr>
        <p:txBody>
          <a:bodyPr wrap="square" lIns="0" tIns="0" rIns="0" bIns="0" rtlCol="0" anchor="t"/>
          <a:lstStyle/>
          <a:p>
            <a:pPr indent="0" marL="0">
              <a:buNone/>
            </a:pPr>
            <a:r>
              <a:rPr lang="en-US" sz="1050" dirty="0">
                <a:solidFill>
                  <a:schemeClr val="bg2"/>
                </a:solidFill>
              </a:rPr>
              <a:t>Premium</a:t>
            </a:r>
            <a:endParaRPr lang="en-US" sz="1050" dirty="0"/>
          </a:p>
        </p:txBody>
      </p:sp>
      <p:sp>
        <p:nvSpPr>
          <p:cNvPr id="59" name="text_224"/>
          <p:cNvSpPr txBox="1"/>
          <p:nvPr/>
        </p:nvSpPr>
        <p:spPr>
          <a:xfrm>
            <a:off x="9601200" y="5550408"/>
            <a:ext cx="1828800" cy="274320"/>
          </a:xfrm>
          <a:prstGeom prst="rect">
            <a:avLst/>
          </a:prstGeom>
          <a:noFill/>
          <a:ln/>
        </p:spPr>
        <p:txBody>
          <a:bodyPr wrap="square" lIns="0" tIns="0" rIns="0" bIns="0" rtlCol="0" anchor="t"/>
          <a:lstStyle/>
          <a:p>
            <a:pPr indent="0" marL="0">
              <a:buNone/>
            </a:pPr>
            <a:r>
              <a:rPr lang="en-US" sz="1350" b="1" dirty="0">
                <a:solidFill>
                  <a:schemeClr val="bg1"/>
                </a:solidFill>
              </a:rPr>
              <a:t>₹14,250.00</a:t>
            </a:r>
            <a:endParaRPr lang="en-US" sz="1350" dirty="0"/>
          </a:p>
        </p:txBody>
      </p:sp>
      <p:sp>
        <p:nvSpPr>
          <p:cNvPr id="25" name="Slide Number Placeholder 0"/>
          <p:cNvSpPr>
            <a:spLocks noGrp="1"/>
          </p:cNvSpPr>
          <p:nvPr>
            <p:ph type="sldNum" sz="quarter" idx="4294967295"/>
          </p:nvPr>
        </p:nvSpPr>
        <p:spPr>
          <a:xfrm>
            <a:off x="11109960" y="6355080"/>
            <a:ext cx="530352"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bg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8229600" cy="274320"/>
          </a:xfrm>
          <a:prstGeom prst="rect">
            <a:avLst/>
          </a:prstGeom>
          <a:noFill/>
          <a:ln/>
        </p:spPr>
        <p:txBody>
          <a:bodyPr wrap="square" lIns="0" tIns="0" rIns="0" bIns="0" rtlCol="0" anchor="ctr"/>
          <a:lstStyle/>
          <a:p>
            <a:pPr algn="l" indent="0" marL="0">
              <a:buNone/>
            </a:pPr>
            <a:r>
              <a:rPr lang="en-US" sz="1200" b="1" spc="200" kern="0" dirty="0">
                <a:solidFill>
                  <a:schemeClr val="accent2"/>
                </a:solidFill>
              </a:rPr>
              <a:t>01 · ARCHITECTURE</a:t>
            </a:r>
            <a:endParaRPr lang="en-US" sz="1200" dirty="0"/>
          </a:p>
        </p:txBody>
      </p:sp>
      <p:sp>
        <p:nvSpPr>
          <p:cNvPr id="3" name="Text 0"/>
          <p:cNvSpPr/>
          <p:nvPr>
            <p:ph idx="101" type="title" hasCustomPrompt="1"/>
          </p:nvPr>
        </p:nvSpPr>
        <p:spPr>
          <a:xfrm>
            <a:off x="548640" y="603504"/>
            <a:ext cx="11064240" cy="685800"/>
          </a:xfrm>
          <a:prstGeom prst="rect">
            <a:avLst/>
          </a:prstGeom>
          <a:noFill/>
          <a:ln/>
        </p:spPr>
        <p:txBody>
          <a:bodyPr wrap="square" lIns="0" tIns="0" rIns="0" bIns="0" rtlCol="0" anchor="ctr"/>
          <a:lstStyle/>
          <a:p>
            <a:pPr algn="l" indent="0" marL="0">
              <a:buNone/>
            </a:pPr>
            <a:r>
              <a:rPr lang="en-US" sz="3200" b="1" dirty="0">
                <a:solidFill>
                  <a:schemeClr val="bg1"/>
                </a:solidFill>
              </a:rPr>
              <a:t>Database: one SQLite file, four tables</a:t>
            </a:r>
            <a:endParaRPr lang="en-US" sz="3200" dirty="0"/>
          </a:p>
        </p:txBody>
      </p:sp>
      <p:sp>
        <p:nvSpPr>
          <p:cNvPr id="4" name="tbl_documents_225"/>
          <p:cNvSpPr/>
          <p:nvPr/>
        </p:nvSpPr>
        <p:spPr>
          <a:xfrm>
            <a:off x="548640" y="1481328"/>
            <a:ext cx="3931920" cy="4572000"/>
          </a:xfrm>
          <a:prstGeom prst="roundRect">
            <a:avLst>
              <a:gd name="adj" fmla="val 2791"/>
            </a:avLst>
          </a:prstGeom>
          <a:solidFill>
            <a:schemeClr val="tx2"/>
          </a:solidFill>
          <a:ln w="9525">
            <a:solidFill>
              <a:srgbClr val="2B3470"/>
            </a:solidFill>
            <a:prstDash val="solid"/>
          </a:ln>
        </p:spPr>
      </p:sp>
      <p:sp>
        <p:nvSpPr>
          <p:cNvPr id="5" name="tbl_head_226"/>
          <p:cNvSpPr/>
          <p:nvPr/>
        </p:nvSpPr>
        <p:spPr>
          <a:xfrm>
            <a:off x="548640" y="1481328"/>
            <a:ext cx="3931920" cy="457200"/>
          </a:xfrm>
          <a:prstGeom prst="roundRect">
            <a:avLst>
              <a:gd name="adj" fmla="val 24000"/>
            </a:avLst>
          </a:prstGeom>
          <a:solidFill>
            <a:schemeClr val="accent6">
              <a:alpha val="28000"/>
            </a:schemeClr>
          </a:solidFill>
          <a:ln/>
        </p:spPr>
      </p:sp>
      <p:pic>
        <p:nvPicPr>
          <p:cNvPr id="6" name="tbl_icon_227" descr="/tmp/claude-0/-home-claude/584731ee-e493-5c78-a637-0b254e057472/scratchpad/deck/img/i_table.png">    </p:cNvPr>
          <p:cNvPicPr>
            <a:picLocks noChangeAspect="1"/>
          </p:cNvPicPr>
          <p:nvPr/>
        </p:nvPicPr>
        <p:blipFill>
          <a:blip r:embed="rId1"/>
          <a:stretch>
            <a:fillRect/>
          </a:stretch>
        </p:blipFill>
        <p:spPr>
          <a:xfrm>
            <a:off x="713232" y="1600200"/>
            <a:ext cx="219456" cy="219456"/>
          </a:xfrm>
          <a:prstGeom prst="rect">
            <a:avLst/>
          </a:prstGeom>
        </p:spPr>
      </p:pic>
      <p:sp>
        <p:nvSpPr>
          <p:cNvPr id="7" name="text_228"/>
          <p:cNvSpPr txBox="1"/>
          <p:nvPr/>
        </p:nvSpPr>
        <p:spPr>
          <a:xfrm>
            <a:off x="1024128" y="1481328"/>
            <a:ext cx="3383280" cy="457200"/>
          </a:xfrm>
          <a:prstGeom prst="rect">
            <a:avLst/>
          </a:prstGeom>
          <a:noFill/>
          <a:ln/>
        </p:spPr>
        <p:txBody>
          <a:bodyPr wrap="square" lIns="0" tIns="0" rIns="0" bIns="0" rtlCol="0" anchor="ctr"/>
          <a:lstStyle/>
          <a:p>
            <a:pPr indent="0" marL="0">
              <a:buNone/>
            </a:pPr>
            <a:r>
              <a:rPr lang="en-US" sz="1500" b="1" dirty="0">
                <a:solidFill>
                  <a:schemeClr val="bg1"/>
                </a:solidFill>
                <a:latin typeface="Courier New" pitchFamily="34" charset="0"/>
                <a:ea typeface="Courier New" pitchFamily="34" charset="-122"/>
                <a:cs typeface="Courier New" pitchFamily="34" charset="-120"/>
              </a:rPr>
              <a:t>documents</a:t>
            </a:r>
            <a:endParaRPr lang="en-US" sz="1500" dirty="0"/>
          </a:p>
        </p:txBody>
      </p:sp>
      <p:pic>
        <p:nvPicPr>
          <p:cNvPr id="8" name="pk_229" descr="/tmp/claude-0/-home-claude/584731ee-e493-5c78-a637-0b254e057472/scratchpad/deck/img/i_key.png">    </p:cNvPr>
          <p:cNvPicPr>
            <a:picLocks noChangeAspect="1"/>
          </p:cNvPicPr>
          <p:nvPr/>
        </p:nvPicPr>
        <p:blipFill>
          <a:blip r:embed="rId2"/>
          <a:stretch>
            <a:fillRect/>
          </a:stretch>
        </p:blipFill>
        <p:spPr>
          <a:xfrm>
            <a:off x="713232" y="2057400"/>
            <a:ext cx="146304" cy="146304"/>
          </a:xfrm>
          <a:prstGeom prst="rect">
            <a:avLst/>
          </a:prstGeom>
        </p:spPr>
      </p:pic>
      <p:sp>
        <p:nvSpPr>
          <p:cNvPr id="9" name="text_230"/>
          <p:cNvSpPr txBox="1"/>
          <p:nvPr/>
        </p:nvSpPr>
        <p:spPr>
          <a:xfrm>
            <a:off x="960120" y="1975104"/>
            <a:ext cx="2162556" cy="310896"/>
          </a:xfrm>
          <a:prstGeom prst="rect">
            <a:avLst/>
          </a:prstGeom>
          <a:noFill/>
          <a:ln/>
        </p:spPr>
        <p:txBody>
          <a:bodyPr wrap="square" lIns="0" tIns="0" rIns="0" bIns="0" rtlCol="0" anchor="ctr"/>
          <a:lstStyle/>
          <a:p>
            <a:pPr indent="0" marL="0">
              <a:buNone/>
            </a:pPr>
            <a:r>
              <a:rPr lang="en-US" sz="1150" dirty="0">
                <a:solidFill>
                  <a:srgbClr val="FCD34D"/>
                </a:solidFill>
                <a:latin typeface="Courier New" pitchFamily="34" charset="0"/>
                <a:ea typeface="Courier New" pitchFamily="34" charset="-122"/>
                <a:cs typeface="Courier New" pitchFamily="34" charset="-120"/>
              </a:rPr>
              <a:t>id</a:t>
            </a:r>
            <a:endParaRPr lang="en-US" sz="1150" dirty="0"/>
          </a:p>
        </p:txBody>
      </p:sp>
      <p:sp>
        <p:nvSpPr>
          <p:cNvPr id="10" name="text_231"/>
          <p:cNvSpPr txBox="1"/>
          <p:nvPr/>
        </p:nvSpPr>
        <p:spPr>
          <a:xfrm>
            <a:off x="2711196" y="1975104"/>
            <a:ext cx="1604772" cy="310896"/>
          </a:xfrm>
          <a:prstGeom prst="rect">
            <a:avLst/>
          </a:prstGeom>
          <a:noFill/>
          <a:ln/>
        </p:spPr>
        <p:txBody>
          <a:bodyPr wrap="square" lIns="0" tIns="0" rIns="0" bIns="0" rtlCol="0" anchor="ctr"/>
          <a:lstStyle/>
          <a:p>
            <a:pPr algn="r" indent="0" marL="0">
              <a:buNone/>
            </a:pPr>
            <a:r>
              <a:rPr lang="en-US" sz="1050" dirty="0">
                <a:solidFill>
                  <a:schemeClr val="bg2"/>
                </a:solidFill>
              </a:rPr>
              <a:t>INTEGER PK</a:t>
            </a:r>
            <a:endParaRPr lang="en-US" sz="1050" dirty="0"/>
          </a:p>
        </p:txBody>
      </p:sp>
      <p:sp>
        <p:nvSpPr>
          <p:cNvPr id="11" name="text_232"/>
          <p:cNvSpPr txBox="1"/>
          <p:nvPr/>
        </p:nvSpPr>
        <p:spPr>
          <a:xfrm>
            <a:off x="960120" y="2286000"/>
            <a:ext cx="2162556" cy="310896"/>
          </a:xfrm>
          <a:prstGeom prst="rect">
            <a:avLst/>
          </a:prstGeom>
          <a:noFill/>
          <a:ln/>
        </p:spPr>
        <p:txBody>
          <a:bodyPr wrap="square" lIns="0" tIns="0" rIns="0" bIns="0" rtlCol="0" anchor="ctr"/>
          <a:lstStyle/>
          <a:p>
            <a:pPr indent="0" marL="0">
              <a:buNone/>
            </a:pPr>
            <a:r>
              <a:rPr lang="en-US" sz="1150" dirty="0">
                <a:solidFill>
                  <a:srgbClr val="DDE0F5"/>
                </a:solidFill>
                <a:latin typeface="Courier New" pitchFamily="34" charset="0"/>
                <a:ea typeface="Courier New" pitchFamily="34" charset="-122"/>
                <a:cs typeface="Courier New" pitchFamily="34" charset="-120"/>
              </a:rPr>
              <a:t>filename</a:t>
            </a:r>
            <a:endParaRPr lang="en-US" sz="1150" dirty="0"/>
          </a:p>
        </p:txBody>
      </p:sp>
      <p:sp>
        <p:nvSpPr>
          <p:cNvPr id="12" name="text_233"/>
          <p:cNvSpPr txBox="1"/>
          <p:nvPr/>
        </p:nvSpPr>
        <p:spPr>
          <a:xfrm>
            <a:off x="2711196" y="2286000"/>
            <a:ext cx="1604772" cy="310896"/>
          </a:xfrm>
          <a:prstGeom prst="rect">
            <a:avLst/>
          </a:prstGeom>
          <a:noFill/>
          <a:ln/>
        </p:spPr>
        <p:txBody>
          <a:bodyPr wrap="square" lIns="0" tIns="0" rIns="0" bIns="0" rtlCol="0" anchor="ctr"/>
          <a:lstStyle/>
          <a:p>
            <a:pPr algn="r" indent="0" marL="0">
              <a:buNone/>
            </a:pPr>
            <a:r>
              <a:rPr lang="en-US" sz="1050" dirty="0">
                <a:solidFill>
                  <a:schemeClr val="bg2"/>
                </a:solidFill>
              </a:rPr>
              <a:t>TEXT</a:t>
            </a:r>
            <a:endParaRPr lang="en-US" sz="1050" dirty="0"/>
          </a:p>
        </p:txBody>
      </p:sp>
      <p:sp>
        <p:nvSpPr>
          <p:cNvPr id="13" name="text_234"/>
          <p:cNvSpPr txBox="1"/>
          <p:nvPr/>
        </p:nvSpPr>
        <p:spPr>
          <a:xfrm>
            <a:off x="960120" y="2596896"/>
            <a:ext cx="2162556" cy="310896"/>
          </a:xfrm>
          <a:prstGeom prst="rect">
            <a:avLst/>
          </a:prstGeom>
          <a:noFill/>
          <a:ln/>
        </p:spPr>
        <p:txBody>
          <a:bodyPr wrap="square" lIns="0" tIns="0" rIns="0" bIns="0" rtlCol="0" anchor="ctr"/>
          <a:lstStyle/>
          <a:p>
            <a:pPr indent="0" marL="0">
              <a:buNone/>
            </a:pPr>
            <a:r>
              <a:rPr lang="en-US" sz="1150" dirty="0">
                <a:solidFill>
                  <a:srgbClr val="DDE0F5"/>
                </a:solidFill>
                <a:latin typeface="Courier New" pitchFamily="34" charset="0"/>
                <a:ea typeface="Courier New" pitchFamily="34" charset="-122"/>
                <a:cs typeface="Courier New" pitchFamily="34" charset="-120"/>
              </a:rPr>
              <a:t>doc_type</a:t>
            </a:r>
            <a:endParaRPr lang="en-US" sz="1150" dirty="0"/>
          </a:p>
        </p:txBody>
      </p:sp>
      <p:sp>
        <p:nvSpPr>
          <p:cNvPr id="14" name="text_235"/>
          <p:cNvSpPr txBox="1"/>
          <p:nvPr/>
        </p:nvSpPr>
        <p:spPr>
          <a:xfrm>
            <a:off x="2711196" y="2596896"/>
            <a:ext cx="1604772" cy="310896"/>
          </a:xfrm>
          <a:prstGeom prst="rect">
            <a:avLst/>
          </a:prstGeom>
          <a:noFill/>
          <a:ln/>
        </p:spPr>
        <p:txBody>
          <a:bodyPr wrap="square" lIns="0" tIns="0" rIns="0" bIns="0" rtlCol="0" anchor="ctr"/>
          <a:lstStyle/>
          <a:p>
            <a:pPr algn="r" indent="0" marL="0">
              <a:buNone/>
            </a:pPr>
            <a:r>
              <a:rPr lang="en-US" sz="1050" dirty="0">
                <a:solidFill>
                  <a:schemeClr val="bg2"/>
                </a:solidFill>
              </a:rPr>
              <a:t>TEXT</a:t>
            </a:r>
            <a:endParaRPr lang="en-US" sz="1050" dirty="0"/>
          </a:p>
        </p:txBody>
      </p:sp>
      <p:sp>
        <p:nvSpPr>
          <p:cNvPr id="15" name="text_236"/>
          <p:cNvSpPr txBox="1"/>
          <p:nvPr/>
        </p:nvSpPr>
        <p:spPr>
          <a:xfrm>
            <a:off x="960120" y="2907792"/>
            <a:ext cx="2162556" cy="310896"/>
          </a:xfrm>
          <a:prstGeom prst="rect">
            <a:avLst/>
          </a:prstGeom>
          <a:noFill/>
          <a:ln/>
        </p:spPr>
        <p:txBody>
          <a:bodyPr wrap="square" lIns="0" tIns="0" rIns="0" bIns="0" rtlCol="0" anchor="ctr"/>
          <a:lstStyle/>
          <a:p>
            <a:pPr indent="0" marL="0">
              <a:buNone/>
            </a:pPr>
            <a:r>
              <a:rPr lang="en-US" sz="1150" dirty="0">
                <a:solidFill>
                  <a:srgbClr val="DDE0F5"/>
                </a:solidFill>
                <a:latin typeface="Courier New" pitchFamily="34" charset="0"/>
                <a:ea typeface="Courier New" pitchFamily="34" charset="-122"/>
                <a:cs typeface="Courier New" pitchFamily="34" charset="-120"/>
              </a:rPr>
              <a:t>holder_name</a:t>
            </a:r>
            <a:endParaRPr lang="en-US" sz="1150" dirty="0"/>
          </a:p>
        </p:txBody>
      </p:sp>
      <p:sp>
        <p:nvSpPr>
          <p:cNvPr id="16" name="text_237"/>
          <p:cNvSpPr txBox="1"/>
          <p:nvPr/>
        </p:nvSpPr>
        <p:spPr>
          <a:xfrm>
            <a:off x="2711196" y="2907792"/>
            <a:ext cx="1604772" cy="310896"/>
          </a:xfrm>
          <a:prstGeom prst="rect">
            <a:avLst/>
          </a:prstGeom>
          <a:noFill/>
          <a:ln/>
        </p:spPr>
        <p:txBody>
          <a:bodyPr wrap="square" lIns="0" tIns="0" rIns="0" bIns="0" rtlCol="0" anchor="ctr"/>
          <a:lstStyle/>
          <a:p>
            <a:pPr algn="r" indent="0" marL="0">
              <a:buNone/>
            </a:pPr>
            <a:r>
              <a:rPr lang="en-US" sz="1050" dirty="0">
                <a:solidFill>
                  <a:schemeClr val="bg2"/>
                </a:solidFill>
              </a:rPr>
              <a:t>TEXT</a:t>
            </a:r>
            <a:endParaRPr lang="en-US" sz="1050" dirty="0"/>
          </a:p>
        </p:txBody>
      </p:sp>
      <p:sp>
        <p:nvSpPr>
          <p:cNvPr id="17" name="text_238"/>
          <p:cNvSpPr txBox="1"/>
          <p:nvPr/>
        </p:nvSpPr>
        <p:spPr>
          <a:xfrm>
            <a:off x="960120" y="3218688"/>
            <a:ext cx="2162556" cy="310896"/>
          </a:xfrm>
          <a:prstGeom prst="rect">
            <a:avLst/>
          </a:prstGeom>
          <a:noFill/>
          <a:ln/>
        </p:spPr>
        <p:txBody>
          <a:bodyPr wrap="square" lIns="0" tIns="0" rIns="0" bIns="0" rtlCol="0" anchor="ctr"/>
          <a:lstStyle/>
          <a:p>
            <a:pPr indent="0" marL="0">
              <a:buNone/>
            </a:pPr>
            <a:r>
              <a:rPr lang="en-US" sz="1150" dirty="0">
                <a:solidFill>
                  <a:srgbClr val="DDE0F5"/>
                </a:solidFill>
                <a:latin typeface="Courier New" pitchFamily="34" charset="0"/>
                <a:ea typeface="Courier New" pitchFamily="34" charset="-122"/>
                <a:cs typeface="Courier New" pitchFamily="34" charset="-120"/>
              </a:rPr>
              <a:t>doc_number</a:t>
            </a:r>
            <a:endParaRPr lang="en-US" sz="1150" dirty="0"/>
          </a:p>
        </p:txBody>
      </p:sp>
      <p:sp>
        <p:nvSpPr>
          <p:cNvPr id="18" name="text_239"/>
          <p:cNvSpPr txBox="1"/>
          <p:nvPr/>
        </p:nvSpPr>
        <p:spPr>
          <a:xfrm>
            <a:off x="2711196" y="3218688"/>
            <a:ext cx="1604772" cy="310896"/>
          </a:xfrm>
          <a:prstGeom prst="rect">
            <a:avLst/>
          </a:prstGeom>
          <a:noFill/>
          <a:ln/>
        </p:spPr>
        <p:txBody>
          <a:bodyPr wrap="square" lIns="0" tIns="0" rIns="0" bIns="0" rtlCol="0" anchor="ctr"/>
          <a:lstStyle/>
          <a:p>
            <a:pPr algn="r" indent="0" marL="0">
              <a:buNone/>
            </a:pPr>
            <a:r>
              <a:rPr lang="en-US" sz="1050" dirty="0">
                <a:solidFill>
                  <a:schemeClr val="bg2"/>
                </a:solidFill>
              </a:rPr>
              <a:t>TEXT</a:t>
            </a:r>
            <a:endParaRPr lang="en-US" sz="1050" dirty="0"/>
          </a:p>
        </p:txBody>
      </p:sp>
      <p:sp>
        <p:nvSpPr>
          <p:cNvPr id="19" name="text_240"/>
          <p:cNvSpPr txBox="1"/>
          <p:nvPr/>
        </p:nvSpPr>
        <p:spPr>
          <a:xfrm>
            <a:off x="960120" y="3529584"/>
            <a:ext cx="2162556" cy="310896"/>
          </a:xfrm>
          <a:prstGeom prst="rect">
            <a:avLst/>
          </a:prstGeom>
          <a:noFill/>
          <a:ln/>
        </p:spPr>
        <p:txBody>
          <a:bodyPr wrap="square" lIns="0" tIns="0" rIns="0" bIns="0" rtlCol="0" anchor="ctr"/>
          <a:lstStyle/>
          <a:p>
            <a:pPr indent="0" marL="0">
              <a:buNone/>
            </a:pPr>
            <a:r>
              <a:rPr lang="en-US" sz="1150" dirty="0">
                <a:solidFill>
                  <a:srgbClr val="DDE0F5"/>
                </a:solidFill>
                <a:latin typeface="Courier New" pitchFamily="34" charset="0"/>
                <a:ea typeface="Courier New" pitchFamily="34" charset="-122"/>
                <a:cs typeface="Courier New" pitchFamily="34" charset="-120"/>
              </a:rPr>
              <a:t>organization</a:t>
            </a:r>
            <a:endParaRPr lang="en-US" sz="1150" dirty="0"/>
          </a:p>
        </p:txBody>
      </p:sp>
      <p:sp>
        <p:nvSpPr>
          <p:cNvPr id="20" name="text_241"/>
          <p:cNvSpPr txBox="1"/>
          <p:nvPr/>
        </p:nvSpPr>
        <p:spPr>
          <a:xfrm>
            <a:off x="2711196" y="3529584"/>
            <a:ext cx="1604772" cy="310896"/>
          </a:xfrm>
          <a:prstGeom prst="rect">
            <a:avLst/>
          </a:prstGeom>
          <a:noFill/>
          <a:ln/>
        </p:spPr>
        <p:txBody>
          <a:bodyPr wrap="square" lIns="0" tIns="0" rIns="0" bIns="0" rtlCol="0" anchor="ctr"/>
          <a:lstStyle/>
          <a:p>
            <a:pPr algn="r" indent="0" marL="0">
              <a:buNone/>
            </a:pPr>
            <a:r>
              <a:rPr lang="en-US" sz="1050" dirty="0">
                <a:solidFill>
                  <a:schemeClr val="bg2"/>
                </a:solidFill>
              </a:rPr>
              <a:t>TEXT</a:t>
            </a:r>
            <a:endParaRPr lang="en-US" sz="1050" dirty="0"/>
          </a:p>
        </p:txBody>
      </p:sp>
      <p:sp>
        <p:nvSpPr>
          <p:cNvPr id="21" name="text_242"/>
          <p:cNvSpPr txBox="1"/>
          <p:nvPr/>
        </p:nvSpPr>
        <p:spPr>
          <a:xfrm>
            <a:off x="960120" y="3840480"/>
            <a:ext cx="2162556" cy="310896"/>
          </a:xfrm>
          <a:prstGeom prst="rect">
            <a:avLst/>
          </a:prstGeom>
          <a:noFill/>
          <a:ln/>
        </p:spPr>
        <p:txBody>
          <a:bodyPr wrap="square" lIns="0" tIns="0" rIns="0" bIns="0" rtlCol="0" anchor="ctr"/>
          <a:lstStyle/>
          <a:p>
            <a:pPr indent="0" marL="0">
              <a:buNone/>
            </a:pPr>
            <a:r>
              <a:rPr lang="en-US" sz="1150" dirty="0">
                <a:solidFill>
                  <a:srgbClr val="DDE0F5"/>
                </a:solidFill>
                <a:latin typeface="Courier New" pitchFamily="34" charset="0"/>
                <a:ea typeface="Courier New" pitchFamily="34" charset="-122"/>
                <a:cs typeface="Courier New" pitchFamily="34" charset="-120"/>
              </a:rPr>
              <a:t>vehicle_no</a:t>
            </a:r>
            <a:endParaRPr lang="en-US" sz="1150" dirty="0"/>
          </a:p>
        </p:txBody>
      </p:sp>
      <p:sp>
        <p:nvSpPr>
          <p:cNvPr id="22" name="text_243"/>
          <p:cNvSpPr txBox="1"/>
          <p:nvPr/>
        </p:nvSpPr>
        <p:spPr>
          <a:xfrm>
            <a:off x="2711196" y="3840480"/>
            <a:ext cx="1604772" cy="310896"/>
          </a:xfrm>
          <a:prstGeom prst="rect">
            <a:avLst/>
          </a:prstGeom>
          <a:noFill/>
          <a:ln/>
        </p:spPr>
        <p:txBody>
          <a:bodyPr wrap="square" lIns="0" tIns="0" rIns="0" bIns="0" rtlCol="0" anchor="ctr"/>
          <a:lstStyle/>
          <a:p>
            <a:pPr algn="r" indent="0" marL="0">
              <a:buNone/>
            </a:pPr>
            <a:r>
              <a:rPr lang="en-US" sz="1050" dirty="0">
                <a:solidFill>
                  <a:schemeClr val="bg2"/>
                </a:solidFill>
              </a:rPr>
              <a:t>TEXT</a:t>
            </a:r>
            <a:endParaRPr lang="en-US" sz="1050" dirty="0"/>
          </a:p>
        </p:txBody>
      </p:sp>
      <p:sp>
        <p:nvSpPr>
          <p:cNvPr id="23" name="text_244"/>
          <p:cNvSpPr txBox="1"/>
          <p:nvPr/>
        </p:nvSpPr>
        <p:spPr>
          <a:xfrm>
            <a:off x="960120" y="4151376"/>
            <a:ext cx="2162556" cy="310896"/>
          </a:xfrm>
          <a:prstGeom prst="rect">
            <a:avLst/>
          </a:prstGeom>
          <a:noFill/>
          <a:ln/>
        </p:spPr>
        <p:txBody>
          <a:bodyPr wrap="square" lIns="0" tIns="0" rIns="0" bIns="0" rtlCol="0" anchor="ctr"/>
          <a:lstStyle/>
          <a:p>
            <a:pPr indent="0" marL="0">
              <a:buNone/>
            </a:pPr>
            <a:r>
              <a:rPr lang="en-US" sz="1150" dirty="0">
                <a:solidFill>
                  <a:srgbClr val="DDE0F5"/>
                </a:solidFill>
                <a:latin typeface="Courier New" pitchFamily="34" charset="0"/>
                <a:ea typeface="Courier New" pitchFamily="34" charset="-122"/>
                <a:cs typeface="Courier New" pitchFamily="34" charset="-120"/>
              </a:rPr>
              <a:t>amount</a:t>
            </a:r>
            <a:endParaRPr lang="en-US" sz="1150" dirty="0"/>
          </a:p>
        </p:txBody>
      </p:sp>
      <p:sp>
        <p:nvSpPr>
          <p:cNvPr id="24" name="text_245"/>
          <p:cNvSpPr txBox="1"/>
          <p:nvPr/>
        </p:nvSpPr>
        <p:spPr>
          <a:xfrm>
            <a:off x="2711196" y="4151376"/>
            <a:ext cx="1604772" cy="310896"/>
          </a:xfrm>
          <a:prstGeom prst="rect">
            <a:avLst/>
          </a:prstGeom>
          <a:noFill/>
          <a:ln/>
        </p:spPr>
        <p:txBody>
          <a:bodyPr wrap="square" lIns="0" tIns="0" rIns="0" bIns="0" rtlCol="0" anchor="ctr"/>
          <a:lstStyle/>
          <a:p>
            <a:pPr algn="r" indent="0" marL="0">
              <a:buNone/>
            </a:pPr>
            <a:r>
              <a:rPr lang="en-US" sz="1050" dirty="0">
                <a:solidFill>
                  <a:schemeClr val="bg2"/>
                </a:solidFill>
              </a:rPr>
              <a:t>TEXT</a:t>
            </a:r>
            <a:endParaRPr lang="en-US" sz="1050" dirty="0"/>
          </a:p>
        </p:txBody>
      </p:sp>
      <p:sp>
        <p:nvSpPr>
          <p:cNvPr id="25" name="text_246"/>
          <p:cNvSpPr txBox="1"/>
          <p:nvPr/>
        </p:nvSpPr>
        <p:spPr>
          <a:xfrm>
            <a:off x="960120" y="4462272"/>
            <a:ext cx="2162556" cy="310896"/>
          </a:xfrm>
          <a:prstGeom prst="rect">
            <a:avLst/>
          </a:prstGeom>
          <a:noFill/>
          <a:ln/>
        </p:spPr>
        <p:txBody>
          <a:bodyPr wrap="square" lIns="0" tIns="0" rIns="0" bIns="0" rtlCol="0" anchor="ctr"/>
          <a:lstStyle/>
          <a:p>
            <a:pPr indent="0" marL="0">
              <a:buNone/>
            </a:pPr>
            <a:r>
              <a:rPr lang="en-US" sz="1150" dirty="0">
                <a:solidFill>
                  <a:srgbClr val="DDE0F5"/>
                </a:solidFill>
                <a:latin typeface="Courier New" pitchFamily="34" charset="0"/>
                <a:ea typeface="Courier New" pitchFamily="34" charset="-122"/>
                <a:cs typeface="Courier New" pitchFamily="34" charset="-120"/>
              </a:rPr>
              <a:t>start_date</a:t>
            </a:r>
            <a:endParaRPr lang="en-US" sz="1150" dirty="0"/>
          </a:p>
        </p:txBody>
      </p:sp>
      <p:sp>
        <p:nvSpPr>
          <p:cNvPr id="26" name="text_247"/>
          <p:cNvSpPr txBox="1"/>
          <p:nvPr/>
        </p:nvSpPr>
        <p:spPr>
          <a:xfrm>
            <a:off x="2711196" y="4462272"/>
            <a:ext cx="1604772" cy="310896"/>
          </a:xfrm>
          <a:prstGeom prst="rect">
            <a:avLst/>
          </a:prstGeom>
          <a:noFill/>
          <a:ln/>
        </p:spPr>
        <p:txBody>
          <a:bodyPr wrap="square" lIns="0" tIns="0" rIns="0" bIns="0" rtlCol="0" anchor="ctr"/>
          <a:lstStyle/>
          <a:p>
            <a:pPr algn="r" indent="0" marL="0">
              <a:buNone/>
            </a:pPr>
            <a:r>
              <a:rPr lang="en-US" sz="1050" dirty="0">
                <a:solidFill>
                  <a:schemeClr val="bg2"/>
                </a:solidFill>
              </a:rPr>
              <a:t>TEXT (ISO)</a:t>
            </a:r>
            <a:endParaRPr lang="en-US" sz="1050" dirty="0"/>
          </a:p>
        </p:txBody>
      </p:sp>
      <p:sp>
        <p:nvSpPr>
          <p:cNvPr id="27" name="text_248"/>
          <p:cNvSpPr txBox="1"/>
          <p:nvPr/>
        </p:nvSpPr>
        <p:spPr>
          <a:xfrm>
            <a:off x="960120" y="4773168"/>
            <a:ext cx="2162556" cy="310896"/>
          </a:xfrm>
          <a:prstGeom prst="rect">
            <a:avLst/>
          </a:prstGeom>
          <a:noFill/>
          <a:ln/>
        </p:spPr>
        <p:txBody>
          <a:bodyPr wrap="square" lIns="0" tIns="0" rIns="0" bIns="0" rtlCol="0" anchor="ctr"/>
          <a:lstStyle/>
          <a:p>
            <a:pPr indent="0" marL="0">
              <a:buNone/>
            </a:pPr>
            <a:r>
              <a:rPr lang="en-US" sz="1150" dirty="0">
                <a:solidFill>
                  <a:srgbClr val="DDE0F5"/>
                </a:solidFill>
                <a:latin typeface="Courier New" pitchFamily="34" charset="0"/>
                <a:ea typeface="Courier New" pitchFamily="34" charset="-122"/>
                <a:cs typeface="Courier New" pitchFamily="34" charset="-120"/>
              </a:rPr>
              <a:t>expiry_date</a:t>
            </a:r>
            <a:endParaRPr lang="en-US" sz="1150" dirty="0"/>
          </a:p>
        </p:txBody>
      </p:sp>
      <p:sp>
        <p:nvSpPr>
          <p:cNvPr id="28" name="text_249"/>
          <p:cNvSpPr txBox="1"/>
          <p:nvPr/>
        </p:nvSpPr>
        <p:spPr>
          <a:xfrm>
            <a:off x="2711196" y="4773168"/>
            <a:ext cx="1604772" cy="310896"/>
          </a:xfrm>
          <a:prstGeom prst="rect">
            <a:avLst/>
          </a:prstGeom>
          <a:noFill/>
          <a:ln/>
        </p:spPr>
        <p:txBody>
          <a:bodyPr wrap="square" lIns="0" tIns="0" rIns="0" bIns="0" rtlCol="0" anchor="ctr"/>
          <a:lstStyle/>
          <a:p>
            <a:pPr algn="r" indent="0" marL="0">
              <a:buNone/>
            </a:pPr>
            <a:r>
              <a:rPr lang="en-US" sz="1050" dirty="0">
                <a:solidFill>
                  <a:schemeClr val="bg2"/>
                </a:solidFill>
              </a:rPr>
              <a:t>TEXT (ISO)</a:t>
            </a:r>
            <a:endParaRPr lang="en-US" sz="1050" dirty="0"/>
          </a:p>
        </p:txBody>
      </p:sp>
      <p:sp>
        <p:nvSpPr>
          <p:cNvPr id="29" name="text_250"/>
          <p:cNvSpPr txBox="1"/>
          <p:nvPr/>
        </p:nvSpPr>
        <p:spPr>
          <a:xfrm>
            <a:off x="960120" y="5084064"/>
            <a:ext cx="2162556" cy="310896"/>
          </a:xfrm>
          <a:prstGeom prst="rect">
            <a:avLst/>
          </a:prstGeom>
          <a:noFill/>
          <a:ln/>
        </p:spPr>
        <p:txBody>
          <a:bodyPr wrap="square" lIns="0" tIns="0" rIns="0" bIns="0" rtlCol="0" anchor="ctr"/>
          <a:lstStyle/>
          <a:p>
            <a:pPr indent="0" marL="0">
              <a:buNone/>
            </a:pPr>
            <a:r>
              <a:rPr lang="en-US" sz="1150" dirty="0">
                <a:solidFill>
                  <a:srgbClr val="DDE0F5"/>
                </a:solidFill>
                <a:latin typeface="Courier New" pitchFamily="34" charset="0"/>
                <a:ea typeface="Courier New" pitchFamily="34" charset="-122"/>
                <a:cs typeface="Courier New" pitchFamily="34" charset="-120"/>
              </a:rPr>
              <a:t>notes</a:t>
            </a:r>
            <a:endParaRPr lang="en-US" sz="1150" dirty="0"/>
          </a:p>
        </p:txBody>
      </p:sp>
      <p:sp>
        <p:nvSpPr>
          <p:cNvPr id="30" name="text_251"/>
          <p:cNvSpPr txBox="1"/>
          <p:nvPr/>
        </p:nvSpPr>
        <p:spPr>
          <a:xfrm>
            <a:off x="2711196" y="5084064"/>
            <a:ext cx="1604772" cy="310896"/>
          </a:xfrm>
          <a:prstGeom prst="rect">
            <a:avLst/>
          </a:prstGeom>
          <a:noFill/>
          <a:ln/>
        </p:spPr>
        <p:txBody>
          <a:bodyPr wrap="square" lIns="0" tIns="0" rIns="0" bIns="0" rtlCol="0" anchor="ctr"/>
          <a:lstStyle/>
          <a:p>
            <a:pPr algn="r" indent="0" marL="0">
              <a:buNone/>
            </a:pPr>
            <a:r>
              <a:rPr lang="en-US" sz="1050" dirty="0">
                <a:solidFill>
                  <a:schemeClr val="bg2"/>
                </a:solidFill>
              </a:rPr>
              <a:t>TEXT</a:t>
            </a:r>
            <a:endParaRPr lang="en-US" sz="1050" dirty="0"/>
          </a:p>
        </p:txBody>
      </p:sp>
      <p:sp>
        <p:nvSpPr>
          <p:cNvPr id="31" name="text_252"/>
          <p:cNvSpPr txBox="1"/>
          <p:nvPr/>
        </p:nvSpPr>
        <p:spPr>
          <a:xfrm>
            <a:off x="960120" y="5394960"/>
            <a:ext cx="2162556" cy="310896"/>
          </a:xfrm>
          <a:prstGeom prst="rect">
            <a:avLst/>
          </a:prstGeom>
          <a:noFill/>
          <a:ln/>
        </p:spPr>
        <p:txBody>
          <a:bodyPr wrap="square" lIns="0" tIns="0" rIns="0" bIns="0" rtlCol="0" anchor="ctr"/>
          <a:lstStyle/>
          <a:p>
            <a:pPr indent="0" marL="0">
              <a:buNone/>
            </a:pPr>
            <a:r>
              <a:rPr lang="en-US" sz="1150" dirty="0">
                <a:solidFill>
                  <a:srgbClr val="DDE0F5"/>
                </a:solidFill>
                <a:latin typeface="Courier New" pitchFamily="34" charset="0"/>
                <a:ea typeface="Courier New" pitchFamily="34" charset="-122"/>
                <a:cs typeface="Courier New" pitchFamily="34" charset="-120"/>
              </a:rPr>
              <a:t>stored_path</a:t>
            </a:r>
            <a:endParaRPr lang="en-US" sz="1150" dirty="0"/>
          </a:p>
        </p:txBody>
      </p:sp>
      <p:sp>
        <p:nvSpPr>
          <p:cNvPr id="32" name="text_253"/>
          <p:cNvSpPr txBox="1"/>
          <p:nvPr/>
        </p:nvSpPr>
        <p:spPr>
          <a:xfrm>
            <a:off x="2711196" y="5394960"/>
            <a:ext cx="1604772" cy="310896"/>
          </a:xfrm>
          <a:prstGeom prst="rect">
            <a:avLst/>
          </a:prstGeom>
          <a:noFill/>
          <a:ln/>
        </p:spPr>
        <p:txBody>
          <a:bodyPr wrap="square" lIns="0" tIns="0" rIns="0" bIns="0" rtlCol="0" anchor="ctr"/>
          <a:lstStyle/>
          <a:p>
            <a:pPr algn="r" indent="0" marL="0">
              <a:buNone/>
            </a:pPr>
            <a:r>
              <a:rPr lang="en-US" sz="1050" dirty="0">
                <a:solidFill>
                  <a:schemeClr val="bg2"/>
                </a:solidFill>
              </a:rPr>
              <a:t>TEXT</a:t>
            </a:r>
            <a:endParaRPr lang="en-US" sz="1050" dirty="0"/>
          </a:p>
        </p:txBody>
      </p:sp>
      <p:sp>
        <p:nvSpPr>
          <p:cNvPr id="33" name="text_254"/>
          <p:cNvSpPr txBox="1"/>
          <p:nvPr/>
        </p:nvSpPr>
        <p:spPr>
          <a:xfrm>
            <a:off x="960120" y="5705856"/>
            <a:ext cx="2162556" cy="310896"/>
          </a:xfrm>
          <a:prstGeom prst="rect">
            <a:avLst/>
          </a:prstGeom>
          <a:noFill/>
          <a:ln/>
        </p:spPr>
        <p:txBody>
          <a:bodyPr wrap="square" lIns="0" tIns="0" rIns="0" bIns="0" rtlCol="0" anchor="ctr"/>
          <a:lstStyle/>
          <a:p>
            <a:pPr indent="0" marL="0">
              <a:buNone/>
            </a:pPr>
            <a:r>
              <a:rPr lang="en-US" sz="1150" dirty="0">
                <a:solidFill>
                  <a:srgbClr val="DDE0F5"/>
                </a:solidFill>
                <a:latin typeface="Courier New" pitchFamily="34" charset="0"/>
                <a:ea typeface="Courier New" pitchFamily="34" charset="-122"/>
                <a:cs typeface="Courier New" pitchFamily="34" charset="-120"/>
              </a:rPr>
              <a:t>uploaded_at</a:t>
            </a:r>
            <a:endParaRPr lang="en-US" sz="1150" dirty="0"/>
          </a:p>
        </p:txBody>
      </p:sp>
      <p:sp>
        <p:nvSpPr>
          <p:cNvPr id="34" name="text_255"/>
          <p:cNvSpPr txBox="1"/>
          <p:nvPr/>
        </p:nvSpPr>
        <p:spPr>
          <a:xfrm>
            <a:off x="2711196" y="5705856"/>
            <a:ext cx="1604772" cy="310896"/>
          </a:xfrm>
          <a:prstGeom prst="rect">
            <a:avLst/>
          </a:prstGeom>
          <a:noFill/>
          <a:ln/>
        </p:spPr>
        <p:txBody>
          <a:bodyPr wrap="square" lIns="0" tIns="0" rIns="0" bIns="0" rtlCol="0" anchor="ctr"/>
          <a:lstStyle/>
          <a:p>
            <a:pPr algn="r" indent="0" marL="0">
              <a:buNone/>
            </a:pPr>
            <a:r>
              <a:rPr lang="en-US" sz="1050" dirty="0">
                <a:solidFill>
                  <a:schemeClr val="bg2"/>
                </a:solidFill>
              </a:rPr>
              <a:t>TEXT</a:t>
            </a:r>
            <a:endParaRPr lang="en-US" sz="1050" dirty="0"/>
          </a:p>
        </p:txBody>
      </p:sp>
      <p:sp>
        <p:nvSpPr>
          <p:cNvPr id="35" name="tbl_reminders_256"/>
          <p:cNvSpPr/>
          <p:nvPr/>
        </p:nvSpPr>
        <p:spPr>
          <a:xfrm>
            <a:off x="5074920" y="1481328"/>
            <a:ext cx="3108960" cy="1463040"/>
          </a:xfrm>
          <a:prstGeom prst="roundRect">
            <a:avLst>
              <a:gd name="adj" fmla="val 7500"/>
            </a:avLst>
          </a:prstGeom>
          <a:solidFill>
            <a:schemeClr val="tx2"/>
          </a:solidFill>
          <a:ln w="9525">
            <a:solidFill>
              <a:srgbClr val="2B3470"/>
            </a:solidFill>
            <a:prstDash val="solid"/>
          </a:ln>
        </p:spPr>
      </p:sp>
      <p:sp>
        <p:nvSpPr>
          <p:cNvPr id="36" name="tbl_head_257"/>
          <p:cNvSpPr/>
          <p:nvPr/>
        </p:nvSpPr>
        <p:spPr>
          <a:xfrm>
            <a:off x="5074920" y="1481328"/>
            <a:ext cx="3108960" cy="457200"/>
          </a:xfrm>
          <a:prstGeom prst="roundRect">
            <a:avLst>
              <a:gd name="adj" fmla="val 24000"/>
            </a:avLst>
          </a:prstGeom>
          <a:solidFill>
            <a:schemeClr val="accent4">
              <a:alpha val="28000"/>
            </a:schemeClr>
          </a:solidFill>
          <a:ln/>
        </p:spPr>
      </p:sp>
      <p:pic>
        <p:nvPicPr>
          <p:cNvPr id="37" name="tbl_icon_258" descr="/tmp/claude-0/-home-claude/584731ee-e493-5c78-a637-0b254e057472/scratchpad/deck/img/i_table.png">    </p:cNvPr>
          <p:cNvPicPr>
            <a:picLocks noChangeAspect="1"/>
          </p:cNvPicPr>
          <p:nvPr/>
        </p:nvPicPr>
        <p:blipFill>
          <a:blip r:embed="rId3"/>
          <a:stretch>
            <a:fillRect/>
          </a:stretch>
        </p:blipFill>
        <p:spPr>
          <a:xfrm>
            <a:off x="5239512" y="1600200"/>
            <a:ext cx="219456" cy="219456"/>
          </a:xfrm>
          <a:prstGeom prst="rect">
            <a:avLst/>
          </a:prstGeom>
        </p:spPr>
      </p:pic>
      <p:sp>
        <p:nvSpPr>
          <p:cNvPr id="38" name="text_259"/>
          <p:cNvSpPr txBox="1"/>
          <p:nvPr/>
        </p:nvSpPr>
        <p:spPr>
          <a:xfrm>
            <a:off x="5550408" y="1481328"/>
            <a:ext cx="2560320" cy="457200"/>
          </a:xfrm>
          <a:prstGeom prst="rect">
            <a:avLst/>
          </a:prstGeom>
          <a:noFill/>
          <a:ln/>
        </p:spPr>
        <p:txBody>
          <a:bodyPr wrap="square" lIns="0" tIns="0" rIns="0" bIns="0" rtlCol="0" anchor="ctr"/>
          <a:lstStyle/>
          <a:p>
            <a:pPr indent="0" marL="0">
              <a:buNone/>
            </a:pPr>
            <a:r>
              <a:rPr lang="en-US" sz="1500" b="1" dirty="0">
                <a:solidFill>
                  <a:schemeClr val="bg1"/>
                </a:solidFill>
                <a:latin typeface="Courier New" pitchFamily="34" charset="0"/>
                <a:ea typeface="Courier New" pitchFamily="34" charset="-122"/>
                <a:cs typeface="Courier New" pitchFamily="34" charset="-120"/>
              </a:rPr>
              <a:t>reminders</a:t>
            </a:r>
            <a:endParaRPr lang="en-US" sz="1500" dirty="0"/>
          </a:p>
        </p:txBody>
      </p:sp>
      <p:pic>
        <p:nvPicPr>
          <p:cNvPr id="39" name="pk_260" descr="/tmp/claude-0/-home-claude/584731ee-e493-5c78-a637-0b254e057472/scratchpad/deck/img/i_key.png">    </p:cNvPr>
          <p:cNvPicPr>
            <a:picLocks noChangeAspect="1"/>
          </p:cNvPicPr>
          <p:nvPr/>
        </p:nvPicPr>
        <p:blipFill>
          <a:blip r:embed="rId4"/>
          <a:stretch>
            <a:fillRect/>
          </a:stretch>
        </p:blipFill>
        <p:spPr>
          <a:xfrm>
            <a:off x="5239512" y="2057400"/>
            <a:ext cx="146304" cy="146304"/>
          </a:xfrm>
          <a:prstGeom prst="rect">
            <a:avLst/>
          </a:prstGeom>
        </p:spPr>
      </p:pic>
      <p:sp>
        <p:nvSpPr>
          <p:cNvPr id="40" name="text_261"/>
          <p:cNvSpPr txBox="1"/>
          <p:nvPr/>
        </p:nvSpPr>
        <p:spPr>
          <a:xfrm>
            <a:off x="5486400" y="1975104"/>
            <a:ext cx="1709928" cy="310896"/>
          </a:xfrm>
          <a:prstGeom prst="rect">
            <a:avLst/>
          </a:prstGeom>
          <a:noFill/>
          <a:ln/>
        </p:spPr>
        <p:txBody>
          <a:bodyPr wrap="square" lIns="0" tIns="0" rIns="0" bIns="0" rtlCol="0" anchor="ctr"/>
          <a:lstStyle/>
          <a:p>
            <a:pPr indent="0" marL="0">
              <a:buNone/>
            </a:pPr>
            <a:r>
              <a:rPr lang="en-US" sz="1150" dirty="0">
                <a:solidFill>
                  <a:srgbClr val="FCD34D"/>
                </a:solidFill>
                <a:latin typeface="Courier New" pitchFamily="34" charset="0"/>
                <a:ea typeface="Courier New" pitchFamily="34" charset="-122"/>
                <a:cs typeface="Courier New" pitchFamily="34" charset="-120"/>
              </a:rPr>
              <a:t>id</a:t>
            </a:r>
            <a:endParaRPr lang="en-US" sz="1150" dirty="0"/>
          </a:p>
        </p:txBody>
      </p:sp>
      <p:sp>
        <p:nvSpPr>
          <p:cNvPr id="41" name="text_262"/>
          <p:cNvSpPr txBox="1"/>
          <p:nvPr/>
        </p:nvSpPr>
        <p:spPr>
          <a:xfrm>
            <a:off x="6784848" y="1975104"/>
            <a:ext cx="1234440" cy="310896"/>
          </a:xfrm>
          <a:prstGeom prst="rect">
            <a:avLst/>
          </a:prstGeom>
          <a:noFill/>
          <a:ln/>
        </p:spPr>
        <p:txBody>
          <a:bodyPr wrap="square" lIns="0" tIns="0" rIns="0" bIns="0" rtlCol="0" anchor="ctr"/>
          <a:lstStyle/>
          <a:p>
            <a:pPr algn="r" indent="0" marL="0">
              <a:buNone/>
            </a:pPr>
            <a:r>
              <a:rPr lang="en-US" sz="1050" dirty="0">
                <a:solidFill>
                  <a:schemeClr val="bg2"/>
                </a:solidFill>
              </a:rPr>
              <a:t>INTEGER PK</a:t>
            </a:r>
            <a:endParaRPr lang="en-US" sz="1050" dirty="0"/>
          </a:p>
        </p:txBody>
      </p:sp>
      <p:sp>
        <p:nvSpPr>
          <p:cNvPr id="42" name="text_263"/>
          <p:cNvSpPr txBox="1"/>
          <p:nvPr/>
        </p:nvSpPr>
        <p:spPr>
          <a:xfrm>
            <a:off x="5486400" y="2286000"/>
            <a:ext cx="1709928" cy="310896"/>
          </a:xfrm>
          <a:prstGeom prst="rect">
            <a:avLst/>
          </a:prstGeom>
          <a:noFill/>
          <a:ln/>
        </p:spPr>
        <p:txBody>
          <a:bodyPr wrap="square" lIns="0" tIns="0" rIns="0" bIns="0" rtlCol="0" anchor="ctr"/>
          <a:lstStyle/>
          <a:p>
            <a:pPr indent="0" marL="0">
              <a:buNone/>
            </a:pPr>
            <a:r>
              <a:rPr lang="en-US" sz="1150" dirty="0">
                <a:solidFill>
                  <a:srgbClr val="DDE0F5"/>
                </a:solidFill>
                <a:latin typeface="Courier New" pitchFamily="34" charset="0"/>
                <a:ea typeface="Courier New" pitchFamily="34" charset="-122"/>
                <a:cs typeface="Courier New" pitchFamily="34" charset="-120"/>
              </a:rPr>
              <a:t>document_id</a:t>
            </a:r>
            <a:endParaRPr lang="en-US" sz="1150" dirty="0"/>
          </a:p>
        </p:txBody>
      </p:sp>
      <p:sp>
        <p:nvSpPr>
          <p:cNvPr id="43" name="text_264"/>
          <p:cNvSpPr txBox="1"/>
          <p:nvPr/>
        </p:nvSpPr>
        <p:spPr>
          <a:xfrm>
            <a:off x="6784848" y="2286000"/>
            <a:ext cx="1234440" cy="310896"/>
          </a:xfrm>
          <a:prstGeom prst="rect">
            <a:avLst/>
          </a:prstGeom>
          <a:noFill/>
          <a:ln/>
        </p:spPr>
        <p:txBody>
          <a:bodyPr wrap="square" lIns="0" tIns="0" rIns="0" bIns="0" rtlCol="0" anchor="ctr"/>
          <a:lstStyle/>
          <a:p>
            <a:pPr algn="r" indent="0" marL="0">
              <a:buNone/>
            </a:pPr>
            <a:r>
              <a:rPr lang="en-US" sz="1050" dirty="0">
                <a:solidFill>
                  <a:schemeClr val="bg2"/>
                </a:solidFill>
              </a:rPr>
              <a:t>FK → documents</a:t>
            </a:r>
            <a:endParaRPr lang="en-US" sz="1050" dirty="0"/>
          </a:p>
        </p:txBody>
      </p:sp>
      <p:sp>
        <p:nvSpPr>
          <p:cNvPr id="44" name="text_265"/>
          <p:cNvSpPr txBox="1"/>
          <p:nvPr/>
        </p:nvSpPr>
        <p:spPr>
          <a:xfrm>
            <a:off x="5486400" y="2596896"/>
            <a:ext cx="1709928" cy="310896"/>
          </a:xfrm>
          <a:prstGeom prst="rect">
            <a:avLst/>
          </a:prstGeom>
          <a:noFill/>
          <a:ln/>
        </p:spPr>
        <p:txBody>
          <a:bodyPr wrap="square" lIns="0" tIns="0" rIns="0" bIns="0" rtlCol="0" anchor="ctr"/>
          <a:lstStyle/>
          <a:p>
            <a:pPr indent="0" marL="0">
              <a:buNone/>
            </a:pPr>
            <a:r>
              <a:rPr lang="en-US" sz="1150" dirty="0">
                <a:solidFill>
                  <a:srgbClr val="DDE0F5"/>
                </a:solidFill>
                <a:latin typeface="Courier New" pitchFamily="34" charset="0"/>
                <a:ea typeface="Courier New" pitchFamily="34" charset="-122"/>
                <a:cs typeface="Courier New" pitchFamily="34" charset="-120"/>
              </a:rPr>
              <a:t>dismissed_at</a:t>
            </a:r>
            <a:endParaRPr lang="en-US" sz="1150" dirty="0"/>
          </a:p>
        </p:txBody>
      </p:sp>
      <p:sp>
        <p:nvSpPr>
          <p:cNvPr id="45" name="text_266"/>
          <p:cNvSpPr txBox="1"/>
          <p:nvPr/>
        </p:nvSpPr>
        <p:spPr>
          <a:xfrm>
            <a:off x="6784848" y="2596896"/>
            <a:ext cx="1234440" cy="310896"/>
          </a:xfrm>
          <a:prstGeom prst="rect">
            <a:avLst/>
          </a:prstGeom>
          <a:noFill/>
          <a:ln/>
        </p:spPr>
        <p:txBody>
          <a:bodyPr wrap="square" lIns="0" tIns="0" rIns="0" bIns="0" rtlCol="0" anchor="ctr"/>
          <a:lstStyle/>
          <a:p>
            <a:pPr algn="r" indent="0" marL="0">
              <a:buNone/>
            </a:pPr>
            <a:r>
              <a:rPr lang="en-US" sz="1050" dirty="0">
                <a:solidFill>
                  <a:schemeClr val="bg2"/>
                </a:solidFill>
              </a:rPr>
              <a:t>TEXT</a:t>
            </a:r>
            <a:endParaRPr lang="en-US" sz="1050" dirty="0"/>
          </a:p>
        </p:txBody>
      </p:sp>
      <p:sp>
        <p:nvSpPr>
          <p:cNvPr id="46" name="tbl_users_267"/>
          <p:cNvSpPr/>
          <p:nvPr/>
        </p:nvSpPr>
        <p:spPr>
          <a:xfrm>
            <a:off x="5074920" y="3273552"/>
            <a:ext cx="3108960" cy="1463040"/>
          </a:xfrm>
          <a:prstGeom prst="roundRect">
            <a:avLst>
              <a:gd name="adj" fmla="val 7500"/>
            </a:avLst>
          </a:prstGeom>
          <a:solidFill>
            <a:schemeClr val="tx2"/>
          </a:solidFill>
          <a:ln w="9525">
            <a:solidFill>
              <a:srgbClr val="2B3470"/>
            </a:solidFill>
            <a:prstDash val="solid"/>
          </a:ln>
        </p:spPr>
      </p:sp>
      <p:sp>
        <p:nvSpPr>
          <p:cNvPr id="47" name="tbl_head_268"/>
          <p:cNvSpPr/>
          <p:nvPr/>
        </p:nvSpPr>
        <p:spPr>
          <a:xfrm>
            <a:off x="5074920" y="3273552"/>
            <a:ext cx="3108960" cy="457200"/>
          </a:xfrm>
          <a:prstGeom prst="roundRect">
            <a:avLst>
              <a:gd name="adj" fmla="val 24000"/>
            </a:avLst>
          </a:prstGeom>
          <a:solidFill>
            <a:schemeClr val="accent1">
              <a:alpha val="28000"/>
            </a:schemeClr>
          </a:solidFill>
          <a:ln/>
        </p:spPr>
      </p:sp>
      <p:pic>
        <p:nvPicPr>
          <p:cNvPr id="48" name="tbl_icon_269" descr="/tmp/claude-0/-home-claude/584731ee-e493-5c78-a637-0b254e057472/scratchpad/deck/img/i_table.png">    </p:cNvPr>
          <p:cNvPicPr>
            <a:picLocks noChangeAspect="1"/>
          </p:cNvPicPr>
          <p:nvPr/>
        </p:nvPicPr>
        <p:blipFill>
          <a:blip r:embed="rId5"/>
          <a:stretch>
            <a:fillRect/>
          </a:stretch>
        </p:blipFill>
        <p:spPr>
          <a:xfrm>
            <a:off x="5239512" y="3392424"/>
            <a:ext cx="219456" cy="219456"/>
          </a:xfrm>
          <a:prstGeom prst="rect">
            <a:avLst/>
          </a:prstGeom>
        </p:spPr>
      </p:pic>
      <p:sp>
        <p:nvSpPr>
          <p:cNvPr id="49" name="text_270"/>
          <p:cNvSpPr txBox="1"/>
          <p:nvPr/>
        </p:nvSpPr>
        <p:spPr>
          <a:xfrm>
            <a:off x="5550408" y="3273552"/>
            <a:ext cx="2560320" cy="457200"/>
          </a:xfrm>
          <a:prstGeom prst="rect">
            <a:avLst/>
          </a:prstGeom>
          <a:noFill/>
          <a:ln/>
        </p:spPr>
        <p:txBody>
          <a:bodyPr wrap="square" lIns="0" tIns="0" rIns="0" bIns="0" rtlCol="0" anchor="ctr"/>
          <a:lstStyle/>
          <a:p>
            <a:pPr indent="0" marL="0">
              <a:buNone/>
            </a:pPr>
            <a:r>
              <a:rPr lang="en-US" sz="1500" b="1" dirty="0">
                <a:solidFill>
                  <a:schemeClr val="bg1"/>
                </a:solidFill>
                <a:latin typeface="Courier New" pitchFamily="34" charset="0"/>
                <a:ea typeface="Courier New" pitchFamily="34" charset="-122"/>
                <a:cs typeface="Courier New" pitchFamily="34" charset="-120"/>
              </a:rPr>
              <a:t>users</a:t>
            </a:r>
            <a:endParaRPr lang="en-US" sz="1500" dirty="0"/>
          </a:p>
        </p:txBody>
      </p:sp>
      <p:pic>
        <p:nvPicPr>
          <p:cNvPr id="50" name="pk_271" descr="/tmp/claude-0/-home-claude/584731ee-e493-5c78-a637-0b254e057472/scratchpad/deck/img/i_key.png">    </p:cNvPr>
          <p:cNvPicPr>
            <a:picLocks noChangeAspect="1"/>
          </p:cNvPicPr>
          <p:nvPr/>
        </p:nvPicPr>
        <p:blipFill>
          <a:blip r:embed="rId6"/>
          <a:stretch>
            <a:fillRect/>
          </a:stretch>
        </p:blipFill>
        <p:spPr>
          <a:xfrm>
            <a:off x="5239512" y="3849624"/>
            <a:ext cx="146304" cy="146304"/>
          </a:xfrm>
          <a:prstGeom prst="rect">
            <a:avLst/>
          </a:prstGeom>
        </p:spPr>
      </p:pic>
      <p:sp>
        <p:nvSpPr>
          <p:cNvPr id="51" name="text_272"/>
          <p:cNvSpPr txBox="1"/>
          <p:nvPr/>
        </p:nvSpPr>
        <p:spPr>
          <a:xfrm>
            <a:off x="5486400" y="3767328"/>
            <a:ext cx="1709928" cy="310896"/>
          </a:xfrm>
          <a:prstGeom prst="rect">
            <a:avLst/>
          </a:prstGeom>
          <a:noFill/>
          <a:ln/>
        </p:spPr>
        <p:txBody>
          <a:bodyPr wrap="square" lIns="0" tIns="0" rIns="0" bIns="0" rtlCol="0" anchor="ctr"/>
          <a:lstStyle/>
          <a:p>
            <a:pPr indent="0" marL="0">
              <a:buNone/>
            </a:pPr>
            <a:r>
              <a:rPr lang="en-US" sz="1150" dirty="0">
                <a:solidFill>
                  <a:srgbClr val="FCD34D"/>
                </a:solidFill>
                <a:latin typeface="Courier New" pitchFamily="34" charset="0"/>
                <a:ea typeface="Courier New" pitchFamily="34" charset="-122"/>
                <a:cs typeface="Courier New" pitchFamily="34" charset="-120"/>
              </a:rPr>
              <a:t>id</a:t>
            </a:r>
            <a:endParaRPr lang="en-US" sz="1150" dirty="0"/>
          </a:p>
        </p:txBody>
      </p:sp>
      <p:sp>
        <p:nvSpPr>
          <p:cNvPr id="52" name="text_273"/>
          <p:cNvSpPr txBox="1"/>
          <p:nvPr/>
        </p:nvSpPr>
        <p:spPr>
          <a:xfrm>
            <a:off x="6784848" y="3767328"/>
            <a:ext cx="1234440" cy="310896"/>
          </a:xfrm>
          <a:prstGeom prst="rect">
            <a:avLst/>
          </a:prstGeom>
          <a:noFill/>
          <a:ln/>
        </p:spPr>
        <p:txBody>
          <a:bodyPr wrap="square" lIns="0" tIns="0" rIns="0" bIns="0" rtlCol="0" anchor="ctr"/>
          <a:lstStyle/>
          <a:p>
            <a:pPr algn="r" indent="0" marL="0">
              <a:buNone/>
            </a:pPr>
            <a:r>
              <a:rPr lang="en-US" sz="1050" dirty="0">
                <a:solidFill>
                  <a:schemeClr val="bg2"/>
                </a:solidFill>
              </a:rPr>
              <a:t>INTEGER PK</a:t>
            </a:r>
            <a:endParaRPr lang="en-US" sz="1050" dirty="0"/>
          </a:p>
        </p:txBody>
      </p:sp>
      <p:sp>
        <p:nvSpPr>
          <p:cNvPr id="53" name="text_274"/>
          <p:cNvSpPr txBox="1"/>
          <p:nvPr/>
        </p:nvSpPr>
        <p:spPr>
          <a:xfrm>
            <a:off x="5486400" y="4078224"/>
            <a:ext cx="1709928" cy="310896"/>
          </a:xfrm>
          <a:prstGeom prst="rect">
            <a:avLst/>
          </a:prstGeom>
          <a:noFill/>
          <a:ln/>
        </p:spPr>
        <p:txBody>
          <a:bodyPr wrap="square" lIns="0" tIns="0" rIns="0" bIns="0" rtlCol="0" anchor="ctr"/>
          <a:lstStyle/>
          <a:p>
            <a:pPr indent="0" marL="0">
              <a:buNone/>
            </a:pPr>
            <a:r>
              <a:rPr lang="en-US" sz="1150" dirty="0">
                <a:solidFill>
                  <a:srgbClr val="DDE0F5"/>
                </a:solidFill>
                <a:latin typeface="Courier New" pitchFamily="34" charset="0"/>
                <a:ea typeface="Courier New" pitchFamily="34" charset="-122"/>
                <a:cs typeface="Courier New" pitchFamily="34" charset="-120"/>
              </a:rPr>
              <a:t>name</a:t>
            </a:r>
            <a:endParaRPr lang="en-US" sz="1150" dirty="0"/>
          </a:p>
        </p:txBody>
      </p:sp>
      <p:sp>
        <p:nvSpPr>
          <p:cNvPr id="54" name="text_275"/>
          <p:cNvSpPr txBox="1"/>
          <p:nvPr/>
        </p:nvSpPr>
        <p:spPr>
          <a:xfrm>
            <a:off x="6784848" y="4078224"/>
            <a:ext cx="1234440" cy="310896"/>
          </a:xfrm>
          <a:prstGeom prst="rect">
            <a:avLst/>
          </a:prstGeom>
          <a:noFill/>
          <a:ln/>
        </p:spPr>
        <p:txBody>
          <a:bodyPr wrap="square" lIns="0" tIns="0" rIns="0" bIns="0" rtlCol="0" anchor="ctr"/>
          <a:lstStyle/>
          <a:p>
            <a:pPr algn="r" indent="0" marL="0">
              <a:buNone/>
            </a:pPr>
            <a:r>
              <a:rPr lang="en-US" sz="1050" dirty="0">
                <a:solidFill>
                  <a:schemeClr val="bg2"/>
                </a:solidFill>
              </a:rPr>
              <a:t>TEXT</a:t>
            </a:r>
            <a:endParaRPr lang="en-US" sz="1050" dirty="0"/>
          </a:p>
        </p:txBody>
      </p:sp>
      <p:sp>
        <p:nvSpPr>
          <p:cNvPr id="55" name="text_276"/>
          <p:cNvSpPr txBox="1"/>
          <p:nvPr/>
        </p:nvSpPr>
        <p:spPr>
          <a:xfrm>
            <a:off x="5486400" y="4389120"/>
            <a:ext cx="1709928" cy="310896"/>
          </a:xfrm>
          <a:prstGeom prst="rect">
            <a:avLst/>
          </a:prstGeom>
          <a:noFill/>
          <a:ln/>
        </p:spPr>
        <p:txBody>
          <a:bodyPr wrap="square" lIns="0" tIns="0" rIns="0" bIns="0" rtlCol="0" anchor="ctr"/>
          <a:lstStyle/>
          <a:p>
            <a:pPr indent="0" marL="0">
              <a:buNone/>
            </a:pPr>
            <a:r>
              <a:rPr lang="en-US" sz="1150" dirty="0">
                <a:solidFill>
                  <a:srgbClr val="DDE0F5"/>
                </a:solidFill>
                <a:latin typeface="Courier New" pitchFamily="34" charset="0"/>
                <a:ea typeface="Courier New" pitchFamily="34" charset="-122"/>
                <a:cs typeface="Courier New" pitchFamily="34" charset="-120"/>
              </a:rPr>
              <a:t>created_at</a:t>
            </a:r>
            <a:endParaRPr lang="en-US" sz="1150" dirty="0"/>
          </a:p>
        </p:txBody>
      </p:sp>
      <p:sp>
        <p:nvSpPr>
          <p:cNvPr id="56" name="text_277"/>
          <p:cNvSpPr txBox="1"/>
          <p:nvPr/>
        </p:nvSpPr>
        <p:spPr>
          <a:xfrm>
            <a:off x="6784848" y="4389120"/>
            <a:ext cx="1234440" cy="310896"/>
          </a:xfrm>
          <a:prstGeom prst="rect">
            <a:avLst/>
          </a:prstGeom>
          <a:noFill/>
          <a:ln/>
        </p:spPr>
        <p:txBody>
          <a:bodyPr wrap="square" lIns="0" tIns="0" rIns="0" bIns="0" rtlCol="0" anchor="ctr"/>
          <a:lstStyle/>
          <a:p>
            <a:pPr algn="r" indent="0" marL="0">
              <a:buNone/>
            </a:pPr>
            <a:r>
              <a:rPr lang="en-US" sz="1050" dirty="0">
                <a:solidFill>
                  <a:schemeClr val="bg2"/>
                </a:solidFill>
              </a:rPr>
              <a:t>TEXT</a:t>
            </a:r>
            <a:endParaRPr lang="en-US" sz="1050" dirty="0"/>
          </a:p>
        </p:txBody>
      </p:sp>
      <p:sp>
        <p:nvSpPr>
          <p:cNvPr id="57" name="tbl_activity_logs_278"/>
          <p:cNvSpPr/>
          <p:nvPr/>
        </p:nvSpPr>
        <p:spPr>
          <a:xfrm>
            <a:off x="8503920" y="1481328"/>
            <a:ext cx="3108960" cy="1773936"/>
          </a:xfrm>
          <a:prstGeom prst="roundRect">
            <a:avLst>
              <a:gd name="adj" fmla="val 6186"/>
            </a:avLst>
          </a:prstGeom>
          <a:solidFill>
            <a:schemeClr val="tx2"/>
          </a:solidFill>
          <a:ln w="9525">
            <a:solidFill>
              <a:srgbClr val="2B3470"/>
            </a:solidFill>
            <a:prstDash val="solid"/>
          </a:ln>
        </p:spPr>
      </p:sp>
      <p:sp>
        <p:nvSpPr>
          <p:cNvPr id="58" name="tbl_head_279"/>
          <p:cNvSpPr/>
          <p:nvPr/>
        </p:nvSpPr>
        <p:spPr>
          <a:xfrm>
            <a:off x="8503920" y="1481328"/>
            <a:ext cx="3108960" cy="457200"/>
          </a:xfrm>
          <a:prstGeom prst="roundRect">
            <a:avLst>
              <a:gd name="adj" fmla="val 24000"/>
            </a:avLst>
          </a:prstGeom>
          <a:solidFill>
            <a:schemeClr val="accent2">
              <a:alpha val="28000"/>
            </a:schemeClr>
          </a:solidFill>
          <a:ln/>
        </p:spPr>
      </p:sp>
      <p:pic>
        <p:nvPicPr>
          <p:cNvPr id="59" name="tbl_icon_280" descr="/tmp/claude-0/-home-claude/584731ee-e493-5c78-a637-0b254e057472/scratchpad/deck/img/i_table.png">    </p:cNvPr>
          <p:cNvPicPr>
            <a:picLocks noChangeAspect="1"/>
          </p:cNvPicPr>
          <p:nvPr/>
        </p:nvPicPr>
        <p:blipFill>
          <a:blip r:embed="rId7"/>
          <a:stretch>
            <a:fillRect/>
          </a:stretch>
        </p:blipFill>
        <p:spPr>
          <a:xfrm>
            <a:off x="8668512" y="1600200"/>
            <a:ext cx="219456" cy="219456"/>
          </a:xfrm>
          <a:prstGeom prst="rect">
            <a:avLst/>
          </a:prstGeom>
        </p:spPr>
      </p:pic>
      <p:sp>
        <p:nvSpPr>
          <p:cNvPr id="60" name="text_281"/>
          <p:cNvSpPr txBox="1"/>
          <p:nvPr/>
        </p:nvSpPr>
        <p:spPr>
          <a:xfrm>
            <a:off x="8979408" y="1481328"/>
            <a:ext cx="2560320" cy="457200"/>
          </a:xfrm>
          <a:prstGeom prst="rect">
            <a:avLst/>
          </a:prstGeom>
          <a:noFill/>
          <a:ln/>
        </p:spPr>
        <p:txBody>
          <a:bodyPr wrap="square" lIns="0" tIns="0" rIns="0" bIns="0" rtlCol="0" anchor="ctr"/>
          <a:lstStyle/>
          <a:p>
            <a:pPr indent="0" marL="0">
              <a:buNone/>
            </a:pPr>
            <a:r>
              <a:rPr lang="en-US" sz="1500" b="1" dirty="0">
                <a:solidFill>
                  <a:schemeClr val="bg1"/>
                </a:solidFill>
                <a:latin typeface="Courier New" pitchFamily="34" charset="0"/>
                <a:ea typeface="Courier New" pitchFamily="34" charset="-122"/>
                <a:cs typeface="Courier New" pitchFamily="34" charset="-120"/>
              </a:rPr>
              <a:t>activity_logs</a:t>
            </a:r>
            <a:endParaRPr lang="en-US" sz="1500" dirty="0"/>
          </a:p>
        </p:txBody>
      </p:sp>
      <p:pic>
        <p:nvPicPr>
          <p:cNvPr id="61" name="pk_282" descr="/tmp/claude-0/-home-claude/584731ee-e493-5c78-a637-0b254e057472/scratchpad/deck/img/i_key.png">    </p:cNvPr>
          <p:cNvPicPr>
            <a:picLocks noChangeAspect="1"/>
          </p:cNvPicPr>
          <p:nvPr/>
        </p:nvPicPr>
        <p:blipFill>
          <a:blip r:embed="rId8"/>
          <a:stretch>
            <a:fillRect/>
          </a:stretch>
        </p:blipFill>
        <p:spPr>
          <a:xfrm>
            <a:off x="8668512" y="2057400"/>
            <a:ext cx="146304" cy="146304"/>
          </a:xfrm>
          <a:prstGeom prst="rect">
            <a:avLst/>
          </a:prstGeom>
        </p:spPr>
      </p:pic>
      <p:sp>
        <p:nvSpPr>
          <p:cNvPr id="62" name="text_283"/>
          <p:cNvSpPr txBox="1"/>
          <p:nvPr/>
        </p:nvSpPr>
        <p:spPr>
          <a:xfrm>
            <a:off x="8915400" y="1975104"/>
            <a:ext cx="1709928" cy="310896"/>
          </a:xfrm>
          <a:prstGeom prst="rect">
            <a:avLst/>
          </a:prstGeom>
          <a:noFill/>
          <a:ln/>
        </p:spPr>
        <p:txBody>
          <a:bodyPr wrap="square" lIns="0" tIns="0" rIns="0" bIns="0" rtlCol="0" anchor="ctr"/>
          <a:lstStyle/>
          <a:p>
            <a:pPr indent="0" marL="0">
              <a:buNone/>
            </a:pPr>
            <a:r>
              <a:rPr lang="en-US" sz="1150" dirty="0">
                <a:solidFill>
                  <a:srgbClr val="FCD34D"/>
                </a:solidFill>
                <a:latin typeface="Courier New" pitchFamily="34" charset="0"/>
                <a:ea typeface="Courier New" pitchFamily="34" charset="-122"/>
                <a:cs typeface="Courier New" pitchFamily="34" charset="-120"/>
              </a:rPr>
              <a:t>id</a:t>
            </a:r>
            <a:endParaRPr lang="en-US" sz="1150" dirty="0"/>
          </a:p>
        </p:txBody>
      </p:sp>
      <p:sp>
        <p:nvSpPr>
          <p:cNvPr id="63" name="text_284"/>
          <p:cNvSpPr txBox="1"/>
          <p:nvPr/>
        </p:nvSpPr>
        <p:spPr>
          <a:xfrm>
            <a:off x="10213848" y="1975104"/>
            <a:ext cx="1234440" cy="310896"/>
          </a:xfrm>
          <a:prstGeom prst="rect">
            <a:avLst/>
          </a:prstGeom>
          <a:noFill/>
          <a:ln/>
        </p:spPr>
        <p:txBody>
          <a:bodyPr wrap="square" lIns="0" tIns="0" rIns="0" bIns="0" rtlCol="0" anchor="ctr"/>
          <a:lstStyle/>
          <a:p>
            <a:pPr algn="r" indent="0" marL="0">
              <a:buNone/>
            </a:pPr>
            <a:r>
              <a:rPr lang="en-US" sz="1050" dirty="0">
                <a:solidFill>
                  <a:schemeClr val="bg2"/>
                </a:solidFill>
              </a:rPr>
              <a:t>INTEGER PK</a:t>
            </a:r>
            <a:endParaRPr lang="en-US" sz="1050" dirty="0"/>
          </a:p>
        </p:txBody>
      </p:sp>
      <p:sp>
        <p:nvSpPr>
          <p:cNvPr id="64" name="text_285"/>
          <p:cNvSpPr txBox="1"/>
          <p:nvPr/>
        </p:nvSpPr>
        <p:spPr>
          <a:xfrm>
            <a:off x="8915400" y="2286000"/>
            <a:ext cx="1709928" cy="310896"/>
          </a:xfrm>
          <a:prstGeom prst="rect">
            <a:avLst/>
          </a:prstGeom>
          <a:noFill/>
          <a:ln/>
        </p:spPr>
        <p:txBody>
          <a:bodyPr wrap="square" lIns="0" tIns="0" rIns="0" bIns="0" rtlCol="0" anchor="ctr"/>
          <a:lstStyle/>
          <a:p>
            <a:pPr indent="0" marL="0">
              <a:buNone/>
            </a:pPr>
            <a:r>
              <a:rPr lang="en-US" sz="1150" dirty="0">
                <a:solidFill>
                  <a:srgbClr val="DDE0F5"/>
                </a:solidFill>
                <a:latin typeface="Courier New" pitchFamily="34" charset="0"/>
                <a:ea typeface="Courier New" pitchFamily="34" charset="-122"/>
                <a:cs typeface="Courier New" pitchFamily="34" charset="-120"/>
              </a:rPr>
              <a:t>action</a:t>
            </a:r>
            <a:endParaRPr lang="en-US" sz="1150" dirty="0"/>
          </a:p>
        </p:txBody>
      </p:sp>
      <p:sp>
        <p:nvSpPr>
          <p:cNvPr id="65" name="text_286"/>
          <p:cNvSpPr txBox="1"/>
          <p:nvPr/>
        </p:nvSpPr>
        <p:spPr>
          <a:xfrm>
            <a:off x="10213848" y="2286000"/>
            <a:ext cx="1234440" cy="310896"/>
          </a:xfrm>
          <a:prstGeom prst="rect">
            <a:avLst/>
          </a:prstGeom>
          <a:noFill/>
          <a:ln/>
        </p:spPr>
        <p:txBody>
          <a:bodyPr wrap="square" lIns="0" tIns="0" rIns="0" bIns="0" rtlCol="0" anchor="ctr"/>
          <a:lstStyle/>
          <a:p>
            <a:pPr algn="r" indent="0" marL="0">
              <a:buNone/>
            </a:pPr>
            <a:r>
              <a:rPr lang="en-US" sz="1050" dirty="0">
                <a:solidFill>
                  <a:schemeClr val="bg2"/>
                </a:solidFill>
              </a:rPr>
              <a:t>TEXT</a:t>
            </a:r>
            <a:endParaRPr lang="en-US" sz="1050" dirty="0"/>
          </a:p>
        </p:txBody>
      </p:sp>
      <p:sp>
        <p:nvSpPr>
          <p:cNvPr id="66" name="text_287"/>
          <p:cNvSpPr txBox="1"/>
          <p:nvPr/>
        </p:nvSpPr>
        <p:spPr>
          <a:xfrm>
            <a:off x="8915400" y="2596896"/>
            <a:ext cx="1709928" cy="310896"/>
          </a:xfrm>
          <a:prstGeom prst="rect">
            <a:avLst/>
          </a:prstGeom>
          <a:noFill/>
          <a:ln/>
        </p:spPr>
        <p:txBody>
          <a:bodyPr wrap="square" lIns="0" tIns="0" rIns="0" bIns="0" rtlCol="0" anchor="ctr"/>
          <a:lstStyle/>
          <a:p>
            <a:pPr indent="0" marL="0">
              <a:buNone/>
            </a:pPr>
            <a:r>
              <a:rPr lang="en-US" sz="1150" dirty="0">
                <a:solidFill>
                  <a:srgbClr val="DDE0F5"/>
                </a:solidFill>
                <a:latin typeface="Courier New" pitchFamily="34" charset="0"/>
                <a:ea typeface="Courier New" pitchFamily="34" charset="-122"/>
                <a:cs typeface="Courier New" pitchFamily="34" charset="-120"/>
              </a:rPr>
              <a:t>detail</a:t>
            </a:r>
            <a:endParaRPr lang="en-US" sz="1150" dirty="0"/>
          </a:p>
        </p:txBody>
      </p:sp>
      <p:sp>
        <p:nvSpPr>
          <p:cNvPr id="67" name="text_288"/>
          <p:cNvSpPr txBox="1"/>
          <p:nvPr/>
        </p:nvSpPr>
        <p:spPr>
          <a:xfrm>
            <a:off x="10213848" y="2596896"/>
            <a:ext cx="1234440" cy="310896"/>
          </a:xfrm>
          <a:prstGeom prst="rect">
            <a:avLst/>
          </a:prstGeom>
          <a:noFill/>
          <a:ln/>
        </p:spPr>
        <p:txBody>
          <a:bodyPr wrap="square" lIns="0" tIns="0" rIns="0" bIns="0" rtlCol="0" anchor="ctr"/>
          <a:lstStyle/>
          <a:p>
            <a:pPr algn="r" indent="0" marL="0">
              <a:buNone/>
            </a:pPr>
            <a:r>
              <a:rPr lang="en-US" sz="1050" dirty="0">
                <a:solidFill>
                  <a:schemeClr val="bg2"/>
                </a:solidFill>
              </a:rPr>
              <a:t>TEXT</a:t>
            </a:r>
            <a:endParaRPr lang="en-US" sz="1050" dirty="0"/>
          </a:p>
        </p:txBody>
      </p:sp>
      <p:sp>
        <p:nvSpPr>
          <p:cNvPr id="68" name="text_289"/>
          <p:cNvSpPr txBox="1"/>
          <p:nvPr/>
        </p:nvSpPr>
        <p:spPr>
          <a:xfrm>
            <a:off x="8915400" y="2907792"/>
            <a:ext cx="1709928" cy="310896"/>
          </a:xfrm>
          <a:prstGeom prst="rect">
            <a:avLst/>
          </a:prstGeom>
          <a:noFill/>
          <a:ln/>
        </p:spPr>
        <p:txBody>
          <a:bodyPr wrap="square" lIns="0" tIns="0" rIns="0" bIns="0" rtlCol="0" anchor="ctr"/>
          <a:lstStyle/>
          <a:p>
            <a:pPr indent="0" marL="0">
              <a:buNone/>
            </a:pPr>
            <a:r>
              <a:rPr lang="en-US" sz="1150" dirty="0">
                <a:solidFill>
                  <a:srgbClr val="DDE0F5"/>
                </a:solidFill>
                <a:latin typeface="Courier New" pitchFamily="34" charset="0"/>
                <a:ea typeface="Courier New" pitchFamily="34" charset="-122"/>
                <a:cs typeface="Courier New" pitchFamily="34" charset="-120"/>
              </a:rPr>
              <a:t>created_at</a:t>
            </a:r>
            <a:endParaRPr lang="en-US" sz="1150" dirty="0"/>
          </a:p>
        </p:txBody>
      </p:sp>
      <p:sp>
        <p:nvSpPr>
          <p:cNvPr id="69" name="text_290"/>
          <p:cNvSpPr txBox="1"/>
          <p:nvPr/>
        </p:nvSpPr>
        <p:spPr>
          <a:xfrm>
            <a:off x="10213848" y="2907792"/>
            <a:ext cx="1234440" cy="310896"/>
          </a:xfrm>
          <a:prstGeom prst="rect">
            <a:avLst/>
          </a:prstGeom>
          <a:noFill/>
          <a:ln/>
        </p:spPr>
        <p:txBody>
          <a:bodyPr wrap="square" lIns="0" tIns="0" rIns="0" bIns="0" rtlCol="0" anchor="ctr"/>
          <a:lstStyle/>
          <a:p>
            <a:pPr algn="r" indent="0" marL="0">
              <a:buNone/>
            </a:pPr>
            <a:r>
              <a:rPr lang="en-US" sz="1050" dirty="0">
                <a:solidFill>
                  <a:schemeClr val="bg2"/>
                </a:solidFill>
              </a:rPr>
              <a:t>TEXT</a:t>
            </a:r>
            <a:endParaRPr lang="en-US" sz="1050" dirty="0"/>
          </a:p>
        </p:txBody>
      </p:sp>
      <p:sp>
        <p:nvSpPr>
          <p:cNvPr id="70" name="fk_line"/>
          <p:cNvSpPr/>
          <p:nvPr/>
        </p:nvSpPr>
        <p:spPr>
          <a:xfrm>
            <a:off x="4480560" y="2130552"/>
            <a:ext cx="594360" cy="310896"/>
          </a:xfrm>
          <a:prstGeom prst="line">
            <a:avLst/>
          </a:prstGeom>
          <a:noFill/>
          <a:ln w="19050">
            <a:solidFill>
              <a:srgbClr val="FBBF24"/>
            </a:solidFill>
            <a:prstDash val="dash"/>
            <a:headEnd type="oval"/>
            <a:tailEnd type="triangle"/>
          </a:ln>
        </p:spPr>
      </p:sp>
      <p:sp>
        <p:nvSpPr>
          <p:cNvPr id="71" name="text_291"/>
          <p:cNvSpPr txBox="1"/>
          <p:nvPr/>
        </p:nvSpPr>
        <p:spPr>
          <a:xfrm>
            <a:off x="5120640" y="2990088"/>
            <a:ext cx="3017520" cy="228600"/>
          </a:xfrm>
          <a:prstGeom prst="rect">
            <a:avLst/>
          </a:prstGeom>
          <a:noFill/>
          <a:ln/>
        </p:spPr>
        <p:txBody>
          <a:bodyPr wrap="square" lIns="0" tIns="0" rIns="0" bIns="0" rtlCol="0" anchor="t"/>
          <a:lstStyle/>
          <a:p>
            <a:pPr indent="0" marL="0">
              <a:buNone/>
            </a:pPr>
            <a:r>
              <a:rPr lang="en-US" sz="950" b="1" dirty="0">
                <a:solidFill>
                  <a:srgbClr val="FBBF24"/>
                </a:solidFill>
              </a:rPr>
              <a:t>ON DELETE CASCADE</a:t>
            </a:r>
            <a:endParaRPr lang="en-US" sz="950" dirty="0"/>
          </a:p>
        </p:txBody>
      </p:sp>
      <p:sp>
        <p:nvSpPr>
          <p:cNvPr id="72" name="files_note_292"/>
          <p:cNvSpPr/>
          <p:nvPr/>
        </p:nvSpPr>
        <p:spPr>
          <a:xfrm>
            <a:off x="5074920" y="4919472"/>
            <a:ext cx="3108960" cy="1225296"/>
          </a:xfrm>
          <a:prstGeom prst="roundRect">
            <a:avLst>
              <a:gd name="adj" fmla="val 8955"/>
            </a:avLst>
          </a:prstGeom>
          <a:solidFill>
            <a:schemeClr val="tx2"/>
          </a:solidFill>
          <a:ln w="9525">
            <a:solidFill>
              <a:srgbClr val="2B3470"/>
            </a:solidFill>
            <a:prstDash val="solid"/>
          </a:ln>
        </p:spPr>
      </p:sp>
      <p:sp>
        <p:nvSpPr>
          <p:cNvPr id="73" name="icon_bg_293"/>
          <p:cNvSpPr/>
          <p:nvPr/>
        </p:nvSpPr>
        <p:spPr>
          <a:xfrm>
            <a:off x="5257800" y="5047488"/>
            <a:ext cx="457200" cy="457200"/>
          </a:xfrm>
          <a:prstGeom prst="roundRect">
            <a:avLst>
              <a:gd name="adj" fmla="val 24000"/>
            </a:avLst>
          </a:prstGeom>
          <a:solidFill>
            <a:schemeClr val="accent2">
              <a:alpha val="22000"/>
            </a:schemeClr>
          </a:solidFill>
          <a:ln/>
        </p:spPr>
      </p:sp>
      <p:pic>
        <p:nvPicPr>
          <p:cNvPr id="74" name="icon_294" descr="/tmp/claude-0/-home-claude/584731ee-e493-5c78-a637-0b254e057472/scratchpad/deck/img/i_folder.png">    </p:cNvPr>
          <p:cNvPicPr>
            <a:picLocks noChangeAspect="1"/>
          </p:cNvPicPr>
          <p:nvPr/>
        </p:nvPicPr>
        <p:blipFill>
          <a:blip r:embed="rId9"/>
          <a:stretch>
            <a:fillRect/>
          </a:stretch>
        </p:blipFill>
        <p:spPr>
          <a:xfrm>
            <a:off x="5367528" y="5157216"/>
            <a:ext cx="237744" cy="237744"/>
          </a:xfrm>
          <a:prstGeom prst="rect">
            <a:avLst/>
          </a:prstGeom>
        </p:spPr>
      </p:pic>
      <p:sp>
        <p:nvSpPr>
          <p:cNvPr id="75" name="text_295"/>
          <p:cNvSpPr txBox="1"/>
          <p:nvPr/>
        </p:nvSpPr>
        <p:spPr>
          <a:xfrm>
            <a:off x="5833872" y="5074920"/>
            <a:ext cx="2194560" cy="274320"/>
          </a:xfrm>
          <a:prstGeom prst="rect">
            <a:avLst/>
          </a:prstGeom>
          <a:noFill/>
          <a:ln/>
        </p:spPr>
        <p:txBody>
          <a:bodyPr wrap="square" lIns="0" tIns="0" rIns="0" bIns="0" rtlCol="0" anchor="t"/>
          <a:lstStyle/>
          <a:p>
            <a:pPr indent="0" marL="0">
              <a:buNone/>
            </a:pPr>
            <a:r>
              <a:rPr lang="en-US" sz="1400" b="1" dirty="0">
                <a:solidFill>
                  <a:schemeClr val="bg1"/>
                </a:solidFill>
              </a:rPr>
              <a:t>Files on disk</a:t>
            </a:r>
            <a:endParaRPr lang="en-US" sz="1400" dirty="0"/>
          </a:p>
        </p:txBody>
      </p:sp>
      <p:sp>
        <p:nvSpPr>
          <p:cNvPr id="76" name="text_296"/>
          <p:cNvSpPr txBox="1"/>
          <p:nvPr/>
        </p:nvSpPr>
        <p:spPr>
          <a:xfrm>
            <a:off x="5257800" y="5559552"/>
            <a:ext cx="2788920" cy="548640"/>
          </a:xfrm>
          <a:prstGeom prst="rect">
            <a:avLst/>
          </a:prstGeom>
          <a:noFill/>
          <a:ln/>
        </p:spPr>
        <p:txBody>
          <a:bodyPr wrap="square" lIns="0" tIns="0" rIns="0" bIns="0" rtlCol="0" anchor="t"/>
          <a:lstStyle/>
          <a:p>
            <a:pPr indent="0" marL="0">
              <a:buNone/>
            </a:pPr>
            <a:r>
              <a:rPr lang="en-US" sz="1150" dirty="0">
                <a:solidFill>
                  <a:schemeClr val="bg2"/>
                </a:solidFill>
              </a:rPr>
              <a:t>data/uploads/ keeps every original, renamed safely with a timestamp</a:t>
            </a:r>
            <a:endParaRPr lang="en-US" sz="1150" dirty="0"/>
          </a:p>
        </p:txBody>
      </p:sp>
      <p:sp>
        <p:nvSpPr>
          <p:cNvPr id="77" name="why_sqlite_297"/>
          <p:cNvSpPr/>
          <p:nvPr/>
        </p:nvSpPr>
        <p:spPr>
          <a:xfrm>
            <a:off x="8503920" y="3502152"/>
            <a:ext cx="3108960" cy="2642616"/>
          </a:xfrm>
          <a:prstGeom prst="roundRect">
            <a:avLst>
              <a:gd name="adj" fmla="val 4152"/>
            </a:avLst>
          </a:prstGeom>
          <a:solidFill>
            <a:schemeClr val="accent6">
              <a:alpha val="14000"/>
            </a:schemeClr>
          </a:solidFill>
          <a:ln w="9525">
            <a:solidFill>
              <a:schemeClr val="accent6"/>
            </a:solidFill>
            <a:prstDash val="solid"/>
          </a:ln>
        </p:spPr>
      </p:sp>
      <p:sp>
        <p:nvSpPr>
          <p:cNvPr id="78" name="icon_bg_298"/>
          <p:cNvSpPr/>
          <p:nvPr/>
        </p:nvSpPr>
        <p:spPr>
          <a:xfrm>
            <a:off x="8686800" y="3685032"/>
            <a:ext cx="457200" cy="457200"/>
          </a:xfrm>
          <a:prstGeom prst="roundRect">
            <a:avLst>
              <a:gd name="adj" fmla="val 24000"/>
            </a:avLst>
          </a:prstGeom>
          <a:solidFill>
            <a:schemeClr val="accent6">
              <a:alpha val="22000"/>
            </a:schemeClr>
          </a:solidFill>
          <a:ln/>
        </p:spPr>
      </p:sp>
      <p:pic>
        <p:nvPicPr>
          <p:cNvPr id="79" name="icon_299" descr="/tmp/claude-0/-home-claude/584731ee-e493-5c78-a637-0b254e057472/scratchpad/deck/img/i_db.png">    </p:cNvPr>
          <p:cNvPicPr>
            <a:picLocks noChangeAspect="1"/>
          </p:cNvPicPr>
          <p:nvPr/>
        </p:nvPicPr>
        <p:blipFill>
          <a:blip r:embed="rId10"/>
          <a:stretch>
            <a:fillRect/>
          </a:stretch>
        </p:blipFill>
        <p:spPr>
          <a:xfrm>
            <a:off x="8796528" y="3794760"/>
            <a:ext cx="237744" cy="237744"/>
          </a:xfrm>
          <a:prstGeom prst="rect">
            <a:avLst/>
          </a:prstGeom>
        </p:spPr>
      </p:pic>
      <p:sp>
        <p:nvSpPr>
          <p:cNvPr id="80" name="text_300"/>
          <p:cNvSpPr txBox="1"/>
          <p:nvPr/>
        </p:nvSpPr>
        <p:spPr>
          <a:xfrm>
            <a:off x="9262872" y="3712464"/>
            <a:ext cx="2194560" cy="365760"/>
          </a:xfrm>
          <a:prstGeom prst="rect">
            <a:avLst/>
          </a:prstGeom>
          <a:noFill/>
          <a:ln/>
        </p:spPr>
        <p:txBody>
          <a:bodyPr wrap="square" lIns="0" tIns="0" rIns="0" bIns="0" rtlCol="0" anchor="t"/>
          <a:lstStyle/>
          <a:p>
            <a:pPr indent="0" marL="0">
              <a:buNone/>
            </a:pPr>
            <a:r>
              <a:rPr lang="en-US" sz="1500" b="1" dirty="0">
                <a:solidFill>
                  <a:schemeClr val="bg1"/>
                </a:solidFill>
              </a:rPr>
              <a:t>Why SQLite</a:t>
            </a:r>
            <a:endParaRPr lang="en-US" sz="1500" dirty="0"/>
          </a:p>
        </p:txBody>
      </p:sp>
      <p:sp>
        <p:nvSpPr>
          <p:cNvPr id="81" name="text_301"/>
          <p:cNvSpPr txBox="1"/>
          <p:nvPr/>
        </p:nvSpPr>
        <p:spPr>
          <a:xfrm>
            <a:off x="8686800" y="4279392"/>
            <a:ext cx="2788920" cy="173736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rgbClr val="DDE0F5"/>
                </a:solidFill>
              </a:rPr>
              <a:t>One file: data/lifeadmin.db</a:t>
            </a:r>
            <a:endParaRPr lang="en-US" sz="1200" dirty="0"/>
          </a:p>
          <a:p>
            <a:pPr marL="342900" indent="-342900">
              <a:spcAft>
                <a:spcPts val="400"/>
              </a:spcAft>
              <a:buSzPct val="100000"/>
              <a:buChar char="•"/>
            </a:pPr>
            <a:r>
              <a:rPr lang="en-US" sz="1200" dirty="0">
                <a:solidFill>
                  <a:srgbClr val="DDE0F5"/>
                </a:solidFill>
              </a:rPr>
              <a:t>Ships with Python, zero setup</a:t>
            </a:r>
            <a:endParaRPr lang="en-US" sz="1200" dirty="0"/>
          </a:p>
          <a:p>
            <a:pPr marL="342900" indent="-342900">
              <a:spcAft>
                <a:spcPts val="400"/>
              </a:spcAft>
              <a:buSzPct val="100000"/>
              <a:buChar char="•"/>
            </a:pPr>
            <a:r>
              <a:rPr lang="en-US" sz="1200" dirty="0">
                <a:solidFill>
                  <a:srgbClr val="DDE0F5"/>
                </a:solidFill>
              </a:rPr>
              <a:t>Foreign keys + cascade delete</a:t>
            </a:r>
            <a:endParaRPr lang="en-US" sz="1200" dirty="0"/>
          </a:p>
          <a:p>
            <a:pPr marL="342900" indent="-342900">
              <a:spcAft>
                <a:spcPts val="400"/>
              </a:spcAft>
              <a:buSzPct val="100000"/>
              <a:buChar char="•"/>
            </a:pPr>
            <a:r>
              <a:rPr lang="en-US" sz="1200" dirty="0">
                <a:solidFill>
                  <a:srgbClr val="DDE0F5"/>
                </a:solidFill>
              </a:rPr>
              <a:t>Every add, edit, delete and completion is logged</a:t>
            </a:r>
            <a:endParaRPr lang="en-US" sz="1200" dirty="0"/>
          </a:p>
        </p:txBody>
      </p:sp>
      <p:sp>
        <p:nvSpPr>
          <p:cNvPr id="25" name="Slide Number Placeholder 0"/>
          <p:cNvSpPr>
            <a:spLocks noGrp="1"/>
          </p:cNvSpPr>
          <p:nvPr>
            <p:ph type="sldNum" sz="quarter" idx="4294967295"/>
          </p:nvPr>
        </p:nvSpPr>
        <p:spPr>
          <a:xfrm>
            <a:off x="11109960" y="6355080"/>
            <a:ext cx="530352"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bg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8229600" cy="274320"/>
          </a:xfrm>
          <a:prstGeom prst="rect">
            <a:avLst/>
          </a:prstGeom>
          <a:noFill/>
          <a:ln/>
        </p:spPr>
        <p:txBody>
          <a:bodyPr wrap="square" lIns="0" tIns="0" rIns="0" bIns="0" rtlCol="0" anchor="ctr"/>
          <a:lstStyle/>
          <a:p>
            <a:pPr algn="l" indent="0" marL="0">
              <a:buNone/>
            </a:pPr>
            <a:r>
              <a:rPr lang="en-US" sz="1200" b="1" spc="200" kern="0" dirty="0">
                <a:solidFill>
                  <a:schemeClr val="accent2"/>
                </a:solidFill>
              </a:rPr>
              <a:t>01 · ARCHITECTURE</a:t>
            </a:r>
            <a:endParaRPr lang="en-US" sz="1200" dirty="0"/>
          </a:p>
        </p:txBody>
      </p:sp>
      <p:sp>
        <p:nvSpPr>
          <p:cNvPr id="3" name="Text 0"/>
          <p:cNvSpPr/>
          <p:nvPr>
            <p:ph idx="101" type="title" hasCustomPrompt="1"/>
          </p:nvPr>
        </p:nvSpPr>
        <p:spPr>
          <a:xfrm>
            <a:off x="548640" y="603504"/>
            <a:ext cx="11064240" cy="685800"/>
          </a:xfrm>
          <a:prstGeom prst="rect">
            <a:avLst/>
          </a:prstGeom>
          <a:noFill/>
          <a:ln/>
        </p:spPr>
        <p:txBody>
          <a:bodyPr wrap="square" lIns="0" tIns="0" rIns="0" bIns="0" rtlCol="0" anchor="ctr"/>
          <a:lstStyle/>
          <a:p>
            <a:pPr algn="l" indent="0" marL="0">
              <a:buNone/>
            </a:pPr>
            <a:r>
              <a:rPr lang="en-US" sz="3200" b="1" dirty="0">
                <a:solidFill>
                  <a:schemeClr val="bg1"/>
                </a:solidFill>
              </a:rPr>
              <a:t>The rules behind every reminder</a:t>
            </a:r>
            <a:endParaRPr lang="en-US" sz="3200" dirty="0"/>
          </a:p>
        </p:txBody>
      </p:sp>
      <p:sp>
        <p:nvSpPr>
          <p:cNvPr id="4" name="text_302"/>
          <p:cNvSpPr txBox="1"/>
          <p:nvPr/>
        </p:nvSpPr>
        <p:spPr>
          <a:xfrm>
            <a:off x="548640" y="1481328"/>
            <a:ext cx="4572000" cy="256032"/>
          </a:xfrm>
          <a:prstGeom prst="rect">
            <a:avLst/>
          </a:prstGeom>
          <a:noFill/>
          <a:ln/>
        </p:spPr>
        <p:txBody>
          <a:bodyPr wrap="square" lIns="0" tIns="0" rIns="0" bIns="0" rtlCol="0" anchor="t"/>
          <a:lstStyle/>
          <a:p>
            <a:pPr indent="0" marL="0">
              <a:buNone/>
            </a:pPr>
            <a:r>
              <a:rPr lang="en-US" sz="1100" b="1" spc="200" kern="0" dirty="0">
                <a:solidFill>
                  <a:schemeClr val="bg2"/>
                </a:solidFill>
              </a:rPr>
              <a:t>DAYS UNTIL EXPIRY</a:t>
            </a:r>
            <a:endParaRPr lang="en-US" sz="1100" dirty="0"/>
          </a:p>
        </p:txBody>
      </p:sp>
      <p:sp>
        <p:nvSpPr>
          <p:cNvPr id="5" name="seg_303"/>
          <p:cNvSpPr/>
          <p:nvPr/>
        </p:nvSpPr>
        <p:spPr>
          <a:xfrm>
            <a:off x="548640" y="1810512"/>
            <a:ext cx="2468880" cy="749808"/>
          </a:xfrm>
          <a:prstGeom prst="rect">
            <a:avLst/>
          </a:prstGeom>
          <a:solidFill>
            <a:schemeClr val="accent5">
              <a:alpha val="85000"/>
            </a:schemeClr>
          </a:solidFill>
          <a:ln w="25400">
            <a:solidFill>
              <a:schemeClr val="tx1"/>
            </a:solidFill>
            <a:prstDash val="solid"/>
          </a:ln>
        </p:spPr>
      </p:sp>
      <p:sp>
        <p:nvSpPr>
          <p:cNvPr id="6" name="text_304"/>
          <p:cNvSpPr txBox="1"/>
          <p:nvPr/>
        </p:nvSpPr>
        <p:spPr>
          <a:xfrm>
            <a:off x="731520" y="1883664"/>
            <a:ext cx="2194560" cy="329184"/>
          </a:xfrm>
          <a:prstGeom prst="rect">
            <a:avLst/>
          </a:prstGeom>
          <a:noFill/>
          <a:ln/>
        </p:spPr>
        <p:txBody>
          <a:bodyPr wrap="square" lIns="0" tIns="0" rIns="0" bIns="0" rtlCol="0" anchor="t"/>
          <a:lstStyle/>
          <a:p>
            <a:pPr indent="0" marL="0">
              <a:buNone/>
            </a:pPr>
            <a:r>
              <a:rPr lang="en-US" sz="1700" b="1" dirty="0">
                <a:solidFill>
                  <a:schemeClr val="bg1"/>
                </a:solidFill>
              </a:rPr>
              <a:t>Expired</a:t>
            </a:r>
            <a:endParaRPr lang="en-US" sz="1700" dirty="0"/>
          </a:p>
        </p:txBody>
      </p:sp>
      <p:sp>
        <p:nvSpPr>
          <p:cNvPr id="7" name="text_305"/>
          <p:cNvSpPr txBox="1"/>
          <p:nvPr/>
        </p:nvSpPr>
        <p:spPr>
          <a:xfrm>
            <a:off x="731520" y="2212848"/>
            <a:ext cx="2194560" cy="274320"/>
          </a:xfrm>
          <a:prstGeom prst="rect">
            <a:avLst/>
          </a:prstGeom>
          <a:noFill/>
          <a:ln/>
        </p:spPr>
        <p:txBody>
          <a:bodyPr wrap="square" lIns="0" tIns="0" rIns="0" bIns="0" rtlCol="0" anchor="t"/>
          <a:lstStyle/>
          <a:p>
            <a:pPr indent="0" marL="0">
              <a:buNone/>
            </a:pPr>
            <a:r>
              <a:rPr lang="en-US" sz="1200" dirty="0">
                <a:solidFill>
                  <a:schemeClr val="bg1"/>
                </a:solidFill>
              </a:rPr>
              <a:t>fewer than 0 days</a:t>
            </a:r>
            <a:endParaRPr lang="en-US" sz="1200" dirty="0"/>
          </a:p>
        </p:txBody>
      </p:sp>
      <p:sp>
        <p:nvSpPr>
          <p:cNvPr id="8" name="text_306"/>
          <p:cNvSpPr txBox="1"/>
          <p:nvPr/>
        </p:nvSpPr>
        <p:spPr>
          <a:xfrm>
            <a:off x="731520" y="2697480"/>
            <a:ext cx="2194560" cy="274320"/>
          </a:xfrm>
          <a:prstGeom prst="rect">
            <a:avLst/>
          </a:prstGeom>
          <a:noFill/>
          <a:ln/>
        </p:spPr>
        <p:txBody>
          <a:bodyPr wrap="square" lIns="0" tIns="0" rIns="0" bIns="0" rtlCol="0" anchor="t"/>
          <a:lstStyle/>
          <a:p>
            <a:pPr indent="0" marL="0">
              <a:buNone/>
            </a:pPr>
            <a:r>
              <a:rPr lang="en-US" sz="1200" dirty="0">
                <a:solidFill>
                  <a:schemeClr val="bg2"/>
                </a:solidFill>
              </a:rPr>
              <a:t>Overdue · renew now</a:t>
            </a:r>
            <a:endParaRPr lang="en-US" sz="1200" dirty="0"/>
          </a:p>
        </p:txBody>
      </p:sp>
      <p:sp>
        <p:nvSpPr>
          <p:cNvPr id="9" name="seg_307"/>
          <p:cNvSpPr/>
          <p:nvPr/>
        </p:nvSpPr>
        <p:spPr>
          <a:xfrm>
            <a:off x="3017520" y="1810512"/>
            <a:ext cx="2468880" cy="749808"/>
          </a:xfrm>
          <a:prstGeom prst="rect">
            <a:avLst/>
          </a:prstGeom>
          <a:solidFill>
            <a:srgbClr val="F97316">
              <a:alpha val="85000"/>
            </a:srgbClr>
          </a:solidFill>
          <a:ln w="25400">
            <a:solidFill>
              <a:schemeClr val="tx1"/>
            </a:solidFill>
            <a:prstDash val="solid"/>
          </a:ln>
        </p:spPr>
      </p:sp>
      <p:sp>
        <p:nvSpPr>
          <p:cNvPr id="10" name="text_308"/>
          <p:cNvSpPr txBox="1"/>
          <p:nvPr/>
        </p:nvSpPr>
        <p:spPr>
          <a:xfrm>
            <a:off x="3200400" y="1883664"/>
            <a:ext cx="2194560" cy="329184"/>
          </a:xfrm>
          <a:prstGeom prst="rect">
            <a:avLst/>
          </a:prstGeom>
          <a:noFill/>
          <a:ln/>
        </p:spPr>
        <p:txBody>
          <a:bodyPr wrap="square" lIns="0" tIns="0" rIns="0" bIns="0" rtlCol="0" anchor="t"/>
          <a:lstStyle/>
          <a:p>
            <a:pPr indent="0" marL="0">
              <a:buNone/>
            </a:pPr>
            <a:r>
              <a:rPr lang="en-US" sz="1700" b="1" dirty="0">
                <a:solidFill>
                  <a:schemeClr val="bg1"/>
                </a:solidFill>
              </a:rPr>
              <a:t>Critical</a:t>
            </a:r>
            <a:endParaRPr lang="en-US" sz="1700" dirty="0"/>
          </a:p>
        </p:txBody>
      </p:sp>
      <p:sp>
        <p:nvSpPr>
          <p:cNvPr id="11" name="text_309"/>
          <p:cNvSpPr txBox="1"/>
          <p:nvPr/>
        </p:nvSpPr>
        <p:spPr>
          <a:xfrm>
            <a:off x="3200400" y="2212848"/>
            <a:ext cx="2194560" cy="274320"/>
          </a:xfrm>
          <a:prstGeom prst="rect">
            <a:avLst/>
          </a:prstGeom>
          <a:noFill/>
          <a:ln/>
        </p:spPr>
        <p:txBody>
          <a:bodyPr wrap="square" lIns="0" tIns="0" rIns="0" bIns="0" rtlCol="0" anchor="t"/>
          <a:lstStyle/>
          <a:p>
            <a:pPr indent="0" marL="0">
              <a:buNone/>
            </a:pPr>
            <a:r>
              <a:rPr lang="en-US" sz="1200" dirty="0">
                <a:solidFill>
                  <a:schemeClr val="bg1"/>
                </a:solidFill>
              </a:rPr>
              <a:t>0 – 7 days</a:t>
            </a:r>
            <a:endParaRPr lang="en-US" sz="1200" dirty="0"/>
          </a:p>
        </p:txBody>
      </p:sp>
      <p:sp>
        <p:nvSpPr>
          <p:cNvPr id="12" name="text_310"/>
          <p:cNvSpPr txBox="1"/>
          <p:nvPr/>
        </p:nvSpPr>
        <p:spPr>
          <a:xfrm>
            <a:off x="3200400" y="2697480"/>
            <a:ext cx="2194560" cy="274320"/>
          </a:xfrm>
          <a:prstGeom prst="rect">
            <a:avLst/>
          </a:prstGeom>
          <a:noFill/>
          <a:ln/>
        </p:spPr>
        <p:txBody>
          <a:bodyPr wrap="square" lIns="0" tIns="0" rIns="0" bIns="0" rtlCol="0" anchor="t"/>
          <a:lstStyle/>
          <a:p>
            <a:pPr indent="0" marL="0">
              <a:buNone/>
            </a:pPr>
            <a:r>
              <a:rPr lang="en-US" sz="1200" dirty="0">
                <a:solidFill>
                  <a:schemeClr val="bg2"/>
                </a:solidFill>
              </a:rPr>
              <a:t>Shown in red · renew this week</a:t>
            </a:r>
            <a:endParaRPr lang="en-US" sz="1200" dirty="0"/>
          </a:p>
        </p:txBody>
      </p:sp>
      <p:sp>
        <p:nvSpPr>
          <p:cNvPr id="13" name="seg_311"/>
          <p:cNvSpPr/>
          <p:nvPr/>
        </p:nvSpPr>
        <p:spPr>
          <a:xfrm>
            <a:off x="5486400" y="1810512"/>
            <a:ext cx="2834640" cy="749808"/>
          </a:xfrm>
          <a:prstGeom prst="rect">
            <a:avLst/>
          </a:prstGeom>
          <a:solidFill>
            <a:schemeClr val="accent4">
              <a:alpha val="85000"/>
            </a:schemeClr>
          </a:solidFill>
          <a:ln w="25400">
            <a:solidFill>
              <a:schemeClr val="tx1"/>
            </a:solidFill>
            <a:prstDash val="solid"/>
          </a:ln>
        </p:spPr>
      </p:sp>
      <p:sp>
        <p:nvSpPr>
          <p:cNvPr id="14" name="text_312"/>
          <p:cNvSpPr txBox="1"/>
          <p:nvPr/>
        </p:nvSpPr>
        <p:spPr>
          <a:xfrm>
            <a:off x="5669280" y="1883664"/>
            <a:ext cx="2560320" cy="329184"/>
          </a:xfrm>
          <a:prstGeom prst="rect">
            <a:avLst/>
          </a:prstGeom>
          <a:noFill/>
          <a:ln/>
        </p:spPr>
        <p:txBody>
          <a:bodyPr wrap="square" lIns="0" tIns="0" rIns="0" bIns="0" rtlCol="0" anchor="t"/>
          <a:lstStyle/>
          <a:p>
            <a:pPr indent="0" marL="0">
              <a:buNone/>
            </a:pPr>
            <a:r>
              <a:rPr lang="en-US" sz="1700" b="1" dirty="0">
                <a:solidFill>
                  <a:schemeClr val="bg1"/>
                </a:solidFill>
              </a:rPr>
              <a:t>Expiring soon</a:t>
            </a:r>
            <a:endParaRPr lang="en-US" sz="1700" dirty="0"/>
          </a:p>
        </p:txBody>
      </p:sp>
      <p:sp>
        <p:nvSpPr>
          <p:cNvPr id="15" name="text_313"/>
          <p:cNvSpPr txBox="1"/>
          <p:nvPr/>
        </p:nvSpPr>
        <p:spPr>
          <a:xfrm>
            <a:off x="5669280" y="2212848"/>
            <a:ext cx="2560320" cy="274320"/>
          </a:xfrm>
          <a:prstGeom prst="rect">
            <a:avLst/>
          </a:prstGeom>
          <a:noFill/>
          <a:ln/>
        </p:spPr>
        <p:txBody>
          <a:bodyPr wrap="square" lIns="0" tIns="0" rIns="0" bIns="0" rtlCol="0" anchor="t"/>
          <a:lstStyle/>
          <a:p>
            <a:pPr indent="0" marL="0">
              <a:buNone/>
            </a:pPr>
            <a:r>
              <a:rPr lang="en-US" sz="1200" dirty="0">
                <a:solidFill>
                  <a:schemeClr val="bg1"/>
                </a:solidFill>
              </a:rPr>
              <a:t>8 – 30 days</a:t>
            </a:r>
            <a:endParaRPr lang="en-US" sz="1200" dirty="0"/>
          </a:p>
        </p:txBody>
      </p:sp>
      <p:sp>
        <p:nvSpPr>
          <p:cNvPr id="16" name="text_314"/>
          <p:cNvSpPr txBox="1"/>
          <p:nvPr/>
        </p:nvSpPr>
        <p:spPr>
          <a:xfrm>
            <a:off x="5669280" y="2697480"/>
            <a:ext cx="2560320" cy="274320"/>
          </a:xfrm>
          <a:prstGeom prst="rect">
            <a:avLst/>
          </a:prstGeom>
          <a:noFill/>
          <a:ln/>
        </p:spPr>
        <p:txBody>
          <a:bodyPr wrap="square" lIns="0" tIns="0" rIns="0" bIns="0" rtlCol="0" anchor="t"/>
          <a:lstStyle/>
          <a:p>
            <a:pPr indent="0" marL="0">
              <a:buNone/>
            </a:pPr>
            <a:r>
              <a:rPr lang="en-US" sz="1200" dirty="0">
                <a:solidFill>
                  <a:schemeClr val="bg2"/>
                </a:solidFill>
              </a:rPr>
              <a:t>Amber · plan the renewal</a:t>
            </a:r>
            <a:endParaRPr lang="en-US" sz="1200" dirty="0"/>
          </a:p>
        </p:txBody>
      </p:sp>
      <p:sp>
        <p:nvSpPr>
          <p:cNvPr id="17" name="seg_315"/>
          <p:cNvSpPr/>
          <p:nvPr/>
        </p:nvSpPr>
        <p:spPr>
          <a:xfrm>
            <a:off x="8321040" y="1810512"/>
            <a:ext cx="3291840" cy="749808"/>
          </a:xfrm>
          <a:prstGeom prst="rect">
            <a:avLst/>
          </a:prstGeom>
          <a:solidFill>
            <a:schemeClr val="accent3">
              <a:alpha val="85000"/>
            </a:schemeClr>
          </a:solidFill>
          <a:ln w="25400">
            <a:solidFill>
              <a:schemeClr val="tx1"/>
            </a:solidFill>
            <a:prstDash val="solid"/>
          </a:ln>
        </p:spPr>
      </p:sp>
      <p:sp>
        <p:nvSpPr>
          <p:cNvPr id="18" name="text_316"/>
          <p:cNvSpPr txBox="1"/>
          <p:nvPr/>
        </p:nvSpPr>
        <p:spPr>
          <a:xfrm>
            <a:off x="8503920" y="1883664"/>
            <a:ext cx="3017520" cy="329184"/>
          </a:xfrm>
          <a:prstGeom prst="rect">
            <a:avLst/>
          </a:prstGeom>
          <a:noFill/>
          <a:ln/>
        </p:spPr>
        <p:txBody>
          <a:bodyPr wrap="square" lIns="0" tIns="0" rIns="0" bIns="0" rtlCol="0" anchor="t"/>
          <a:lstStyle/>
          <a:p>
            <a:pPr indent="0" marL="0">
              <a:buNone/>
            </a:pPr>
            <a:r>
              <a:rPr lang="en-US" sz="1700" b="1" dirty="0">
                <a:solidFill>
                  <a:schemeClr val="bg1"/>
                </a:solidFill>
              </a:rPr>
              <a:t>Active</a:t>
            </a:r>
            <a:endParaRPr lang="en-US" sz="1700" dirty="0"/>
          </a:p>
        </p:txBody>
      </p:sp>
      <p:sp>
        <p:nvSpPr>
          <p:cNvPr id="19" name="text_317"/>
          <p:cNvSpPr txBox="1"/>
          <p:nvPr/>
        </p:nvSpPr>
        <p:spPr>
          <a:xfrm>
            <a:off x="8503920" y="2212848"/>
            <a:ext cx="3017520" cy="274320"/>
          </a:xfrm>
          <a:prstGeom prst="rect">
            <a:avLst/>
          </a:prstGeom>
          <a:noFill/>
          <a:ln/>
        </p:spPr>
        <p:txBody>
          <a:bodyPr wrap="square" lIns="0" tIns="0" rIns="0" bIns="0" rtlCol="0" anchor="t"/>
          <a:lstStyle/>
          <a:p>
            <a:pPr indent="0" marL="0">
              <a:buNone/>
            </a:pPr>
            <a:r>
              <a:rPr lang="en-US" sz="1200" dirty="0">
                <a:solidFill>
                  <a:schemeClr val="bg1"/>
                </a:solidFill>
              </a:rPr>
              <a:t>more than 30 days</a:t>
            </a:r>
            <a:endParaRPr lang="en-US" sz="1200" dirty="0"/>
          </a:p>
        </p:txBody>
      </p:sp>
      <p:sp>
        <p:nvSpPr>
          <p:cNvPr id="20" name="text_318"/>
          <p:cNvSpPr txBox="1"/>
          <p:nvPr/>
        </p:nvSpPr>
        <p:spPr>
          <a:xfrm>
            <a:off x="8503920" y="2697480"/>
            <a:ext cx="3017520" cy="274320"/>
          </a:xfrm>
          <a:prstGeom prst="rect">
            <a:avLst/>
          </a:prstGeom>
          <a:noFill/>
          <a:ln/>
        </p:spPr>
        <p:txBody>
          <a:bodyPr wrap="square" lIns="0" tIns="0" rIns="0" bIns="0" rtlCol="0" anchor="t"/>
          <a:lstStyle/>
          <a:p>
            <a:pPr indent="0" marL="0">
              <a:buNone/>
            </a:pPr>
            <a:r>
              <a:rPr lang="en-US" sz="1200" dirty="0">
                <a:solidFill>
                  <a:schemeClr val="bg2"/>
                </a:solidFill>
              </a:rPr>
              <a:t>Green · nothing to do</a:t>
            </a:r>
            <a:endParaRPr lang="en-US" sz="1200" dirty="0"/>
          </a:p>
        </p:txBody>
      </p:sp>
      <p:sp>
        <p:nvSpPr>
          <p:cNvPr id="21" name="today_line"/>
          <p:cNvSpPr/>
          <p:nvPr/>
        </p:nvSpPr>
        <p:spPr>
          <a:xfrm>
            <a:off x="3017520" y="1700784"/>
            <a:ext cx="0" cy="969264"/>
          </a:xfrm>
          <a:prstGeom prst="line">
            <a:avLst/>
          </a:prstGeom>
          <a:noFill/>
          <a:ln w="25400">
            <a:solidFill>
              <a:schemeClr val="bg1"/>
            </a:solidFill>
            <a:prstDash val="solid"/>
          </a:ln>
        </p:spPr>
      </p:sp>
      <p:sp>
        <p:nvSpPr>
          <p:cNvPr id="22" name="pill_319"/>
          <p:cNvSpPr/>
          <p:nvPr/>
        </p:nvSpPr>
        <p:spPr>
          <a:xfrm>
            <a:off x="2670048" y="1463040"/>
            <a:ext cx="694944" cy="237744"/>
          </a:xfrm>
          <a:prstGeom prst="roundRect">
            <a:avLst>
              <a:gd name="adj" fmla="val 50000"/>
            </a:avLst>
          </a:prstGeom>
          <a:solidFill>
            <a:schemeClr val="bg1"/>
          </a:solidFill>
          <a:ln/>
        </p:spPr>
      </p:sp>
      <p:sp>
        <p:nvSpPr>
          <p:cNvPr id="23" name="text_320"/>
          <p:cNvSpPr txBox="1"/>
          <p:nvPr/>
        </p:nvSpPr>
        <p:spPr>
          <a:xfrm>
            <a:off x="2670048" y="1463040"/>
            <a:ext cx="694944" cy="237744"/>
          </a:xfrm>
          <a:prstGeom prst="rect">
            <a:avLst/>
          </a:prstGeom>
          <a:noFill/>
          <a:ln/>
        </p:spPr>
        <p:txBody>
          <a:bodyPr wrap="square" lIns="0" tIns="0" rIns="0" bIns="0" rtlCol="0" anchor="ctr"/>
          <a:lstStyle/>
          <a:p>
            <a:pPr algn="ctr" indent="0" marL="0">
              <a:buNone/>
            </a:pPr>
            <a:r>
              <a:rPr lang="en-US" sz="950" b="1" dirty="0">
                <a:solidFill>
                  <a:schemeClr val="tx1"/>
                </a:solidFill>
              </a:rPr>
              <a:t>TODAY</a:t>
            </a:r>
            <a:endParaRPr lang="en-US" sz="950" dirty="0"/>
          </a:p>
        </p:txBody>
      </p:sp>
      <p:sp>
        <p:nvSpPr>
          <p:cNvPr id="24" name="health_card_321"/>
          <p:cNvSpPr/>
          <p:nvPr/>
        </p:nvSpPr>
        <p:spPr>
          <a:xfrm>
            <a:off x="548640" y="3291840"/>
            <a:ext cx="5440680" cy="2834640"/>
          </a:xfrm>
          <a:prstGeom prst="roundRect">
            <a:avLst>
              <a:gd name="adj" fmla="val 3871"/>
            </a:avLst>
          </a:prstGeom>
          <a:solidFill>
            <a:schemeClr val="tx2"/>
          </a:solidFill>
          <a:ln w="9525">
            <a:solidFill>
              <a:srgbClr val="2B3470"/>
            </a:solidFill>
            <a:prstDash val="solid"/>
          </a:ln>
        </p:spPr>
      </p:sp>
      <p:sp>
        <p:nvSpPr>
          <p:cNvPr id="25" name="icon_bg_322"/>
          <p:cNvSpPr/>
          <p:nvPr/>
        </p:nvSpPr>
        <p:spPr>
          <a:xfrm>
            <a:off x="749808" y="3493008"/>
            <a:ext cx="502920" cy="502920"/>
          </a:xfrm>
          <a:prstGeom prst="roundRect">
            <a:avLst>
              <a:gd name="adj" fmla="val 24000"/>
            </a:avLst>
          </a:prstGeom>
          <a:solidFill>
            <a:schemeClr val="accent3">
              <a:alpha val="22000"/>
            </a:schemeClr>
          </a:solidFill>
          <a:ln/>
        </p:spPr>
      </p:sp>
      <p:pic>
        <p:nvPicPr>
          <p:cNvPr id="26" name="icon_323" descr="/tmp/claude-0/-home-claude/584731ee-e493-5c78-a637-0b254e057472/scratchpad/deck/img/i_heart.png">    </p:cNvPr>
          <p:cNvPicPr>
            <a:picLocks noChangeAspect="1"/>
          </p:cNvPicPr>
          <p:nvPr/>
        </p:nvPicPr>
        <p:blipFill>
          <a:blip r:embed="rId1"/>
          <a:stretch>
            <a:fillRect/>
          </a:stretch>
        </p:blipFill>
        <p:spPr>
          <a:xfrm>
            <a:off x="870509" y="3613709"/>
            <a:ext cx="261518" cy="261518"/>
          </a:xfrm>
          <a:prstGeom prst="rect">
            <a:avLst/>
          </a:prstGeom>
        </p:spPr>
      </p:pic>
      <p:sp>
        <p:nvSpPr>
          <p:cNvPr id="27" name="text_324"/>
          <p:cNvSpPr txBox="1"/>
          <p:nvPr/>
        </p:nvSpPr>
        <p:spPr>
          <a:xfrm>
            <a:off x="1389888" y="3529584"/>
            <a:ext cx="4114800" cy="384048"/>
          </a:xfrm>
          <a:prstGeom prst="rect">
            <a:avLst/>
          </a:prstGeom>
          <a:noFill/>
          <a:ln/>
        </p:spPr>
        <p:txBody>
          <a:bodyPr wrap="square" lIns="0" tIns="0" rIns="0" bIns="0" rtlCol="0" anchor="t"/>
          <a:lstStyle/>
          <a:p>
            <a:pPr indent="0" marL="0">
              <a:buNone/>
            </a:pPr>
            <a:r>
              <a:rPr lang="en-US" sz="1700" b="1" dirty="0">
                <a:solidFill>
                  <a:schemeClr val="bg1"/>
                </a:solidFill>
              </a:rPr>
              <a:t>Document Health Score</a:t>
            </a:r>
            <a:endParaRPr lang="en-US" sz="1700" dirty="0"/>
          </a:p>
        </p:txBody>
      </p:sp>
      <p:sp>
        <p:nvSpPr>
          <p:cNvPr id="28" name="formula_325"/>
          <p:cNvSpPr/>
          <p:nvPr/>
        </p:nvSpPr>
        <p:spPr>
          <a:xfrm>
            <a:off x="749808" y="4160520"/>
            <a:ext cx="5029200" cy="566928"/>
          </a:xfrm>
          <a:prstGeom prst="roundRect">
            <a:avLst>
              <a:gd name="adj" fmla="val 16129"/>
            </a:avLst>
          </a:prstGeom>
          <a:solidFill>
            <a:schemeClr val="accent1">
              <a:alpha val="25000"/>
            </a:schemeClr>
          </a:solidFill>
          <a:ln/>
        </p:spPr>
      </p:sp>
      <p:sp>
        <p:nvSpPr>
          <p:cNvPr id="29" name="text_326"/>
          <p:cNvSpPr txBox="1"/>
          <p:nvPr/>
        </p:nvSpPr>
        <p:spPr>
          <a:xfrm>
            <a:off x="749808" y="4160520"/>
            <a:ext cx="5029200" cy="566928"/>
          </a:xfrm>
          <a:prstGeom prst="rect">
            <a:avLst/>
          </a:prstGeom>
          <a:noFill/>
          <a:ln/>
        </p:spPr>
        <p:txBody>
          <a:bodyPr wrap="square" lIns="0" tIns="0" rIns="0" bIns="0" rtlCol="0" anchor="ctr"/>
          <a:lstStyle/>
          <a:p>
            <a:pPr algn="ctr" indent="0" marL="0">
              <a:buNone/>
            </a:pPr>
            <a:r>
              <a:rPr lang="en-US" sz="1600" b="1" dirty="0">
                <a:solidFill>
                  <a:schemeClr val="bg1"/>
                </a:solidFill>
              </a:rPr>
              <a:t>Health = (Completeness + Timeliness) ÷ 2</a:t>
            </a:r>
            <a:endParaRPr lang="en-US" sz="1600" dirty="0"/>
          </a:p>
        </p:txBody>
      </p:sp>
      <p:sp>
        <p:nvSpPr>
          <p:cNvPr id="30" name="text_327"/>
          <p:cNvSpPr txBox="1"/>
          <p:nvPr/>
        </p:nvSpPr>
        <p:spPr>
          <a:xfrm>
            <a:off x="749808" y="4919472"/>
            <a:ext cx="2377440" cy="274320"/>
          </a:xfrm>
          <a:prstGeom prst="rect">
            <a:avLst/>
          </a:prstGeom>
          <a:noFill/>
          <a:ln/>
        </p:spPr>
        <p:txBody>
          <a:bodyPr wrap="square" lIns="0" tIns="0" rIns="0" bIns="0" rtlCol="0" anchor="t"/>
          <a:lstStyle/>
          <a:p>
            <a:pPr indent="0" marL="0">
              <a:buNone/>
            </a:pPr>
            <a:r>
              <a:rPr lang="en-US" sz="1350" b="1" dirty="0">
                <a:solidFill>
                  <a:schemeClr val="accent3"/>
                </a:solidFill>
              </a:rPr>
              <a:t>Completeness</a:t>
            </a:r>
            <a:endParaRPr lang="en-US" sz="1350" dirty="0"/>
          </a:p>
        </p:txBody>
      </p:sp>
      <p:sp>
        <p:nvSpPr>
          <p:cNvPr id="31" name="text_328"/>
          <p:cNvSpPr txBox="1"/>
          <p:nvPr/>
        </p:nvSpPr>
        <p:spPr>
          <a:xfrm>
            <a:off x="749808" y="5212080"/>
            <a:ext cx="2377440" cy="822960"/>
          </a:xfrm>
          <a:prstGeom prst="rect">
            <a:avLst/>
          </a:prstGeom>
          <a:noFill/>
          <a:ln/>
        </p:spPr>
        <p:txBody>
          <a:bodyPr wrap="square" lIns="0" tIns="0" rIns="0" bIns="0" rtlCol="0" anchor="t"/>
          <a:lstStyle/>
          <a:p>
            <a:pPr indent="0" marL="0">
              <a:buNone/>
            </a:pPr>
            <a:r>
              <a:rPr lang="en-US" sz="1200" dirty="0">
                <a:solidFill>
                  <a:schemeClr val="bg2"/>
                </a:solidFill>
              </a:rPr>
              <a:t>5 checks × 20%: type, organization, holder, number, expiry date</a:t>
            </a:r>
            <a:endParaRPr lang="en-US" sz="1200" dirty="0"/>
          </a:p>
        </p:txBody>
      </p:sp>
      <p:sp>
        <p:nvSpPr>
          <p:cNvPr id="32" name="text_329"/>
          <p:cNvSpPr txBox="1"/>
          <p:nvPr/>
        </p:nvSpPr>
        <p:spPr>
          <a:xfrm>
            <a:off x="3337560" y="4919472"/>
            <a:ext cx="2377440" cy="274320"/>
          </a:xfrm>
          <a:prstGeom prst="rect">
            <a:avLst/>
          </a:prstGeom>
          <a:noFill/>
          <a:ln/>
        </p:spPr>
        <p:txBody>
          <a:bodyPr wrap="square" lIns="0" tIns="0" rIns="0" bIns="0" rtlCol="0" anchor="t"/>
          <a:lstStyle/>
          <a:p>
            <a:pPr indent="0" marL="0">
              <a:buNone/>
            </a:pPr>
            <a:r>
              <a:rPr lang="en-US" sz="1350" b="1" dirty="0">
                <a:solidFill>
                  <a:schemeClr val="accent4"/>
                </a:solidFill>
              </a:rPr>
              <a:t>Timeliness</a:t>
            </a:r>
            <a:endParaRPr lang="en-US" sz="1350" dirty="0"/>
          </a:p>
        </p:txBody>
      </p:sp>
      <p:sp>
        <p:nvSpPr>
          <p:cNvPr id="33" name="text_330"/>
          <p:cNvSpPr txBox="1"/>
          <p:nvPr/>
        </p:nvSpPr>
        <p:spPr>
          <a:xfrm>
            <a:off x="3337560" y="5212080"/>
            <a:ext cx="2423160" cy="822960"/>
          </a:xfrm>
          <a:prstGeom prst="rect">
            <a:avLst/>
          </a:prstGeom>
          <a:noFill/>
          <a:ln/>
        </p:spPr>
        <p:txBody>
          <a:bodyPr wrap="square" lIns="0" tIns="0" rIns="0" bIns="0" rtlCol="0" anchor="t"/>
          <a:lstStyle/>
          <a:p>
            <a:pPr indent="0" marL="0">
              <a:buNone/>
            </a:pPr>
            <a:r>
              <a:rPr lang="en-US" sz="1200" dirty="0">
                <a:solidFill>
                  <a:schemeClr val="bg2"/>
                </a:solidFill>
              </a:rPr>
              <a:t>Active 100 · Expiring 60 · Critical 25 · Expired 0</a:t>
            </a:r>
            <a:endParaRPr lang="en-US" sz="1200" dirty="0"/>
          </a:p>
        </p:txBody>
      </p:sp>
      <p:sp>
        <p:nvSpPr>
          <p:cNvPr id="34" name="reach_card_331"/>
          <p:cNvSpPr/>
          <p:nvPr/>
        </p:nvSpPr>
        <p:spPr>
          <a:xfrm>
            <a:off x="6172200" y="3291840"/>
            <a:ext cx="5440680" cy="2834640"/>
          </a:xfrm>
          <a:prstGeom prst="roundRect">
            <a:avLst>
              <a:gd name="adj" fmla="val 3871"/>
            </a:avLst>
          </a:prstGeom>
          <a:solidFill>
            <a:schemeClr val="tx2"/>
          </a:solidFill>
          <a:ln w="9525">
            <a:solidFill>
              <a:srgbClr val="2B3470"/>
            </a:solidFill>
            <a:prstDash val="solid"/>
          </a:ln>
        </p:spPr>
      </p:sp>
      <p:sp>
        <p:nvSpPr>
          <p:cNvPr id="35" name="icon_bg_332"/>
          <p:cNvSpPr/>
          <p:nvPr/>
        </p:nvSpPr>
        <p:spPr>
          <a:xfrm>
            <a:off x="6373368" y="3493008"/>
            <a:ext cx="502920" cy="502920"/>
          </a:xfrm>
          <a:prstGeom prst="roundRect">
            <a:avLst>
              <a:gd name="adj" fmla="val 24000"/>
            </a:avLst>
          </a:prstGeom>
          <a:solidFill>
            <a:schemeClr val="accent1">
              <a:alpha val="22000"/>
            </a:schemeClr>
          </a:solidFill>
          <a:ln/>
        </p:spPr>
      </p:sp>
      <p:pic>
        <p:nvPicPr>
          <p:cNvPr id="36" name="icon_333" descr="/tmp/claude-0/-home-claude/584731ee-e493-5c78-a637-0b254e057472/scratchpad/deck/img/i_bell.png">    </p:cNvPr>
          <p:cNvPicPr>
            <a:picLocks noChangeAspect="1"/>
          </p:cNvPicPr>
          <p:nvPr/>
        </p:nvPicPr>
        <p:blipFill>
          <a:blip r:embed="rId2"/>
          <a:stretch>
            <a:fillRect/>
          </a:stretch>
        </p:blipFill>
        <p:spPr>
          <a:xfrm>
            <a:off x="6494069" y="3613709"/>
            <a:ext cx="261518" cy="261518"/>
          </a:xfrm>
          <a:prstGeom prst="rect">
            <a:avLst/>
          </a:prstGeom>
        </p:spPr>
      </p:pic>
      <p:sp>
        <p:nvSpPr>
          <p:cNvPr id="37" name="text_334"/>
          <p:cNvSpPr txBox="1"/>
          <p:nvPr/>
        </p:nvSpPr>
        <p:spPr>
          <a:xfrm>
            <a:off x="7013448" y="3529584"/>
            <a:ext cx="4389120" cy="384048"/>
          </a:xfrm>
          <a:prstGeom prst="rect">
            <a:avLst/>
          </a:prstGeom>
          <a:noFill/>
          <a:ln/>
        </p:spPr>
        <p:txBody>
          <a:bodyPr wrap="square" lIns="0" tIns="0" rIns="0" bIns="0" rtlCol="0" anchor="t"/>
          <a:lstStyle/>
          <a:p>
            <a:pPr indent="0" marL="0">
              <a:buNone/>
            </a:pPr>
            <a:r>
              <a:rPr lang="en-US" sz="1700" b="1" dirty="0">
                <a:solidFill>
                  <a:schemeClr val="bg1"/>
                </a:solidFill>
              </a:rPr>
              <a:t>Where reminders reach the user</a:t>
            </a:r>
            <a:endParaRPr lang="en-US" sz="1700" dirty="0"/>
          </a:p>
        </p:txBody>
      </p:sp>
      <p:sp>
        <p:nvSpPr>
          <p:cNvPr id="38" name="icon_bg_335"/>
          <p:cNvSpPr/>
          <p:nvPr/>
        </p:nvSpPr>
        <p:spPr>
          <a:xfrm>
            <a:off x="6373368" y="4096512"/>
            <a:ext cx="365760" cy="365760"/>
          </a:xfrm>
          <a:prstGeom prst="roundRect">
            <a:avLst>
              <a:gd name="adj" fmla="val 24000"/>
            </a:avLst>
          </a:prstGeom>
          <a:solidFill>
            <a:schemeClr val="accent5">
              <a:alpha val="22000"/>
            </a:schemeClr>
          </a:solidFill>
          <a:ln/>
        </p:spPr>
      </p:sp>
      <p:pic>
        <p:nvPicPr>
          <p:cNvPr id="39" name="icon_336" descr="/tmp/claude-0/-home-claude/584731ee-e493-5c78-a637-0b254e057472/scratchpad/deck/img/i_alert.png">    </p:cNvPr>
          <p:cNvPicPr>
            <a:picLocks noChangeAspect="1"/>
          </p:cNvPicPr>
          <p:nvPr/>
        </p:nvPicPr>
        <p:blipFill>
          <a:blip r:embed="rId3"/>
          <a:stretch>
            <a:fillRect/>
          </a:stretch>
        </p:blipFill>
        <p:spPr>
          <a:xfrm>
            <a:off x="6461150" y="4184294"/>
            <a:ext cx="190195" cy="190195"/>
          </a:xfrm>
          <a:prstGeom prst="rect">
            <a:avLst/>
          </a:prstGeom>
        </p:spPr>
      </p:pic>
      <p:sp>
        <p:nvSpPr>
          <p:cNvPr id="40" name="text_337"/>
          <p:cNvSpPr txBox="1"/>
          <p:nvPr/>
        </p:nvSpPr>
        <p:spPr>
          <a:xfrm>
            <a:off x="6876288" y="4096512"/>
            <a:ext cx="4617720" cy="384048"/>
          </a:xfrm>
          <a:prstGeom prst="rect">
            <a:avLst/>
          </a:prstGeom>
          <a:noFill/>
          <a:ln/>
        </p:spPr>
        <p:txBody>
          <a:bodyPr wrap="square" lIns="0" tIns="0" rIns="0" bIns="0" rtlCol="0" anchor="ctr"/>
          <a:lstStyle/>
          <a:p>
            <a:pPr indent="0" marL="0">
              <a:buNone/>
            </a:pPr>
            <a:r>
              <a:rPr lang="en-US" sz="1200" b="1" dirty="0">
                <a:solidFill>
                  <a:schemeClr val="bg1"/>
                </a:solidFill>
              </a:rPr>
              <a:t>Bell + Critical card  </a:t>
            </a:r>
            <a:pPr indent="0" marL="0">
              <a:buNone/>
            </a:pPr>
            <a:r>
              <a:rPr lang="en-US" sz="1200" dirty="0">
                <a:solidFill>
                  <a:schemeClr val="bg2"/>
                </a:solidFill>
              </a:rPr>
              <a:t>on every screen, the moment a date gets close</a:t>
            </a:r>
            <a:endParaRPr lang="en-US" sz="1200" dirty="0"/>
          </a:p>
        </p:txBody>
      </p:sp>
      <p:sp>
        <p:nvSpPr>
          <p:cNvPr id="41" name="icon_bg_338"/>
          <p:cNvSpPr/>
          <p:nvPr/>
        </p:nvSpPr>
        <p:spPr>
          <a:xfrm>
            <a:off x="6373368" y="4599432"/>
            <a:ext cx="365760" cy="365760"/>
          </a:xfrm>
          <a:prstGeom prst="roundRect">
            <a:avLst>
              <a:gd name="adj" fmla="val 24000"/>
            </a:avLst>
          </a:prstGeom>
          <a:solidFill>
            <a:schemeClr val="accent1">
              <a:alpha val="22000"/>
            </a:schemeClr>
          </a:solidFill>
          <a:ln/>
        </p:spPr>
      </p:sp>
      <p:pic>
        <p:nvPicPr>
          <p:cNvPr id="42" name="icon_339" descr="/tmp/claude-0/-home-claude/584731ee-e493-5c78-a637-0b254e057472/scratchpad/deck/img/i_calendar.png">    </p:cNvPr>
          <p:cNvPicPr>
            <a:picLocks noChangeAspect="1"/>
          </p:cNvPicPr>
          <p:nvPr/>
        </p:nvPicPr>
        <p:blipFill>
          <a:blip r:embed="rId4"/>
          <a:stretch>
            <a:fillRect/>
          </a:stretch>
        </p:blipFill>
        <p:spPr>
          <a:xfrm>
            <a:off x="6461150" y="4687214"/>
            <a:ext cx="190195" cy="190195"/>
          </a:xfrm>
          <a:prstGeom prst="rect">
            <a:avLst/>
          </a:prstGeom>
        </p:spPr>
      </p:pic>
      <p:sp>
        <p:nvSpPr>
          <p:cNvPr id="43" name="text_340"/>
          <p:cNvSpPr txBox="1"/>
          <p:nvPr/>
        </p:nvSpPr>
        <p:spPr>
          <a:xfrm>
            <a:off x="6876288" y="4599432"/>
            <a:ext cx="4617720" cy="384048"/>
          </a:xfrm>
          <a:prstGeom prst="rect">
            <a:avLst/>
          </a:prstGeom>
          <a:noFill/>
          <a:ln/>
        </p:spPr>
        <p:txBody>
          <a:bodyPr wrap="square" lIns="0" tIns="0" rIns="0" bIns="0" rtlCol="0" anchor="ctr"/>
          <a:lstStyle/>
          <a:p>
            <a:pPr indent="0" marL="0">
              <a:buNone/>
            </a:pPr>
            <a:r>
              <a:rPr lang="en-US" sz="1200" b="1" dirty="0">
                <a:solidFill>
                  <a:schemeClr val="bg1"/>
                </a:solidFill>
              </a:rPr>
              <a:t>Reminders page  </a:t>
            </a:r>
            <a:pPr indent="0" marL="0">
              <a:buNone/>
            </a:pPr>
            <a:r>
              <a:rPr lang="en-US" sz="1200" dirty="0">
                <a:solidFill>
                  <a:schemeClr val="bg2"/>
                </a:solidFill>
              </a:rPr>
              <a:t>Upcoming / Overdue tabs and a deadline calendar</a:t>
            </a:r>
            <a:endParaRPr lang="en-US" sz="1200" dirty="0"/>
          </a:p>
        </p:txBody>
      </p:sp>
      <p:sp>
        <p:nvSpPr>
          <p:cNvPr id="44" name="icon_bg_341"/>
          <p:cNvSpPr/>
          <p:nvPr/>
        </p:nvSpPr>
        <p:spPr>
          <a:xfrm>
            <a:off x="6373368" y="5102352"/>
            <a:ext cx="365760" cy="365760"/>
          </a:xfrm>
          <a:prstGeom prst="roundRect">
            <a:avLst>
              <a:gd name="adj" fmla="val 24000"/>
            </a:avLst>
          </a:prstGeom>
          <a:solidFill>
            <a:schemeClr val="accent6">
              <a:alpha val="22000"/>
            </a:schemeClr>
          </a:solidFill>
          <a:ln/>
        </p:spPr>
      </p:sp>
      <p:pic>
        <p:nvPicPr>
          <p:cNvPr id="45" name="icon_342" descr="/tmp/claude-0/-home-claude/584731ee-e493-5c78-a637-0b254e057472/scratchpad/deck/img/i_download.png">    </p:cNvPr>
          <p:cNvPicPr>
            <a:picLocks noChangeAspect="1"/>
          </p:cNvPicPr>
          <p:nvPr/>
        </p:nvPicPr>
        <p:blipFill>
          <a:blip r:embed="rId5"/>
          <a:stretch>
            <a:fillRect/>
          </a:stretch>
        </p:blipFill>
        <p:spPr>
          <a:xfrm>
            <a:off x="6461150" y="5190134"/>
            <a:ext cx="190195" cy="190195"/>
          </a:xfrm>
          <a:prstGeom prst="rect">
            <a:avLst/>
          </a:prstGeom>
        </p:spPr>
      </p:pic>
      <p:sp>
        <p:nvSpPr>
          <p:cNvPr id="46" name="text_343"/>
          <p:cNvSpPr txBox="1"/>
          <p:nvPr/>
        </p:nvSpPr>
        <p:spPr>
          <a:xfrm>
            <a:off x="6876288" y="5102352"/>
            <a:ext cx="4617720" cy="384048"/>
          </a:xfrm>
          <a:prstGeom prst="rect">
            <a:avLst/>
          </a:prstGeom>
          <a:noFill/>
          <a:ln/>
        </p:spPr>
        <p:txBody>
          <a:bodyPr wrap="square" lIns="0" tIns="0" rIns="0" bIns="0" rtlCol="0" anchor="ctr"/>
          <a:lstStyle/>
          <a:p>
            <a:pPr indent="0" marL="0">
              <a:buNone/>
            </a:pPr>
            <a:r>
              <a:rPr lang="en-US" sz="1200" b="1" dirty="0">
                <a:solidFill>
                  <a:schemeClr val="bg1"/>
                </a:solidFill>
              </a:rPr>
              <a:t>.ics export  </a:t>
            </a:r>
            <a:pPr indent="0" marL="0">
              <a:buNone/>
            </a:pPr>
            <a:r>
              <a:rPr lang="en-US" sz="1200" dirty="0">
                <a:solidFill>
                  <a:schemeClr val="bg2"/>
                </a:solidFill>
              </a:rPr>
              <a:t>alarms 30 and 7 days before, in Google / Apple / Outlook</a:t>
            </a:r>
            <a:endParaRPr lang="en-US" sz="1200" dirty="0"/>
          </a:p>
        </p:txBody>
      </p:sp>
      <p:sp>
        <p:nvSpPr>
          <p:cNvPr id="47" name="icon_bg_344"/>
          <p:cNvSpPr/>
          <p:nvPr/>
        </p:nvSpPr>
        <p:spPr>
          <a:xfrm>
            <a:off x="6373368" y="5605272"/>
            <a:ext cx="365760" cy="365760"/>
          </a:xfrm>
          <a:prstGeom prst="roundRect">
            <a:avLst>
              <a:gd name="adj" fmla="val 24000"/>
            </a:avLst>
          </a:prstGeom>
          <a:solidFill>
            <a:schemeClr val="accent3">
              <a:alpha val="22000"/>
            </a:schemeClr>
          </a:solidFill>
          <a:ln/>
        </p:spPr>
      </p:sp>
      <p:pic>
        <p:nvPicPr>
          <p:cNvPr id="48" name="icon_345" descr="/tmp/claude-0/-home-claude/584731ee-e493-5c78-a637-0b254e057472/scratchpad/deck/img/i_check.png">    </p:cNvPr>
          <p:cNvPicPr>
            <a:picLocks noChangeAspect="1"/>
          </p:cNvPicPr>
          <p:nvPr/>
        </p:nvPicPr>
        <p:blipFill>
          <a:blip r:embed="rId6"/>
          <a:stretch>
            <a:fillRect/>
          </a:stretch>
        </p:blipFill>
        <p:spPr>
          <a:xfrm>
            <a:off x="6461150" y="5693054"/>
            <a:ext cx="190195" cy="190195"/>
          </a:xfrm>
          <a:prstGeom prst="rect">
            <a:avLst/>
          </a:prstGeom>
        </p:spPr>
      </p:pic>
      <p:sp>
        <p:nvSpPr>
          <p:cNvPr id="49" name="text_346"/>
          <p:cNvSpPr txBox="1"/>
          <p:nvPr/>
        </p:nvSpPr>
        <p:spPr>
          <a:xfrm>
            <a:off x="6876288" y="5605272"/>
            <a:ext cx="4617720" cy="384048"/>
          </a:xfrm>
          <a:prstGeom prst="rect">
            <a:avLst/>
          </a:prstGeom>
          <a:noFill/>
          <a:ln/>
        </p:spPr>
        <p:txBody>
          <a:bodyPr wrap="square" lIns="0" tIns="0" rIns="0" bIns="0" rtlCol="0" anchor="ctr"/>
          <a:lstStyle/>
          <a:p>
            <a:pPr indent="0" marL="0">
              <a:buNone/>
            </a:pPr>
            <a:r>
              <a:rPr lang="en-US" sz="1200" b="1" dirty="0">
                <a:solidFill>
                  <a:schemeClr val="bg1"/>
                </a:solidFill>
              </a:rPr>
              <a:t>Mark as completed  </a:t>
            </a:r>
            <a:pPr indent="0" marL="0">
              <a:buNone/>
            </a:pPr>
            <a:r>
              <a:rPr lang="en-US" sz="1200" dirty="0">
                <a:solidFill>
                  <a:schemeClr val="bg2"/>
                </a:solidFill>
              </a:rPr>
              <a:t>renewed items move to the Completed tab</a:t>
            </a:r>
            <a:endParaRPr lang="en-US" sz="1200" dirty="0"/>
          </a:p>
        </p:txBody>
      </p:sp>
      <p:sp>
        <p:nvSpPr>
          <p:cNvPr id="25" name="Slide Number Placeholder 0"/>
          <p:cNvSpPr>
            <a:spLocks noGrp="1"/>
          </p:cNvSpPr>
          <p:nvPr>
            <p:ph type="sldNum" sz="quarter" idx="4294967295"/>
          </p:nvPr>
        </p:nvSpPr>
        <p:spPr>
          <a:xfrm>
            <a:off x="11109960" y="6355080"/>
            <a:ext cx="530352"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bg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_347"/>
          <p:cNvSpPr txBox="1"/>
          <p:nvPr/>
        </p:nvSpPr>
        <p:spPr>
          <a:xfrm>
            <a:off x="566928" y="822960"/>
            <a:ext cx="4572000" cy="1920240"/>
          </a:xfrm>
          <a:prstGeom prst="rect">
            <a:avLst/>
          </a:prstGeom>
          <a:noFill/>
          <a:ln/>
        </p:spPr>
        <p:txBody>
          <a:bodyPr wrap="square" lIns="0" tIns="0" rIns="0" bIns="0" rtlCol="0" anchor="t"/>
          <a:lstStyle/>
          <a:p>
            <a:pPr indent="0" marL="0">
              <a:buNone/>
            </a:pPr>
            <a:r>
              <a:rPr lang="en-US" sz="14000" b="1" dirty="0">
                <a:solidFill>
                  <a:schemeClr val="accent1">
                    <a:alpha val="80000"/>
                  </a:schemeClr>
                </a:solidFill>
              </a:rPr>
              <a:t>02</a:t>
            </a:r>
            <a:endParaRPr lang="en-US" sz="14000" dirty="0"/>
          </a:p>
        </p:txBody>
      </p:sp>
      <p:sp>
        <p:nvSpPr>
          <p:cNvPr id="3" name="Text 0"/>
          <p:cNvSpPr/>
          <p:nvPr>
            <p:ph idx="100" type="title" hasCustomPrompt="1"/>
          </p:nvPr>
        </p:nvSpPr>
        <p:spPr>
          <a:xfrm>
            <a:off x="640080" y="2788920"/>
            <a:ext cx="6949440" cy="914400"/>
          </a:xfrm>
          <a:prstGeom prst="rect">
            <a:avLst/>
          </a:prstGeom>
          <a:noFill/>
          <a:ln/>
        </p:spPr>
        <p:txBody>
          <a:bodyPr wrap="square" lIns="0" tIns="0" rIns="0" bIns="0" rtlCol="0" anchor="t"/>
          <a:lstStyle/>
          <a:p>
            <a:pPr algn="l" indent="0" marL="0">
              <a:buNone/>
            </a:pPr>
            <a:r>
              <a:rPr lang="en-US" sz="4800" b="1" dirty="0">
                <a:solidFill>
                  <a:schemeClr val="bg1"/>
                </a:solidFill>
              </a:rPr>
              <a:t>Website Roadmap</a:t>
            </a:r>
            <a:endParaRPr lang="en-US" sz="4800" dirty="0"/>
          </a:p>
        </p:txBody>
      </p:sp>
      <p:sp>
        <p:nvSpPr>
          <p:cNvPr id="4" name="Text 0"/>
          <p:cNvSpPr/>
          <p:nvPr>
            <p:ph idx="101" type="body" hasCustomPrompt="1"/>
          </p:nvPr>
        </p:nvSpPr>
        <p:spPr>
          <a:xfrm>
            <a:off x="640080" y="3794760"/>
            <a:ext cx="6400800" cy="822960"/>
          </a:xfrm>
          <a:prstGeom prst="rect">
            <a:avLst/>
          </a:prstGeom>
          <a:noFill/>
          <a:ln/>
        </p:spPr>
        <p:txBody>
          <a:bodyPr wrap="square" lIns="0" tIns="0" rIns="0" bIns="0" rtlCol="0" anchor="t"/>
          <a:lstStyle/>
          <a:p>
            <a:pPr algn="l" indent="0" marL="0">
              <a:buNone/>
            </a:pPr>
            <a:r>
              <a:rPr lang="en-US" sz="1800" dirty="0">
                <a:solidFill>
                  <a:schemeClr val="bg2"/>
                </a:solidFill>
              </a:rPr>
              <a:t>The screens a user moves through, and how the build has progressed</a:t>
            </a:r>
            <a:endParaRPr lang="en-US" sz="1800" dirty="0"/>
          </a:p>
        </p:txBody>
      </p:sp>
      <p:sp>
        <p:nvSpPr>
          <p:cNvPr id="5" name="text_348"/>
          <p:cNvSpPr txBox="1"/>
          <p:nvPr/>
        </p:nvSpPr>
        <p:spPr>
          <a:xfrm>
            <a:off x="640080" y="4846320"/>
            <a:ext cx="3657600" cy="274320"/>
          </a:xfrm>
          <a:prstGeom prst="rect">
            <a:avLst/>
          </a:prstGeom>
          <a:noFill/>
          <a:ln/>
        </p:spPr>
        <p:txBody>
          <a:bodyPr wrap="square" lIns="0" tIns="0" rIns="0" bIns="0" rtlCol="0" anchor="t"/>
          <a:lstStyle/>
          <a:p>
            <a:pPr indent="0" marL="0">
              <a:buNone/>
            </a:pPr>
            <a:r>
              <a:rPr lang="en-US" sz="1100" b="1" spc="200" kern="0" dirty="0">
                <a:solidFill>
                  <a:schemeClr val="accent2"/>
                </a:solidFill>
              </a:rPr>
              <a:t>IN THIS SECTION</a:t>
            </a:r>
            <a:endParaRPr lang="en-US" sz="1100" dirty="0"/>
          </a:p>
        </p:txBody>
      </p:sp>
      <p:sp>
        <p:nvSpPr>
          <p:cNvPr id="6" name="pill_349"/>
          <p:cNvSpPr/>
          <p:nvPr/>
        </p:nvSpPr>
        <p:spPr>
          <a:xfrm>
            <a:off x="640080" y="5212080"/>
            <a:ext cx="1078992" cy="384048"/>
          </a:xfrm>
          <a:prstGeom prst="roundRect">
            <a:avLst>
              <a:gd name="adj" fmla="val 50000"/>
            </a:avLst>
          </a:prstGeom>
          <a:solidFill>
            <a:schemeClr val="accent1">
              <a:alpha val="22000"/>
            </a:schemeClr>
          </a:solidFill>
          <a:ln/>
        </p:spPr>
      </p:sp>
      <p:sp>
        <p:nvSpPr>
          <p:cNvPr id="7" name="text_350"/>
          <p:cNvSpPr txBox="1"/>
          <p:nvPr/>
        </p:nvSpPr>
        <p:spPr>
          <a:xfrm>
            <a:off x="640080" y="5212080"/>
            <a:ext cx="1078992" cy="384048"/>
          </a:xfrm>
          <a:prstGeom prst="rect">
            <a:avLst/>
          </a:prstGeom>
          <a:noFill/>
          <a:ln/>
        </p:spPr>
        <p:txBody>
          <a:bodyPr wrap="square" lIns="0" tIns="0" rIns="0" bIns="0" rtlCol="0" anchor="ctr"/>
          <a:lstStyle/>
          <a:p>
            <a:pPr algn="ctr" indent="0" marL="0">
              <a:buNone/>
            </a:pPr>
            <a:r>
              <a:rPr lang="en-US" sz="1200" b="1" dirty="0">
                <a:solidFill>
                  <a:schemeClr val="bg1"/>
                </a:solidFill>
              </a:rPr>
              <a:t>Site map</a:t>
            </a:r>
            <a:endParaRPr lang="en-US" sz="1200" dirty="0"/>
          </a:p>
        </p:txBody>
      </p:sp>
      <p:sp>
        <p:nvSpPr>
          <p:cNvPr id="8" name="pill_351"/>
          <p:cNvSpPr/>
          <p:nvPr/>
        </p:nvSpPr>
        <p:spPr>
          <a:xfrm>
            <a:off x="1856232" y="5212080"/>
            <a:ext cx="1426464" cy="384048"/>
          </a:xfrm>
          <a:prstGeom prst="roundRect">
            <a:avLst>
              <a:gd name="adj" fmla="val 50000"/>
            </a:avLst>
          </a:prstGeom>
          <a:solidFill>
            <a:schemeClr val="accent1">
              <a:alpha val="22000"/>
            </a:schemeClr>
          </a:solidFill>
          <a:ln/>
        </p:spPr>
      </p:sp>
      <p:sp>
        <p:nvSpPr>
          <p:cNvPr id="9" name="text_352"/>
          <p:cNvSpPr txBox="1"/>
          <p:nvPr/>
        </p:nvSpPr>
        <p:spPr>
          <a:xfrm>
            <a:off x="1856232" y="5212080"/>
            <a:ext cx="1426464" cy="384048"/>
          </a:xfrm>
          <a:prstGeom prst="rect">
            <a:avLst/>
          </a:prstGeom>
          <a:noFill/>
          <a:ln/>
        </p:spPr>
        <p:txBody>
          <a:bodyPr wrap="square" lIns="0" tIns="0" rIns="0" bIns="0" rtlCol="0" anchor="ctr"/>
          <a:lstStyle/>
          <a:p>
            <a:pPr algn="ctr" indent="0" marL="0">
              <a:buNone/>
            </a:pPr>
            <a:r>
              <a:rPr lang="en-US" sz="1200" b="1" dirty="0">
                <a:solidFill>
                  <a:schemeClr val="bg1"/>
                </a:solidFill>
              </a:rPr>
              <a:t>User journey</a:t>
            </a:r>
            <a:endParaRPr lang="en-US" sz="1200" dirty="0"/>
          </a:p>
        </p:txBody>
      </p:sp>
      <p:sp>
        <p:nvSpPr>
          <p:cNvPr id="10" name="pill_353"/>
          <p:cNvSpPr/>
          <p:nvPr/>
        </p:nvSpPr>
        <p:spPr>
          <a:xfrm>
            <a:off x="3419856" y="5212080"/>
            <a:ext cx="1600200" cy="384048"/>
          </a:xfrm>
          <a:prstGeom prst="roundRect">
            <a:avLst>
              <a:gd name="adj" fmla="val 50000"/>
            </a:avLst>
          </a:prstGeom>
          <a:solidFill>
            <a:schemeClr val="accent1">
              <a:alpha val="22000"/>
            </a:schemeClr>
          </a:solidFill>
          <a:ln/>
        </p:spPr>
      </p:sp>
      <p:sp>
        <p:nvSpPr>
          <p:cNvPr id="11" name="text_354"/>
          <p:cNvSpPr txBox="1"/>
          <p:nvPr/>
        </p:nvSpPr>
        <p:spPr>
          <a:xfrm>
            <a:off x="3419856" y="5212080"/>
            <a:ext cx="1600200" cy="384048"/>
          </a:xfrm>
          <a:prstGeom prst="rect">
            <a:avLst/>
          </a:prstGeom>
          <a:noFill/>
          <a:ln/>
        </p:spPr>
        <p:txBody>
          <a:bodyPr wrap="square" lIns="0" tIns="0" rIns="0" bIns="0" rtlCol="0" anchor="ctr"/>
          <a:lstStyle/>
          <a:p>
            <a:pPr algn="ctr" indent="0" marL="0">
              <a:buNone/>
            </a:pPr>
            <a:r>
              <a:rPr lang="en-US" sz="1200" b="1" dirty="0">
                <a:solidFill>
                  <a:schemeClr val="bg1"/>
                </a:solidFill>
              </a:rPr>
              <a:t>Build timeline</a:t>
            </a:r>
            <a:endParaRPr lang="en-US" sz="1200" dirty="0"/>
          </a:p>
        </p:txBody>
      </p:sp>
      <p:pic>
        <p:nvPicPr>
          <p:cNvPr id="12" name="logo_watermark_355" descr="/tmp/claude-0/-home-claude/584731ee-e493-5c78-a637-0b254e057472/scratchpad/deck/img/logo.png">    </p:cNvPr>
          <p:cNvPicPr>
            <a:picLocks noChangeAspect="1"/>
          </p:cNvPicPr>
          <p:nvPr/>
        </p:nvPicPr>
        <p:blipFill>
          <a:blip r:embed="rId1">
            <a:alphaModFix amt="18000"/>
          </a:blip>
          <a:stretch>
            <a:fillRect/>
          </a:stretch>
        </p:blipFill>
        <p:spPr>
          <a:xfrm>
            <a:off x="8229600" y="1463040"/>
            <a:ext cx="3291840" cy="329184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8229600" cy="274320"/>
          </a:xfrm>
          <a:prstGeom prst="rect">
            <a:avLst/>
          </a:prstGeom>
          <a:noFill/>
          <a:ln/>
        </p:spPr>
        <p:txBody>
          <a:bodyPr wrap="square" lIns="0" tIns="0" rIns="0" bIns="0" rtlCol="0" anchor="ctr"/>
          <a:lstStyle/>
          <a:p>
            <a:pPr algn="l" indent="0" marL="0">
              <a:buNone/>
            </a:pPr>
            <a:r>
              <a:rPr lang="en-US" sz="1200" b="1" spc="200" kern="0" dirty="0">
                <a:solidFill>
                  <a:schemeClr val="accent2"/>
                </a:solidFill>
              </a:rPr>
              <a:t>02 · WEBSITE ROADMAP</a:t>
            </a:r>
            <a:endParaRPr lang="en-US" sz="1200" dirty="0"/>
          </a:p>
        </p:txBody>
      </p:sp>
      <p:sp>
        <p:nvSpPr>
          <p:cNvPr id="3" name="Text 0"/>
          <p:cNvSpPr/>
          <p:nvPr>
            <p:ph idx="101" type="title" hasCustomPrompt="1"/>
          </p:nvPr>
        </p:nvSpPr>
        <p:spPr>
          <a:xfrm>
            <a:off x="548640" y="603504"/>
            <a:ext cx="11064240" cy="685800"/>
          </a:xfrm>
          <a:prstGeom prst="rect">
            <a:avLst/>
          </a:prstGeom>
          <a:noFill/>
          <a:ln/>
        </p:spPr>
        <p:txBody>
          <a:bodyPr wrap="square" lIns="0" tIns="0" rIns="0" bIns="0" rtlCol="0" anchor="ctr"/>
          <a:lstStyle/>
          <a:p>
            <a:pPr algn="l" indent="0" marL="0">
              <a:buNone/>
            </a:pPr>
            <a:r>
              <a:rPr lang="en-US" sz="3200" b="1" dirty="0">
                <a:solidFill>
                  <a:schemeClr val="bg1"/>
                </a:solidFill>
              </a:rPr>
              <a:t>Four screens, one simple journey</a:t>
            </a:r>
            <a:endParaRPr lang="en-US" sz="3200" dirty="0"/>
          </a:p>
        </p:txBody>
      </p:sp>
      <p:sp>
        <p:nvSpPr>
          <p:cNvPr id="4" name="global_bar_356"/>
          <p:cNvSpPr/>
          <p:nvPr/>
        </p:nvSpPr>
        <p:spPr>
          <a:xfrm>
            <a:off x="548640" y="1481328"/>
            <a:ext cx="11064240" cy="566928"/>
          </a:xfrm>
          <a:prstGeom prst="roundRect">
            <a:avLst>
              <a:gd name="adj" fmla="val 19355"/>
            </a:avLst>
          </a:prstGeom>
          <a:solidFill>
            <a:srgbClr val="0E1438"/>
          </a:solidFill>
          <a:ln w="9525">
            <a:solidFill>
              <a:srgbClr val="2B3470"/>
            </a:solidFill>
            <a:prstDash val="solid"/>
          </a:ln>
        </p:spPr>
      </p:sp>
      <p:sp>
        <p:nvSpPr>
          <p:cNvPr id="5" name="text_357"/>
          <p:cNvSpPr txBox="1"/>
          <p:nvPr/>
        </p:nvSpPr>
        <p:spPr>
          <a:xfrm>
            <a:off x="777240" y="1481328"/>
            <a:ext cx="2011680" cy="566928"/>
          </a:xfrm>
          <a:prstGeom prst="rect">
            <a:avLst/>
          </a:prstGeom>
          <a:noFill/>
          <a:ln/>
        </p:spPr>
        <p:txBody>
          <a:bodyPr wrap="square" lIns="0" tIns="0" rIns="0" bIns="0" rtlCol="0" anchor="ctr"/>
          <a:lstStyle/>
          <a:p>
            <a:pPr indent="0" marL="0">
              <a:buNone/>
            </a:pPr>
            <a:r>
              <a:rPr lang="en-US" sz="1100" b="1" spc="200" kern="0" dirty="0">
                <a:solidFill>
                  <a:schemeClr val="accent2"/>
                </a:solidFill>
              </a:rPr>
              <a:t>ON EVERY SCREEN</a:t>
            </a:r>
            <a:endParaRPr lang="en-US" sz="1100" dirty="0"/>
          </a:p>
        </p:txBody>
      </p:sp>
      <p:sp>
        <p:nvSpPr>
          <p:cNvPr id="6" name="pill_358"/>
          <p:cNvSpPr/>
          <p:nvPr/>
        </p:nvSpPr>
        <p:spPr>
          <a:xfrm>
            <a:off x="2788920" y="1618488"/>
            <a:ext cx="2194560" cy="292608"/>
          </a:xfrm>
          <a:prstGeom prst="roundRect">
            <a:avLst>
              <a:gd name="adj" fmla="val 50000"/>
            </a:avLst>
          </a:prstGeom>
          <a:solidFill>
            <a:schemeClr val="accent1">
              <a:alpha val="22000"/>
            </a:schemeClr>
          </a:solidFill>
          <a:ln/>
        </p:spPr>
      </p:sp>
      <p:sp>
        <p:nvSpPr>
          <p:cNvPr id="7" name="text_359"/>
          <p:cNvSpPr txBox="1"/>
          <p:nvPr/>
        </p:nvSpPr>
        <p:spPr>
          <a:xfrm>
            <a:off x="2788920" y="1618488"/>
            <a:ext cx="2194560" cy="292608"/>
          </a:xfrm>
          <a:prstGeom prst="rect">
            <a:avLst/>
          </a:prstGeom>
          <a:noFill/>
          <a:ln/>
        </p:spPr>
        <p:txBody>
          <a:bodyPr wrap="square" lIns="0" tIns="0" rIns="0" bIns="0" rtlCol="0" anchor="ctr"/>
          <a:lstStyle/>
          <a:p>
            <a:pPr algn="ctr" indent="0" marL="0">
              <a:buNone/>
            </a:pPr>
            <a:r>
              <a:rPr lang="en-US" sz="1150" b="1" dirty="0">
                <a:solidFill>
                  <a:srgbClr val="DDE0FF"/>
                </a:solidFill>
              </a:rPr>
              <a:t>Sidebar navigation</a:t>
            </a:r>
            <a:endParaRPr lang="en-US" sz="1150" dirty="0"/>
          </a:p>
        </p:txBody>
      </p:sp>
      <p:sp>
        <p:nvSpPr>
          <p:cNvPr id="8" name="pill_360"/>
          <p:cNvSpPr/>
          <p:nvPr/>
        </p:nvSpPr>
        <p:spPr>
          <a:xfrm>
            <a:off x="5148072" y="1618488"/>
            <a:ext cx="2011680" cy="292608"/>
          </a:xfrm>
          <a:prstGeom prst="roundRect">
            <a:avLst>
              <a:gd name="adj" fmla="val 50000"/>
            </a:avLst>
          </a:prstGeom>
          <a:solidFill>
            <a:schemeClr val="accent1">
              <a:alpha val="22000"/>
            </a:schemeClr>
          </a:solidFill>
          <a:ln/>
        </p:spPr>
      </p:sp>
      <p:sp>
        <p:nvSpPr>
          <p:cNvPr id="9" name="text_361"/>
          <p:cNvSpPr txBox="1"/>
          <p:nvPr/>
        </p:nvSpPr>
        <p:spPr>
          <a:xfrm>
            <a:off x="5148072" y="1618488"/>
            <a:ext cx="2011680" cy="292608"/>
          </a:xfrm>
          <a:prstGeom prst="rect">
            <a:avLst/>
          </a:prstGeom>
          <a:noFill/>
          <a:ln/>
        </p:spPr>
        <p:txBody>
          <a:bodyPr wrap="square" lIns="0" tIns="0" rIns="0" bIns="0" rtlCol="0" anchor="ctr"/>
          <a:lstStyle/>
          <a:p>
            <a:pPr algn="ctr" indent="0" marL="0">
              <a:buNone/>
            </a:pPr>
            <a:r>
              <a:rPr lang="en-US" sz="1150" b="1" dirty="0">
                <a:solidFill>
                  <a:srgbClr val="DDE0FF"/>
                </a:solidFill>
              </a:rPr>
              <a:t>Search documents</a:t>
            </a:r>
            <a:endParaRPr lang="en-US" sz="1150" dirty="0"/>
          </a:p>
        </p:txBody>
      </p:sp>
      <p:sp>
        <p:nvSpPr>
          <p:cNvPr id="10" name="pill_362"/>
          <p:cNvSpPr/>
          <p:nvPr/>
        </p:nvSpPr>
        <p:spPr>
          <a:xfrm>
            <a:off x="7324344" y="1618488"/>
            <a:ext cx="1920240" cy="292608"/>
          </a:xfrm>
          <a:prstGeom prst="roundRect">
            <a:avLst>
              <a:gd name="adj" fmla="val 50000"/>
            </a:avLst>
          </a:prstGeom>
          <a:solidFill>
            <a:schemeClr val="accent1">
              <a:alpha val="22000"/>
            </a:schemeClr>
          </a:solidFill>
          <a:ln/>
        </p:spPr>
      </p:sp>
      <p:sp>
        <p:nvSpPr>
          <p:cNvPr id="11" name="text_363"/>
          <p:cNvSpPr txBox="1"/>
          <p:nvPr/>
        </p:nvSpPr>
        <p:spPr>
          <a:xfrm>
            <a:off x="7324344" y="1618488"/>
            <a:ext cx="1920240" cy="292608"/>
          </a:xfrm>
          <a:prstGeom prst="rect">
            <a:avLst/>
          </a:prstGeom>
          <a:noFill/>
          <a:ln/>
        </p:spPr>
        <p:txBody>
          <a:bodyPr wrap="square" lIns="0" tIns="0" rIns="0" bIns="0" rtlCol="0" anchor="ctr"/>
          <a:lstStyle/>
          <a:p>
            <a:pPr algn="ctr" indent="0" marL="0">
              <a:buNone/>
            </a:pPr>
            <a:r>
              <a:rPr lang="en-US" sz="1150" b="1" dirty="0">
                <a:solidFill>
                  <a:srgbClr val="DDE0FF"/>
                </a:solidFill>
              </a:rPr>
              <a:t>Notification bell</a:t>
            </a:r>
            <a:endParaRPr lang="en-US" sz="1150" dirty="0"/>
          </a:p>
        </p:txBody>
      </p:sp>
      <p:sp>
        <p:nvSpPr>
          <p:cNvPr id="12" name="pill_364"/>
          <p:cNvSpPr/>
          <p:nvPr/>
        </p:nvSpPr>
        <p:spPr>
          <a:xfrm>
            <a:off x="9409176" y="1618488"/>
            <a:ext cx="1554480" cy="292608"/>
          </a:xfrm>
          <a:prstGeom prst="roundRect">
            <a:avLst>
              <a:gd name="adj" fmla="val 50000"/>
            </a:avLst>
          </a:prstGeom>
          <a:solidFill>
            <a:schemeClr val="accent1">
              <a:alpha val="22000"/>
            </a:schemeClr>
          </a:solidFill>
          <a:ln/>
        </p:spPr>
      </p:sp>
      <p:sp>
        <p:nvSpPr>
          <p:cNvPr id="13" name="text_365"/>
          <p:cNvSpPr txBox="1"/>
          <p:nvPr/>
        </p:nvSpPr>
        <p:spPr>
          <a:xfrm>
            <a:off x="9409176" y="1618488"/>
            <a:ext cx="1554480" cy="292608"/>
          </a:xfrm>
          <a:prstGeom prst="rect">
            <a:avLst/>
          </a:prstGeom>
          <a:noFill/>
          <a:ln/>
        </p:spPr>
        <p:txBody>
          <a:bodyPr wrap="square" lIns="0" tIns="0" rIns="0" bIns="0" rtlCol="0" anchor="ctr"/>
          <a:lstStyle/>
          <a:p>
            <a:pPr algn="ctr" indent="0" marL="0">
              <a:buNone/>
            </a:pPr>
            <a:r>
              <a:rPr lang="en-US" sz="1150" b="1" dirty="0">
                <a:solidFill>
                  <a:srgbClr val="DDE0FF"/>
                </a:solidFill>
              </a:rPr>
              <a:t>Profile menu</a:t>
            </a:r>
            <a:endParaRPr lang="en-US" sz="1150" dirty="0"/>
          </a:p>
        </p:txBody>
      </p:sp>
      <p:sp>
        <p:nvSpPr>
          <p:cNvPr id="14" name="screen_card_366"/>
          <p:cNvSpPr/>
          <p:nvPr/>
        </p:nvSpPr>
        <p:spPr>
          <a:xfrm>
            <a:off x="548640" y="2286000"/>
            <a:ext cx="2628900" cy="3840480"/>
          </a:xfrm>
          <a:prstGeom prst="roundRect">
            <a:avLst>
              <a:gd name="adj" fmla="val 4174"/>
            </a:avLst>
          </a:prstGeom>
          <a:solidFill>
            <a:schemeClr val="tx2"/>
          </a:solidFill>
          <a:ln w="9525">
            <a:solidFill>
              <a:srgbClr val="2B3470"/>
            </a:solidFill>
            <a:prstDash val="solid"/>
          </a:ln>
        </p:spPr>
      </p:sp>
      <p:pic>
        <p:nvPicPr>
          <p:cNvPr id="15" name="thumb_367" descr="/tmp/claude-0/-home-claude/584731ee-e493-5c78-a637-0b254e057472/scratchpad/deck/img/upload.png">    </p:cNvPr>
          <p:cNvPicPr>
            <a:picLocks noChangeAspect="1"/>
          </p:cNvPicPr>
          <p:nvPr/>
        </p:nvPicPr>
        <p:blipFill>
          <a:blip r:embed="rId1"/>
          <a:stretch>
            <a:fillRect/>
          </a:stretch>
        </p:blipFill>
        <p:spPr>
          <a:xfrm>
            <a:off x="658368" y="2395728"/>
            <a:ext cx="2409444" cy="1505902"/>
          </a:xfrm>
          <a:prstGeom prst="rect">
            <a:avLst/>
          </a:prstGeom>
        </p:spPr>
      </p:pic>
      <p:sp>
        <p:nvSpPr>
          <p:cNvPr id="16" name="num_368"/>
          <p:cNvSpPr/>
          <p:nvPr/>
        </p:nvSpPr>
        <p:spPr>
          <a:xfrm>
            <a:off x="731520" y="4069080"/>
            <a:ext cx="438912" cy="438912"/>
          </a:xfrm>
          <a:prstGeom prst="ellipse">
            <a:avLst/>
          </a:prstGeom>
          <a:solidFill>
            <a:schemeClr val="accent2"/>
          </a:solidFill>
          <a:ln/>
        </p:spPr>
      </p:sp>
      <p:sp>
        <p:nvSpPr>
          <p:cNvPr id="17" name="text_369"/>
          <p:cNvSpPr txBox="1"/>
          <p:nvPr/>
        </p:nvSpPr>
        <p:spPr>
          <a:xfrm>
            <a:off x="731520" y="4069080"/>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18" name="text_370"/>
          <p:cNvSpPr txBox="1"/>
          <p:nvPr/>
        </p:nvSpPr>
        <p:spPr>
          <a:xfrm>
            <a:off x="1280160" y="4096512"/>
            <a:ext cx="1805940" cy="384048"/>
          </a:xfrm>
          <a:prstGeom prst="rect">
            <a:avLst/>
          </a:prstGeom>
          <a:noFill/>
          <a:ln/>
        </p:spPr>
        <p:txBody>
          <a:bodyPr wrap="square" lIns="0" tIns="0" rIns="0" bIns="0" rtlCol="0" anchor="ctr"/>
          <a:lstStyle/>
          <a:p>
            <a:pPr indent="0" marL="0">
              <a:buNone/>
            </a:pPr>
            <a:r>
              <a:rPr lang="en-US" sz="1800" b="1" dirty="0">
                <a:solidFill>
                  <a:schemeClr val="bg1"/>
                </a:solidFill>
              </a:rPr>
              <a:t>Upload</a:t>
            </a:r>
            <a:endParaRPr lang="en-US" sz="1800" dirty="0"/>
          </a:p>
        </p:txBody>
      </p:sp>
      <p:sp>
        <p:nvSpPr>
          <p:cNvPr id="19" name="text_371"/>
          <p:cNvSpPr txBox="1"/>
          <p:nvPr/>
        </p:nvSpPr>
        <p:spPr>
          <a:xfrm>
            <a:off x="731520" y="4681728"/>
            <a:ext cx="2263140" cy="731520"/>
          </a:xfrm>
          <a:prstGeom prst="rect">
            <a:avLst/>
          </a:prstGeom>
          <a:noFill/>
          <a:ln/>
        </p:spPr>
        <p:txBody>
          <a:bodyPr wrap="square" lIns="0" tIns="0" rIns="0" bIns="0" rtlCol="0" anchor="t"/>
          <a:lstStyle/>
          <a:p>
            <a:pPr indent="0" marL="0">
              <a:buNone/>
            </a:pPr>
            <a:r>
              <a:rPr lang="en-US" sz="1400" dirty="0">
                <a:solidFill>
                  <a:schemeClr val="bg2"/>
                </a:solidFill>
              </a:rPr>
              <a:t>Drag &amp; drop files, auto-extract, review and save</a:t>
            </a:r>
            <a:endParaRPr lang="en-US" sz="1400" dirty="0"/>
          </a:p>
        </p:txBody>
      </p:sp>
      <p:sp>
        <p:nvSpPr>
          <p:cNvPr id="20" name="text_372"/>
          <p:cNvSpPr txBox="1"/>
          <p:nvPr/>
        </p:nvSpPr>
        <p:spPr>
          <a:xfrm>
            <a:off x="731520" y="5413248"/>
            <a:ext cx="914400" cy="219456"/>
          </a:xfrm>
          <a:prstGeom prst="rect">
            <a:avLst/>
          </a:prstGeom>
          <a:noFill/>
          <a:ln/>
        </p:spPr>
        <p:txBody>
          <a:bodyPr wrap="square" lIns="0" tIns="0" rIns="0" bIns="0" rtlCol="0" anchor="t"/>
          <a:lstStyle/>
          <a:p>
            <a:pPr indent="0" marL="0">
              <a:buNone/>
            </a:pPr>
            <a:r>
              <a:rPr lang="en-US" sz="1000" b="1" spc="200" kern="0" dirty="0">
                <a:solidFill>
                  <a:schemeClr val="accent2"/>
                </a:solidFill>
              </a:rPr>
              <a:t>CODE</a:t>
            </a:r>
            <a:endParaRPr lang="en-US" sz="1000" dirty="0"/>
          </a:p>
        </p:txBody>
      </p:sp>
      <p:sp>
        <p:nvSpPr>
          <p:cNvPr id="21" name="pill_373"/>
          <p:cNvSpPr/>
          <p:nvPr/>
        </p:nvSpPr>
        <p:spPr>
          <a:xfrm>
            <a:off x="731520" y="5650992"/>
            <a:ext cx="2263140" cy="292608"/>
          </a:xfrm>
          <a:prstGeom prst="roundRect">
            <a:avLst>
              <a:gd name="adj" fmla="val 50000"/>
            </a:avLst>
          </a:prstGeom>
          <a:solidFill>
            <a:schemeClr val="accent1">
              <a:alpha val="22000"/>
            </a:schemeClr>
          </a:solidFill>
          <a:ln/>
        </p:spPr>
      </p:sp>
      <p:sp>
        <p:nvSpPr>
          <p:cNvPr id="22" name="text_374"/>
          <p:cNvSpPr txBox="1"/>
          <p:nvPr/>
        </p:nvSpPr>
        <p:spPr>
          <a:xfrm>
            <a:off x="731520" y="5650992"/>
            <a:ext cx="2263140" cy="292608"/>
          </a:xfrm>
          <a:prstGeom prst="rect">
            <a:avLst/>
          </a:prstGeom>
          <a:noFill/>
          <a:ln/>
        </p:spPr>
        <p:txBody>
          <a:bodyPr wrap="square" lIns="0" tIns="0" rIns="0" bIns="0" rtlCol="0" anchor="ctr"/>
          <a:lstStyle/>
          <a:p>
            <a:pPr algn="ctr" indent="0" marL="0">
              <a:buNone/>
            </a:pPr>
            <a:r>
              <a:rPr lang="en-US" sz="1100" b="1" dirty="0">
                <a:solidFill>
                  <a:srgbClr val="DDE0FF"/>
                </a:solidFill>
              </a:rPr>
              <a:t>page_upload()</a:t>
            </a:r>
            <a:endParaRPr lang="en-US" sz="1100" dirty="0"/>
          </a:p>
        </p:txBody>
      </p:sp>
      <p:pic>
        <p:nvPicPr>
          <p:cNvPr id="23" name="arrow_375" descr="/tmp/claude-0/-home-claude/584731ee-e493-5c78-a637-0b254e057472/scratchpad/deck/img/i_arrow.png">    </p:cNvPr>
          <p:cNvPicPr>
            <a:picLocks noChangeAspect="1"/>
          </p:cNvPicPr>
          <p:nvPr/>
        </p:nvPicPr>
        <p:blipFill>
          <a:blip r:embed="rId2"/>
          <a:stretch>
            <a:fillRect/>
          </a:stretch>
        </p:blipFill>
        <p:spPr>
          <a:xfrm>
            <a:off x="3195828" y="3063240"/>
            <a:ext cx="146304" cy="146304"/>
          </a:xfrm>
          <a:prstGeom prst="rect">
            <a:avLst/>
          </a:prstGeom>
        </p:spPr>
      </p:pic>
      <p:sp>
        <p:nvSpPr>
          <p:cNvPr id="24" name="screen_card_376"/>
          <p:cNvSpPr/>
          <p:nvPr/>
        </p:nvSpPr>
        <p:spPr>
          <a:xfrm>
            <a:off x="3360420" y="2286000"/>
            <a:ext cx="2628900" cy="3840480"/>
          </a:xfrm>
          <a:prstGeom prst="roundRect">
            <a:avLst>
              <a:gd name="adj" fmla="val 4174"/>
            </a:avLst>
          </a:prstGeom>
          <a:solidFill>
            <a:schemeClr val="tx2"/>
          </a:solidFill>
          <a:ln w="9525">
            <a:solidFill>
              <a:srgbClr val="2B3470"/>
            </a:solidFill>
            <a:prstDash val="solid"/>
          </a:ln>
        </p:spPr>
      </p:sp>
      <p:pic>
        <p:nvPicPr>
          <p:cNvPr id="25" name="thumb_377" descr="/tmp/claude-0/-home-claude/584731ee-e493-5c78-a637-0b254e057472/scratchpad/deck/img/documents.png">    </p:cNvPr>
          <p:cNvPicPr>
            <a:picLocks noChangeAspect="1"/>
          </p:cNvPicPr>
          <p:nvPr/>
        </p:nvPicPr>
        <p:blipFill>
          <a:blip r:embed="rId3"/>
          <a:stretch>
            <a:fillRect/>
          </a:stretch>
        </p:blipFill>
        <p:spPr>
          <a:xfrm>
            <a:off x="3470148" y="2395728"/>
            <a:ext cx="2409444" cy="1505902"/>
          </a:xfrm>
          <a:prstGeom prst="rect">
            <a:avLst/>
          </a:prstGeom>
        </p:spPr>
      </p:pic>
      <p:sp>
        <p:nvSpPr>
          <p:cNvPr id="26" name="num_378"/>
          <p:cNvSpPr/>
          <p:nvPr/>
        </p:nvSpPr>
        <p:spPr>
          <a:xfrm>
            <a:off x="3543300" y="4069080"/>
            <a:ext cx="438912" cy="438912"/>
          </a:xfrm>
          <a:prstGeom prst="ellipse">
            <a:avLst/>
          </a:prstGeom>
          <a:solidFill>
            <a:schemeClr val="accent2"/>
          </a:solidFill>
          <a:ln/>
        </p:spPr>
      </p:sp>
      <p:sp>
        <p:nvSpPr>
          <p:cNvPr id="27" name="text_379"/>
          <p:cNvSpPr txBox="1"/>
          <p:nvPr/>
        </p:nvSpPr>
        <p:spPr>
          <a:xfrm>
            <a:off x="3543300" y="4069080"/>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28" name="text_380"/>
          <p:cNvSpPr txBox="1"/>
          <p:nvPr/>
        </p:nvSpPr>
        <p:spPr>
          <a:xfrm>
            <a:off x="4091940" y="4096512"/>
            <a:ext cx="1805940" cy="384048"/>
          </a:xfrm>
          <a:prstGeom prst="rect">
            <a:avLst/>
          </a:prstGeom>
          <a:noFill/>
          <a:ln/>
        </p:spPr>
        <p:txBody>
          <a:bodyPr wrap="square" lIns="0" tIns="0" rIns="0" bIns="0" rtlCol="0" anchor="ctr"/>
          <a:lstStyle/>
          <a:p>
            <a:pPr indent="0" marL="0">
              <a:buNone/>
            </a:pPr>
            <a:r>
              <a:rPr lang="en-US" sz="1800" b="1" dirty="0">
                <a:solidFill>
                  <a:schemeClr val="bg1"/>
                </a:solidFill>
              </a:rPr>
              <a:t>Documents</a:t>
            </a:r>
            <a:endParaRPr lang="en-US" sz="1800" dirty="0"/>
          </a:p>
        </p:txBody>
      </p:sp>
      <p:sp>
        <p:nvSpPr>
          <p:cNvPr id="29" name="text_381"/>
          <p:cNvSpPr txBox="1"/>
          <p:nvPr/>
        </p:nvSpPr>
        <p:spPr>
          <a:xfrm>
            <a:off x="3543300" y="4681728"/>
            <a:ext cx="2263140" cy="731520"/>
          </a:xfrm>
          <a:prstGeom prst="rect">
            <a:avLst/>
          </a:prstGeom>
          <a:noFill/>
          <a:ln/>
        </p:spPr>
        <p:txBody>
          <a:bodyPr wrap="square" lIns="0" tIns="0" rIns="0" bIns="0" rtlCol="0" anchor="t"/>
          <a:lstStyle/>
          <a:p>
            <a:pPr indent="0" marL="0">
              <a:buNone/>
            </a:pPr>
            <a:r>
              <a:rPr lang="en-US" sz="1400" dirty="0">
                <a:solidFill>
                  <a:schemeClr val="bg2"/>
                </a:solidFill>
              </a:rPr>
              <a:t>Search, filter, edit fields and check health</a:t>
            </a:r>
            <a:endParaRPr lang="en-US" sz="1400" dirty="0"/>
          </a:p>
        </p:txBody>
      </p:sp>
      <p:sp>
        <p:nvSpPr>
          <p:cNvPr id="30" name="text_382"/>
          <p:cNvSpPr txBox="1"/>
          <p:nvPr/>
        </p:nvSpPr>
        <p:spPr>
          <a:xfrm>
            <a:off x="3543300" y="5413248"/>
            <a:ext cx="914400" cy="219456"/>
          </a:xfrm>
          <a:prstGeom prst="rect">
            <a:avLst/>
          </a:prstGeom>
          <a:noFill/>
          <a:ln/>
        </p:spPr>
        <p:txBody>
          <a:bodyPr wrap="square" lIns="0" tIns="0" rIns="0" bIns="0" rtlCol="0" anchor="t"/>
          <a:lstStyle/>
          <a:p>
            <a:pPr indent="0" marL="0">
              <a:buNone/>
            </a:pPr>
            <a:r>
              <a:rPr lang="en-US" sz="1000" b="1" spc="200" kern="0" dirty="0">
                <a:solidFill>
                  <a:schemeClr val="accent2"/>
                </a:solidFill>
              </a:rPr>
              <a:t>CODE</a:t>
            </a:r>
            <a:endParaRPr lang="en-US" sz="1000" dirty="0"/>
          </a:p>
        </p:txBody>
      </p:sp>
      <p:sp>
        <p:nvSpPr>
          <p:cNvPr id="31" name="pill_383"/>
          <p:cNvSpPr/>
          <p:nvPr/>
        </p:nvSpPr>
        <p:spPr>
          <a:xfrm>
            <a:off x="3543300" y="5650992"/>
            <a:ext cx="2263140" cy="292608"/>
          </a:xfrm>
          <a:prstGeom prst="roundRect">
            <a:avLst>
              <a:gd name="adj" fmla="val 50000"/>
            </a:avLst>
          </a:prstGeom>
          <a:solidFill>
            <a:schemeClr val="accent1">
              <a:alpha val="22000"/>
            </a:schemeClr>
          </a:solidFill>
          <a:ln/>
        </p:spPr>
      </p:sp>
      <p:sp>
        <p:nvSpPr>
          <p:cNvPr id="32" name="text_384"/>
          <p:cNvSpPr txBox="1"/>
          <p:nvPr/>
        </p:nvSpPr>
        <p:spPr>
          <a:xfrm>
            <a:off x="3543300" y="5650992"/>
            <a:ext cx="2263140" cy="292608"/>
          </a:xfrm>
          <a:prstGeom prst="rect">
            <a:avLst/>
          </a:prstGeom>
          <a:noFill/>
          <a:ln/>
        </p:spPr>
        <p:txBody>
          <a:bodyPr wrap="square" lIns="0" tIns="0" rIns="0" bIns="0" rtlCol="0" anchor="ctr"/>
          <a:lstStyle/>
          <a:p>
            <a:pPr algn="ctr" indent="0" marL="0">
              <a:buNone/>
            </a:pPr>
            <a:r>
              <a:rPr lang="en-US" sz="1100" b="1" dirty="0">
                <a:solidFill>
                  <a:srgbClr val="DDE0FF"/>
                </a:solidFill>
              </a:rPr>
              <a:t>page_documents()</a:t>
            </a:r>
            <a:endParaRPr lang="en-US" sz="1100" dirty="0"/>
          </a:p>
        </p:txBody>
      </p:sp>
      <p:pic>
        <p:nvPicPr>
          <p:cNvPr id="33" name="arrow_385" descr="/tmp/claude-0/-home-claude/584731ee-e493-5c78-a637-0b254e057472/scratchpad/deck/img/i_arrow.png">    </p:cNvPr>
          <p:cNvPicPr>
            <a:picLocks noChangeAspect="1"/>
          </p:cNvPicPr>
          <p:nvPr/>
        </p:nvPicPr>
        <p:blipFill>
          <a:blip r:embed="rId4"/>
          <a:stretch>
            <a:fillRect/>
          </a:stretch>
        </p:blipFill>
        <p:spPr>
          <a:xfrm>
            <a:off x="6007608" y="3063240"/>
            <a:ext cx="146304" cy="146304"/>
          </a:xfrm>
          <a:prstGeom prst="rect">
            <a:avLst/>
          </a:prstGeom>
        </p:spPr>
      </p:pic>
      <p:sp>
        <p:nvSpPr>
          <p:cNvPr id="34" name="screen_card_386"/>
          <p:cNvSpPr/>
          <p:nvPr/>
        </p:nvSpPr>
        <p:spPr>
          <a:xfrm>
            <a:off x="6172200" y="2286000"/>
            <a:ext cx="2628900" cy="3840480"/>
          </a:xfrm>
          <a:prstGeom prst="roundRect">
            <a:avLst>
              <a:gd name="adj" fmla="val 4174"/>
            </a:avLst>
          </a:prstGeom>
          <a:solidFill>
            <a:schemeClr val="tx2"/>
          </a:solidFill>
          <a:ln w="9525">
            <a:solidFill>
              <a:srgbClr val="2B3470"/>
            </a:solidFill>
            <a:prstDash val="solid"/>
          </a:ln>
        </p:spPr>
      </p:sp>
      <p:pic>
        <p:nvPicPr>
          <p:cNvPr id="35" name="thumb_387" descr="/tmp/claude-0/-home-claude/584731ee-e493-5c78-a637-0b254e057472/scratchpad/deck/img/dashboard.png">    </p:cNvPr>
          <p:cNvPicPr>
            <a:picLocks noChangeAspect="1"/>
          </p:cNvPicPr>
          <p:nvPr/>
        </p:nvPicPr>
        <p:blipFill>
          <a:blip r:embed="rId5"/>
          <a:stretch>
            <a:fillRect/>
          </a:stretch>
        </p:blipFill>
        <p:spPr>
          <a:xfrm>
            <a:off x="6281928" y="2395728"/>
            <a:ext cx="2409444" cy="1505902"/>
          </a:xfrm>
          <a:prstGeom prst="rect">
            <a:avLst/>
          </a:prstGeom>
        </p:spPr>
      </p:pic>
      <p:sp>
        <p:nvSpPr>
          <p:cNvPr id="36" name="num_388"/>
          <p:cNvSpPr/>
          <p:nvPr/>
        </p:nvSpPr>
        <p:spPr>
          <a:xfrm>
            <a:off x="6355080" y="4069080"/>
            <a:ext cx="438912" cy="438912"/>
          </a:xfrm>
          <a:prstGeom prst="ellipse">
            <a:avLst/>
          </a:prstGeom>
          <a:solidFill>
            <a:schemeClr val="accent2"/>
          </a:solidFill>
          <a:ln/>
        </p:spPr>
      </p:sp>
      <p:sp>
        <p:nvSpPr>
          <p:cNvPr id="37" name="text_389"/>
          <p:cNvSpPr txBox="1"/>
          <p:nvPr/>
        </p:nvSpPr>
        <p:spPr>
          <a:xfrm>
            <a:off x="6355080" y="4069080"/>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38" name="text_390"/>
          <p:cNvSpPr txBox="1"/>
          <p:nvPr/>
        </p:nvSpPr>
        <p:spPr>
          <a:xfrm>
            <a:off x="6903720" y="4096512"/>
            <a:ext cx="1805940" cy="384048"/>
          </a:xfrm>
          <a:prstGeom prst="rect">
            <a:avLst/>
          </a:prstGeom>
          <a:noFill/>
          <a:ln/>
        </p:spPr>
        <p:txBody>
          <a:bodyPr wrap="square" lIns="0" tIns="0" rIns="0" bIns="0" rtlCol="0" anchor="ctr"/>
          <a:lstStyle/>
          <a:p>
            <a:pPr indent="0" marL="0">
              <a:buNone/>
            </a:pPr>
            <a:r>
              <a:rPr lang="en-US" sz="1800" b="1" dirty="0">
                <a:solidFill>
                  <a:schemeClr val="bg1"/>
                </a:solidFill>
              </a:rPr>
              <a:t>Dashboard</a:t>
            </a:r>
            <a:endParaRPr lang="en-US" sz="1800" dirty="0"/>
          </a:p>
        </p:txBody>
      </p:sp>
      <p:sp>
        <p:nvSpPr>
          <p:cNvPr id="39" name="text_391"/>
          <p:cNvSpPr txBox="1"/>
          <p:nvPr/>
        </p:nvSpPr>
        <p:spPr>
          <a:xfrm>
            <a:off x="6355080" y="4681728"/>
            <a:ext cx="2263140" cy="731520"/>
          </a:xfrm>
          <a:prstGeom prst="rect">
            <a:avLst/>
          </a:prstGeom>
          <a:noFill/>
          <a:ln/>
        </p:spPr>
        <p:txBody>
          <a:bodyPr wrap="square" lIns="0" tIns="0" rIns="0" bIns="0" rtlCol="0" anchor="t"/>
          <a:lstStyle/>
          <a:p>
            <a:pPr indent="0" marL="0">
              <a:buNone/>
            </a:pPr>
            <a:r>
              <a:rPr lang="en-US" sz="1400" dirty="0">
                <a:solidFill>
                  <a:schemeClr val="bg2"/>
                </a:solidFill>
              </a:rPr>
              <a:t>KPI cards, health donut, upcoming deadlines</a:t>
            </a:r>
            <a:endParaRPr lang="en-US" sz="1400" dirty="0"/>
          </a:p>
        </p:txBody>
      </p:sp>
      <p:sp>
        <p:nvSpPr>
          <p:cNvPr id="40" name="text_392"/>
          <p:cNvSpPr txBox="1"/>
          <p:nvPr/>
        </p:nvSpPr>
        <p:spPr>
          <a:xfrm>
            <a:off x="6355080" y="5413248"/>
            <a:ext cx="914400" cy="219456"/>
          </a:xfrm>
          <a:prstGeom prst="rect">
            <a:avLst/>
          </a:prstGeom>
          <a:noFill/>
          <a:ln/>
        </p:spPr>
        <p:txBody>
          <a:bodyPr wrap="square" lIns="0" tIns="0" rIns="0" bIns="0" rtlCol="0" anchor="t"/>
          <a:lstStyle/>
          <a:p>
            <a:pPr indent="0" marL="0">
              <a:buNone/>
            </a:pPr>
            <a:r>
              <a:rPr lang="en-US" sz="1000" b="1" spc="200" kern="0" dirty="0">
                <a:solidFill>
                  <a:schemeClr val="accent2"/>
                </a:solidFill>
              </a:rPr>
              <a:t>CODE</a:t>
            </a:r>
            <a:endParaRPr lang="en-US" sz="1000" dirty="0"/>
          </a:p>
        </p:txBody>
      </p:sp>
      <p:sp>
        <p:nvSpPr>
          <p:cNvPr id="41" name="pill_393"/>
          <p:cNvSpPr/>
          <p:nvPr/>
        </p:nvSpPr>
        <p:spPr>
          <a:xfrm>
            <a:off x="6355080" y="5650992"/>
            <a:ext cx="2263140" cy="292608"/>
          </a:xfrm>
          <a:prstGeom prst="roundRect">
            <a:avLst>
              <a:gd name="adj" fmla="val 50000"/>
            </a:avLst>
          </a:prstGeom>
          <a:solidFill>
            <a:schemeClr val="accent1">
              <a:alpha val="22000"/>
            </a:schemeClr>
          </a:solidFill>
          <a:ln/>
        </p:spPr>
      </p:sp>
      <p:sp>
        <p:nvSpPr>
          <p:cNvPr id="42" name="text_394"/>
          <p:cNvSpPr txBox="1"/>
          <p:nvPr/>
        </p:nvSpPr>
        <p:spPr>
          <a:xfrm>
            <a:off x="6355080" y="5650992"/>
            <a:ext cx="2263140" cy="292608"/>
          </a:xfrm>
          <a:prstGeom prst="rect">
            <a:avLst/>
          </a:prstGeom>
          <a:noFill/>
          <a:ln/>
        </p:spPr>
        <p:txBody>
          <a:bodyPr wrap="square" lIns="0" tIns="0" rIns="0" bIns="0" rtlCol="0" anchor="ctr"/>
          <a:lstStyle/>
          <a:p>
            <a:pPr algn="ctr" indent="0" marL="0">
              <a:buNone/>
            </a:pPr>
            <a:r>
              <a:rPr lang="en-US" sz="1100" b="1" dirty="0">
                <a:solidFill>
                  <a:srgbClr val="DDE0FF"/>
                </a:solidFill>
              </a:rPr>
              <a:t>page_dashboard()</a:t>
            </a:r>
            <a:endParaRPr lang="en-US" sz="1100" dirty="0"/>
          </a:p>
        </p:txBody>
      </p:sp>
      <p:pic>
        <p:nvPicPr>
          <p:cNvPr id="43" name="arrow_395" descr="/tmp/claude-0/-home-claude/584731ee-e493-5c78-a637-0b254e057472/scratchpad/deck/img/i_arrow.png">    </p:cNvPr>
          <p:cNvPicPr>
            <a:picLocks noChangeAspect="1"/>
          </p:cNvPicPr>
          <p:nvPr/>
        </p:nvPicPr>
        <p:blipFill>
          <a:blip r:embed="rId6"/>
          <a:stretch>
            <a:fillRect/>
          </a:stretch>
        </p:blipFill>
        <p:spPr>
          <a:xfrm>
            <a:off x="8819388" y="3063240"/>
            <a:ext cx="146304" cy="146304"/>
          </a:xfrm>
          <a:prstGeom prst="rect">
            <a:avLst/>
          </a:prstGeom>
        </p:spPr>
      </p:pic>
      <p:sp>
        <p:nvSpPr>
          <p:cNvPr id="44" name="screen_card_396"/>
          <p:cNvSpPr/>
          <p:nvPr/>
        </p:nvSpPr>
        <p:spPr>
          <a:xfrm>
            <a:off x="8983980" y="2286000"/>
            <a:ext cx="2628900" cy="3840480"/>
          </a:xfrm>
          <a:prstGeom prst="roundRect">
            <a:avLst>
              <a:gd name="adj" fmla="val 4174"/>
            </a:avLst>
          </a:prstGeom>
          <a:solidFill>
            <a:schemeClr val="tx2"/>
          </a:solidFill>
          <a:ln w="9525">
            <a:solidFill>
              <a:srgbClr val="2B3470"/>
            </a:solidFill>
            <a:prstDash val="solid"/>
          </a:ln>
        </p:spPr>
      </p:sp>
      <p:pic>
        <p:nvPicPr>
          <p:cNvPr id="45" name="thumb_397" descr="/tmp/claude-0/-home-claude/584731ee-e493-5c78-a637-0b254e057472/scratchpad/deck/img/reminders.png">    </p:cNvPr>
          <p:cNvPicPr>
            <a:picLocks noChangeAspect="1"/>
          </p:cNvPicPr>
          <p:nvPr/>
        </p:nvPicPr>
        <p:blipFill>
          <a:blip r:embed="rId7"/>
          <a:stretch>
            <a:fillRect/>
          </a:stretch>
        </p:blipFill>
        <p:spPr>
          <a:xfrm>
            <a:off x="9093708" y="2395728"/>
            <a:ext cx="2409444" cy="1505902"/>
          </a:xfrm>
          <a:prstGeom prst="rect">
            <a:avLst/>
          </a:prstGeom>
        </p:spPr>
      </p:pic>
      <p:sp>
        <p:nvSpPr>
          <p:cNvPr id="46" name="num_398"/>
          <p:cNvSpPr/>
          <p:nvPr/>
        </p:nvSpPr>
        <p:spPr>
          <a:xfrm>
            <a:off x="9166860" y="4069080"/>
            <a:ext cx="438912" cy="438912"/>
          </a:xfrm>
          <a:prstGeom prst="ellipse">
            <a:avLst/>
          </a:prstGeom>
          <a:solidFill>
            <a:schemeClr val="accent2"/>
          </a:solidFill>
          <a:ln/>
        </p:spPr>
      </p:sp>
      <p:sp>
        <p:nvSpPr>
          <p:cNvPr id="47" name="text_399"/>
          <p:cNvSpPr txBox="1"/>
          <p:nvPr/>
        </p:nvSpPr>
        <p:spPr>
          <a:xfrm>
            <a:off x="9166860" y="4069080"/>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48" name="text_400"/>
          <p:cNvSpPr txBox="1"/>
          <p:nvPr/>
        </p:nvSpPr>
        <p:spPr>
          <a:xfrm>
            <a:off x="9715500" y="4096512"/>
            <a:ext cx="1805940" cy="384048"/>
          </a:xfrm>
          <a:prstGeom prst="rect">
            <a:avLst/>
          </a:prstGeom>
          <a:noFill/>
          <a:ln/>
        </p:spPr>
        <p:txBody>
          <a:bodyPr wrap="square" lIns="0" tIns="0" rIns="0" bIns="0" rtlCol="0" anchor="ctr"/>
          <a:lstStyle/>
          <a:p>
            <a:pPr indent="0" marL="0">
              <a:buNone/>
            </a:pPr>
            <a:r>
              <a:rPr lang="en-US" sz="1800" b="1" dirty="0">
                <a:solidFill>
                  <a:schemeClr val="bg1"/>
                </a:solidFill>
              </a:rPr>
              <a:t>Reminders</a:t>
            </a:r>
            <a:endParaRPr lang="en-US" sz="1800" dirty="0"/>
          </a:p>
        </p:txBody>
      </p:sp>
      <p:sp>
        <p:nvSpPr>
          <p:cNvPr id="49" name="text_401"/>
          <p:cNvSpPr txBox="1"/>
          <p:nvPr/>
        </p:nvSpPr>
        <p:spPr>
          <a:xfrm>
            <a:off x="9166860" y="4681728"/>
            <a:ext cx="2263140" cy="731520"/>
          </a:xfrm>
          <a:prstGeom prst="rect">
            <a:avLst/>
          </a:prstGeom>
          <a:noFill/>
          <a:ln/>
        </p:spPr>
        <p:txBody>
          <a:bodyPr wrap="square" lIns="0" tIns="0" rIns="0" bIns="0" rtlCol="0" anchor="t"/>
          <a:lstStyle/>
          <a:p>
            <a:pPr indent="0" marL="0">
              <a:buNone/>
            </a:pPr>
            <a:r>
              <a:rPr lang="en-US" sz="1400" dirty="0">
                <a:solidFill>
                  <a:schemeClr val="bg2"/>
                </a:solidFill>
              </a:rPr>
              <a:t>Upcoming / Overdue tabs, calendar, .ics export</a:t>
            </a:r>
            <a:endParaRPr lang="en-US" sz="1400" dirty="0"/>
          </a:p>
        </p:txBody>
      </p:sp>
      <p:sp>
        <p:nvSpPr>
          <p:cNvPr id="50" name="text_402"/>
          <p:cNvSpPr txBox="1"/>
          <p:nvPr/>
        </p:nvSpPr>
        <p:spPr>
          <a:xfrm>
            <a:off x="9166860" y="5413248"/>
            <a:ext cx="914400" cy="219456"/>
          </a:xfrm>
          <a:prstGeom prst="rect">
            <a:avLst/>
          </a:prstGeom>
          <a:noFill/>
          <a:ln/>
        </p:spPr>
        <p:txBody>
          <a:bodyPr wrap="square" lIns="0" tIns="0" rIns="0" bIns="0" rtlCol="0" anchor="t"/>
          <a:lstStyle/>
          <a:p>
            <a:pPr indent="0" marL="0">
              <a:buNone/>
            </a:pPr>
            <a:r>
              <a:rPr lang="en-US" sz="1000" b="1" spc="200" kern="0" dirty="0">
                <a:solidFill>
                  <a:schemeClr val="accent2"/>
                </a:solidFill>
              </a:rPr>
              <a:t>CODE</a:t>
            </a:r>
            <a:endParaRPr lang="en-US" sz="1000" dirty="0"/>
          </a:p>
        </p:txBody>
      </p:sp>
      <p:sp>
        <p:nvSpPr>
          <p:cNvPr id="51" name="pill_403"/>
          <p:cNvSpPr/>
          <p:nvPr/>
        </p:nvSpPr>
        <p:spPr>
          <a:xfrm>
            <a:off x="9166860" y="5650992"/>
            <a:ext cx="2263140" cy="292608"/>
          </a:xfrm>
          <a:prstGeom prst="roundRect">
            <a:avLst>
              <a:gd name="adj" fmla="val 50000"/>
            </a:avLst>
          </a:prstGeom>
          <a:solidFill>
            <a:schemeClr val="accent1">
              <a:alpha val="22000"/>
            </a:schemeClr>
          </a:solidFill>
          <a:ln/>
        </p:spPr>
      </p:sp>
      <p:sp>
        <p:nvSpPr>
          <p:cNvPr id="52" name="text_404"/>
          <p:cNvSpPr txBox="1"/>
          <p:nvPr/>
        </p:nvSpPr>
        <p:spPr>
          <a:xfrm>
            <a:off x="9166860" y="5650992"/>
            <a:ext cx="2263140" cy="292608"/>
          </a:xfrm>
          <a:prstGeom prst="rect">
            <a:avLst/>
          </a:prstGeom>
          <a:noFill/>
          <a:ln/>
        </p:spPr>
        <p:txBody>
          <a:bodyPr wrap="square" lIns="0" tIns="0" rIns="0" bIns="0" rtlCol="0" anchor="ctr"/>
          <a:lstStyle/>
          <a:p>
            <a:pPr algn="ctr" indent="0" marL="0">
              <a:buNone/>
            </a:pPr>
            <a:r>
              <a:rPr lang="en-US" sz="1100" b="1" dirty="0">
                <a:solidFill>
                  <a:srgbClr val="DDE0FF"/>
                </a:solidFill>
              </a:rPr>
              <a:t>page_reminders()</a:t>
            </a:r>
            <a:endParaRPr lang="en-US" sz="1100" dirty="0"/>
          </a:p>
        </p:txBody>
      </p:sp>
      <p:sp>
        <p:nvSpPr>
          <p:cNvPr id="25" name="Slide Number Placeholder 0"/>
          <p:cNvSpPr>
            <a:spLocks noGrp="1"/>
          </p:cNvSpPr>
          <p:nvPr>
            <p:ph type="sldNum" sz="quarter" idx="4294967295"/>
          </p:nvPr>
        </p:nvSpPr>
        <p:spPr>
          <a:xfrm>
            <a:off x="11109960" y="6355080"/>
            <a:ext cx="530352"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bg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8229600" cy="274320"/>
          </a:xfrm>
          <a:prstGeom prst="rect">
            <a:avLst/>
          </a:prstGeom>
          <a:noFill/>
          <a:ln/>
        </p:spPr>
        <p:txBody>
          <a:bodyPr wrap="square" lIns="0" tIns="0" rIns="0" bIns="0" rtlCol="0" anchor="ctr"/>
          <a:lstStyle/>
          <a:p>
            <a:pPr algn="l" indent="0" marL="0">
              <a:buNone/>
            </a:pPr>
            <a:r>
              <a:rPr lang="en-US" sz="1200" b="1" spc="200" kern="0" dirty="0">
                <a:solidFill>
                  <a:schemeClr val="accent2"/>
                </a:solidFill>
              </a:rPr>
              <a:t>02 · WEBSITE ROADMAP</a:t>
            </a:r>
            <a:endParaRPr lang="en-US" sz="1200" dirty="0"/>
          </a:p>
        </p:txBody>
      </p:sp>
      <p:sp>
        <p:nvSpPr>
          <p:cNvPr id="3" name="Text 0"/>
          <p:cNvSpPr/>
          <p:nvPr>
            <p:ph idx="101" type="title" hasCustomPrompt="1"/>
          </p:nvPr>
        </p:nvSpPr>
        <p:spPr>
          <a:xfrm>
            <a:off x="548640" y="603504"/>
            <a:ext cx="11064240" cy="685800"/>
          </a:xfrm>
          <a:prstGeom prst="rect">
            <a:avLst/>
          </a:prstGeom>
          <a:noFill/>
          <a:ln/>
        </p:spPr>
        <p:txBody>
          <a:bodyPr wrap="square" lIns="0" tIns="0" rIns="0" bIns="0" rtlCol="0" anchor="ctr"/>
          <a:lstStyle/>
          <a:p>
            <a:pPr algn="l" indent="0" marL="0">
              <a:buNone/>
            </a:pPr>
            <a:r>
              <a:rPr lang="en-US" sz="3200" b="1" dirty="0">
                <a:solidFill>
                  <a:schemeClr val="bg1"/>
                </a:solidFill>
              </a:rPr>
              <a:t>Build roadmap: done, today, and next</a:t>
            </a:r>
            <a:endParaRPr lang="en-US" sz="3200" dirty="0"/>
          </a:p>
        </p:txBody>
      </p:sp>
      <p:sp>
        <p:nvSpPr>
          <p:cNvPr id="4" name="track_done"/>
          <p:cNvSpPr/>
          <p:nvPr/>
        </p:nvSpPr>
        <p:spPr>
          <a:xfrm>
            <a:off x="1600200" y="2331720"/>
            <a:ext cx="4480560" cy="0"/>
          </a:xfrm>
          <a:prstGeom prst="line">
            <a:avLst/>
          </a:prstGeom>
          <a:noFill/>
          <a:ln w="38100">
            <a:solidFill>
              <a:srgbClr val="22C55E"/>
            </a:solidFill>
            <a:prstDash val="solid"/>
          </a:ln>
        </p:spPr>
      </p:sp>
      <p:sp>
        <p:nvSpPr>
          <p:cNvPr id="5" name="track_next"/>
          <p:cNvSpPr/>
          <p:nvPr/>
        </p:nvSpPr>
        <p:spPr>
          <a:xfrm>
            <a:off x="6080760" y="2331720"/>
            <a:ext cx="4480560" cy="0"/>
          </a:xfrm>
          <a:prstGeom prst="line">
            <a:avLst/>
          </a:prstGeom>
          <a:noFill/>
          <a:ln w="31750">
            <a:solidFill>
              <a:srgbClr val="5B5EF4"/>
            </a:solidFill>
            <a:prstDash val="dash"/>
          </a:ln>
        </p:spPr>
      </p:sp>
      <p:sp>
        <p:nvSpPr>
          <p:cNvPr id="6" name="text_405"/>
          <p:cNvSpPr txBox="1"/>
          <p:nvPr/>
        </p:nvSpPr>
        <p:spPr>
          <a:xfrm>
            <a:off x="594360" y="1508760"/>
            <a:ext cx="2011680" cy="274320"/>
          </a:xfrm>
          <a:prstGeom prst="rect">
            <a:avLst/>
          </a:prstGeom>
          <a:noFill/>
          <a:ln/>
        </p:spPr>
        <p:txBody>
          <a:bodyPr wrap="square" lIns="0" tIns="0" rIns="0" bIns="0" rtlCol="0" anchor="t"/>
          <a:lstStyle/>
          <a:p>
            <a:pPr algn="ctr" indent="0" marL="0">
              <a:buNone/>
            </a:pPr>
            <a:r>
              <a:rPr lang="en-US" sz="1100" b="1" spc="100" kern="0" dirty="0">
                <a:solidFill>
                  <a:schemeClr val="accent3"/>
                </a:solidFill>
              </a:rPr>
              <a:t>DONE · 8 OCT</a:t>
            </a:r>
            <a:endParaRPr lang="en-US" sz="1100" dirty="0"/>
          </a:p>
        </p:txBody>
      </p:sp>
      <p:sp>
        <p:nvSpPr>
          <p:cNvPr id="7" name="dot_406"/>
          <p:cNvSpPr/>
          <p:nvPr/>
        </p:nvSpPr>
        <p:spPr>
          <a:xfrm>
            <a:off x="1399032" y="2130552"/>
            <a:ext cx="402336" cy="402336"/>
          </a:xfrm>
          <a:prstGeom prst="ellipse">
            <a:avLst/>
          </a:prstGeom>
          <a:solidFill>
            <a:schemeClr val="accent3"/>
          </a:solidFill>
          <a:ln w="31750">
            <a:solidFill>
              <a:schemeClr val="accent3"/>
            </a:solidFill>
            <a:prstDash val="solid"/>
          </a:ln>
        </p:spPr>
      </p:sp>
      <p:pic>
        <p:nvPicPr>
          <p:cNvPr id="8" name="tick_407" descr="/tmp/claude-0/-home-claude/584731ee-e493-5c78-a637-0b254e057472/scratchpad/deck/img/i_check.png">    </p:cNvPr>
          <p:cNvPicPr>
            <a:picLocks noChangeAspect="1"/>
          </p:cNvPicPr>
          <p:nvPr/>
        </p:nvPicPr>
        <p:blipFill>
          <a:blip r:embed="rId1"/>
          <a:stretch>
            <a:fillRect/>
          </a:stretch>
        </p:blipFill>
        <p:spPr>
          <a:xfrm>
            <a:off x="1481328" y="2212848"/>
            <a:ext cx="237744" cy="237744"/>
          </a:xfrm>
          <a:prstGeom prst="rect">
            <a:avLst/>
          </a:prstGeom>
        </p:spPr>
      </p:pic>
      <p:sp>
        <p:nvSpPr>
          <p:cNvPr id="9" name="phase_card_408"/>
          <p:cNvSpPr/>
          <p:nvPr/>
        </p:nvSpPr>
        <p:spPr>
          <a:xfrm>
            <a:off x="548640" y="2880360"/>
            <a:ext cx="2103120" cy="2926080"/>
          </a:xfrm>
          <a:prstGeom prst="roundRect">
            <a:avLst>
              <a:gd name="adj" fmla="val 5217"/>
            </a:avLst>
          </a:prstGeom>
          <a:solidFill>
            <a:schemeClr val="tx2"/>
          </a:solidFill>
          <a:ln w="9525">
            <a:solidFill>
              <a:srgbClr val="2B3470"/>
            </a:solidFill>
            <a:prstDash val="solid"/>
          </a:ln>
        </p:spPr>
      </p:sp>
      <p:sp>
        <p:nvSpPr>
          <p:cNvPr id="10" name="text_409"/>
          <p:cNvSpPr txBox="1"/>
          <p:nvPr/>
        </p:nvSpPr>
        <p:spPr>
          <a:xfrm>
            <a:off x="704088" y="3063240"/>
            <a:ext cx="1828800" cy="365760"/>
          </a:xfrm>
          <a:prstGeom prst="rect">
            <a:avLst/>
          </a:prstGeom>
          <a:noFill/>
          <a:ln/>
        </p:spPr>
        <p:txBody>
          <a:bodyPr wrap="square" lIns="0" tIns="0" rIns="0" bIns="0" rtlCol="0" anchor="t"/>
          <a:lstStyle/>
          <a:p>
            <a:pPr indent="0" marL="0">
              <a:buNone/>
            </a:pPr>
            <a:r>
              <a:rPr lang="en-US" sz="1700" b="1" dirty="0">
                <a:solidFill>
                  <a:schemeClr val="bg1"/>
                </a:solidFill>
              </a:rPr>
              <a:t>Core engine</a:t>
            </a:r>
            <a:endParaRPr lang="en-US" sz="1700" dirty="0"/>
          </a:p>
        </p:txBody>
      </p:sp>
      <p:sp>
        <p:nvSpPr>
          <p:cNvPr id="11" name="text_410"/>
          <p:cNvSpPr txBox="1"/>
          <p:nvPr/>
        </p:nvSpPr>
        <p:spPr>
          <a:xfrm>
            <a:off x="704088" y="3538728"/>
            <a:ext cx="1828800" cy="2148840"/>
          </a:xfrm>
          <a:prstGeom prst="rect">
            <a:avLst/>
          </a:prstGeom>
          <a:noFill/>
          <a:ln/>
        </p:spPr>
        <p:txBody>
          <a:bodyPr wrap="square" lIns="0" tIns="0" rIns="0" bIns="0" rtlCol="0" anchor="t"/>
          <a:lstStyle/>
          <a:p>
            <a:pPr marL="152400" indent="-152400">
              <a:spcAft>
                <a:spcPts val="600"/>
              </a:spcAft>
              <a:buSzPct val="100000"/>
              <a:buChar char="•"/>
            </a:pPr>
            <a:r>
              <a:rPr lang="en-US" sz="1300" dirty="0">
                <a:solidFill>
                  <a:srgbClr val="C9CDEB"/>
                </a:solidFill>
              </a:rPr>
              <a:t>6 core modules</a:t>
            </a:r>
            <a:endParaRPr lang="en-US" sz="1300" dirty="0"/>
          </a:p>
          <a:p>
            <a:pPr marL="152400" indent="-152400">
              <a:spcAft>
                <a:spcPts val="600"/>
              </a:spcAft>
              <a:buSzPct val="100000"/>
              <a:buChar char="•"/>
            </a:pPr>
            <a:r>
              <a:rPr lang="en-US" sz="1300" dirty="0">
                <a:solidFill>
                  <a:srgbClr val="C9CDEB"/>
                </a:solidFill>
              </a:rPr>
              <a:t>SQLite schema, 4 tables</a:t>
            </a:r>
            <a:endParaRPr lang="en-US" sz="1300" dirty="0"/>
          </a:p>
          <a:p>
            <a:pPr marL="152400" indent="-152400">
              <a:spcAft>
                <a:spcPts val="600"/>
              </a:spcAft>
              <a:buSzPct val="100000"/>
              <a:buChar char="•"/>
            </a:pPr>
            <a:r>
              <a:rPr lang="en-US" sz="1300" dirty="0">
                <a:solidFill>
                  <a:srgbClr val="C9CDEB"/>
                </a:solidFill>
              </a:rPr>
              <a:t>Regex extraction + classifier</a:t>
            </a:r>
            <a:endParaRPr lang="en-US" sz="1300" dirty="0"/>
          </a:p>
          <a:p>
            <a:pPr marL="152400" indent="-152400">
              <a:spcAft>
                <a:spcPts val="600"/>
              </a:spcAft>
              <a:buSzPct val="100000"/>
              <a:buChar char="•"/>
            </a:pPr>
            <a:r>
              <a:rPr lang="en-US" sz="1300" dirty="0">
                <a:solidFill>
                  <a:srgbClr val="C9CDEB"/>
                </a:solidFill>
              </a:rPr>
              <a:t>21 automated tests</a:t>
            </a:r>
            <a:endParaRPr lang="en-US" sz="1300" dirty="0"/>
          </a:p>
        </p:txBody>
      </p:sp>
      <p:sp>
        <p:nvSpPr>
          <p:cNvPr id="12" name="text_411"/>
          <p:cNvSpPr txBox="1"/>
          <p:nvPr/>
        </p:nvSpPr>
        <p:spPr>
          <a:xfrm>
            <a:off x="2834640" y="1508760"/>
            <a:ext cx="2011680" cy="274320"/>
          </a:xfrm>
          <a:prstGeom prst="rect">
            <a:avLst/>
          </a:prstGeom>
          <a:noFill/>
          <a:ln/>
        </p:spPr>
        <p:txBody>
          <a:bodyPr wrap="square" lIns="0" tIns="0" rIns="0" bIns="0" rtlCol="0" anchor="t"/>
          <a:lstStyle/>
          <a:p>
            <a:pPr algn="ctr" indent="0" marL="0">
              <a:buNone/>
            </a:pPr>
            <a:r>
              <a:rPr lang="en-US" sz="1100" b="1" spc="100" kern="0" dirty="0">
                <a:solidFill>
                  <a:schemeClr val="accent3"/>
                </a:solidFill>
              </a:rPr>
              <a:t>DONE · 12 OCT</a:t>
            </a:r>
            <a:endParaRPr lang="en-US" sz="1100" dirty="0"/>
          </a:p>
        </p:txBody>
      </p:sp>
      <p:sp>
        <p:nvSpPr>
          <p:cNvPr id="13" name="dot_412"/>
          <p:cNvSpPr/>
          <p:nvPr/>
        </p:nvSpPr>
        <p:spPr>
          <a:xfrm>
            <a:off x="3639312" y="2130552"/>
            <a:ext cx="402336" cy="402336"/>
          </a:xfrm>
          <a:prstGeom prst="ellipse">
            <a:avLst/>
          </a:prstGeom>
          <a:solidFill>
            <a:schemeClr val="accent3"/>
          </a:solidFill>
          <a:ln w="31750">
            <a:solidFill>
              <a:schemeClr val="accent3"/>
            </a:solidFill>
            <a:prstDash val="solid"/>
          </a:ln>
        </p:spPr>
      </p:sp>
      <p:pic>
        <p:nvPicPr>
          <p:cNvPr id="14" name="tick_413" descr="/tmp/claude-0/-home-claude/584731ee-e493-5c78-a637-0b254e057472/scratchpad/deck/img/i_check.png">    </p:cNvPr>
          <p:cNvPicPr>
            <a:picLocks noChangeAspect="1"/>
          </p:cNvPicPr>
          <p:nvPr/>
        </p:nvPicPr>
        <p:blipFill>
          <a:blip r:embed="rId2"/>
          <a:stretch>
            <a:fillRect/>
          </a:stretch>
        </p:blipFill>
        <p:spPr>
          <a:xfrm>
            <a:off x="3721608" y="2212848"/>
            <a:ext cx="237744" cy="237744"/>
          </a:xfrm>
          <a:prstGeom prst="rect">
            <a:avLst/>
          </a:prstGeom>
        </p:spPr>
      </p:pic>
      <p:sp>
        <p:nvSpPr>
          <p:cNvPr id="15" name="phase_card_414"/>
          <p:cNvSpPr/>
          <p:nvPr/>
        </p:nvSpPr>
        <p:spPr>
          <a:xfrm>
            <a:off x="2788920" y="2880360"/>
            <a:ext cx="2103120" cy="2926080"/>
          </a:xfrm>
          <a:prstGeom prst="roundRect">
            <a:avLst>
              <a:gd name="adj" fmla="val 5217"/>
            </a:avLst>
          </a:prstGeom>
          <a:solidFill>
            <a:schemeClr val="tx2"/>
          </a:solidFill>
          <a:ln w="9525">
            <a:solidFill>
              <a:srgbClr val="2B3470"/>
            </a:solidFill>
            <a:prstDash val="solid"/>
          </a:ln>
        </p:spPr>
      </p:sp>
      <p:sp>
        <p:nvSpPr>
          <p:cNvPr id="16" name="text_415"/>
          <p:cNvSpPr txBox="1"/>
          <p:nvPr/>
        </p:nvSpPr>
        <p:spPr>
          <a:xfrm>
            <a:off x="2944368" y="3063240"/>
            <a:ext cx="1828800" cy="365760"/>
          </a:xfrm>
          <a:prstGeom prst="rect">
            <a:avLst/>
          </a:prstGeom>
          <a:noFill/>
          <a:ln/>
        </p:spPr>
        <p:txBody>
          <a:bodyPr wrap="square" lIns="0" tIns="0" rIns="0" bIns="0" rtlCol="0" anchor="t"/>
          <a:lstStyle/>
          <a:p>
            <a:pPr indent="0" marL="0">
              <a:buNone/>
            </a:pPr>
            <a:r>
              <a:rPr lang="en-US" sz="1700" b="1" dirty="0">
                <a:solidFill>
                  <a:schemeClr val="bg1"/>
                </a:solidFill>
              </a:rPr>
              <a:t>UI to design</a:t>
            </a:r>
            <a:endParaRPr lang="en-US" sz="1700" dirty="0"/>
          </a:p>
        </p:txBody>
      </p:sp>
      <p:sp>
        <p:nvSpPr>
          <p:cNvPr id="17" name="text_416"/>
          <p:cNvSpPr txBox="1"/>
          <p:nvPr/>
        </p:nvSpPr>
        <p:spPr>
          <a:xfrm>
            <a:off x="2944368" y="3538728"/>
            <a:ext cx="1828800" cy="2148840"/>
          </a:xfrm>
          <a:prstGeom prst="rect">
            <a:avLst/>
          </a:prstGeom>
          <a:noFill/>
          <a:ln/>
        </p:spPr>
        <p:txBody>
          <a:bodyPr wrap="square" lIns="0" tIns="0" rIns="0" bIns="0" rtlCol="0" anchor="t"/>
          <a:lstStyle/>
          <a:p>
            <a:pPr marL="152400" indent="-152400">
              <a:spcAft>
                <a:spcPts val="600"/>
              </a:spcAft>
              <a:buSzPct val="100000"/>
              <a:buChar char="•"/>
            </a:pPr>
            <a:r>
              <a:rPr lang="en-US" sz="1300" dirty="0">
                <a:solidFill>
                  <a:srgbClr val="C9CDEB"/>
                </a:solidFill>
              </a:rPr>
              <a:t>4 screens matching the mockups</a:t>
            </a:r>
            <a:endParaRPr lang="en-US" sz="1300" dirty="0"/>
          </a:p>
          <a:p>
            <a:pPr marL="152400" indent="-152400">
              <a:spcAft>
                <a:spcPts val="600"/>
              </a:spcAft>
              <a:buSzPct val="100000"/>
              <a:buChar char="•"/>
            </a:pPr>
            <a:r>
              <a:rPr lang="en-US" sz="1300" dirty="0">
                <a:solidFill>
                  <a:srgbClr val="C9CDEB"/>
                </a:solidFill>
              </a:rPr>
              <a:t>Word &amp; Excel uploads</a:t>
            </a:r>
            <a:endParaRPr lang="en-US" sz="1300" dirty="0"/>
          </a:p>
          <a:p>
            <a:pPr marL="152400" indent="-152400">
              <a:spcAft>
                <a:spcPts val="600"/>
              </a:spcAft>
              <a:buSzPct val="100000"/>
              <a:buChar char="•"/>
            </a:pPr>
            <a:r>
              <a:rPr lang="en-US" sz="1300" dirty="0">
                <a:solidFill>
                  <a:srgbClr val="C9CDEB"/>
                </a:solidFill>
              </a:rPr>
              <a:t>Thumbnails + health score</a:t>
            </a:r>
            <a:endParaRPr lang="en-US" sz="1300" dirty="0"/>
          </a:p>
          <a:p>
            <a:pPr marL="152400" indent="-152400">
              <a:spcAft>
                <a:spcPts val="600"/>
              </a:spcAft>
              <a:buSzPct val="100000"/>
              <a:buChar char="•"/>
            </a:pPr>
            <a:r>
              <a:rPr lang="en-US" sz="1300" dirty="0">
                <a:solidFill>
                  <a:srgbClr val="C9CDEB"/>
                </a:solidFill>
              </a:rPr>
              <a:t>28 tests, Streamlit 1.50+</a:t>
            </a:r>
            <a:endParaRPr lang="en-US" sz="1300" dirty="0"/>
          </a:p>
        </p:txBody>
      </p:sp>
      <p:sp>
        <p:nvSpPr>
          <p:cNvPr id="18" name="text_417"/>
          <p:cNvSpPr txBox="1"/>
          <p:nvPr/>
        </p:nvSpPr>
        <p:spPr>
          <a:xfrm>
            <a:off x="5074920" y="1508760"/>
            <a:ext cx="2011680" cy="274320"/>
          </a:xfrm>
          <a:prstGeom prst="rect">
            <a:avLst/>
          </a:prstGeom>
          <a:noFill/>
          <a:ln/>
        </p:spPr>
        <p:txBody>
          <a:bodyPr wrap="square" lIns="0" tIns="0" rIns="0" bIns="0" rtlCol="0" anchor="t"/>
          <a:lstStyle/>
          <a:p>
            <a:pPr algn="ctr" indent="0" marL="0">
              <a:buNone/>
            </a:pPr>
            <a:r>
              <a:rPr lang="en-US" sz="1100" b="1" spc="100" kern="0" dirty="0">
                <a:solidFill>
                  <a:schemeClr val="accent2"/>
                </a:solidFill>
              </a:rPr>
              <a:t>TODAY · 15 OCT</a:t>
            </a:r>
            <a:endParaRPr lang="en-US" sz="1100" dirty="0"/>
          </a:p>
        </p:txBody>
      </p:sp>
      <p:sp>
        <p:nvSpPr>
          <p:cNvPr id="19" name="today_glow"/>
          <p:cNvSpPr/>
          <p:nvPr/>
        </p:nvSpPr>
        <p:spPr>
          <a:xfrm>
            <a:off x="5751576" y="2002536"/>
            <a:ext cx="658368" cy="658368"/>
          </a:xfrm>
          <a:prstGeom prst="ellipse">
            <a:avLst/>
          </a:prstGeom>
          <a:solidFill>
            <a:schemeClr val="accent2">
              <a:alpha val="30000"/>
            </a:schemeClr>
          </a:solidFill>
          <a:ln/>
        </p:spPr>
      </p:sp>
      <p:sp>
        <p:nvSpPr>
          <p:cNvPr id="20" name="dot_418"/>
          <p:cNvSpPr/>
          <p:nvPr/>
        </p:nvSpPr>
        <p:spPr>
          <a:xfrm>
            <a:off x="5879592" y="2130552"/>
            <a:ext cx="402336" cy="402336"/>
          </a:xfrm>
          <a:prstGeom prst="ellipse">
            <a:avLst/>
          </a:prstGeom>
          <a:solidFill>
            <a:schemeClr val="accent2"/>
          </a:solidFill>
          <a:ln w="31750">
            <a:solidFill>
              <a:schemeClr val="accent2"/>
            </a:solidFill>
            <a:prstDash val="solid"/>
          </a:ln>
        </p:spPr>
      </p:sp>
      <p:sp>
        <p:nvSpPr>
          <p:cNvPr id="21" name="phase_card_419"/>
          <p:cNvSpPr/>
          <p:nvPr/>
        </p:nvSpPr>
        <p:spPr>
          <a:xfrm>
            <a:off x="5029200" y="2880360"/>
            <a:ext cx="2103120" cy="2926080"/>
          </a:xfrm>
          <a:prstGeom prst="roundRect">
            <a:avLst>
              <a:gd name="adj" fmla="val 5217"/>
            </a:avLst>
          </a:prstGeom>
          <a:solidFill>
            <a:srgbClr val="1E1A3F"/>
          </a:solidFill>
          <a:ln w="19050">
            <a:solidFill>
              <a:srgbClr val="FF6B57"/>
            </a:solidFill>
            <a:prstDash val="solid"/>
          </a:ln>
        </p:spPr>
      </p:sp>
      <p:sp>
        <p:nvSpPr>
          <p:cNvPr id="22" name="text_420"/>
          <p:cNvSpPr txBox="1"/>
          <p:nvPr/>
        </p:nvSpPr>
        <p:spPr>
          <a:xfrm>
            <a:off x="5184648" y="3063240"/>
            <a:ext cx="1828800" cy="365760"/>
          </a:xfrm>
          <a:prstGeom prst="rect">
            <a:avLst/>
          </a:prstGeom>
          <a:noFill/>
          <a:ln/>
        </p:spPr>
        <p:txBody>
          <a:bodyPr wrap="square" lIns="0" tIns="0" rIns="0" bIns="0" rtlCol="0" anchor="t"/>
          <a:lstStyle/>
          <a:p>
            <a:pPr indent="0" marL="0">
              <a:buNone/>
            </a:pPr>
            <a:r>
              <a:rPr lang="en-US" sz="1700" b="1" dirty="0">
                <a:solidFill>
                  <a:schemeClr val="bg1"/>
                </a:solidFill>
              </a:rPr>
              <a:t>Review 2</a:t>
            </a:r>
            <a:endParaRPr lang="en-US" sz="1700" dirty="0"/>
          </a:p>
        </p:txBody>
      </p:sp>
      <p:sp>
        <p:nvSpPr>
          <p:cNvPr id="23" name="text_421"/>
          <p:cNvSpPr txBox="1"/>
          <p:nvPr/>
        </p:nvSpPr>
        <p:spPr>
          <a:xfrm>
            <a:off x="5184648" y="3538728"/>
            <a:ext cx="1828800" cy="2148840"/>
          </a:xfrm>
          <a:prstGeom prst="rect">
            <a:avLst/>
          </a:prstGeom>
          <a:noFill/>
          <a:ln/>
        </p:spPr>
        <p:txBody>
          <a:bodyPr wrap="square" lIns="0" tIns="0" rIns="0" bIns="0" rtlCol="0" anchor="t"/>
          <a:lstStyle/>
          <a:p>
            <a:pPr marL="152400" indent="-152400">
              <a:spcAft>
                <a:spcPts val="600"/>
              </a:spcAft>
              <a:buSzPct val="100000"/>
              <a:buChar char="•"/>
            </a:pPr>
            <a:r>
              <a:rPr lang="en-US" sz="1300" dirty="0">
                <a:solidFill>
                  <a:srgbClr val="C9CDEB"/>
                </a:solidFill>
              </a:rPr>
              <a:t>Architecture walkthrough</a:t>
            </a:r>
            <a:endParaRPr lang="en-US" sz="1300" dirty="0"/>
          </a:p>
          <a:p>
            <a:pPr marL="152400" indent="-152400">
              <a:spcAft>
                <a:spcPts val="600"/>
              </a:spcAft>
              <a:buSzPct val="100000"/>
              <a:buChar char="•"/>
            </a:pPr>
            <a:r>
              <a:rPr lang="en-US" sz="1300" dirty="0">
                <a:solidFill>
                  <a:srgbClr val="C9CDEB"/>
                </a:solidFill>
              </a:rPr>
              <a:t>Code + live demo</a:t>
            </a:r>
            <a:endParaRPr lang="en-US" sz="1300" dirty="0"/>
          </a:p>
          <a:p>
            <a:pPr marL="152400" indent="-152400">
              <a:spcAft>
                <a:spcPts val="600"/>
              </a:spcAft>
              <a:buSzPct val="100000"/>
              <a:buChar char="•"/>
            </a:pPr>
            <a:r>
              <a:rPr lang="en-US" sz="1300" dirty="0">
                <a:solidFill>
                  <a:srgbClr val="C9CDEB"/>
                </a:solidFill>
              </a:rPr>
              <a:t>Approval to upload files</a:t>
            </a:r>
            <a:endParaRPr lang="en-US" sz="1300" dirty="0"/>
          </a:p>
        </p:txBody>
      </p:sp>
      <p:sp>
        <p:nvSpPr>
          <p:cNvPr id="24" name="text_422"/>
          <p:cNvSpPr txBox="1"/>
          <p:nvPr/>
        </p:nvSpPr>
        <p:spPr>
          <a:xfrm>
            <a:off x="7315200" y="1508760"/>
            <a:ext cx="2011680" cy="274320"/>
          </a:xfrm>
          <a:prstGeom prst="rect">
            <a:avLst/>
          </a:prstGeom>
          <a:noFill/>
          <a:ln/>
        </p:spPr>
        <p:txBody>
          <a:bodyPr wrap="square" lIns="0" tIns="0" rIns="0" bIns="0" rtlCol="0" anchor="t"/>
          <a:lstStyle/>
          <a:p>
            <a:pPr algn="ctr" indent="0" marL="0">
              <a:buNone/>
            </a:pPr>
            <a:r>
              <a:rPr lang="en-US" sz="1100" b="1" spc="100" kern="0" dirty="0">
                <a:solidFill>
                  <a:schemeClr val="accent1"/>
                </a:solidFill>
              </a:rPr>
              <a:t>NEXT</a:t>
            </a:r>
            <a:endParaRPr lang="en-US" sz="1100" dirty="0"/>
          </a:p>
        </p:txBody>
      </p:sp>
      <p:sp>
        <p:nvSpPr>
          <p:cNvPr id="25" name="dot_423"/>
          <p:cNvSpPr/>
          <p:nvPr/>
        </p:nvSpPr>
        <p:spPr>
          <a:xfrm>
            <a:off x="8119872" y="2130552"/>
            <a:ext cx="402336" cy="402336"/>
          </a:xfrm>
          <a:prstGeom prst="ellipse">
            <a:avLst/>
          </a:prstGeom>
          <a:solidFill>
            <a:schemeClr val="tx1"/>
          </a:solidFill>
          <a:ln w="31750">
            <a:solidFill>
              <a:schemeClr val="accent1"/>
            </a:solidFill>
            <a:prstDash val="solid"/>
          </a:ln>
        </p:spPr>
      </p:sp>
      <p:sp>
        <p:nvSpPr>
          <p:cNvPr id="26" name="phase_card_424"/>
          <p:cNvSpPr/>
          <p:nvPr/>
        </p:nvSpPr>
        <p:spPr>
          <a:xfrm>
            <a:off x="7269480" y="2880360"/>
            <a:ext cx="2103120" cy="2926080"/>
          </a:xfrm>
          <a:prstGeom prst="roundRect">
            <a:avLst>
              <a:gd name="adj" fmla="val 5217"/>
            </a:avLst>
          </a:prstGeom>
          <a:solidFill>
            <a:schemeClr val="tx2"/>
          </a:solidFill>
          <a:ln w="9525">
            <a:solidFill>
              <a:srgbClr val="2B3470"/>
            </a:solidFill>
            <a:prstDash val="solid"/>
          </a:ln>
        </p:spPr>
      </p:sp>
      <p:sp>
        <p:nvSpPr>
          <p:cNvPr id="27" name="text_425"/>
          <p:cNvSpPr txBox="1"/>
          <p:nvPr/>
        </p:nvSpPr>
        <p:spPr>
          <a:xfrm>
            <a:off x="7424928" y="3063240"/>
            <a:ext cx="1828800" cy="365760"/>
          </a:xfrm>
          <a:prstGeom prst="rect">
            <a:avLst/>
          </a:prstGeom>
          <a:noFill/>
          <a:ln/>
        </p:spPr>
        <p:txBody>
          <a:bodyPr wrap="square" lIns="0" tIns="0" rIns="0" bIns="0" rtlCol="0" anchor="t"/>
          <a:lstStyle/>
          <a:p>
            <a:pPr indent="0" marL="0">
              <a:buNone/>
            </a:pPr>
            <a:r>
              <a:rPr lang="en-US" sz="1700" b="1" dirty="0">
                <a:solidFill>
                  <a:schemeClr val="bg1"/>
                </a:solidFill>
              </a:rPr>
              <a:t>Publish</a:t>
            </a:r>
            <a:endParaRPr lang="en-US" sz="1700" dirty="0"/>
          </a:p>
        </p:txBody>
      </p:sp>
      <p:sp>
        <p:nvSpPr>
          <p:cNvPr id="28" name="text_426"/>
          <p:cNvSpPr txBox="1"/>
          <p:nvPr/>
        </p:nvSpPr>
        <p:spPr>
          <a:xfrm>
            <a:off x="7424928" y="3538728"/>
            <a:ext cx="1828800" cy="2148840"/>
          </a:xfrm>
          <a:prstGeom prst="rect">
            <a:avLst/>
          </a:prstGeom>
          <a:noFill/>
          <a:ln/>
        </p:spPr>
        <p:txBody>
          <a:bodyPr wrap="square" lIns="0" tIns="0" rIns="0" bIns="0" rtlCol="0" anchor="t"/>
          <a:lstStyle/>
          <a:p>
            <a:pPr marL="152400" indent="-152400">
              <a:spcAft>
                <a:spcPts val="600"/>
              </a:spcAft>
              <a:buSzPct val="100000"/>
              <a:buChar char="•"/>
            </a:pPr>
            <a:r>
              <a:rPr lang="en-US" sz="1300" dirty="0">
                <a:solidFill>
                  <a:srgbClr val="C9CDEB"/>
                </a:solidFill>
              </a:rPr>
              <a:t>Upload approved source</a:t>
            </a:r>
            <a:endParaRPr lang="en-US" sz="1300" dirty="0"/>
          </a:p>
          <a:p>
            <a:pPr marL="152400" indent="-152400">
              <a:spcAft>
                <a:spcPts val="600"/>
              </a:spcAft>
              <a:buSzPct val="100000"/>
              <a:buChar char="•"/>
            </a:pPr>
            <a:r>
              <a:rPr lang="en-US" sz="1300" dirty="0">
                <a:solidFill>
                  <a:srgbClr val="C9CDEB"/>
                </a:solidFill>
              </a:rPr>
              <a:t>Push to GitHub</a:t>
            </a:r>
            <a:endParaRPr lang="en-US" sz="1300" dirty="0"/>
          </a:p>
          <a:p>
            <a:pPr marL="152400" indent="-152400">
              <a:spcAft>
                <a:spcPts val="600"/>
              </a:spcAft>
              <a:buSzPct val="100000"/>
              <a:buChar char="•"/>
            </a:pPr>
            <a:r>
              <a:rPr lang="en-US" sz="1300" dirty="0">
                <a:solidFill>
                  <a:srgbClr val="C9CDEB"/>
                </a:solidFill>
              </a:rPr>
              <a:t>Deploy on Streamlit Community Cloud</a:t>
            </a:r>
            <a:endParaRPr lang="en-US" sz="1300" dirty="0"/>
          </a:p>
        </p:txBody>
      </p:sp>
      <p:sp>
        <p:nvSpPr>
          <p:cNvPr id="29" name="text_427"/>
          <p:cNvSpPr txBox="1"/>
          <p:nvPr/>
        </p:nvSpPr>
        <p:spPr>
          <a:xfrm>
            <a:off x="9555480" y="1508760"/>
            <a:ext cx="2011680" cy="274320"/>
          </a:xfrm>
          <a:prstGeom prst="rect">
            <a:avLst/>
          </a:prstGeom>
          <a:noFill/>
          <a:ln/>
        </p:spPr>
        <p:txBody>
          <a:bodyPr wrap="square" lIns="0" tIns="0" rIns="0" bIns="0" rtlCol="0" anchor="t"/>
          <a:lstStyle/>
          <a:p>
            <a:pPr algn="ctr" indent="0" marL="0">
              <a:buNone/>
            </a:pPr>
            <a:r>
              <a:rPr lang="en-US" sz="1100" b="1" spc="100" kern="0" dirty="0">
                <a:solidFill>
                  <a:schemeClr val="accent1"/>
                </a:solidFill>
              </a:rPr>
              <a:t>LATER</a:t>
            </a:r>
            <a:endParaRPr lang="en-US" sz="1100" dirty="0"/>
          </a:p>
        </p:txBody>
      </p:sp>
      <p:sp>
        <p:nvSpPr>
          <p:cNvPr id="30" name="dot_428"/>
          <p:cNvSpPr/>
          <p:nvPr/>
        </p:nvSpPr>
        <p:spPr>
          <a:xfrm>
            <a:off x="10360152" y="2130552"/>
            <a:ext cx="402336" cy="402336"/>
          </a:xfrm>
          <a:prstGeom prst="ellipse">
            <a:avLst/>
          </a:prstGeom>
          <a:solidFill>
            <a:schemeClr val="tx1"/>
          </a:solidFill>
          <a:ln w="31750">
            <a:solidFill>
              <a:schemeClr val="accent1"/>
            </a:solidFill>
            <a:prstDash val="solid"/>
          </a:ln>
        </p:spPr>
      </p:sp>
      <p:sp>
        <p:nvSpPr>
          <p:cNvPr id="31" name="phase_card_429"/>
          <p:cNvSpPr/>
          <p:nvPr/>
        </p:nvSpPr>
        <p:spPr>
          <a:xfrm>
            <a:off x="9509760" y="2880360"/>
            <a:ext cx="2103120" cy="2926080"/>
          </a:xfrm>
          <a:prstGeom prst="roundRect">
            <a:avLst>
              <a:gd name="adj" fmla="val 5217"/>
            </a:avLst>
          </a:prstGeom>
          <a:solidFill>
            <a:schemeClr val="tx2"/>
          </a:solidFill>
          <a:ln w="9525">
            <a:solidFill>
              <a:srgbClr val="2B3470"/>
            </a:solidFill>
            <a:prstDash val="solid"/>
          </a:ln>
        </p:spPr>
      </p:sp>
      <p:sp>
        <p:nvSpPr>
          <p:cNvPr id="32" name="text_430"/>
          <p:cNvSpPr txBox="1"/>
          <p:nvPr/>
        </p:nvSpPr>
        <p:spPr>
          <a:xfrm>
            <a:off x="9665208" y="3063240"/>
            <a:ext cx="1828800" cy="365760"/>
          </a:xfrm>
          <a:prstGeom prst="rect">
            <a:avLst/>
          </a:prstGeom>
          <a:noFill/>
          <a:ln/>
        </p:spPr>
        <p:txBody>
          <a:bodyPr wrap="square" lIns="0" tIns="0" rIns="0" bIns="0" rtlCol="0" anchor="t"/>
          <a:lstStyle/>
          <a:p>
            <a:pPr indent="0" marL="0">
              <a:buNone/>
            </a:pPr>
            <a:r>
              <a:rPr lang="en-US" sz="1700" b="1" dirty="0">
                <a:solidFill>
                  <a:schemeClr val="bg1"/>
                </a:solidFill>
              </a:rPr>
              <a:t>Extend</a:t>
            </a:r>
            <a:endParaRPr lang="en-US" sz="1700" dirty="0"/>
          </a:p>
        </p:txBody>
      </p:sp>
      <p:sp>
        <p:nvSpPr>
          <p:cNvPr id="33" name="text_431"/>
          <p:cNvSpPr txBox="1"/>
          <p:nvPr/>
        </p:nvSpPr>
        <p:spPr>
          <a:xfrm>
            <a:off x="9665208" y="3538728"/>
            <a:ext cx="1828800" cy="2148840"/>
          </a:xfrm>
          <a:prstGeom prst="rect">
            <a:avLst/>
          </a:prstGeom>
          <a:noFill/>
          <a:ln/>
        </p:spPr>
        <p:txBody>
          <a:bodyPr wrap="square" lIns="0" tIns="0" rIns="0" bIns="0" rtlCol="0" anchor="t"/>
          <a:lstStyle/>
          <a:p>
            <a:pPr marL="152400" indent="-152400">
              <a:spcAft>
                <a:spcPts val="600"/>
              </a:spcAft>
              <a:buSzPct val="100000"/>
              <a:buChar char="•"/>
            </a:pPr>
            <a:r>
              <a:rPr lang="en-US" sz="1300" dirty="0">
                <a:solidFill>
                  <a:srgbClr val="C9CDEB"/>
                </a:solidFill>
              </a:rPr>
              <a:t>Email / WhatsApp alerts</a:t>
            </a:r>
            <a:endParaRPr lang="en-US" sz="1300" dirty="0"/>
          </a:p>
          <a:p>
            <a:pPr marL="152400" indent="-152400">
              <a:spcAft>
                <a:spcPts val="600"/>
              </a:spcAft>
              <a:buSzPct val="100000"/>
              <a:buChar char="•"/>
            </a:pPr>
            <a:r>
              <a:rPr lang="en-US" sz="1300" dirty="0">
                <a:solidFill>
                  <a:srgbClr val="C9CDEB"/>
                </a:solidFill>
              </a:rPr>
              <a:t>Multi-user login</a:t>
            </a:r>
            <a:endParaRPr lang="en-US" sz="1300" dirty="0"/>
          </a:p>
          <a:p>
            <a:pPr marL="152400" indent="-152400">
              <a:spcAft>
                <a:spcPts val="600"/>
              </a:spcAft>
              <a:buSzPct val="100000"/>
              <a:buChar char="•"/>
            </a:pPr>
            <a:r>
              <a:rPr lang="en-US" sz="1300" dirty="0">
                <a:solidFill>
                  <a:srgbClr val="C9CDEB"/>
                </a:solidFill>
              </a:rPr>
              <a:t>ML classifier (scikit-learn)</a:t>
            </a:r>
            <a:endParaRPr lang="en-US" sz="1300" dirty="0"/>
          </a:p>
          <a:p>
            <a:pPr marL="152400" indent="-152400">
              <a:spcAft>
                <a:spcPts val="600"/>
              </a:spcAft>
              <a:buSzPct val="100000"/>
              <a:buChar char="•"/>
            </a:pPr>
            <a:r>
              <a:rPr lang="en-US" sz="1300" dirty="0">
                <a:solidFill>
                  <a:srgbClr val="C9CDEB"/>
                </a:solidFill>
              </a:rPr>
              <a:t>OCR for scanned files</a:t>
            </a:r>
            <a:endParaRPr lang="en-US" sz="1300" dirty="0"/>
          </a:p>
        </p:txBody>
      </p:sp>
      <p:sp>
        <p:nvSpPr>
          <p:cNvPr id="25" name="Slide Number Placeholder 0"/>
          <p:cNvSpPr>
            <a:spLocks noGrp="1"/>
          </p:cNvSpPr>
          <p:nvPr>
            <p:ph type="sldNum" sz="quarter" idx="4294967295"/>
          </p:nvPr>
        </p:nvSpPr>
        <p:spPr>
          <a:xfrm>
            <a:off x="11109960" y="6355080"/>
            <a:ext cx="530352"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bg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_432"/>
          <p:cNvSpPr txBox="1"/>
          <p:nvPr/>
        </p:nvSpPr>
        <p:spPr>
          <a:xfrm>
            <a:off x="566928" y="822960"/>
            <a:ext cx="4572000" cy="1920240"/>
          </a:xfrm>
          <a:prstGeom prst="rect">
            <a:avLst/>
          </a:prstGeom>
          <a:noFill/>
          <a:ln/>
        </p:spPr>
        <p:txBody>
          <a:bodyPr wrap="square" lIns="0" tIns="0" rIns="0" bIns="0" rtlCol="0" anchor="t"/>
          <a:lstStyle/>
          <a:p>
            <a:pPr indent="0" marL="0">
              <a:buNone/>
            </a:pPr>
            <a:r>
              <a:rPr lang="en-US" sz="14000" b="1" dirty="0">
                <a:solidFill>
                  <a:schemeClr val="accent1">
                    <a:alpha val="80000"/>
                  </a:schemeClr>
                </a:solidFill>
              </a:rPr>
              <a:t>03</a:t>
            </a:r>
            <a:endParaRPr lang="en-US" sz="14000" dirty="0"/>
          </a:p>
        </p:txBody>
      </p:sp>
      <p:sp>
        <p:nvSpPr>
          <p:cNvPr id="3" name="Text 0"/>
          <p:cNvSpPr/>
          <p:nvPr>
            <p:ph idx="100" type="title" hasCustomPrompt="1"/>
          </p:nvPr>
        </p:nvSpPr>
        <p:spPr>
          <a:xfrm>
            <a:off x="640080" y="2788920"/>
            <a:ext cx="6949440" cy="914400"/>
          </a:xfrm>
          <a:prstGeom prst="rect">
            <a:avLst/>
          </a:prstGeom>
          <a:noFill/>
          <a:ln/>
        </p:spPr>
        <p:txBody>
          <a:bodyPr wrap="square" lIns="0" tIns="0" rIns="0" bIns="0" rtlCol="0" anchor="t"/>
          <a:lstStyle/>
          <a:p>
            <a:pPr algn="l" indent="0" marL="0">
              <a:buNone/>
            </a:pPr>
            <a:r>
              <a:rPr lang="en-US" sz="4800" b="1" dirty="0">
                <a:solidFill>
                  <a:schemeClr val="bg1"/>
                </a:solidFill>
              </a:rPr>
              <a:t>Code: backend &amp; frontend</a:t>
            </a:r>
            <a:endParaRPr lang="en-US" sz="4800" dirty="0"/>
          </a:p>
        </p:txBody>
      </p:sp>
      <p:sp>
        <p:nvSpPr>
          <p:cNvPr id="4" name="Text 0"/>
          <p:cNvSpPr/>
          <p:nvPr>
            <p:ph idx="101" type="body" hasCustomPrompt="1"/>
          </p:nvPr>
        </p:nvSpPr>
        <p:spPr>
          <a:xfrm>
            <a:off x="640080" y="3794760"/>
            <a:ext cx="6400800" cy="822960"/>
          </a:xfrm>
          <a:prstGeom prst="rect">
            <a:avLst/>
          </a:prstGeom>
          <a:noFill/>
          <a:ln/>
        </p:spPr>
        <p:txBody>
          <a:bodyPr wrap="square" lIns="0" tIns="0" rIns="0" bIns="0" rtlCol="0" anchor="t"/>
          <a:lstStyle/>
          <a:p>
            <a:pPr algn="l" indent="0" marL="0">
              <a:buNone/>
            </a:pPr>
            <a:r>
              <a:rPr lang="en-US" sz="1800" dirty="0">
                <a:solidFill>
                  <a:schemeClr val="bg2"/>
                </a:solidFill>
              </a:rPr>
              <a:t>The Python files behind every screen, ready to upload after approval</a:t>
            </a:r>
            <a:endParaRPr lang="en-US" sz="1800" dirty="0"/>
          </a:p>
        </p:txBody>
      </p:sp>
      <p:sp>
        <p:nvSpPr>
          <p:cNvPr id="5" name="text_433"/>
          <p:cNvSpPr txBox="1"/>
          <p:nvPr/>
        </p:nvSpPr>
        <p:spPr>
          <a:xfrm>
            <a:off x="640080" y="4846320"/>
            <a:ext cx="3657600" cy="274320"/>
          </a:xfrm>
          <a:prstGeom prst="rect">
            <a:avLst/>
          </a:prstGeom>
          <a:noFill/>
          <a:ln/>
        </p:spPr>
        <p:txBody>
          <a:bodyPr wrap="square" lIns="0" tIns="0" rIns="0" bIns="0" rtlCol="0" anchor="t"/>
          <a:lstStyle/>
          <a:p>
            <a:pPr indent="0" marL="0">
              <a:buNone/>
            </a:pPr>
            <a:r>
              <a:rPr lang="en-US" sz="1100" b="1" spc="200" kern="0" dirty="0">
                <a:solidFill>
                  <a:schemeClr val="accent2"/>
                </a:solidFill>
              </a:rPr>
              <a:t>IN THIS SECTION</a:t>
            </a:r>
            <a:endParaRPr lang="en-US" sz="1100" dirty="0"/>
          </a:p>
        </p:txBody>
      </p:sp>
      <p:sp>
        <p:nvSpPr>
          <p:cNvPr id="6" name="pill_434"/>
          <p:cNvSpPr/>
          <p:nvPr/>
        </p:nvSpPr>
        <p:spPr>
          <a:xfrm>
            <a:off x="640080" y="5212080"/>
            <a:ext cx="1947672" cy="384048"/>
          </a:xfrm>
          <a:prstGeom prst="roundRect">
            <a:avLst>
              <a:gd name="adj" fmla="val 50000"/>
            </a:avLst>
          </a:prstGeom>
          <a:solidFill>
            <a:schemeClr val="accent1">
              <a:alpha val="22000"/>
            </a:schemeClr>
          </a:solidFill>
          <a:ln/>
        </p:spPr>
      </p:sp>
      <p:sp>
        <p:nvSpPr>
          <p:cNvPr id="7" name="text_435"/>
          <p:cNvSpPr txBox="1"/>
          <p:nvPr/>
        </p:nvSpPr>
        <p:spPr>
          <a:xfrm>
            <a:off x="640080" y="5212080"/>
            <a:ext cx="1947672" cy="384048"/>
          </a:xfrm>
          <a:prstGeom prst="rect">
            <a:avLst/>
          </a:prstGeom>
          <a:noFill/>
          <a:ln/>
        </p:spPr>
        <p:txBody>
          <a:bodyPr wrap="square" lIns="0" tIns="0" rIns="0" bIns="0" rtlCol="0" anchor="ctr"/>
          <a:lstStyle/>
          <a:p>
            <a:pPr algn="ctr" indent="0" marL="0">
              <a:buNone/>
            </a:pPr>
            <a:r>
              <a:rPr lang="en-US" sz="1200" b="1" dirty="0">
                <a:solidFill>
                  <a:schemeClr val="bg1"/>
                </a:solidFill>
              </a:rPr>
              <a:t>10 backend modules</a:t>
            </a:r>
            <a:endParaRPr lang="en-US" sz="1200" dirty="0"/>
          </a:p>
        </p:txBody>
      </p:sp>
      <p:sp>
        <p:nvSpPr>
          <p:cNvPr id="8" name="pill_436"/>
          <p:cNvSpPr/>
          <p:nvPr/>
        </p:nvSpPr>
        <p:spPr>
          <a:xfrm>
            <a:off x="2724912" y="5212080"/>
            <a:ext cx="1773936" cy="384048"/>
          </a:xfrm>
          <a:prstGeom prst="roundRect">
            <a:avLst>
              <a:gd name="adj" fmla="val 50000"/>
            </a:avLst>
          </a:prstGeom>
          <a:solidFill>
            <a:schemeClr val="accent1">
              <a:alpha val="22000"/>
            </a:schemeClr>
          </a:solidFill>
          <a:ln/>
        </p:spPr>
      </p:sp>
      <p:sp>
        <p:nvSpPr>
          <p:cNvPr id="9" name="text_437"/>
          <p:cNvSpPr txBox="1"/>
          <p:nvPr/>
        </p:nvSpPr>
        <p:spPr>
          <a:xfrm>
            <a:off x="2724912" y="5212080"/>
            <a:ext cx="1773936" cy="384048"/>
          </a:xfrm>
          <a:prstGeom prst="rect">
            <a:avLst/>
          </a:prstGeom>
          <a:noFill/>
          <a:ln/>
        </p:spPr>
        <p:txBody>
          <a:bodyPr wrap="square" lIns="0" tIns="0" rIns="0" bIns="0" rtlCol="0" anchor="ctr"/>
          <a:lstStyle/>
          <a:p>
            <a:pPr algn="ctr" indent="0" marL="0">
              <a:buNone/>
            </a:pPr>
            <a:r>
              <a:rPr lang="en-US" sz="1200" b="1" dirty="0">
                <a:solidFill>
                  <a:schemeClr val="bg1"/>
                </a:solidFill>
              </a:rPr>
              <a:t>3 frontend files</a:t>
            </a:r>
            <a:endParaRPr lang="en-US" sz="1200" dirty="0"/>
          </a:p>
        </p:txBody>
      </p:sp>
      <p:sp>
        <p:nvSpPr>
          <p:cNvPr id="10" name="pill_438"/>
          <p:cNvSpPr/>
          <p:nvPr/>
        </p:nvSpPr>
        <p:spPr>
          <a:xfrm>
            <a:off x="4636008" y="5212080"/>
            <a:ext cx="1600200" cy="384048"/>
          </a:xfrm>
          <a:prstGeom prst="roundRect">
            <a:avLst>
              <a:gd name="adj" fmla="val 50000"/>
            </a:avLst>
          </a:prstGeom>
          <a:solidFill>
            <a:schemeClr val="accent1">
              <a:alpha val="22000"/>
            </a:schemeClr>
          </a:solidFill>
          <a:ln/>
        </p:spPr>
      </p:sp>
      <p:sp>
        <p:nvSpPr>
          <p:cNvPr id="11" name="text_439"/>
          <p:cNvSpPr txBox="1"/>
          <p:nvPr/>
        </p:nvSpPr>
        <p:spPr>
          <a:xfrm>
            <a:off x="4636008" y="5212080"/>
            <a:ext cx="1600200" cy="384048"/>
          </a:xfrm>
          <a:prstGeom prst="rect">
            <a:avLst/>
          </a:prstGeom>
          <a:noFill/>
          <a:ln/>
        </p:spPr>
        <p:txBody>
          <a:bodyPr wrap="square" lIns="0" tIns="0" rIns="0" bIns="0" rtlCol="0" anchor="ctr"/>
          <a:lstStyle/>
          <a:p>
            <a:pPr algn="ctr" indent="0" marL="0">
              <a:buNone/>
            </a:pPr>
            <a:r>
              <a:rPr lang="en-US" sz="1200" b="1" dirty="0">
                <a:solidFill>
                  <a:schemeClr val="bg1"/>
                </a:solidFill>
              </a:rPr>
              <a:t>Code spotlight</a:t>
            </a:r>
            <a:endParaRPr lang="en-US" sz="1200" dirty="0"/>
          </a:p>
        </p:txBody>
      </p:sp>
      <p:sp>
        <p:nvSpPr>
          <p:cNvPr id="12" name="pill_440"/>
          <p:cNvSpPr/>
          <p:nvPr/>
        </p:nvSpPr>
        <p:spPr>
          <a:xfrm>
            <a:off x="6373368" y="5212080"/>
            <a:ext cx="1426464" cy="384048"/>
          </a:xfrm>
          <a:prstGeom prst="roundRect">
            <a:avLst>
              <a:gd name="adj" fmla="val 50000"/>
            </a:avLst>
          </a:prstGeom>
          <a:solidFill>
            <a:schemeClr val="accent1">
              <a:alpha val="22000"/>
            </a:schemeClr>
          </a:solidFill>
          <a:ln/>
        </p:spPr>
      </p:sp>
      <p:sp>
        <p:nvSpPr>
          <p:cNvPr id="13" name="text_441"/>
          <p:cNvSpPr txBox="1"/>
          <p:nvPr/>
        </p:nvSpPr>
        <p:spPr>
          <a:xfrm>
            <a:off x="6373368" y="5212080"/>
            <a:ext cx="1426464" cy="384048"/>
          </a:xfrm>
          <a:prstGeom prst="rect">
            <a:avLst/>
          </a:prstGeom>
          <a:noFill/>
          <a:ln/>
        </p:spPr>
        <p:txBody>
          <a:bodyPr wrap="square" lIns="0" tIns="0" rIns="0" bIns="0" rtlCol="0" anchor="ctr"/>
          <a:lstStyle/>
          <a:p>
            <a:pPr algn="ctr" indent="0" marL="0">
              <a:buNone/>
            </a:pPr>
            <a:r>
              <a:rPr lang="en-US" sz="1200" b="1" dirty="0">
                <a:solidFill>
                  <a:schemeClr val="bg1"/>
                </a:solidFill>
              </a:rPr>
              <a:t>Live screens</a:t>
            </a:r>
            <a:endParaRPr lang="en-US" sz="1200" dirty="0"/>
          </a:p>
        </p:txBody>
      </p:sp>
      <p:pic>
        <p:nvPicPr>
          <p:cNvPr id="14" name="logo_watermark_442" descr="/tmp/claude-0/-home-claude/584731ee-e493-5c78-a637-0b254e057472/scratchpad/deck/img/logo.png">    </p:cNvPr>
          <p:cNvPicPr>
            <a:picLocks noChangeAspect="1"/>
          </p:cNvPicPr>
          <p:nvPr/>
        </p:nvPicPr>
        <p:blipFill>
          <a:blip r:embed="rId1">
            <a:alphaModFix amt="18000"/>
          </a:blip>
          <a:stretch>
            <a:fillRect/>
          </a:stretch>
        </p:blipFill>
        <p:spPr>
          <a:xfrm>
            <a:off x="8229600" y="1463040"/>
            <a:ext cx="3291840" cy="329184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8229600" cy="274320"/>
          </a:xfrm>
          <a:prstGeom prst="rect">
            <a:avLst/>
          </a:prstGeom>
          <a:noFill/>
          <a:ln/>
        </p:spPr>
        <p:txBody>
          <a:bodyPr wrap="square" lIns="0" tIns="0" rIns="0" bIns="0" rtlCol="0" anchor="ctr"/>
          <a:lstStyle/>
          <a:p>
            <a:pPr algn="l" indent="0" marL="0">
              <a:buNone/>
            </a:pPr>
            <a:r>
              <a:rPr lang="en-US" sz="1200" b="1" spc="200" kern="0" dirty="0">
                <a:solidFill>
                  <a:schemeClr val="accent2"/>
                </a:solidFill>
              </a:rPr>
              <a:t>03 · CODE  ·  BACKEND</a:t>
            </a:r>
            <a:endParaRPr lang="en-US" sz="1200" dirty="0"/>
          </a:p>
        </p:txBody>
      </p:sp>
      <p:sp>
        <p:nvSpPr>
          <p:cNvPr id="3" name="Text 0"/>
          <p:cNvSpPr/>
          <p:nvPr>
            <p:ph idx="101" type="title" hasCustomPrompt="1"/>
          </p:nvPr>
        </p:nvSpPr>
        <p:spPr>
          <a:xfrm>
            <a:off x="548640" y="603504"/>
            <a:ext cx="11064240" cy="685800"/>
          </a:xfrm>
          <a:prstGeom prst="rect">
            <a:avLst/>
          </a:prstGeom>
          <a:noFill/>
          <a:ln/>
        </p:spPr>
        <p:txBody>
          <a:bodyPr wrap="square" lIns="0" tIns="0" rIns="0" bIns="0" rtlCol="0" anchor="ctr"/>
          <a:lstStyle/>
          <a:p>
            <a:pPr algn="l" indent="0" marL="0">
              <a:buNone/>
            </a:pPr>
            <a:r>
              <a:rPr lang="en-US" sz="3200" b="1" dirty="0">
                <a:solidFill>
                  <a:schemeClr val="bg1"/>
                </a:solidFill>
              </a:rPr>
              <a:t>Backend: 10 Python modules in lifeadmin/</a:t>
            </a:r>
            <a:endParaRPr lang="en-US" sz="3200" dirty="0"/>
          </a:p>
        </p:txBody>
      </p:sp>
      <p:sp>
        <p:nvSpPr>
          <p:cNvPr id="4" name="file_card_443"/>
          <p:cNvSpPr/>
          <p:nvPr/>
        </p:nvSpPr>
        <p:spPr>
          <a:xfrm>
            <a:off x="548640" y="1508760"/>
            <a:ext cx="3429000" cy="786384"/>
          </a:xfrm>
          <a:prstGeom prst="roundRect">
            <a:avLst>
              <a:gd name="adj" fmla="val 13953"/>
            </a:avLst>
          </a:prstGeom>
          <a:solidFill>
            <a:schemeClr val="tx2"/>
          </a:solidFill>
          <a:ln w="9525">
            <a:solidFill>
              <a:srgbClr val="2B3470"/>
            </a:solidFill>
            <a:prstDash val="solid"/>
          </a:ln>
        </p:spPr>
      </p:sp>
      <p:sp>
        <p:nvSpPr>
          <p:cNvPr id="5" name="icon_bg_444"/>
          <p:cNvSpPr/>
          <p:nvPr/>
        </p:nvSpPr>
        <p:spPr>
          <a:xfrm>
            <a:off x="694944" y="1655064"/>
            <a:ext cx="493776" cy="493776"/>
          </a:xfrm>
          <a:prstGeom prst="roundRect">
            <a:avLst>
              <a:gd name="adj" fmla="val 24000"/>
            </a:avLst>
          </a:prstGeom>
          <a:solidFill>
            <a:schemeClr val="accent6">
              <a:alpha val="22000"/>
            </a:schemeClr>
          </a:solidFill>
          <a:ln/>
        </p:spPr>
      </p:sp>
      <p:pic>
        <p:nvPicPr>
          <p:cNvPr id="6" name="icon_445" descr="/tmp/claude-0/-home-claude/584731ee-e493-5c78-a637-0b254e057472/scratchpad/deck/img/i_db.png">    </p:cNvPr>
          <p:cNvPicPr>
            <a:picLocks noChangeAspect="1"/>
          </p:cNvPicPr>
          <p:nvPr/>
        </p:nvPicPr>
        <p:blipFill>
          <a:blip r:embed="rId1"/>
          <a:stretch>
            <a:fillRect/>
          </a:stretch>
        </p:blipFill>
        <p:spPr>
          <a:xfrm>
            <a:off x="813450" y="1773570"/>
            <a:ext cx="256764" cy="256764"/>
          </a:xfrm>
          <a:prstGeom prst="rect">
            <a:avLst/>
          </a:prstGeom>
        </p:spPr>
      </p:pic>
      <p:sp>
        <p:nvSpPr>
          <p:cNvPr id="7" name="text_446"/>
          <p:cNvSpPr txBox="1"/>
          <p:nvPr/>
        </p:nvSpPr>
        <p:spPr>
          <a:xfrm>
            <a:off x="1325880" y="1609344"/>
            <a:ext cx="2560320" cy="292608"/>
          </a:xfrm>
          <a:prstGeom prst="rect">
            <a:avLst/>
          </a:prstGeom>
          <a:noFill/>
          <a:ln/>
        </p:spPr>
        <p:txBody>
          <a:bodyPr wrap="square" lIns="0" tIns="0" rIns="0" bIns="0" rtlCol="0" anchor="t"/>
          <a:lstStyle/>
          <a:p>
            <a:pPr indent="0" marL="0">
              <a:buNone/>
            </a:pPr>
            <a:r>
              <a:rPr lang="en-US" sz="1400" b="1" dirty="0">
                <a:solidFill>
                  <a:srgbClr val="C7CAFF"/>
                </a:solidFill>
                <a:latin typeface="Courier New" pitchFamily="34" charset="0"/>
                <a:ea typeface="Courier New" pitchFamily="34" charset="-122"/>
                <a:cs typeface="Courier New" pitchFamily="34" charset="-120"/>
              </a:rPr>
              <a:t>models.py</a:t>
            </a:r>
            <a:endParaRPr lang="en-US" sz="1400" dirty="0"/>
          </a:p>
        </p:txBody>
      </p:sp>
      <p:sp>
        <p:nvSpPr>
          <p:cNvPr id="8" name="text_447"/>
          <p:cNvSpPr txBox="1"/>
          <p:nvPr/>
        </p:nvSpPr>
        <p:spPr>
          <a:xfrm>
            <a:off x="1325880" y="1911096"/>
            <a:ext cx="2560320" cy="329184"/>
          </a:xfrm>
          <a:prstGeom prst="rect">
            <a:avLst/>
          </a:prstGeom>
          <a:noFill/>
          <a:ln/>
        </p:spPr>
        <p:txBody>
          <a:bodyPr wrap="square" lIns="0" tIns="0" rIns="0" bIns="0" rtlCol="0" anchor="t"/>
          <a:lstStyle/>
          <a:p>
            <a:pPr indent="0" marL="0">
              <a:buNone/>
            </a:pPr>
            <a:r>
              <a:rPr lang="en-US" sz="1100" dirty="0">
                <a:solidFill>
                  <a:schemeClr val="bg2"/>
                </a:solidFill>
              </a:rPr>
              <a:t>Document dataclass shared by every module</a:t>
            </a:r>
            <a:endParaRPr lang="en-US" sz="1100" dirty="0"/>
          </a:p>
        </p:txBody>
      </p:sp>
      <p:sp>
        <p:nvSpPr>
          <p:cNvPr id="9" name="file_card_448"/>
          <p:cNvSpPr/>
          <p:nvPr/>
        </p:nvSpPr>
        <p:spPr>
          <a:xfrm>
            <a:off x="4160520" y="1508760"/>
            <a:ext cx="3429000" cy="786384"/>
          </a:xfrm>
          <a:prstGeom prst="roundRect">
            <a:avLst>
              <a:gd name="adj" fmla="val 13953"/>
            </a:avLst>
          </a:prstGeom>
          <a:solidFill>
            <a:schemeClr val="tx2"/>
          </a:solidFill>
          <a:ln w="9525">
            <a:solidFill>
              <a:srgbClr val="2B3470"/>
            </a:solidFill>
            <a:prstDash val="solid"/>
          </a:ln>
        </p:spPr>
      </p:sp>
      <p:sp>
        <p:nvSpPr>
          <p:cNvPr id="10" name="icon_bg_449"/>
          <p:cNvSpPr/>
          <p:nvPr/>
        </p:nvSpPr>
        <p:spPr>
          <a:xfrm>
            <a:off x="4306824" y="1655064"/>
            <a:ext cx="493776" cy="493776"/>
          </a:xfrm>
          <a:prstGeom prst="roundRect">
            <a:avLst>
              <a:gd name="adj" fmla="val 24000"/>
            </a:avLst>
          </a:prstGeom>
          <a:solidFill>
            <a:schemeClr val="accent6">
              <a:alpha val="22000"/>
            </a:schemeClr>
          </a:solidFill>
          <a:ln/>
        </p:spPr>
      </p:sp>
      <p:pic>
        <p:nvPicPr>
          <p:cNvPr id="11" name="icon_450" descr="/tmp/claude-0/-home-claude/584731ee-e493-5c78-a637-0b254e057472/scratchpad/deck/img/i_db.png">    </p:cNvPr>
          <p:cNvPicPr>
            <a:picLocks noChangeAspect="1"/>
          </p:cNvPicPr>
          <p:nvPr/>
        </p:nvPicPr>
        <p:blipFill>
          <a:blip r:embed="rId2"/>
          <a:stretch>
            <a:fillRect/>
          </a:stretch>
        </p:blipFill>
        <p:spPr>
          <a:xfrm>
            <a:off x="4425330" y="1773570"/>
            <a:ext cx="256764" cy="256764"/>
          </a:xfrm>
          <a:prstGeom prst="rect">
            <a:avLst/>
          </a:prstGeom>
        </p:spPr>
      </p:pic>
      <p:sp>
        <p:nvSpPr>
          <p:cNvPr id="12" name="text_451"/>
          <p:cNvSpPr txBox="1"/>
          <p:nvPr/>
        </p:nvSpPr>
        <p:spPr>
          <a:xfrm>
            <a:off x="4937760" y="1609344"/>
            <a:ext cx="2560320" cy="292608"/>
          </a:xfrm>
          <a:prstGeom prst="rect">
            <a:avLst/>
          </a:prstGeom>
          <a:noFill/>
          <a:ln/>
        </p:spPr>
        <p:txBody>
          <a:bodyPr wrap="square" lIns="0" tIns="0" rIns="0" bIns="0" rtlCol="0" anchor="t"/>
          <a:lstStyle/>
          <a:p>
            <a:pPr indent="0" marL="0">
              <a:buNone/>
            </a:pPr>
            <a:r>
              <a:rPr lang="en-US" sz="1400" b="1" dirty="0">
                <a:solidFill>
                  <a:srgbClr val="C7CAFF"/>
                </a:solidFill>
                <a:latin typeface="Courier New" pitchFamily="34" charset="0"/>
                <a:ea typeface="Courier New" pitchFamily="34" charset="-122"/>
                <a:cs typeface="Courier New" pitchFamily="34" charset="-120"/>
              </a:rPr>
              <a:t>database.py</a:t>
            </a:r>
            <a:endParaRPr lang="en-US" sz="1400" dirty="0"/>
          </a:p>
        </p:txBody>
      </p:sp>
      <p:sp>
        <p:nvSpPr>
          <p:cNvPr id="13" name="text_452"/>
          <p:cNvSpPr txBox="1"/>
          <p:nvPr/>
        </p:nvSpPr>
        <p:spPr>
          <a:xfrm>
            <a:off x="4937760" y="1911096"/>
            <a:ext cx="2560320" cy="329184"/>
          </a:xfrm>
          <a:prstGeom prst="rect">
            <a:avLst/>
          </a:prstGeom>
          <a:noFill/>
          <a:ln/>
        </p:spPr>
        <p:txBody>
          <a:bodyPr wrap="square" lIns="0" tIns="0" rIns="0" bIns="0" rtlCol="0" anchor="t"/>
          <a:lstStyle/>
          <a:p>
            <a:pPr indent="0" marL="0">
              <a:buNone/>
            </a:pPr>
            <a:r>
              <a:rPr lang="en-US" sz="1100" dirty="0">
                <a:solidFill>
                  <a:schemeClr val="bg2"/>
                </a:solidFill>
              </a:rPr>
              <a:t>SQLite CRUD, reminders, activity log</a:t>
            </a:r>
            <a:endParaRPr lang="en-US" sz="1100" dirty="0"/>
          </a:p>
        </p:txBody>
      </p:sp>
      <p:sp>
        <p:nvSpPr>
          <p:cNvPr id="14" name="file_card_453"/>
          <p:cNvSpPr/>
          <p:nvPr/>
        </p:nvSpPr>
        <p:spPr>
          <a:xfrm>
            <a:off x="548640" y="2423160"/>
            <a:ext cx="3429000" cy="786384"/>
          </a:xfrm>
          <a:prstGeom prst="roundRect">
            <a:avLst>
              <a:gd name="adj" fmla="val 13953"/>
            </a:avLst>
          </a:prstGeom>
          <a:solidFill>
            <a:schemeClr val="tx2"/>
          </a:solidFill>
          <a:ln w="9525">
            <a:solidFill>
              <a:srgbClr val="2B3470"/>
            </a:solidFill>
            <a:prstDash val="solid"/>
          </a:ln>
        </p:spPr>
      </p:sp>
      <p:sp>
        <p:nvSpPr>
          <p:cNvPr id="15" name="icon_bg_454"/>
          <p:cNvSpPr/>
          <p:nvPr/>
        </p:nvSpPr>
        <p:spPr>
          <a:xfrm>
            <a:off x="694944" y="2569464"/>
            <a:ext cx="493776" cy="493776"/>
          </a:xfrm>
          <a:prstGeom prst="roundRect">
            <a:avLst>
              <a:gd name="adj" fmla="val 24000"/>
            </a:avLst>
          </a:prstGeom>
          <a:solidFill>
            <a:schemeClr val="accent1">
              <a:alpha val="22000"/>
            </a:schemeClr>
          </a:solidFill>
          <a:ln/>
        </p:spPr>
      </p:sp>
      <p:pic>
        <p:nvPicPr>
          <p:cNvPr id="16" name="icon_455" descr="/tmp/claude-0/-home-claude/584731ee-e493-5c78-a637-0b254e057472/scratchpad/deck/img/i_file.png">    </p:cNvPr>
          <p:cNvPicPr>
            <a:picLocks noChangeAspect="1"/>
          </p:cNvPicPr>
          <p:nvPr/>
        </p:nvPicPr>
        <p:blipFill>
          <a:blip r:embed="rId3"/>
          <a:stretch>
            <a:fillRect/>
          </a:stretch>
        </p:blipFill>
        <p:spPr>
          <a:xfrm>
            <a:off x="813450" y="2687970"/>
            <a:ext cx="256764" cy="256764"/>
          </a:xfrm>
          <a:prstGeom prst="rect">
            <a:avLst/>
          </a:prstGeom>
        </p:spPr>
      </p:pic>
      <p:sp>
        <p:nvSpPr>
          <p:cNvPr id="17" name="text_456"/>
          <p:cNvSpPr txBox="1"/>
          <p:nvPr/>
        </p:nvSpPr>
        <p:spPr>
          <a:xfrm>
            <a:off x="1325880" y="2523744"/>
            <a:ext cx="2560320" cy="292608"/>
          </a:xfrm>
          <a:prstGeom prst="rect">
            <a:avLst/>
          </a:prstGeom>
          <a:noFill/>
          <a:ln/>
        </p:spPr>
        <p:txBody>
          <a:bodyPr wrap="square" lIns="0" tIns="0" rIns="0" bIns="0" rtlCol="0" anchor="t"/>
          <a:lstStyle/>
          <a:p>
            <a:pPr indent="0" marL="0">
              <a:buNone/>
            </a:pPr>
            <a:r>
              <a:rPr lang="en-US" sz="1400" b="1" dirty="0">
                <a:solidFill>
                  <a:srgbClr val="C7CAFF"/>
                </a:solidFill>
                <a:latin typeface="Courier New" pitchFamily="34" charset="0"/>
                <a:ea typeface="Courier New" pitchFamily="34" charset="-122"/>
                <a:cs typeface="Courier New" pitchFamily="34" charset="-120"/>
              </a:rPr>
              <a:t>extractor.py</a:t>
            </a:r>
            <a:endParaRPr lang="en-US" sz="1400" dirty="0"/>
          </a:p>
        </p:txBody>
      </p:sp>
      <p:sp>
        <p:nvSpPr>
          <p:cNvPr id="18" name="text_457"/>
          <p:cNvSpPr txBox="1"/>
          <p:nvPr/>
        </p:nvSpPr>
        <p:spPr>
          <a:xfrm>
            <a:off x="1325880" y="2825496"/>
            <a:ext cx="2560320" cy="329184"/>
          </a:xfrm>
          <a:prstGeom prst="rect">
            <a:avLst/>
          </a:prstGeom>
          <a:noFill/>
          <a:ln/>
        </p:spPr>
        <p:txBody>
          <a:bodyPr wrap="square" lIns="0" tIns="0" rIns="0" bIns="0" rtlCol="0" anchor="t"/>
          <a:lstStyle/>
          <a:p>
            <a:pPr indent="0" marL="0">
              <a:buNone/>
            </a:pPr>
            <a:r>
              <a:rPr lang="en-US" sz="1100" dirty="0">
                <a:solidFill>
                  <a:schemeClr val="bg2"/>
                </a:solidFill>
              </a:rPr>
              <a:t>File checks + text from PDF/DOCX/XLSX</a:t>
            </a:r>
            <a:endParaRPr lang="en-US" sz="1100" dirty="0"/>
          </a:p>
        </p:txBody>
      </p:sp>
      <p:sp>
        <p:nvSpPr>
          <p:cNvPr id="19" name="file_card_458"/>
          <p:cNvSpPr/>
          <p:nvPr/>
        </p:nvSpPr>
        <p:spPr>
          <a:xfrm>
            <a:off x="4160520" y="2423160"/>
            <a:ext cx="3429000" cy="786384"/>
          </a:xfrm>
          <a:prstGeom prst="roundRect">
            <a:avLst>
              <a:gd name="adj" fmla="val 13953"/>
            </a:avLst>
          </a:prstGeom>
          <a:solidFill>
            <a:schemeClr val="tx2"/>
          </a:solidFill>
          <a:ln w="9525">
            <a:solidFill>
              <a:srgbClr val="2B3470"/>
            </a:solidFill>
            <a:prstDash val="solid"/>
          </a:ln>
        </p:spPr>
      </p:sp>
      <p:sp>
        <p:nvSpPr>
          <p:cNvPr id="20" name="icon_bg_459"/>
          <p:cNvSpPr/>
          <p:nvPr/>
        </p:nvSpPr>
        <p:spPr>
          <a:xfrm>
            <a:off x="4306824" y="2569464"/>
            <a:ext cx="493776" cy="493776"/>
          </a:xfrm>
          <a:prstGeom prst="roundRect">
            <a:avLst>
              <a:gd name="adj" fmla="val 24000"/>
            </a:avLst>
          </a:prstGeom>
          <a:solidFill>
            <a:schemeClr val="accent1">
              <a:alpha val="22000"/>
            </a:schemeClr>
          </a:solidFill>
          <a:ln/>
        </p:spPr>
      </p:sp>
      <p:pic>
        <p:nvPicPr>
          <p:cNvPr id="21" name="icon_460" descr="/tmp/claude-0/-home-claude/584731ee-e493-5c78-a637-0b254e057472/scratchpad/deck/img/i_tags.png">    </p:cNvPr>
          <p:cNvPicPr>
            <a:picLocks noChangeAspect="1"/>
          </p:cNvPicPr>
          <p:nvPr/>
        </p:nvPicPr>
        <p:blipFill>
          <a:blip r:embed="rId4"/>
          <a:stretch>
            <a:fillRect/>
          </a:stretch>
        </p:blipFill>
        <p:spPr>
          <a:xfrm>
            <a:off x="4425330" y="2687970"/>
            <a:ext cx="256764" cy="256764"/>
          </a:xfrm>
          <a:prstGeom prst="rect">
            <a:avLst/>
          </a:prstGeom>
        </p:spPr>
      </p:pic>
      <p:sp>
        <p:nvSpPr>
          <p:cNvPr id="22" name="text_461"/>
          <p:cNvSpPr txBox="1"/>
          <p:nvPr/>
        </p:nvSpPr>
        <p:spPr>
          <a:xfrm>
            <a:off x="4937760" y="2523744"/>
            <a:ext cx="2560320" cy="292608"/>
          </a:xfrm>
          <a:prstGeom prst="rect">
            <a:avLst/>
          </a:prstGeom>
          <a:noFill/>
          <a:ln/>
        </p:spPr>
        <p:txBody>
          <a:bodyPr wrap="square" lIns="0" tIns="0" rIns="0" bIns="0" rtlCol="0" anchor="t"/>
          <a:lstStyle/>
          <a:p>
            <a:pPr indent="0" marL="0">
              <a:buNone/>
            </a:pPr>
            <a:r>
              <a:rPr lang="en-US" sz="1400" b="1" dirty="0">
                <a:solidFill>
                  <a:srgbClr val="C7CAFF"/>
                </a:solidFill>
                <a:latin typeface="Courier New" pitchFamily="34" charset="0"/>
                <a:ea typeface="Courier New" pitchFamily="34" charset="-122"/>
                <a:cs typeface="Courier New" pitchFamily="34" charset="-120"/>
              </a:rPr>
              <a:t>classifier.py</a:t>
            </a:r>
            <a:endParaRPr lang="en-US" sz="1400" dirty="0"/>
          </a:p>
        </p:txBody>
      </p:sp>
      <p:sp>
        <p:nvSpPr>
          <p:cNvPr id="23" name="text_462"/>
          <p:cNvSpPr txBox="1"/>
          <p:nvPr/>
        </p:nvSpPr>
        <p:spPr>
          <a:xfrm>
            <a:off x="4937760" y="2825496"/>
            <a:ext cx="2560320" cy="329184"/>
          </a:xfrm>
          <a:prstGeom prst="rect">
            <a:avLst/>
          </a:prstGeom>
          <a:noFill/>
          <a:ln/>
        </p:spPr>
        <p:txBody>
          <a:bodyPr wrap="square" lIns="0" tIns="0" rIns="0" bIns="0" rtlCol="0" anchor="t"/>
          <a:lstStyle/>
          <a:p>
            <a:pPr indent="0" marL="0">
              <a:buNone/>
            </a:pPr>
            <a:r>
              <a:rPr lang="en-US" sz="1100" dirty="0">
                <a:solidFill>
                  <a:schemeClr val="bg2"/>
                </a:solidFill>
              </a:rPr>
              <a:t>Keyword scoring → type + confidence</a:t>
            </a:r>
            <a:endParaRPr lang="en-US" sz="1100" dirty="0"/>
          </a:p>
        </p:txBody>
      </p:sp>
      <p:sp>
        <p:nvSpPr>
          <p:cNvPr id="24" name="file_card_463"/>
          <p:cNvSpPr/>
          <p:nvPr/>
        </p:nvSpPr>
        <p:spPr>
          <a:xfrm>
            <a:off x="548640" y="3337560"/>
            <a:ext cx="3429000" cy="786384"/>
          </a:xfrm>
          <a:prstGeom prst="roundRect">
            <a:avLst>
              <a:gd name="adj" fmla="val 13953"/>
            </a:avLst>
          </a:prstGeom>
          <a:solidFill>
            <a:schemeClr val="tx2"/>
          </a:solidFill>
          <a:ln w="9525">
            <a:solidFill>
              <a:srgbClr val="2B3470"/>
            </a:solidFill>
            <a:prstDash val="solid"/>
          </a:ln>
        </p:spPr>
      </p:sp>
      <p:sp>
        <p:nvSpPr>
          <p:cNvPr id="25" name="icon_bg_464"/>
          <p:cNvSpPr/>
          <p:nvPr/>
        </p:nvSpPr>
        <p:spPr>
          <a:xfrm>
            <a:off x="694944" y="3483864"/>
            <a:ext cx="493776" cy="493776"/>
          </a:xfrm>
          <a:prstGeom prst="roundRect">
            <a:avLst>
              <a:gd name="adj" fmla="val 24000"/>
            </a:avLst>
          </a:prstGeom>
          <a:solidFill>
            <a:schemeClr val="accent1">
              <a:alpha val="22000"/>
            </a:schemeClr>
          </a:solidFill>
          <a:ln/>
        </p:spPr>
      </p:sp>
      <p:pic>
        <p:nvPicPr>
          <p:cNvPr id="26" name="icon_465" descr="/tmp/claude-0/-home-claude/584731ee-e493-5c78-a637-0b254e057472/scratchpad/deck/img/i_regex.png">    </p:cNvPr>
          <p:cNvPicPr>
            <a:picLocks noChangeAspect="1"/>
          </p:cNvPicPr>
          <p:nvPr/>
        </p:nvPicPr>
        <p:blipFill>
          <a:blip r:embed="rId5"/>
          <a:stretch>
            <a:fillRect/>
          </a:stretch>
        </p:blipFill>
        <p:spPr>
          <a:xfrm>
            <a:off x="813450" y="3602370"/>
            <a:ext cx="256764" cy="256764"/>
          </a:xfrm>
          <a:prstGeom prst="rect">
            <a:avLst/>
          </a:prstGeom>
        </p:spPr>
      </p:pic>
      <p:sp>
        <p:nvSpPr>
          <p:cNvPr id="27" name="text_466"/>
          <p:cNvSpPr txBox="1"/>
          <p:nvPr/>
        </p:nvSpPr>
        <p:spPr>
          <a:xfrm>
            <a:off x="1325880" y="3438144"/>
            <a:ext cx="2560320" cy="292608"/>
          </a:xfrm>
          <a:prstGeom prst="rect">
            <a:avLst/>
          </a:prstGeom>
          <a:noFill/>
          <a:ln/>
        </p:spPr>
        <p:txBody>
          <a:bodyPr wrap="square" lIns="0" tIns="0" rIns="0" bIns="0" rtlCol="0" anchor="t"/>
          <a:lstStyle/>
          <a:p>
            <a:pPr indent="0" marL="0">
              <a:buNone/>
            </a:pPr>
            <a:r>
              <a:rPr lang="en-US" sz="1400" b="1" dirty="0">
                <a:solidFill>
                  <a:srgbClr val="C7CAFF"/>
                </a:solidFill>
                <a:latin typeface="Courier New" pitchFamily="34" charset="0"/>
                <a:ea typeface="Courier New" pitchFamily="34" charset="-122"/>
                <a:cs typeface="Courier New" pitchFamily="34" charset="-120"/>
              </a:rPr>
              <a:t>parser.py</a:t>
            </a:r>
            <a:endParaRPr lang="en-US" sz="1400" dirty="0"/>
          </a:p>
        </p:txBody>
      </p:sp>
      <p:sp>
        <p:nvSpPr>
          <p:cNvPr id="28" name="text_467"/>
          <p:cNvSpPr txBox="1"/>
          <p:nvPr/>
        </p:nvSpPr>
        <p:spPr>
          <a:xfrm>
            <a:off x="1325880" y="3739896"/>
            <a:ext cx="2560320" cy="329184"/>
          </a:xfrm>
          <a:prstGeom prst="rect">
            <a:avLst/>
          </a:prstGeom>
          <a:noFill/>
          <a:ln/>
        </p:spPr>
        <p:txBody>
          <a:bodyPr wrap="square" lIns="0" tIns="0" rIns="0" bIns="0" rtlCol="0" anchor="t"/>
          <a:lstStyle/>
          <a:p>
            <a:pPr indent="0" marL="0">
              <a:buNone/>
            </a:pPr>
            <a:r>
              <a:rPr lang="en-US" sz="1100" dirty="0">
                <a:solidFill>
                  <a:schemeClr val="bg2"/>
                </a:solidFill>
              </a:rPr>
              <a:t>Regex: dates, numbers, names, vehicle, ₹</a:t>
            </a:r>
            <a:endParaRPr lang="en-US" sz="1100" dirty="0"/>
          </a:p>
        </p:txBody>
      </p:sp>
      <p:sp>
        <p:nvSpPr>
          <p:cNvPr id="29" name="file_card_468"/>
          <p:cNvSpPr/>
          <p:nvPr/>
        </p:nvSpPr>
        <p:spPr>
          <a:xfrm>
            <a:off x="4160520" y="3337560"/>
            <a:ext cx="3429000" cy="786384"/>
          </a:xfrm>
          <a:prstGeom prst="roundRect">
            <a:avLst>
              <a:gd name="adj" fmla="val 13953"/>
            </a:avLst>
          </a:prstGeom>
          <a:solidFill>
            <a:schemeClr val="tx2"/>
          </a:solidFill>
          <a:ln w="9525">
            <a:solidFill>
              <a:srgbClr val="2B3470"/>
            </a:solidFill>
            <a:prstDash val="solid"/>
          </a:ln>
        </p:spPr>
      </p:sp>
      <p:sp>
        <p:nvSpPr>
          <p:cNvPr id="30" name="icon_bg_469"/>
          <p:cNvSpPr/>
          <p:nvPr/>
        </p:nvSpPr>
        <p:spPr>
          <a:xfrm>
            <a:off x="4306824" y="3483864"/>
            <a:ext cx="493776" cy="493776"/>
          </a:xfrm>
          <a:prstGeom prst="roundRect">
            <a:avLst>
              <a:gd name="adj" fmla="val 24000"/>
            </a:avLst>
          </a:prstGeom>
          <a:solidFill>
            <a:schemeClr val="accent1">
              <a:alpha val="22000"/>
            </a:schemeClr>
          </a:solidFill>
          <a:ln/>
        </p:spPr>
      </p:sp>
      <p:pic>
        <p:nvPicPr>
          <p:cNvPr id="31" name="icon_470" descr="/tmp/claude-0/-home-claude/584731ee-e493-5c78-a637-0b254e057472/scratchpad/deck/img/i_image.png">    </p:cNvPr>
          <p:cNvPicPr>
            <a:picLocks noChangeAspect="1"/>
          </p:cNvPicPr>
          <p:nvPr/>
        </p:nvPicPr>
        <p:blipFill>
          <a:blip r:embed="rId6"/>
          <a:stretch>
            <a:fillRect/>
          </a:stretch>
        </p:blipFill>
        <p:spPr>
          <a:xfrm>
            <a:off x="4425330" y="3602370"/>
            <a:ext cx="256764" cy="256764"/>
          </a:xfrm>
          <a:prstGeom prst="rect">
            <a:avLst/>
          </a:prstGeom>
        </p:spPr>
      </p:pic>
      <p:sp>
        <p:nvSpPr>
          <p:cNvPr id="32" name="text_471"/>
          <p:cNvSpPr txBox="1"/>
          <p:nvPr/>
        </p:nvSpPr>
        <p:spPr>
          <a:xfrm>
            <a:off x="4937760" y="3438144"/>
            <a:ext cx="2560320" cy="292608"/>
          </a:xfrm>
          <a:prstGeom prst="rect">
            <a:avLst/>
          </a:prstGeom>
          <a:noFill/>
          <a:ln/>
        </p:spPr>
        <p:txBody>
          <a:bodyPr wrap="square" lIns="0" tIns="0" rIns="0" bIns="0" rtlCol="0" anchor="t"/>
          <a:lstStyle/>
          <a:p>
            <a:pPr indent="0" marL="0">
              <a:buNone/>
            </a:pPr>
            <a:r>
              <a:rPr lang="en-US" sz="1400" b="1" dirty="0">
                <a:solidFill>
                  <a:srgbClr val="C7CAFF"/>
                </a:solidFill>
                <a:latin typeface="Courier New" pitchFamily="34" charset="0"/>
                <a:ea typeface="Courier New" pitchFamily="34" charset="-122"/>
                <a:cs typeface="Courier New" pitchFamily="34" charset="-120"/>
              </a:rPr>
              <a:t>preview.py</a:t>
            </a:r>
            <a:endParaRPr lang="en-US" sz="1400" dirty="0"/>
          </a:p>
        </p:txBody>
      </p:sp>
      <p:sp>
        <p:nvSpPr>
          <p:cNvPr id="33" name="text_472"/>
          <p:cNvSpPr txBox="1"/>
          <p:nvPr/>
        </p:nvSpPr>
        <p:spPr>
          <a:xfrm>
            <a:off x="4937760" y="3739896"/>
            <a:ext cx="2560320" cy="329184"/>
          </a:xfrm>
          <a:prstGeom prst="rect">
            <a:avLst/>
          </a:prstGeom>
          <a:noFill/>
          <a:ln/>
        </p:spPr>
        <p:txBody>
          <a:bodyPr wrap="square" lIns="0" tIns="0" rIns="0" bIns="0" rtlCol="0" anchor="t"/>
          <a:lstStyle/>
          <a:p>
            <a:pPr indent="0" marL="0">
              <a:buNone/>
            </a:pPr>
            <a:r>
              <a:rPr lang="en-US" sz="1100" dirty="0">
                <a:solidFill>
                  <a:schemeClr val="bg2"/>
                </a:solidFill>
              </a:rPr>
              <a:t>PDF thumbnails, Aadhaar masking, titles</a:t>
            </a:r>
            <a:endParaRPr lang="en-US" sz="1100" dirty="0"/>
          </a:p>
        </p:txBody>
      </p:sp>
      <p:sp>
        <p:nvSpPr>
          <p:cNvPr id="34" name="file_card_473"/>
          <p:cNvSpPr/>
          <p:nvPr/>
        </p:nvSpPr>
        <p:spPr>
          <a:xfrm>
            <a:off x="548640" y="4251960"/>
            <a:ext cx="3429000" cy="786384"/>
          </a:xfrm>
          <a:prstGeom prst="roundRect">
            <a:avLst>
              <a:gd name="adj" fmla="val 13953"/>
            </a:avLst>
          </a:prstGeom>
          <a:solidFill>
            <a:schemeClr val="tx2"/>
          </a:solidFill>
          <a:ln w="9525">
            <a:solidFill>
              <a:srgbClr val="2B3470"/>
            </a:solidFill>
            <a:prstDash val="solid"/>
          </a:ln>
        </p:spPr>
      </p:sp>
      <p:sp>
        <p:nvSpPr>
          <p:cNvPr id="35" name="icon_bg_474"/>
          <p:cNvSpPr/>
          <p:nvPr/>
        </p:nvSpPr>
        <p:spPr>
          <a:xfrm>
            <a:off x="694944" y="4398264"/>
            <a:ext cx="493776" cy="493776"/>
          </a:xfrm>
          <a:prstGeom prst="roundRect">
            <a:avLst>
              <a:gd name="adj" fmla="val 24000"/>
            </a:avLst>
          </a:prstGeom>
          <a:solidFill>
            <a:schemeClr val="accent2">
              <a:alpha val="22000"/>
            </a:schemeClr>
          </a:solidFill>
          <a:ln/>
        </p:spPr>
      </p:sp>
      <p:pic>
        <p:nvPicPr>
          <p:cNvPr id="36" name="icon_475" descr="/tmp/claude-0/-home-claude/584731ee-e493-5c78-a637-0b254e057472/scratchpad/deck/img/i_gears.png">    </p:cNvPr>
          <p:cNvPicPr>
            <a:picLocks noChangeAspect="1"/>
          </p:cNvPicPr>
          <p:nvPr/>
        </p:nvPicPr>
        <p:blipFill>
          <a:blip r:embed="rId7"/>
          <a:stretch>
            <a:fillRect/>
          </a:stretch>
        </p:blipFill>
        <p:spPr>
          <a:xfrm>
            <a:off x="813450" y="4516770"/>
            <a:ext cx="256764" cy="256764"/>
          </a:xfrm>
          <a:prstGeom prst="rect">
            <a:avLst/>
          </a:prstGeom>
        </p:spPr>
      </p:pic>
      <p:sp>
        <p:nvSpPr>
          <p:cNvPr id="37" name="text_476"/>
          <p:cNvSpPr txBox="1"/>
          <p:nvPr/>
        </p:nvSpPr>
        <p:spPr>
          <a:xfrm>
            <a:off x="1325880" y="4352544"/>
            <a:ext cx="2560320" cy="292608"/>
          </a:xfrm>
          <a:prstGeom prst="rect">
            <a:avLst/>
          </a:prstGeom>
          <a:noFill/>
          <a:ln/>
        </p:spPr>
        <p:txBody>
          <a:bodyPr wrap="square" lIns="0" tIns="0" rIns="0" bIns="0" rtlCol="0" anchor="t"/>
          <a:lstStyle/>
          <a:p>
            <a:pPr indent="0" marL="0">
              <a:buNone/>
            </a:pPr>
            <a:r>
              <a:rPr lang="en-US" sz="1400" b="1" dirty="0">
                <a:solidFill>
                  <a:srgbClr val="C7CAFF"/>
                </a:solidFill>
                <a:latin typeface="Courier New" pitchFamily="34" charset="0"/>
                <a:ea typeface="Courier New" pitchFamily="34" charset="-122"/>
                <a:cs typeface="Courier New" pitchFamily="34" charset="-120"/>
              </a:rPr>
              <a:t>pipeline.py</a:t>
            </a:r>
            <a:endParaRPr lang="en-US" sz="1400" dirty="0"/>
          </a:p>
        </p:txBody>
      </p:sp>
      <p:sp>
        <p:nvSpPr>
          <p:cNvPr id="38" name="text_477"/>
          <p:cNvSpPr txBox="1"/>
          <p:nvPr/>
        </p:nvSpPr>
        <p:spPr>
          <a:xfrm>
            <a:off x="1325880" y="4654296"/>
            <a:ext cx="2560320" cy="329184"/>
          </a:xfrm>
          <a:prstGeom prst="rect">
            <a:avLst/>
          </a:prstGeom>
          <a:noFill/>
          <a:ln/>
        </p:spPr>
        <p:txBody>
          <a:bodyPr wrap="square" lIns="0" tIns="0" rIns="0" bIns="0" rtlCol="0" anchor="t"/>
          <a:lstStyle/>
          <a:p>
            <a:pPr indent="0" marL="0">
              <a:buNone/>
            </a:pPr>
            <a:r>
              <a:rPr lang="en-US" sz="1100" dirty="0">
                <a:solidFill>
                  <a:schemeClr val="bg2"/>
                </a:solidFill>
              </a:rPr>
              <a:t>Glue: uploaded file → text → Document</a:t>
            </a:r>
            <a:endParaRPr lang="en-US" sz="1100" dirty="0"/>
          </a:p>
        </p:txBody>
      </p:sp>
      <p:sp>
        <p:nvSpPr>
          <p:cNvPr id="39" name="file_card_478"/>
          <p:cNvSpPr/>
          <p:nvPr/>
        </p:nvSpPr>
        <p:spPr>
          <a:xfrm>
            <a:off x="4160520" y="4251960"/>
            <a:ext cx="3429000" cy="786384"/>
          </a:xfrm>
          <a:prstGeom prst="roundRect">
            <a:avLst>
              <a:gd name="adj" fmla="val 13953"/>
            </a:avLst>
          </a:prstGeom>
          <a:solidFill>
            <a:schemeClr val="tx2"/>
          </a:solidFill>
          <a:ln w="9525">
            <a:solidFill>
              <a:srgbClr val="2B3470"/>
            </a:solidFill>
            <a:prstDash val="solid"/>
          </a:ln>
        </p:spPr>
      </p:sp>
      <p:sp>
        <p:nvSpPr>
          <p:cNvPr id="40" name="icon_bg_479"/>
          <p:cNvSpPr/>
          <p:nvPr/>
        </p:nvSpPr>
        <p:spPr>
          <a:xfrm>
            <a:off x="4306824" y="4398264"/>
            <a:ext cx="493776" cy="493776"/>
          </a:xfrm>
          <a:prstGeom prst="roundRect">
            <a:avLst>
              <a:gd name="adj" fmla="val 24000"/>
            </a:avLst>
          </a:prstGeom>
          <a:solidFill>
            <a:schemeClr val="accent4">
              <a:alpha val="22000"/>
            </a:schemeClr>
          </a:solidFill>
          <a:ln/>
        </p:spPr>
      </p:sp>
      <p:pic>
        <p:nvPicPr>
          <p:cNvPr id="41" name="icon_480" descr="/tmp/claude-0/-home-claude/584731ee-e493-5c78-a637-0b254e057472/scratchpad/deck/img/i_clock.png">    </p:cNvPr>
          <p:cNvPicPr>
            <a:picLocks noChangeAspect="1"/>
          </p:cNvPicPr>
          <p:nvPr/>
        </p:nvPicPr>
        <p:blipFill>
          <a:blip r:embed="rId8"/>
          <a:stretch>
            <a:fillRect/>
          </a:stretch>
        </p:blipFill>
        <p:spPr>
          <a:xfrm>
            <a:off x="4425330" y="4516770"/>
            <a:ext cx="256764" cy="256764"/>
          </a:xfrm>
          <a:prstGeom prst="rect">
            <a:avLst/>
          </a:prstGeom>
        </p:spPr>
      </p:pic>
      <p:sp>
        <p:nvSpPr>
          <p:cNvPr id="42" name="text_481"/>
          <p:cNvSpPr txBox="1"/>
          <p:nvPr/>
        </p:nvSpPr>
        <p:spPr>
          <a:xfrm>
            <a:off x="4937760" y="4352544"/>
            <a:ext cx="2560320" cy="292608"/>
          </a:xfrm>
          <a:prstGeom prst="rect">
            <a:avLst/>
          </a:prstGeom>
          <a:noFill/>
          <a:ln/>
        </p:spPr>
        <p:txBody>
          <a:bodyPr wrap="square" lIns="0" tIns="0" rIns="0" bIns="0" rtlCol="0" anchor="t"/>
          <a:lstStyle/>
          <a:p>
            <a:pPr indent="0" marL="0">
              <a:buNone/>
            </a:pPr>
            <a:r>
              <a:rPr lang="en-US" sz="1400" b="1" dirty="0">
                <a:solidFill>
                  <a:srgbClr val="C7CAFF"/>
                </a:solidFill>
                <a:latin typeface="Courier New" pitchFamily="34" charset="0"/>
                <a:ea typeface="Courier New" pitchFamily="34" charset="-122"/>
                <a:cs typeface="Courier New" pitchFamily="34" charset="-120"/>
              </a:rPr>
              <a:t>reminders.py</a:t>
            </a:r>
            <a:endParaRPr lang="en-US" sz="1400" dirty="0"/>
          </a:p>
        </p:txBody>
      </p:sp>
      <p:sp>
        <p:nvSpPr>
          <p:cNvPr id="43" name="text_482"/>
          <p:cNvSpPr txBox="1"/>
          <p:nvPr/>
        </p:nvSpPr>
        <p:spPr>
          <a:xfrm>
            <a:off x="4937760" y="4654296"/>
            <a:ext cx="2560320" cy="329184"/>
          </a:xfrm>
          <a:prstGeom prst="rect">
            <a:avLst/>
          </a:prstGeom>
          <a:noFill/>
          <a:ln/>
        </p:spPr>
        <p:txBody>
          <a:bodyPr wrap="square" lIns="0" tIns="0" rIns="0" bIns="0" rtlCol="0" anchor="t"/>
          <a:lstStyle/>
          <a:p>
            <a:pPr indent="0" marL="0">
              <a:buNone/>
            </a:pPr>
            <a:r>
              <a:rPr lang="en-US" sz="1100" dirty="0">
                <a:solidFill>
                  <a:schemeClr val="bg2"/>
                </a:solidFill>
              </a:rPr>
              <a:t>Active / Expiring / Critical / Expired rules</a:t>
            </a:r>
            <a:endParaRPr lang="en-US" sz="1100" dirty="0"/>
          </a:p>
        </p:txBody>
      </p:sp>
      <p:sp>
        <p:nvSpPr>
          <p:cNvPr id="44" name="file_card_483"/>
          <p:cNvSpPr/>
          <p:nvPr/>
        </p:nvSpPr>
        <p:spPr>
          <a:xfrm>
            <a:off x="548640" y="5166360"/>
            <a:ext cx="3429000" cy="786384"/>
          </a:xfrm>
          <a:prstGeom prst="roundRect">
            <a:avLst>
              <a:gd name="adj" fmla="val 13953"/>
            </a:avLst>
          </a:prstGeom>
          <a:solidFill>
            <a:schemeClr val="tx2"/>
          </a:solidFill>
          <a:ln w="9525">
            <a:solidFill>
              <a:srgbClr val="2B3470"/>
            </a:solidFill>
            <a:prstDash val="solid"/>
          </a:ln>
        </p:spPr>
      </p:sp>
      <p:sp>
        <p:nvSpPr>
          <p:cNvPr id="45" name="icon_bg_484"/>
          <p:cNvSpPr/>
          <p:nvPr/>
        </p:nvSpPr>
        <p:spPr>
          <a:xfrm>
            <a:off x="694944" y="5312664"/>
            <a:ext cx="493776" cy="493776"/>
          </a:xfrm>
          <a:prstGeom prst="roundRect">
            <a:avLst>
              <a:gd name="adj" fmla="val 24000"/>
            </a:avLst>
          </a:prstGeom>
          <a:solidFill>
            <a:schemeClr val="accent4">
              <a:alpha val="22000"/>
            </a:schemeClr>
          </a:solidFill>
          <a:ln/>
        </p:spPr>
      </p:sp>
      <p:pic>
        <p:nvPicPr>
          <p:cNvPr id="46" name="icon_485" descr="/tmp/claude-0/-home-claude/584731ee-e493-5c78-a637-0b254e057472/scratchpad/deck/img/i_heart.png">    </p:cNvPr>
          <p:cNvPicPr>
            <a:picLocks noChangeAspect="1"/>
          </p:cNvPicPr>
          <p:nvPr/>
        </p:nvPicPr>
        <p:blipFill>
          <a:blip r:embed="rId9"/>
          <a:stretch>
            <a:fillRect/>
          </a:stretch>
        </p:blipFill>
        <p:spPr>
          <a:xfrm>
            <a:off x="813450" y="5431170"/>
            <a:ext cx="256764" cy="256764"/>
          </a:xfrm>
          <a:prstGeom prst="rect">
            <a:avLst/>
          </a:prstGeom>
        </p:spPr>
      </p:pic>
      <p:sp>
        <p:nvSpPr>
          <p:cNvPr id="47" name="text_486"/>
          <p:cNvSpPr txBox="1"/>
          <p:nvPr/>
        </p:nvSpPr>
        <p:spPr>
          <a:xfrm>
            <a:off x="1325880" y="5266944"/>
            <a:ext cx="2560320" cy="292608"/>
          </a:xfrm>
          <a:prstGeom prst="rect">
            <a:avLst/>
          </a:prstGeom>
          <a:noFill/>
          <a:ln/>
        </p:spPr>
        <p:txBody>
          <a:bodyPr wrap="square" lIns="0" tIns="0" rIns="0" bIns="0" rtlCol="0" anchor="t"/>
          <a:lstStyle/>
          <a:p>
            <a:pPr indent="0" marL="0">
              <a:buNone/>
            </a:pPr>
            <a:r>
              <a:rPr lang="en-US" sz="1400" b="1" dirty="0">
                <a:solidFill>
                  <a:srgbClr val="C7CAFF"/>
                </a:solidFill>
                <a:latin typeface="Courier New" pitchFamily="34" charset="0"/>
                <a:ea typeface="Courier New" pitchFamily="34" charset="-122"/>
                <a:cs typeface="Courier New" pitchFamily="34" charset="-120"/>
              </a:rPr>
              <a:t>health.py</a:t>
            </a:r>
            <a:endParaRPr lang="en-US" sz="1400" dirty="0"/>
          </a:p>
        </p:txBody>
      </p:sp>
      <p:sp>
        <p:nvSpPr>
          <p:cNvPr id="48" name="text_487"/>
          <p:cNvSpPr txBox="1"/>
          <p:nvPr/>
        </p:nvSpPr>
        <p:spPr>
          <a:xfrm>
            <a:off x="1325880" y="5568696"/>
            <a:ext cx="2560320" cy="329184"/>
          </a:xfrm>
          <a:prstGeom prst="rect">
            <a:avLst/>
          </a:prstGeom>
          <a:noFill/>
          <a:ln/>
        </p:spPr>
        <p:txBody>
          <a:bodyPr wrap="square" lIns="0" tIns="0" rIns="0" bIns="0" rtlCol="0" anchor="t"/>
          <a:lstStyle/>
          <a:p>
            <a:pPr indent="0" marL="0">
              <a:buNone/>
            </a:pPr>
            <a:r>
              <a:rPr lang="en-US" sz="1100" dirty="0">
                <a:solidFill>
                  <a:schemeClr val="bg2"/>
                </a:solidFill>
              </a:rPr>
              <a:t>Completeness + timeliness health score</a:t>
            </a:r>
            <a:endParaRPr lang="en-US" sz="1100" dirty="0"/>
          </a:p>
        </p:txBody>
      </p:sp>
      <p:sp>
        <p:nvSpPr>
          <p:cNvPr id="49" name="file_card_488"/>
          <p:cNvSpPr/>
          <p:nvPr/>
        </p:nvSpPr>
        <p:spPr>
          <a:xfrm>
            <a:off x="4160520" y="5166360"/>
            <a:ext cx="3429000" cy="786384"/>
          </a:xfrm>
          <a:prstGeom prst="roundRect">
            <a:avLst>
              <a:gd name="adj" fmla="val 13953"/>
            </a:avLst>
          </a:prstGeom>
          <a:solidFill>
            <a:schemeClr val="tx2"/>
          </a:solidFill>
          <a:ln w="9525">
            <a:solidFill>
              <a:srgbClr val="2B3470"/>
            </a:solidFill>
            <a:prstDash val="solid"/>
          </a:ln>
        </p:spPr>
      </p:sp>
      <p:sp>
        <p:nvSpPr>
          <p:cNvPr id="50" name="icon_bg_489"/>
          <p:cNvSpPr/>
          <p:nvPr/>
        </p:nvSpPr>
        <p:spPr>
          <a:xfrm>
            <a:off x="4306824" y="5312664"/>
            <a:ext cx="493776" cy="493776"/>
          </a:xfrm>
          <a:prstGeom prst="roundRect">
            <a:avLst>
              <a:gd name="adj" fmla="val 24000"/>
            </a:avLst>
          </a:prstGeom>
          <a:solidFill>
            <a:schemeClr val="accent4">
              <a:alpha val="22000"/>
            </a:schemeClr>
          </a:solidFill>
          <a:ln/>
        </p:spPr>
      </p:sp>
      <p:pic>
        <p:nvPicPr>
          <p:cNvPr id="51" name="icon_490" descr="/tmp/claude-0/-home-claude/584731ee-e493-5c78-a637-0b254e057472/scratchpad/deck/img/i_download.png">    </p:cNvPr>
          <p:cNvPicPr>
            <a:picLocks noChangeAspect="1"/>
          </p:cNvPicPr>
          <p:nvPr/>
        </p:nvPicPr>
        <p:blipFill>
          <a:blip r:embed="rId10"/>
          <a:stretch>
            <a:fillRect/>
          </a:stretch>
        </p:blipFill>
        <p:spPr>
          <a:xfrm>
            <a:off x="4425330" y="5431170"/>
            <a:ext cx="256764" cy="256764"/>
          </a:xfrm>
          <a:prstGeom prst="rect">
            <a:avLst/>
          </a:prstGeom>
        </p:spPr>
      </p:pic>
      <p:sp>
        <p:nvSpPr>
          <p:cNvPr id="52" name="text_491"/>
          <p:cNvSpPr txBox="1"/>
          <p:nvPr/>
        </p:nvSpPr>
        <p:spPr>
          <a:xfrm>
            <a:off x="4937760" y="5266944"/>
            <a:ext cx="2560320" cy="292608"/>
          </a:xfrm>
          <a:prstGeom prst="rect">
            <a:avLst/>
          </a:prstGeom>
          <a:noFill/>
          <a:ln/>
        </p:spPr>
        <p:txBody>
          <a:bodyPr wrap="square" lIns="0" tIns="0" rIns="0" bIns="0" rtlCol="0" anchor="t"/>
          <a:lstStyle/>
          <a:p>
            <a:pPr indent="0" marL="0">
              <a:buNone/>
            </a:pPr>
            <a:r>
              <a:rPr lang="en-US" sz="1400" b="1" dirty="0">
                <a:solidFill>
                  <a:srgbClr val="C7CAFF"/>
                </a:solidFill>
                <a:latin typeface="Courier New" pitchFamily="34" charset="0"/>
                <a:ea typeface="Courier New" pitchFamily="34" charset="-122"/>
                <a:cs typeface="Courier New" pitchFamily="34" charset="-120"/>
              </a:rPr>
              <a:t>export.py</a:t>
            </a:r>
            <a:endParaRPr lang="en-US" sz="1400" dirty="0"/>
          </a:p>
        </p:txBody>
      </p:sp>
      <p:sp>
        <p:nvSpPr>
          <p:cNvPr id="53" name="text_492"/>
          <p:cNvSpPr txBox="1"/>
          <p:nvPr/>
        </p:nvSpPr>
        <p:spPr>
          <a:xfrm>
            <a:off x="4937760" y="5568696"/>
            <a:ext cx="2560320" cy="329184"/>
          </a:xfrm>
          <a:prstGeom prst="rect">
            <a:avLst/>
          </a:prstGeom>
          <a:noFill/>
          <a:ln/>
        </p:spPr>
        <p:txBody>
          <a:bodyPr wrap="square" lIns="0" tIns="0" rIns="0" bIns="0" rtlCol="0" anchor="t"/>
          <a:lstStyle/>
          <a:p>
            <a:pPr indent="0" marL="0">
              <a:buNone/>
            </a:pPr>
            <a:r>
              <a:rPr lang="en-US" sz="1100" dirty="0">
                <a:solidFill>
                  <a:schemeClr val="bg2"/>
                </a:solidFill>
              </a:rPr>
              <a:t>CSV and .ics calendar with 30 / 7-day alarms</a:t>
            </a:r>
            <a:endParaRPr lang="en-US" sz="1100" dirty="0"/>
          </a:p>
        </p:txBody>
      </p:sp>
      <p:sp>
        <p:nvSpPr>
          <p:cNvPr id="54" name="legend_dot_493"/>
          <p:cNvSpPr/>
          <p:nvPr/>
        </p:nvSpPr>
        <p:spPr>
          <a:xfrm>
            <a:off x="566928" y="6117336"/>
            <a:ext cx="128016" cy="128016"/>
          </a:xfrm>
          <a:prstGeom prst="ellipse">
            <a:avLst/>
          </a:prstGeom>
          <a:solidFill>
            <a:schemeClr val="accent6"/>
          </a:solidFill>
          <a:ln/>
        </p:spPr>
      </p:sp>
      <p:sp>
        <p:nvSpPr>
          <p:cNvPr id="55" name="text_494"/>
          <p:cNvSpPr txBox="1"/>
          <p:nvPr/>
        </p:nvSpPr>
        <p:spPr>
          <a:xfrm>
            <a:off x="768096" y="6053328"/>
            <a:ext cx="1188720" cy="256032"/>
          </a:xfrm>
          <a:prstGeom prst="rect">
            <a:avLst/>
          </a:prstGeom>
          <a:noFill/>
          <a:ln/>
        </p:spPr>
        <p:txBody>
          <a:bodyPr wrap="square" lIns="0" tIns="0" rIns="0" bIns="0" rtlCol="0" anchor="ctr"/>
          <a:lstStyle/>
          <a:p>
            <a:pPr indent="0" marL="0">
              <a:buNone/>
            </a:pPr>
            <a:r>
              <a:rPr lang="en-US" sz="1100" dirty="0">
                <a:solidFill>
                  <a:schemeClr val="bg2"/>
                </a:solidFill>
              </a:rPr>
              <a:t>Data</a:t>
            </a:r>
            <a:endParaRPr lang="en-US" sz="1100" dirty="0"/>
          </a:p>
        </p:txBody>
      </p:sp>
      <p:sp>
        <p:nvSpPr>
          <p:cNvPr id="56" name="legend_dot_495"/>
          <p:cNvSpPr/>
          <p:nvPr/>
        </p:nvSpPr>
        <p:spPr>
          <a:xfrm>
            <a:off x="1984248" y="6117336"/>
            <a:ext cx="128016" cy="128016"/>
          </a:xfrm>
          <a:prstGeom prst="ellipse">
            <a:avLst/>
          </a:prstGeom>
          <a:solidFill>
            <a:schemeClr val="accent1"/>
          </a:solidFill>
          <a:ln/>
        </p:spPr>
      </p:sp>
      <p:sp>
        <p:nvSpPr>
          <p:cNvPr id="57" name="text_496"/>
          <p:cNvSpPr txBox="1"/>
          <p:nvPr/>
        </p:nvSpPr>
        <p:spPr>
          <a:xfrm>
            <a:off x="2185416" y="6053328"/>
            <a:ext cx="1188720" cy="256032"/>
          </a:xfrm>
          <a:prstGeom prst="rect">
            <a:avLst/>
          </a:prstGeom>
          <a:noFill/>
          <a:ln/>
        </p:spPr>
        <p:txBody>
          <a:bodyPr wrap="square" lIns="0" tIns="0" rIns="0" bIns="0" rtlCol="0" anchor="ctr"/>
          <a:lstStyle/>
          <a:p>
            <a:pPr indent="0" marL="0">
              <a:buNone/>
            </a:pPr>
            <a:r>
              <a:rPr lang="en-US" sz="1100" dirty="0">
                <a:solidFill>
                  <a:schemeClr val="bg2"/>
                </a:solidFill>
              </a:rPr>
              <a:t>Processing</a:t>
            </a:r>
            <a:endParaRPr lang="en-US" sz="1100" dirty="0"/>
          </a:p>
        </p:txBody>
      </p:sp>
      <p:sp>
        <p:nvSpPr>
          <p:cNvPr id="58" name="legend_dot_497"/>
          <p:cNvSpPr/>
          <p:nvPr/>
        </p:nvSpPr>
        <p:spPr>
          <a:xfrm>
            <a:off x="3401568" y="6117336"/>
            <a:ext cx="128016" cy="128016"/>
          </a:xfrm>
          <a:prstGeom prst="ellipse">
            <a:avLst/>
          </a:prstGeom>
          <a:solidFill>
            <a:schemeClr val="accent2"/>
          </a:solidFill>
          <a:ln/>
        </p:spPr>
      </p:sp>
      <p:sp>
        <p:nvSpPr>
          <p:cNvPr id="59" name="text_498"/>
          <p:cNvSpPr txBox="1"/>
          <p:nvPr/>
        </p:nvSpPr>
        <p:spPr>
          <a:xfrm>
            <a:off x="3602736" y="6053328"/>
            <a:ext cx="1188720" cy="256032"/>
          </a:xfrm>
          <a:prstGeom prst="rect">
            <a:avLst/>
          </a:prstGeom>
          <a:noFill/>
          <a:ln/>
        </p:spPr>
        <p:txBody>
          <a:bodyPr wrap="square" lIns="0" tIns="0" rIns="0" bIns="0" rtlCol="0" anchor="ctr"/>
          <a:lstStyle/>
          <a:p>
            <a:pPr indent="0" marL="0">
              <a:buNone/>
            </a:pPr>
            <a:r>
              <a:rPr lang="en-US" sz="1100" dirty="0">
                <a:solidFill>
                  <a:schemeClr val="bg2"/>
                </a:solidFill>
              </a:rPr>
              <a:t>Application</a:t>
            </a:r>
            <a:endParaRPr lang="en-US" sz="1100" dirty="0"/>
          </a:p>
        </p:txBody>
      </p:sp>
      <p:sp>
        <p:nvSpPr>
          <p:cNvPr id="60" name="legend_dot_499"/>
          <p:cNvSpPr/>
          <p:nvPr/>
        </p:nvSpPr>
        <p:spPr>
          <a:xfrm>
            <a:off x="4818888" y="6117336"/>
            <a:ext cx="128016" cy="128016"/>
          </a:xfrm>
          <a:prstGeom prst="ellipse">
            <a:avLst/>
          </a:prstGeom>
          <a:solidFill>
            <a:schemeClr val="accent4"/>
          </a:solidFill>
          <a:ln/>
        </p:spPr>
      </p:sp>
      <p:sp>
        <p:nvSpPr>
          <p:cNvPr id="61" name="text_500"/>
          <p:cNvSpPr txBox="1"/>
          <p:nvPr/>
        </p:nvSpPr>
        <p:spPr>
          <a:xfrm>
            <a:off x="5020056" y="6053328"/>
            <a:ext cx="1188720" cy="256032"/>
          </a:xfrm>
          <a:prstGeom prst="rect">
            <a:avLst/>
          </a:prstGeom>
          <a:noFill/>
          <a:ln/>
        </p:spPr>
        <p:txBody>
          <a:bodyPr wrap="square" lIns="0" tIns="0" rIns="0" bIns="0" rtlCol="0" anchor="ctr"/>
          <a:lstStyle/>
          <a:p>
            <a:pPr indent="0" marL="0">
              <a:buNone/>
            </a:pPr>
            <a:r>
              <a:rPr lang="en-US" sz="1100" dirty="0">
                <a:solidFill>
                  <a:schemeClr val="bg2"/>
                </a:solidFill>
              </a:rPr>
              <a:t>Intelligence</a:t>
            </a:r>
            <a:endParaRPr lang="en-US" sz="1100" dirty="0"/>
          </a:p>
        </p:txBody>
      </p:sp>
      <p:sp>
        <p:nvSpPr>
          <p:cNvPr id="62" name="chart_card_501"/>
          <p:cNvSpPr/>
          <p:nvPr/>
        </p:nvSpPr>
        <p:spPr>
          <a:xfrm>
            <a:off x="7863840" y="1508760"/>
            <a:ext cx="3749040" cy="4572000"/>
          </a:xfrm>
          <a:prstGeom prst="roundRect">
            <a:avLst>
              <a:gd name="adj" fmla="val 2927"/>
            </a:avLst>
          </a:prstGeom>
          <a:solidFill>
            <a:schemeClr val="tx2"/>
          </a:solidFill>
          <a:ln w="9525">
            <a:solidFill>
              <a:srgbClr val="2B3470"/>
            </a:solidFill>
            <a:prstDash val="solid"/>
          </a:ln>
        </p:spPr>
      </p:sp>
      <p:graphicFrame>
        <p:nvGraphicFramePr>
          <p:cNvPr id="63" name="loc_chart" descr=""/>
          <p:cNvGraphicFramePr/>
          <p:nvPr/>
        </p:nvGraphicFramePr>
        <p:xfrm>
          <a:off x="7973568" y="1600200"/>
          <a:ext cx="3547872" cy="4389120"/>
        </p:xfrm>
        <a:graphic xmlns:a="http://schemas.openxmlformats.org/drawingml/2006/main">
          <a:graphicData uri="http://schemas.openxmlformats.org/drawingml/2006/chart">
            <c:chart xmlns:c="http://schemas.openxmlformats.org/drawingml/2006/chart" r:id="rId11"/>
          </a:graphicData>
        </a:graphic>
      </p:graphicFrame>
      <p:sp>
        <p:nvSpPr>
          <p:cNvPr id="25" name="Slide Number Placeholder 0"/>
          <p:cNvSpPr>
            <a:spLocks noGrp="1"/>
          </p:cNvSpPr>
          <p:nvPr>
            <p:ph type="sldNum" sz="quarter" idx="4294967295"/>
          </p:nvPr>
        </p:nvSpPr>
        <p:spPr>
          <a:xfrm>
            <a:off x="11109960" y="6355080"/>
            <a:ext cx="530352"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bg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8229600" cy="274320"/>
          </a:xfrm>
          <a:prstGeom prst="rect">
            <a:avLst/>
          </a:prstGeom>
          <a:noFill/>
          <a:ln/>
        </p:spPr>
        <p:txBody>
          <a:bodyPr wrap="square" lIns="0" tIns="0" rIns="0" bIns="0" rtlCol="0" anchor="ctr"/>
          <a:lstStyle/>
          <a:p>
            <a:pPr algn="l" indent="0" marL="0">
              <a:buNone/>
            </a:pPr>
            <a:r>
              <a:rPr lang="en-US" sz="1200" b="1" spc="200" kern="0" dirty="0">
                <a:solidFill>
                  <a:schemeClr val="accent2"/>
                </a:solidFill>
              </a:rPr>
              <a:t>03 · CODE  ·  FRONTEND</a:t>
            </a:r>
            <a:endParaRPr lang="en-US" sz="1200" dirty="0"/>
          </a:p>
        </p:txBody>
      </p:sp>
      <p:sp>
        <p:nvSpPr>
          <p:cNvPr id="3" name="Text 0"/>
          <p:cNvSpPr/>
          <p:nvPr>
            <p:ph idx="101" type="title" hasCustomPrompt="1"/>
          </p:nvPr>
        </p:nvSpPr>
        <p:spPr>
          <a:xfrm>
            <a:off x="548640" y="603504"/>
            <a:ext cx="11064240" cy="685800"/>
          </a:xfrm>
          <a:prstGeom prst="rect">
            <a:avLst/>
          </a:prstGeom>
          <a:noFill/>
          <a:ln/>
        </p:spPr>
        <p:txBody>
          <a:bodyPr wrap="square" lIns="0" tIns="0" rIns="0" bIns="0" rtlCol="0" anchor="ctr"/>
          <a:lstStyle/>
          <a:p>
            <a:pPr algn="l" indent="0" marL="0">
              <a:buNone/>
            </a:pPr>
            <a:r>
              <a:rPr lang="en-US" sz="3200" b="1" dirty="0">
                <a:solidFill>
                  <a:schemeClr val="bg1"/>
                </a:solidFill>
              </a:rPr>
              <a:t>Frontend: the Streamlit UI in three files</a:t>
            </a:r>
            <a:endParaRPr lang="en-US" sz="3200" dirty="0"/>
          </a:p>
        </p:txBody>
      </p:sp>
      <p:sp>
        <p:nvSpPr>
          <p:cNvPr id="4" name="app_card_502"/>
          <p:cNvSpPr/>
          <p:nvPr/>
        </p:nvSpPr>
        <p:spPr>
          <a:xfrm>
            <a:off x="548640" y="1508760"/>
            <a:ext cx="5257800" cy="1828800"/>
          </a:xfrm>
          <a:prstGeom prst="roundRect">
            <a:avLst>
              <a:gd name="adj" fmla="val 6000"/>
            </a:avLst>
          </a:prstGeom>
          <a:solidFill>
            <a:schemeClr val="tx2"/>
          </a:solidFill>
          <a:ln w="9525">
            <a:solidFill>
              <a:srgbClr val="2B3470"/>
            </a:solidFill>
            <a:prstDash val="solid"/>
          </a:ln>
        </p:spPr>
      </p:sp>
      <p:sp>
        <p:nvSpPr>
          <p:cNvPr id="5" name="icon_bg_503"/>
          <p:cNvSpPr/>
          <p:nvPr/>
        </p:nvSpPr>
        <p:spPr>
          <a:xfrm>
            <a:off x="731520" y="1691640"/>
            <a:ext cx="502920" cy="502920"/>
          </a:xfrm>
          <a:prstGeom prst="roundRect">
            <a:avLst>
              <a:gd name="adj" fmla="val 24000"/>
            </a:avLst>
          </a:prstGeom>
          <a:solidFill>
            <a:schemeClr val="accent4">
              <a:alpha val="22000"/>
            </a:schemeClr>
          </a:solidFill>
          <a:ln/>
        </p:spPr>
      </p:sp>
      <p:pic>
        <p:nvPicPr>
          <p:cNvPr id="6" name="icon_504" descr="/tmp/claude-0/-home-claude/584731ee-e493-5c78-a637-0b254e057472/scratchpad/deck/img/i_python.png">    </p:cNvPr>
          <p:cNvPicPr>
            <a:picLocks noChangeAspect="1"/>
          </p:cNvPicPr>
          <p:nvPr/>
        </p:nvPicPr>
        <p:blipFill>
          <a:blip r:embed="rId1"/>
          <a:stretch>
            <a:fillRect/>
          </a:stretch>
        </p:blipFill>
        <p:spPr>
          <a:xfrm>
            <a:off x="852221" y="1812341"/>
            <a:ext cx="261518" cy="261518"/>
          </a:xfrm>
          <a:prstGeom prst="rect">
            <a:avLst/>
          </a:prstGeom>
        </p:spPr>
      </p:pic>
      <p:sp>
        <p:nvSpPr>
          <p:cNvPr id="7" name="text_505"/>
          <p:cNvSpPr txBox="1"/>
          <p:nvPr/>
        </p:nvSpPr>
        <p:spPr>
          <a:xfrm>
            <a:off x="1371600" y="1709928"/>
            <a:ext cx="2286000" cy="365760"/>
          </a:xfrm>
          <a:prstGeom prst="rect">
            <a:avLst/>
          </a:prstGeom>
          <a:noFill/>
          <a:ln/>
        </p:spPr>
        <p:txBody>
          <a:bodyPr wrap="square" lIns="0" tIns="0" rIns="0" bIns="0" rtlCol="0" anchor="t"/>
          <a:lstStyle/>
          <a:p>
            <a:pPr indent="0" marL="0">
              <a:buNone/>
            </a:pPr>
            <a:r>
              <a:rPr lang="en-US" sz="1800" b="1" dirty="0">
                <a:solidFill>
                  <a:srgbClr val="C7CAFF"/>
                </a:solidFill>
                <a:latin typeface="Courier New" pitchFamily="34" charset="0"/>
                <a:ea typeface="Courier New" pitchFamily="34" charset="-122"/>
                <a:cs typeface="Courier New" pitchFamily="34" charset="-120"/>
              </a:rPr>
              <a:t>app.py</a:t>
            </a:r>
            <a:endParaRPr lang="en-US" sz="1800" dirty="0"/>
          </a:p>
        </p:txBody>
      </p:sp>
      <p:sp>
        <p:nvSpPr>
          <p:cNvPr id="8" name="pill_506"/>
          <p:cNvSpPr/>
          <p:nvPr/>
        </p:nvSpPr>
        <p:spPr>
          <a:xfrm>
            <a:off x="4526280" y="1755648"/>
            <a:ext cx="1097280" cy="292608"/>
          </a:xfrm>
          <a:prstGeom prst="roundRect">
            <a:avLst>
              <a:gd name="adj" fmla="val 50000"/>
            </a:avLst>
          </a:prstGeom>
          <a:solidFill>
            <a:schemeClr val="accent4">
              <a:alpha val="22000"/>
            </a:schemeClr>
          </a:solidFill>
          <a:ln/>
        </p:spPr>
      </p:sp>
      <p:sp>
        <p:nvSpPr>
          <p:cNvPr id="9" name="text_507"/>
          <p:cNvSpPr txBox="1"/>
          <p:nvPr/>
        </p:nvSpPr>
        <p:spPr>
          <a:xfrm>
            <a:off x="4526280" y="1755648"/>
            <a:ext cx="1097280" cy="292608"/>
          </a:xfrm>
          <a:prstGeom prst="rect">
            <a:avLst/>
          </a:prstGeom>
          <a:noFill/>
          <a:ln/>
        </p:spPr>
        <p:txBody>
          <a:bodyPr wrap="square" lIns="0" tIns="0" rIns="0" bIns="0" rtlCol="0" anchor="ctr"/>
          <a:lstStyle/>
          <a:p>
            <a:pPr algn="ctr" indent="0" marL="0">
              <a:buNone/>
            </a:pPr>
            <a:r>
              <a:rPr lang="en-US" sz="1050" b="1" dirty="0">
                <a:solidFill>
                  <a:schemeClr val="accent4"/>
                </a:solidFill>
              </a:rPr>
              <a:t>624 lines</a:t>
            </a:r>
            <a:endParaRPr lang="en-US" sz="1050" dirty="0"/>
          </a:p>
        </p:txBody>
      </p:sp>
      <p:sp>
        <p:nvSpPr>
          <p:cNvPr id="10" name="text_508"/>
          <p:cNvSpPr txBox="1"/>
          <p:nvPr/>
        </p:nvSpPr>
        <p:spPr>
          <a:xfrm>
            <a:off x="731520" y="2286000"/>
            <a:ext cx="4892040" cy="457200"/>
          </a:xfrm>
          <a:prstGeom prst="rect">
            <a:avLst/>
          </a:prstGeom>
          <a:noFill/>
          <a:ln/>
        </p:spPr>
        <p:txBody>
          <a:bodyPr wrap="square" lIns="0" tIns="0" rIns="0" bIns="0" rtlCol="0" anchor="t"/>
          <a:lstStyle/>
          <a:p>
            <a:pPr indent="0" marL="0">
              <a:buNone/>
            </a:pPr>
            <a:r>
              <a:rPr lang="en-US" sz="1250" dirty="0">
                <a:solidFill>
                  <a:schemeClr val="bg2"/>
                </a:solidFill>
              </a:rPr>
              <a:t>Entry point (streamlit run app.py): sidebar and top bar, then one function per screen.</a:t>
            </a:r>
            <a:endParaRPr lang="en-US" sz="1250" dirty="0"/>
          </a:p>
        </p:txBody>
      </p:sp>
      <p:sp>
        <p:nvSpPr>
          <p:cNvPr id="11" name="pill_509"/>
          <p:cNvSpPr/>
          <p:nvPr/>
        </p:nvSpPr>
        <p:spPr>
          <a:xfrm>
            <a:off x="731520" y="2788920"/>
            <a:ext cx="2331720" cy="237744"/>
          </a:xfrm>
          <a:prstGeom prst="roundRect">
            <a:avLst>
              <a:gd name="adj" fmla="val 50000"/>
            </a:avLst>
          </a:prstGeom>
          <a:solidFill>
            <a:schemeClr val="accent1">
              <a:alpha val="22000"/>
            </a:schemeClr>
          </a:solidFill>
          <a:ln/>
        </p:spPr>
      </p:sp>
      <p:sp>
        <p:nvSpPr>
          <p:cNvPr id="12" name="text_510"/>
          <p:cNvSpPr txBox="1"/>
          <p:nvPr/>
        </p:nvSpPr>
        <p:spPr>
          <a:xfrm>
            <a:off x="731520" y="2788920"/>
            <a:ext cx="2331720" cy="237744"/>
          </a:xfrm>
          <a:prstGeom prst="rect">
            <a:avLst/>
          </a:prstGeom>
          <a:noFill/>
          <a:ln/>
        </p:spPr>
        <p:txBody>
          <a:bodyPr wrap="square" lIns="0" tIns="0" rIns="0" bIns="0" rtlCol="0" anchor="ctr"/>
          <a:lstStyle/>
          <a:p>
            <a:pPr algn="ctr" indent="0" marL="0">
              <a:buNone/>
            </a:pPr>
            <a:r>
              <a:rPr lang="en-US" sz="1050" b="1" dirty="0">
                <a:solidFill>
                  <a:srgbClr val="DDE0FF"/>
                </a:solidFill>
              </a:rPr>
              <a:t>page_dashboard()</a:t>
            </a:r>
            <a:endParaRPr lang="en-US" sz="1050" dirty="0"/>
          </a:p>
        </p:txBody>
      </p:sp>
      <p:sp>
        <p:nvSpPr>
          <p:cNvPr id="13" name="pill_511"/>
          <p:cNvSpPr/>
          <p:nvPr/>
        </p:nvSpPr>
        <p:spPr>
          <a:xfrm>
            <a:off x="3200400" y="2788920"/>
            <a:ext cx="2331720" cy="237744"/>
          </a:xfrm>
          <a:prstGeom prst="roundRect">
            <a:avLst>
              <a:gd name="adj" fmla="val 50000"/>
            </a:avLst>
          </a:prstGeom>
          <a:solidFill>
            <a:schemeClr val="accent1">
              <a:alpha val="22000"/>
            </a:schemeClr>
          </a:solidFill>
          <a:ln/>
        </p:spPr>
      </p:sp>
      <p:sp>
        <p:nvSpPr>
          <p:cNvPr id="14" name="text_512"/>
          <p:cNvSpPr txBox="1"/>
          <p:nvPr/>
        </p:nvSpPr>
        <p:spPr>
          <a:xfrm>
            <a:off x="3200400" y="2788920"/>
            <a:ext cx="2331720" cy="237744"/>
          </a:xfrm>
          <a:prstGeom prst="rect">
            <a:avLst/>
          </a:prstGeom>
          <a:noFill/>
          <a:ln/>
        </p:spPr>
        <p:txBody>
          <a:bodyPr wrap="square" lIns="0" tIns="0" rIns="0" bIns="0" rtlCol="0" anchor="ctr"/>
          <a:lstStyle/>
          <a:p>
            <a:pPr algn="ctr" indent="0" marL="0">
              <a:buNone/>
            </a:pPr>
            <a:r>
              <a:rPr lang="en-US" sz="1050" b="1" dirty="0">
                <a:solidFill>
                  <a:srgbClr val="DDE0FF"/>
                </a:solidFill>
              </a:rPr>
              <a:t>page_upload()</a:t>
            </a:r>
            <a:endParaRPr lang="en-US" sz="1050" dirty="0"/>
          </a:p>
        </p:txBody>
      </p:sp>
      <p:sp>
        <p:nvSpPr>
          <p:cNvPr id="15" name="pill_513"/>
          <p:cNvSpPr/>
          <p:nvPr/>
        </p:nvSpPr>
        <p:spPr>
          <a:xfrm>
            <a:off x="731520" y="3072384"/>
            <a:ext cx="2331720" cy="237744"/>
          </a:xfrm>
          <a:prstGeom prst="roundRect">
            <a:avLst>
              <a:gd name="adj" fmla="val 50000"/>
            </a:avLst>
          </a:prstGeom>
          <a:solidFill>
            <a:schemeClr val="accent1">
              <a:alpha val="22000"/>
            </a:schemeClr>
          </a:solidFill>
          <a:ln/>
        </p:spPr>
      </p:sp>
      <p:sp>
        <p:nvSpPr>
          <p:cNvPr id="16" name="text_514"/>
          <p:cNvSpPr txBox="1"/>
          <p:nvPr/>
        </p:nvSpPr>
        <p:spPr>
          <a:xfrm>
            <a:off x="731520" y="3072384"/>
            <a:ext cx="2331720" cy="237744"/>
          </a:xfrm>
          <a:prstGeom prst="rect">
            <a:avLst/>
          </a:prstGeom>
          <a:noFill/>
          <a:ln/>
        </p:spPr>
        <p:txBody>
          <a:bodyPr wrap="square" lIns="0" tIns="0" rIns="0" bIns="0" rtlCol="0" anchor="ctr"/>
          <a:lstStyle/>
          <a:p>
            <a:pPr algn="ctr" indent="0" marL="0">
              <a:buNone/>
            </a:pPr>
            <a:r>
              <a:rPr lang="en-US" sz="1050" b="1" dirty="0">
                <a:solidFill>
                  <a:srgbClr val="DDE0FF"/>
                </a:solidFill>
              </a:rPr>
              <a:t>page_documents()</a:t>
            </a:r>
            <a:endParaRPr lang="en-US" sz="1050" dirty="0"/>
          </a:p>
        </p:txBody>
      </p:sp>
      <p:sp>
        <p:nvSpPr>
          <p:cNvPr id="17" name="pill_515"/>
          <p:cNvSpPr/>
          <p:nvPr/>
        </p:nvSpPr>
        <p:spPr>
          <a:xfrm>
            <a:off x="3200400" y="3072384"/>
            <a:ext cx="2331720" cy="237744"/>
          </a:xfrm>
          <a:prstGeom prst="roundRect">
            <a:avLst>
              <a:gd name="adj" fmla="val 50000"/>
            </a:avLst>
          </a:prstGeom>
          <a:solidFill>
            <a:schemeClr val="accent1">
              <a:alpha val="22000"/>
            </a:schemeClr>
          </a:solidFill>
          <a:ln/>
        </p:spPr>
      </p:sp>
      <p:sp>
        <p:nvSpPr>
          <p:cNvPr id="18" name="text_516"/>
          <p:cNvSpPr txBox="1"/>
          <p:nvPr/>
        </p:nvSpPr>
        <p:spPr>
          <a:xfrm>
            <a:off x="3200400" y="3072384"/>
            <a:ext cx="2331720" cy="237744"/>
          </a:xfrm>
          <a:prstGeom prst="rect">
            <a:avLst/>
          </a:prstGeom>
          <a:noFill/>
          <a:ln/>
        </p:spPr>
        <p:txBody>
          <a:bodyPr wrap="square" lIns="0" tIns="0" rIns="0" bIns="0" rtlCol="0" anchor="ctr"/>
          <a:lstStyle/>
          <a:p>
            <a:pPr algn="ctr" indent="0" marL="0">
              <a:buNone/>
            </a:pPr>
            <a:r>
              <a:rPr lang="en-US" sz="1050" b="1" dirty="0">
                <a:solidFill>
                  <a:srgbClr val="DDE0FF"/>
                </a:solidFill>
              </a:rPr>
              <a:t>page_reminders()</a:t>
            </a:r>
            <a:endParaRPr lang="en-US" sz="1050" dirty="0"/>
          </a:p>
        </p:txBody>
      </p:sp>
      <p:sp>
        <p:nvSpPr>
          <p:cNvPr id="19" name="style_card_517"/>
          <p:cNvSpPr/>
          <p:nvPr/>
        </p:nvSpPr>
        <p:spPr>
          <a:xfrm>
            <a:off x="548640" y="3502152"/>
            <a:ext cx="5257800" cy="1417320"/>
          </a:xfrm>
          <a:prstGeom prst="roundRect">
            <a:avLst>
              <a:gd name="adj" fmla="val 7742"/>
            </a:avLst>
          </a:prstGeom>
          <a:solidFill>
            <a:schemeClr val="tx2"/>
          </a:solidFill>
          <a:ln w="9525">
            <a:solidFill>
              <a:srgbClr val="2B3470"/>
            </a:solidFill>
            <a:prstDash val="solid"/>
          </a:ln>
        </p:spPr>
      </p:sp>
      <p:sp>
        <p:nvSpPr>
          <p:cNvPr id="20" name="icon_bg_518"/>
          <p:cNvSpPr/>
          <p:nvPr/>
        </p:nvSpPr>
        <p:spPr>
          <a:xfrm>
            <a:off x="731520" y="3685032"/>
            <a:ext cx="502920" cy="502920"/>
          </a:xfrm>
          <a:prstGeom prst="roundRect">
            <a:avLst>
              <a:gd name="adj" fmla="val 24000"/>
            </a:avLst>
          </a:prstGeom>
          <a:solidFill>
            <a:schemeClr val="accent2">
              <a:alpha val="22000"/>
            </a:schemeClr>
          </a:solidFill>
          <a:ln/>
        </p:spPr>
      </p:sp>
      <p:pic>
        <p:nvPicPr>
          <p:cNvPr id="21" name="icon_519" descr="/tmp/claude-0/-home-claude/584731ee-e493-5c78-a637-0b254e057472/scratchpad/deck/img/i_palette.png">    </p:cNvPr>
          <p:cNvPicPr>
            <a:picLocks noChangeAspect="1"/>
          </p:cNvPicPr>
          <p:nvPr/>
        </p:nvPicPr>
        <p:blipFill>
          <a:blip r:embed="rId2"/>
          <a:stretch>
            <a:fillRect/>
          </a:stretch>
        </p:blipFill>
        <p:spPr>
          <a:xfrm>
            <a:off x="852221" y="3805733"/>
            <a:ext cx="261518" cy="261518"/>
          </a:xfrm>
          <a:prstGeom prst="rect">
            <a:avLst/>
          </a:prstGeom>
        </p:spPr>
      </p:pic>
      <p:sp>
        <p:nvSpPr>
          <p:cNvPr id="22" name="text_520"/>
          <p:cNvSpPr txBox="1"/>
          <p:nvPr/>
        </p:nvSpPr>
        <p:spPr>
          <a:xfrm>
            <a:off x="1371600" y="3703320"/>
            <a:ext cx="3108960" cy="365760"/>
          </a:xfrm>
          <a:prstGeom prst="rect">
            <a:avLst/>
          </a:prstGeom>
          <a:noFill/>
          <a:ln/>
        </p:spPr>
        <p:txBody>
          <a:bodyPr wrap="square" lIns="0" tIns="0" rIns="0" bIns="0" rtlCol="0" anchor="t"/>
          <a:lstStyle/>
          <a:p>
            <a:pPr indent="0" marL="0">
              <a:buNone/>
            </a:pPr>
            <a:r>
              <a:rPr lang="en-US" sz="1800" b="1" dirty="0">
                <a:solidFill>
                  <a:srgbClr val="C7CAFF"/>
                </a:solidFill>
                <a:latin typeface="Courier New" pitchFamily="34" charset="0"/>
                <a:ea typeface="Courier New" pitchFamily="34" charset="-122"/>
                <a:cs typeface="Courier New" pitchFamily="34" charset="-120"/>
              </a:rPr>
              <a:t>lifeadmin/style.py</a:t>
            </a:r>
            <a:endParaRPr lang="en-US" sz="1800" dirty="0"/>
          </a:p>
        </p:txBody>
      </p:sp>
      <p:sp>
        <p:nvSpPr>
          <p:cNvPr id="23" name="pill_521"/>
          <p:cNvSpPr/>
          <p:nvPr/>
        </p:nvSpPr>
        <p:spPr>
          <a:xfrm>
            <a:off x="4526280" y="3749040"/>
            <a:ext cx="1097280" cy="292608"/>
          </a:xfrm>
          <a:prstGeom prst="roundRect">
            <a:avLst>
              <a:gd name="adj" fmla="val 50000"/>
            </a:avLst>
          </a:prstGeom>
          <a:solidFill>
            <a:schemeClr val="accent2">
              <a:alpha val="22000"/>
            </a:schemeClr>
          </a:solidFill>
          <a:ln/>
        </p:spPr>
      </p:sp>
      <p:sp>
        <p:nvSpPr>
          <p:cNvPr id="24" name="text_522"/>
          <p:cNvSpPr txBox="1"/>
          <p:nvPr/>
        </p:nvSpPr>
        <p:spPr>
          <a:xfrm>
            <a:off x="4526280" y="3749040"/>
            <a:ext cx="1097280" cy="292608"/>
          </a:xfrm>
          <a:prstGeom prst="rect">
            <a:avLst/>
          </a:prstGeom>
          <a:noFill/>
          <a:ln/>
        </p:spPr>
        <p:txBody>
          <a:bodyPr wrap="square" lIns="0" tIns="0" rIns="0" bIns="0" rtlCol="0" anchor="ctr"/>
          <a:lstStyle/>
          <a:p>
            <a:pPr algn="ctr" indent="0" marL="0">
              <a:buNone/>
            </a:pPr>
            <a:r>
              <a:rPr lang="en-US" sz="1050" b="1" dirty="0">
                <a:solidFill>
                  <a:schemeClr val="accent2"/>
                </a:solidFill>
              </a:rPr>
              <a:t>496 lines</a:t>
            </a:r>
            <a:endParaRPr lang="en-US" sz="1050" dirty="0"/>
          </a:p>
        </p:txBody>
      </p:sp>
      <p:sp>
        <p:nvSpPr>
          <p:cNvPr id="25" name="text_523"/>
          <p:cNvSpPr txBox="1"/>
          <p:nvPr/>
        </p:nvSpPr>
        <p:spPr>
          <a:xfrm>
            <a:off x="731520" y="4251960"/>
            <a:ext cx="4892040" cy="594360"/>
          </a:xfrm>
          <a:prstGeom prst="rect">
            <a:avLst/>
          </a:prstGeom>
          <a:noFill/>
          <a:ln/>
        </p:spPr>
        <p:txBody>
          <a:bodyPr wrap="square" lIns="0" tIns="0" rIns="0" bIns="0" rtlCol="0" anchor="t"/>
          <a:lstStyle/>
          <a:p>
            <a:pPr indent="0" marL="0">
              <a:buNone/>
            </a:pPr>
            <a:r>
              <a:rPr lang="en-US" sz="1250" dirty="0">
                <a:solidFill>
                  <a:schemeClr val="bg2"/>
                </a:solidFill>
              </a:rPr>
              <a:t>Design system: colour palette, CSS theme, SVG icons and HTML components (KPI cards, pills, calendar).</a:t>
            </a:r>
            <a:endParaRPr lang="en-US" sz="1250" dirty="0"/>
          </a:p>
        </p:txBody>
      </p:sp>
      <p:sp>
        <p:nvSpPr>
          <p:cNvPr id="26" name="config_card_524"/>
          <p:cNvSpPr/>
          <p:nvPr/>
        </p:nvSpPr>
        <p:spPr>
          <a:xfrm>
            <a:off x="548640" y="5084064"/>
            <a:ext cx="5257800" cy="1051560"/>
          </a:xfrm>
          <a:prstGeom prst="roundRect">
            <a:avLst>
              <a:gd name="adj" fmla="val 10435"/>
            </a:avLst>
          </a:prstGeom>
          <a:solidFill>
            <a:schemeClr val="tx2"/>
          </a:solidFill>
          <a:ln w="9525">
            <a:solidFill>
              <a:srgbClr val="2B3470"/>
            </a:solidFill>
            <a:prstDash val="solid"/>
          </a:ln>
        </p:spPr>
      </p:sp>
      <p:sp>
        <p:nvSpPr>
          <p:cNvPr id="27" name="icon_bg_525"/>
          <p:cNvSpPr/>
          <p:nvPr/>
        </p:nvSpPr>
        <p:spPr>
          <a:xfrm>
            <a:off x="731520" y="5266944"/>
            <a:ext cx="502920" cy="502920"/>
          </a:xfrm>
          <a:prstGeom prst="roundRect">
            <a:avLst>
              <a:gd name="adj" fmla="val 24000"/>
            </a:avLst>
          </a:prstGeom>
          <a:solidFill>
            <a:schemeClr val="accent6">
              <a:alpha val="22000"/>
            </a:schemeClr>
          </a:solidFill>
          <a:ln/>
        </p:spPr>
      </p:sp>
      <p:pic>
        <p:nvPicPr>
          <p:cNvPr id="28" name="icon_526" descr="/tmp/claude-0/-home-claude/584731ee-e493-5c78-a637-0b254e057472/scratchpad/deck/img/i_sliders.png">    </p:cNvPr>
          <p:cNvPicPr>
            <a:picLocks noChangeAspect="1"/>
          </p:cNvPicPr>
          <p:nvPr/>
        </p:nvPicPr>
        <p:blipFill>
          <a:blip r:embed="rId3"/>
          <a:stretch>
            <a:fillRect/>
          </a:stretch>
        </p:blipFill>
        <p:spPr>
          <a:xfrm>
            <a:off x="852221" y="5387645"/>
            <a:ext cx="261518" cy="261518"/>
          </a:xfrm>
          <a:prstGeom prst="rect">
            <a:avLst/>
          </a:prstGeom>
        </p:spPr>
      </p:pic>
      <p:sp>
        <p:nvSpPr>
          <p:cNvPr id="29" name="text_527"/>
          <p:cNvSpPr txBox="1"/>
          <p:nvPr/>
        </p:nvSpPr>
        <p:spPr>
          <a:xfrm>
            <a:off x="1371600" y="5257800"/>
            <a:ext cx="4206240" cy="365760"/>
          </a:xfrm>
          <a:prstGeom prst="rect">
            <a:avLst/>
          </a:prstGeom>
          <a:noFill/>
          <a:ln/>
        </p:spPr>
        <p:txBody>
          <a:bodyPr wrap="square" lIns="0" tIns="0" rIns="0" bIns="0" rtlCol="0" anchor="t"/>
          <a:lstStyle/>
          <a:p>
            <a:pPr indent="0" marL="0">
              <a:buNone/>
            </a:pPr>
            <a:r>
              <a:rPr lang="en-US" sz="1800" b="1" dirty="0">
                <a:solidFill>
                  <a:srgbClr val="C7CAFF"/>
                </a:solidFill>
                <a:latin typeface="Courier New" pitchFamily="34" charset="0"/>
                <a:ea typeface="Courier New" pitchFamily="34" charset="-122"/>
                <a:cs typeface="Courier New" pitchFamily="34" charset="-120"/>
              </a:rPr>
              <a:t>.streamlit/config.toml</a:t>
            </a:r>
            <a:endParaRPr lang="en-US" sz="1800" dirty="0"/>
          </a:p>
        </p:txBody>
      </p:sp>
      <p:sp>
        <p:nvSpPr>
          <p:cNvPr id="30" name="text_528"/>
          <p:cNvSpPr txBox="1"/>
          <p:nvPr/>
        </p:nvSpPr>
        <p:spPr>
          <a:xfrm>
            <a:off x="1371600" y="5641848"/>
            <a:ext cx="4297680" cy="365760"/>
          </a:xfrm>
          <a:prstGeom prst="rect">
            <a:avLst/>
          </a:prstGeom>
          <a:noFill/>
          <a:ln/>
        </p:spPr>
        <p:txBody>
          <a:bodyPr wrap="square" lIns="0" tIns="0" rIns="0" bIns="0" rtlCol="0" anchor="t"/>
          <a:lstStyle/>
          <a:p>
            <a:pPr indent="0" marL="0">
              <a:buNone/>
            </a:pPr>
            <a:r>
              <a:rPr lang="en-US" sz="1250" dirty="0">
                <a:solidFill>
                  <a:schemeClr val="bg2"/>
                </a:solidFill>
              </a:rPr>
              <a:t>Dark theme colours, 10 MB upload limit, minimal toolbar.</a:t>
            </a:r>
            <a:endParaRPr lang="en-US" sz="1250" dirty="0"/>
          </a:p>
        </p:txBody>
      </p:sp>
      <p:sp>
        <p:nvSpPr>
          <p:cNvPr id="31" name="frame_529"/>
          <p:cNvSpPr/>
          <p:nvPr/>
        </p:nvSpPr>
        <p:spPr>
          <a:xfrm>
            <a:off x="6108192" y="1508760"/>
            <a:ext cx="5568696" cy="3529584"/>
          </a:xfrm>
          <a:prstGeom prst="roundRect">
            <a:avLst>
              <a:gd name="adj" fmla="val 2591"/>
            </a:avLst>
          </a:prstGeom>
          <a:solidFill>
            <a:schemeClr val="tx2"/>
          </a:solidFill>
          <a:ln w="12700">
            <a:solidFill>
              <a:srgbClr val="3B44A0"/>
            </a:solidFill>
            <a:prstDash val="solid"/>
          </a:ln>
          <a:effectLst>
            <a:outerShdw sx="100000" sy="100000" kx="0" ky="0" algn="bl" rotWithShape="0" blurRad="127000" dist="38100" dir="5400000">
              <a:srgbClr val="000000">
                <a:alpha val="35000"/>
              </a:srgbClr>
            </a:outerShdw>
          </a:effectLst>
        </p:spPr>
      </p:sp>
      <p:pic>
        <p:nvPicPr>
          <p:cNvPr id="32" name="screenshot_530" descr="/tmp/claude-0/-home-claude/584731ee-e493-5c78-a637-0b254e057472/scratchpad/deck/img/reminders.png">    </p:cNvPr>
          <p:cNvPicPr>
            <a:picLocks noChangeAspect="1"/>
          </p:cNvPicPr>
          <p:nvPr/>
        </p:nvPicPr>
        <p:blipFill>
          <a:blip r:embed="rId4"/>
          <a:stretch>
            <a:fillRect/>
          </a:stretch>
        </p:blipFill>
        <p:spPr>
          <a:xfrm>
            <a:off x="6172200" y="1572768"/>
            <a:ext cx="5440680" cy="3401568"/>
          </a:xfrm>
          <a:prstGeom prst="rect">
            <a:avLst/>
          </a:prstGeom>
        </p:spPr>
      </p:pic>
      <p:sp>
        <p:nvSpPr>
          <p:cNvPr id="33" name="text_531"/>
          <p:cNvSpPr txBox="1"/>
          <p:nvPr/>
        </p:nvSpPr>
        <p:spPr>
          <a:xfrm>
            <a:off x="6108192" y="5138928"/>
            <a:ext cx="3657600" cy="237744"/>
          </a:xfrm>
          <a:prstGeom prst="rect">
            <a:avLst/>
          </a:prstGeom>
          <a:noFill/>
          <a:ln/>
        </p:spPr>
        <p:txBody>
          <a:bodyPr wrap="square" lIns="0" tIns="0" rIns="0" bIns="0" rtlCol="0" anchor="t"/>
          <a:lstStyle/>
          <a:p>
            <a:pPr indent="0" marL="0">
              <a:buNone/>
            </a:pPr>
            <a:r>
              <a:rPr lang="en-US" sz="1100" b="1" spc="200" kern="0" dirty="0">
                <a:solidFill>
                  <a:schemeClr val="accent2"/>
                </a:solidFill>
              </a:rPr>
              <a:t>SUPPORTING FILES</a:t>
            </a:r>
            <a:endParaRPr lang="en-US" sz="1100" dirty="0"/>
          </a:p>
        </p:txBody>
      </p:sp>
      <p:sp>
        <p:nvSpPr>
          <p:cNvPr id="34" name="support_chip_532"/>
          <p:cNvSpPr/>
          <p:nvPr/>
        </p:nvSpPr>
        <p:spPr>
          <a:xfrm>
            <a:off x="6108192" y="5422392"/>
            <a:ext cx="1773936" cy="713232"/>
          </a:xfrm>
          <a:prstGeom prst="roundRect">
            <a:avLst>
              <a:gd name="adj" fmla="val 15385"/>
            </a:avLst>
          </a:prstGeom>
          <a:solidFill>
            <a:schemeClr val="tx2"/>
          </a:solidFill>
          <a:ln w="9525">
            <a:solidFill>
              <a:srgbClr val="2B3470"/>
            </a:solidFill>
            <a:prstDash val="solid"/>
          </a:ln>
        </p:spPr>
      </p:sp>
      <p:sp>
        <p:nvSpPr>
          <p:cNvPr id="35" name="text_533"/>
          <p:cNvSpPr txBox="1"/>
          <p:nvPr/>
        </p:nvSpPr>
        <p:spPr>
          <a:xfrm>
            <a:off x="6217920" y="5486400"/>
            <a:ext cx="1600200" cy="347472"/>
          </a:xfrm>
          <a:prstGeom prst="rect">
            <a:avLst/>
          </a:prstGeom>
          <a:noFill/>
          <a:ln/>
        </p:spPr>
        <p:txBody>
          <a:bodyPr wrap="square" lIns="0" tIns="0" rIns="0" bIns="0" rtlCol="0" anchor="t">
            <a:normAutofit/>
          </a:bodyPr>
          <a:lstStyle/>
          <a:p>
            <a:pPr indent="0" marL="0">
              <a:buNone/>
            </a:pPr>
            <a:r>
              <a:rPr lang="en-US" sz="950" b="1" dirty="0">
                <a:solidFill>
                  <a:srgbClr val="C7CAFF"/>
                </a:solidFill>
                <a:latin typeface="Courier New" pitchFamily="34" charset="0"/>
                <a:ea typeface="Courier New" pitchFamily="34" charset="-122"/>
                <a:cs typeface="Courier New" pitchFamily="34" charset="-120"/>
              </a:rPr>
              <a:t>tests/test_lifeadmin.py</a:t>
            </a:r>
            <a:endParaRPr lang="en-US" sz="950" dirty="0"/>
          </a:p>
        </p:txBody>
      </p:sp>
      <p:sp>
        <p:nvSpPr>
          <p:cNvPr id="36" name="text_534"/>
          <p:cNvSpPr txBox="1"/>
          <p:nvPr/>
        </p:nvSpPr>
        <p:spPr>
          <a:xfrm>
            <a:off x="6217920" y="5824728"/>
            <a:ext cx="1600200" cy="237744"/>
          </a:xfrm>
          <a:prstGeom prst="rect">
            <a:avLst/>
          </a:prstGeom>
          <a:noFill/>
          <a:ln/>
        </p:spPr>
        <p:txBody>
          <a:bodyPr wrap="square" lIns="0" tIns="0" rIns="0" bIns="0" rtlCol="0" anchor="t"/>
          <a:lstStyle/>
          <a:p>
            <a:pPr indent="0" marL="0">
              <a:buNone/>
            </a:pPr>
            <a:r>
              <a:rPr lang="en-US" sz="1050" dirty="0">
                <a:solidFill>
                  <a:schemeClr val="bg2"/>
                </a:solidFill>
              </a:rPr>
              <a:t>28 unit tests</a:t>
            </a:r>
            <a:endParaRPr lang="en-US" sz="1050" dirty="0"/>
          </a:p>
        </p:txBody>
      </p:sp>
      <p:sp>
        <p:nvSpPr>
          <p:cNvPr id="37" name="support_chip_535"/>
          <p:cNvSpPr/>
          <p:nvPr/>
        </p:nvSpPr>
        <p:spPr>
          <a:xfrm>
            <a:off x="7973568" y="5422392"/>
            <a:ext cx="1773936" cy="713232"/>
          </a:xfrm>
          <a:prstGeom prst="roundRect">
            <a:avLst>
              <a:gd name="adj" fmla="val 15385"/>
            </a:avLst>
          </a:prstGeom>
          <a:solidFill>
            <a:schemeClr val="tx2"/>
          </a:solidFill>
          <a:ln w="9525">
            <a:solidFill>
              <a:srgbClr val="2B3470"/>
            </a:solidFill>
            <a:prstDash val="solid"/>
          </a:ln>
        </p:spPr>
      </p:sp>
      <p:sp>
        <p:nvSpPr>
          <p:cNvPr id="38" name="text_536"/>
          <p:cNvSpPr txBox="1"/>
          <p:nvPr/>
        </p:nvSpPr>
        <p:spPr>
          <a:xfrm>
            <a:off x="8083296" y="5486400"/>
            <a:ext cx="1600200" cy="347472"/>
          </a:xfrm>
          <a:prstGeom prst="rect">
            <a:avLst/>
          </a:prstGeom>
          <a:noFill/>
          <a:ln/>
        </p:spPr>
        <p:txBody>
          <a:bodyPr wrap="square" lIns="0" tIns="0" rIns="0" bIns="0" rtlCol="0" anchor="t">
            <a:normAutofit/>
          </a:bodyPr>
          <a:lstStyle/>
          <a:p>
            <a:pPr indent="0" marL="0">
              <a:buNone/>
            </a:pPr>
            <a:r>
              <a:rPr lang="en-US" sz="950" b="1" dirty="0">
                <a:solidFill>
                  <a:srgbClr val="C7CAFF"/>
                </a:solidFill>
                <a:latin typeface="Courier New" pitchFamily="34" charset="0"/>
                <a:ea typeface="Courier New" pitchFamily="34" charset="-122"/>
                <a:cs typeface="Courier New" pitchFamily="34" charset="-120"/>
              </a:rPr>
              <a:t>scripts/smoke_ui.py</a:t>
            </a:r>
            <a:endParaRPr lang="en-US" sz="950" dirty="0"/>
          </a:p>
        </p:txBody>
      </p:sp>
      <p:sp>
        <p:nvSpPr>
          <p:cNvPr id="39" name="text_537"/>
          <p:cNvSpPr txBox="1"/>
          <p:nvPr/>
        </p:nvSpPr>
        <p:spPr>
          <a:xfrm>
            <a:off x="8083296" y="5824728"/>
            <a:ext cx="1600200" cy="237744"/>
          </a:xfrm>
          <a:prstGeom prst="rect">
            <a:avLst/>
          </a:prstGeom>
          <a:noFill/>
          <a:ln/>
        </p:spPr>
        <p:txBody>
          <a:bodyPr wrap="square" lIns="0" tIns="0" rIns="0" bIns="0" rtlCol="0" anchor="t"/>
          <a:lstStyle/>
          <a:p>
            <a:pPr indent="0" marL="0">
              <a:buNone/>
            </a:pPr>
            <a:r>
              <a:rPr lang="en-US" sz="1050" dirty="0">
                <a:solidFill>
                  <a:schemeClr val="bg2"/>
                </a:solidFill>
              </a:rPr>
              <a:t>opens all 4 screens</a:t>
            </a:r>
            <a:endParaRPr lang="en-US" sz="1050" dirty="0"/>
          </a:p>
        </p:txBody>
      </p:sp>
      <p:sp>
        <p:nvSpPr>
          <p:cNvPr id="40" name="support_chip_538"/>
          <p:cNvSpPr/>
          <p:nvPr/>
        </p:nvSpPr>
        <p:spPr>
          <a:xfrm>
            <a:off x="9838944" y="5422392"/>
            <a:ext cx="1773936" cy="713232"/>
          </a:xfrm>
          <a:prstGeom prst="roundRect">
            <a:avLst>
              <a:gd name="adj" fmla="val 15385"/>
            </a:avLst>
          </a:prstGeom>
          <a:solidFill>
            <a:schemeClr val="tx2"/>
          </a:solidFill>
          <a:ln w="9525">
            <a:solidFill>
              <a:srgbClr val="2B3470"/>
            </a:solidFill>
            <a:prstDash val="solid"/>
          </a:ln>
        </p:spPr>
      </p:sp>
      <p:sp>
        <p:nvSpPr>
          <p:cNvPr id="41" name="text_539"/>
          <p:cNvSpPr txBox="1"/>
          <p:nvPr/>
        </p:nvSpPr>
        <p:spPr>
          <a:xfrm>
            <a:off x="9948672" y="5486400"/>
            <a:ext cx="1600200" cy="347472"/>
          </a:xfrm>
          <a:prstGeom prst="rect">
            <a:avLst/>
          </a:prstGeom>
          <a:noFill/>
          <a:ln/>
        </p:spPr>
        <p:txBody>
          <a:bodyPr wrap="square" lIns="0" tIns="0" rIns="0" bIns="0" rtlCol="0" anchor="t">
            <a:normAutofit/>
          </a:bodyPr>
          <a:lstStyle/>
          <a:p>
            <a:pPr indent="0" marL="0">
              <a:buNone/>
            </a:pPr>
            <a:r>
              <a:rPr lang="en-US" sz="950" b="1" dirty="0">
                <a:solidFill>
                  <a:srgbClr val="C7CAFF"/>
                </a:solidFill>
                <a:latin typeface="Courier New" pitchFamily="34" charset="0"/>
                <a:ea typeface="Courier New" pitchFamily="34" charset="-122"/>
                <a:cs typeface="Courier New" pitchFamily="34" charset="-120"/>
              </a:rPr>
              <a:t>scripts/make_samples.py</a:t>
            </a:r>
            <a:endParaRPr lang="en-US" sz="950" dirty="0"/>
          </a:p>
        </p:txBody>
      </p:sp>
      <p:sp>
        <p:nvSpPr>
          <p:cNvPr id="42" name="text_540"/>
          <p:cNvSpPr txBox="1"/>
          <p:nvPr/>
        </p:nvSpPr>
        <p:spPr>
          <a:xfrm>
            <a:off x="9948672" y="5824728"/>
            <a:ext cx="1600200" cy="237744"/>
          </a:xfrm>
          <a:prstGeom prst="rect">
            <a:avLst/>
          </a:prstGeom>
          <a:noFill/>
          <a:ln/>
        </p:spPr>
        <p:txBody>
          <a:bodyPr wrap="square" lIns="0" tIns="0" rIns="0" bIns="0" rtlCol="0" anchor="t"/>
          <a:lstStyle/>
          <a:p>
            <a:pPr indent="0" marL="0">
              <a:buNone/>
            </a:pPr>
            <a:r>
              <a:rPr lang="en-US" sz="1050" dirty="0">
                <a:solidFill>
                  <a:schemeClr val="bg2"/>
                </a:solidFill>
              </a:rPr>
              <a:t>builds demo PDFs</a:t>
            </a:r>
            <a:endParaRPr lang="en-US" sz="1050" dirty="0"/>
          </a:p>
        </p:txBody>
      </p:sp>
      <p:sp>
        <p:nvSpPr>
          <p:cNvPr id="25" name="Slide Number Placeholder 0"/>
          <p:cNvSpPr>
            <a:spLocks noGrp="1"/>
          </p:cNvSpPr>
          <p:nvPr>
            <p:ph type="sldNum" sz="quarter" idx="4294967295"/>
          </p:nvPr>
        </p:nvSpPr>
        <p:spPr>
          <a:xfrm>
            <a:off x="11109960" y="6355080"/>
            <a:ext cx="530352"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bg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8229600" cy="274320"/>
          </a:xfrm>
          <a:prstGeom prst="rect">
            <a:avLst/>
          </a:prstGeom>
          <a:noFill/>
          <a:ln/>
        </p:spPr>
        <p:txBody>
          <a:bodyPr wrap="square" lIns="0" tIns="0" rIns="0" bIns="0" rtlCol="0" anchor="ctr"/>
          <a:lstStyle/>
          <a:p>
            <a:pPr algn="l" indent="0" marL="0">
              <a:buNone/>
            </a:pPr>
            <a:r>
              <a:rPr lang="en-US" sz="1200" b="1" spc="200" kern="0" dirty="0">
                <a:solidFill>
                  <a:schemeClr val="accent2"/>
                </a:solidFill>
              </a:rPr>
              <a:t>03 · CODE  ·  SPOTLIGHT</a:t>
            </a:r>
            <a:endParaRPr lang="en-US" sz="1200" dirty="0"/>
          </a:p>
        </p:txBody>
      </p:sp>
      <p:sp>
        <p:nvSpPr>
          <p:cNvPr id="3" name="Text 0"/>
          <p:cNvSpPr/>
          <p:nvPr>
            <p:ph idx="101" type="title" hasCustomPrompt="1"/>
          </p:nvPr>
        </p:nvSpPr>
        <p:spPr>
          <a:xfrm>
            <a:off x="548640" y="603504"/>
            <a:ext cx="11064240" cy="685800"/>
          </a:xfrm>
          <a:prstGeom prst="rect">
            <a:avLst/>
          </a:prstGeom>
          <a:noFill/>
          <a:ln/>
        </p:spPr>
        <p:txBody>
          <a:bodyPr wrap="square" lIns="0" tIns="0" rIns="0" bIns="0" rtlCol="0" anchor="ctr"/>
          <a:lstStyle/>
          <a:p>
            <a:pPr algn="l" indent="0" marL="0">
              <a:buNone/>
            </a:pPr>
            <a:r>
              <a:rPr lang="en-US" sz="3200" b="1" dirty="0">
                <a:solidFill>
                  <a:schemeClr val="bg1"/>
                </a:solidFill>
              </a:rPr>
              <a:t>Two pieces of logic that do the heavy lifting</a:t>
            </a:r>
            <a:endParaRPr lang="en-US" sz="3200" dirty="0"/>
          </a:p>
        </p:txBody>
      </p:sp>
      <p:sp>
        <p:nvSpPr>
          <p:cNvPr id="4" name="code_panel_541"/>
          <p:cNvSpPr/>
          <p:nvPr/>
        </p:nvSpPr>
        <p:spPr>
          <a:xfrm>
            <a:off x="548640" y="1508760"/>
            <a:ext cx="5440680" cy="3429000"/>
          </a:xfrm>
          <a:prstGeom prst="roundRect">
            <a:avLst>
              <a:gd name="adj" fmla="val 3200"/>
            </a:avLst>
          </a:prstGeom>
          <a:solidFill>
            <a:srgbClr val="0A0F2C"/>
          </a:solidFill>
          <a:ln w="9525">
            <a:solidFill>
              <a:srgbClr val="2B3470"/>
            </a:solidFill>
            <a:prstDash val="solid"/>
          </a:ln>
        </p:spPr>
      </p:sp>
      <p:sp>
        <p:nvSpPr>
          <p:cNvPr id="5" name="dot_542"/>
          <p:cNvSpPr/>
          <p:nvPr/>
        </p:nvSpPr>
        <p:spPr>
          <a:xfrm>
            <a:off x="749808" y="1673352"/>
            <a:ext cx="118872" cy="118872"/>
          </a:xfrm>
          <a:prstGeom prst="ellipse">
            <a:avLst/>
          </a:prstGeom>
          <a:solidFill>
            <a:srgbClr val="FF5F57"/>
          </a:solidFill>
          <a:ln/>
        </p:spPr>
      </p:sp>
      <p:sp>
        <p:nvSpPr>
          <p:cNvPr id="6" name="dot_543"/>
          <p:cNvSpPr/>
          <p:nvPr/>
        </p:nvSpPr>
        <p:spPr>
          <a:xfrm>
            <a:off x="950976" y="1673352"/>
            <a:ext cx="118872" cy="118872"/>
          </a:xfrm>
          <a:prstGeom prst="ellipse">
            <a:avLst/>
          </a:prstGeom>
          <a:solidFill>
            <a:srgbClr val="FEBC2E"/>
          </a:solidFill>
          <a:ln/>
        </p:spPr>
      </p:sp>
      <p:sp>
        <p:nvSpPr>
          <p:cNvPr id="7" name="dot_544"/>
          <p:cNvSpPr/>
          <p:nvPr/>
        </p:nvSpPr>
        <p:spPr>
          <a:xfrm>
            <a:off x="1152144" y="1673352"/>
            <a:ext cx="118872" cy="118872"/>
          </a:xfrm>
          <a:prstGeom prst="ellipse">
            <a:avLst/>
          </a:prstGeom>
          <a:solidFill>
            <a:srgbClr val="28C840"/>
          </a:solidFill>
          <a:ln/>
        </p:spPr>
      </p:sp>
      <p:sp>
        <p:nvSpPr>
          <p:cNvPr id="8" name="text_545"/>
          <p:cNvSpPr txBox="1"/>
          <p:nvPr/>
        </p:nvSpPr>
        <p:spPr>
          <a:xfrm>
            <a:off x="1417320" y="1591056"/>
            <a:ext cx="2377440" cy="274320"/>
          </a:xfrm>
          <a:prstGeom prst="rect">
            <a:avLst/>
          </a:prstGeom>
          <a:noFill/>
          <a:ln/>
        </p:spPr>
        <p:txBody>
          <a:bodyPr wrap="square" lIns="0" tIns="0" rIns="0" bIns="0" rtlCol="0" anchor="ctr"/>
          <a:lstStyle/>
          <a:p>
            <a:pPr indent="0" marL="0">
              <a:buNone/>
            </a:pPr>
            <a:r>
              <a:rPr lang="en-US" sz="1200" b="1" dirty="0">
                <a:solidFill>
                  <a:srgbClr val="C7CAFF"/>
                </a:solidFill>
                <a:latin typeface="Courier New" pitchFamily="34" charset="0"/>
                <a:ea typeface="Courier New" pitchFamily="34" charset="-122"/>
                <a:cs typeface="Courier New" pitchFamily="34" charset="-120"/>
              </a:rPr>
              <a:t>reminders.py</a:t>
            </a:r>
            <a:endParaRPr lang="en-US" sz="1200" dirty="0"/>
          </a:p>
        </p:txBody>
      </p:sp>
      <p:sp>
        <p:nvSpPr>
          <p:cNvPr id="9" name="text_546"/>
          <p:cNvSpPr txBox="1"/>
          <p:nvPr/>
        </p:nvSpPr>
        <p:spPr>
          <a:xfrm>
            <a:off x="3566160" y="1591056"/>
            <a:ext cx="2240280" cy="274320"/>
          </a:xfrm>
          <a:prstGeom prst="rect">
            <a:avLst/>
          </a:prstGeom>
          <a:noFill/>
          <a:ln/>
        </p:spPr>
        <p:txBody>
          <a:bodyPr wrap="square" lIns="0" tIns="0" rIns="0" bIns="0" rtlCol="0" anchor="ctr"/>
          <a:lstStyle/>
          <a:p>
            <a:pPr algn="r" indent="0" marL="0">
              <a:buNone/>
            </a:pPr>
            <a:r>
              <a:rPr lang="en-US" sz="1050" i="1" dirty="0">
                <a:solidFill>
                  <a:schemeClr val="bg2"/>
                </a:solidFill>
              </a:rPr>
              <a:t>simplified</a:t>
            </a:r>
            <a:endParaRPr lang="en-US" sz="1050" dirty="0"/>
          </a:p>
        </p:txBody>
      </p:sp>
      <p:sp>
        <p:nvSpPr>
          <p:cNvPr id="10" name="text_547"/>
          <p:cNvSpPr txBox="1"/>
          <p:nvPr/>
        </p:nvSpPr>
        <p:spPr>
          <a:xfrm>
            <a:off x="777240" y="2029968"/>
            <a:ext cx="5029200" cy="2788920"/>
          </a:xfrm>
          <a:prstGeom prst="rect">
            <a:avLst/>
          </a:prstGeom>
          <a:noFill/>
          <a:ln/>
        </p:spPr>
        <p:txBody>
          <a:bodyPr wrap="square" lIns="0" tIns="0" rIns="0" bIns="0" rtlCol="0" anchor="t"/>
          <a:lstStyle/>
          <a:p>
            <a:pPr indent="0" marL="0">
              <a:lnSpc>
                <a:spcPct val="100000"/>
              </a:lnSpc>
              <a:buNone/>
            </a:pPr>
            <a:r>
              <a:rPr lang="en-US" sz="1200" dirty="0">
                <a:solidFill>
                  <a:srgbClr val="FCD34D"/>
                </a:solidFill>
                <a:latin typeface="Courier New" pitchFamily="34" charset="0"/>
                <a:ea typeface="Courier New" pitchFamily="34" charset="-122"/>
                <a:cs typeface="Courier New" pitchFamily="34" charset="-120"/>
              </a:rPr>
              <a:t>WARNING_DAYS</a:t>
            </a:r>
            <a:pPr indent="0" marL="0">
              <a:lnSpc>
                <a:spcPct val="100000"/>
              </a:lnSpc>
              <a:buNone/>
            </a:pPr>
            <a:r>
              <a:rPr lang="en-US" sz="1200" dirty="0">
                <a:solidFill>
                  <a:srgbClr val="E2E5FA"/>
                </a:solidFill>
                <a:latin typeface="Courier New" pitchFamily="34" charset="0"/>
                <a:ea typeface="Courier New" pitchFamily="34" charset="-122"/>
                <a:cs typeface="Courier New" pitchFamily="34" charset="-120"/>
              </a:rPr>
              <a:t>, </a:t>
            </a:r>
            <a:pPr indent="0" marL="0">
              <a:lnSpc>
                <a:spcPct val="100000"/>
              </a:lnSpc>
              <a:buNone/>
            </a:pPr>
            <a:r>
              <a:rPr lang="en-US" sz="1200" dirty="0">
                <a:solidFill>
                  <a:srgbClr val="FCD34D"/>
                </a:solidFill>
                <a:latin typeface="Courier New" pitchFamily="34" charset="0"/>
                <a:ea typeface="Courier New" pitchFamily="34" charset="-122"/>
                <a:cs typeface="Courier New" pitchFamily="34" charset="-120"/>
              </a:rPr>
              <a:t>CRITICAL_DAYS</a:t>
            </a:r>
            <a:pPr indent="0" marL="0">
              <a:lnSpc>
                <a:spcPct val="100000"/>
              </a:lnSpc>
              <a:buNone/>
            </a:pPr>
            <a:r>
              <a:rPr lang="en-US" sz="1200" dirty="0">
                <a:solidFill>
                  <a:srgbClr val="E2E5FA"/>
                </a:solidFill>
                <a:latin typeface="Courier New" pitchFamily="34" charset="0"/>
                <a:ea typeface="Courier New" pitchFamily="34" charset="-122"/>
                <a:cs typeface="Courier New" pitchFamily="34" charset="-120"/>
              </a:rPr>
              <a:t> = 30, 7</a:t>
            </a:r>
            <a:endParaRPr lang="en-US" sz="1200" dirty="0"/>
          </a:p>
          <a:p>
            <a:pPr indent="0" marL="0">
              <a:lnSpc>
                <a:spcPct val="100000"/>
              </a:lnSpc>
              <a:buNone/>
            </a:pPr>
            <a:endParaRPr lang="en-US" sz="1200" dirty="0"/>
          </a:p>
          <a:p>
            <a:pPr indent="0" marL="0">
              <a:lnSpc>
                <a:spcPct val="100000"/>
              </a:lnSpc>
              <a:buNone/>
            </a:pPr>
            <a:r>
              <a:rPr lang="en-US" sz="1200" dirty="0">
                <a:solidFill>
                  <a:srgbClr val="FF8A73"/>
                </a:solidFill>
                <a:latin typeface="Courier New" pitchFamily="34" charset="0"/>
                <a:ea typeface="Courier New" pitchFamily="34" charset="-122"/>
                <a:cs typeface="Courier New" pitchFamily="34" charset="-120"/>
              </a:rPr>
              <a:t>def </a:t>
            </a:r>
            <a:pPr indent="0" marL="0">
              <a:lnSpc>
                <a:spcPct val="100000"/>
              </a:lnSpc>
              <a:buNone/>
            </a:pPr>
            <a:r>
              <a:rPr lang="en-US" sz="1200" dirty="0">
                <a:solidFill>
                  <a:srgbClr val="93C5FD"/>
                </a:solidFill>
                <a:latin typeface="Courier New" pitchFamily="34" charset="0"/>
                <a:ea typeface="Courier New" pitchFamily="34" charset="-122"/>
                <a:cs typeface="Courier New" pitchFamily="34" charset="-120"/>
              </a:rPr>
              <a:t>evaluate</a:t>
            </a:r>
            <a:pPr indent="0" marL="0">
              <a:lnSpc>
                <a:spcPct val="100000"/>
              </a:lnSpc>
              <a:buNone/>
            </a:pPr>
            <a:r>
              <a:rPr lang="en-US" sz="1200" dirty="0">
                <a:solidFill>
                  <a:srgbClr val="E2E5FA"/>
                </a:solidFill>
                <a:latin typeface="Courier New" pitchFamily="34" charset="0"/>
                <a:ea typeface="Courier New" pitchFamily="34" charset="-122"/>
                <a:cs typeface="Courier New" pitchFamily="34" charset="-120"/>
              </a:rPr>
              <a:t>(expiry, today):</a:t>
            </a:r>
            <a:endParaRPr lang="en-US" sz="1200" dirty="0"/>
          </a:p>
          <a:p>
            <a:pPr indent="0" marL="0">
              <a:lnSpc>
                <a:spcPct val="100000"/>
              </a:lnSpc>
              <a:buNone/>
            </a:pPr>
            <a:r>
              <a:rPr lang="en-US" sz="1200" dirty="0">
                <a:solidFill>
                  <a:srgbClr val="FF8A73"/>
                </a:solidFill>
                <a:latin typeface="Courier New" pitchFamily="34" charset="0"/>
                <a:ea typeface="Courier New" pitchFamily="34" charset="-122"/>
                <a:cs typeface="Courier New" pitchFamily="34" charset="-120"/>
              </a:rPr>
              <a:t>    if </a:t>
            </a:r>
            <a:pPr indent="0" marL="0">
              <a:lnSpc>
                <a:spcPct val="100000"/>
              </a:lnSpc>
              <a:buNone/>
            </a:pPr>
            <a:r>
              <a:rPr lang="en-US" sz="1200" dirty="0">
                <a:solidFill>
                  <a:srgbClr val="E2E5FA"/>
                </a:solidFill>
                <a:latin typeface="Courier New" pitchFamily="34" charset="0"/>
                <a:ea typeface="Courier New" pitchFamily="34" charset="-122"/>
                <a:cs typeface="Courier New" pitchFamily="34" charset="-120"/>
              </a:rPr>
              <a:t>expiry </a:t>
            </a:r>
            <a:pPr indent="0" marL="0">
              <a:lnSpc>
                <a:spcPct val="100000"/>
              </a:lnSpc>
              <a:buNone/>
            </a:pPr>
            <a:r>
              <a:rPr lang="en-US" sz="1200" dirty="0">
                <a:solidFill>
                  <a:srgbClr val="FF8A73"/>
                </a:solidFill>
                <a:latin typeface="Courier New" pitchFamily="34" charset="0"/>
                <a:ea typeface="Courier New" pitchFamily="34" charset="-122"/>
                <a:cs typeface="Courier New" pitchFamily="34" charset="-120"/>
              </a:rPr>
              <a:t>is None</a:t>
            </a:r>
            <a:pPr indent="0" marL="0">
              <a:lnSpc>
                <a:spcPct val="100000"/>
              </a:lnSpc>
              <a:buNone/>
            </a:pPr>
            <a:r>
              <a:rPr lang="en-US" sz="1200" dirty="0">
                <a:solidFill>
                  <a:srgbClr val="E2E5FA"/>
                </a:solidFill>
                <a:latin typeface="Courier New" pitchFamily="34" charset="0"/>
                <a:ea typeface="Courier New" pitchFamily="34" charset="-122"/>
                <a:cs typeface="Courier New" pitchFamily="34" charset="-120"/>
              </a:rPr>
              <a:t>:</a:t>
            </a:r>
            <a:endParaRPr lang="en-US" sz="1200" dirty="0"/>
          </a:p>
          <a:p>
            <a:pPr indent="0" marL="0">
              <a:lnSpc>
                <a:spcPct val="100000"/>
              </a:lnSpc>
              <a:buNone/>
            </a:pPr>
            <a:r>
              <a:rPr lang="en-US" sz="1200" dirty="0">
                <a:solidFill>
                  <a:srgbClr val="FF8A73"/>
                </a:solidFill>
                <a:latin typeface="Courier New" pitchFamily="34" charset="0"/>
                <a:ea typeface="Courier New" pitchFamily="34" charset="-122"/>
                <a:cs typeface="Courier New" pitchFamily="34" charset="-120"/>
              </a:rPr>
              <a:t>        return </a:t>
            </a:r>
            <a:pPr indent="0" marL="0">
              <a:lnSpc>
                <a:spcPct val="100000"/>
              </a:lnSpc>
              <a:buNone/>
            </a:pPr>
            <a:r>
              <a:rPr lang="en-US" sz="1200" dirty="0">
                <a:solidFill>
                  <a:srgbClr val="E2E5FA"/>
                </a:solidFill>
                <a:latin typeface="Courier New" pitchFamily="34" charset="0"/>
                <a:ea typeface="Courier New" pitchFamily="34" charset="-122"/>
                <a:cs typeface="Courier New" pitchFamily="34" charset="-120"/>
              </a:rPr>
              <a:t>NO_EXPIRY</a:t>
            </a:r>
            <a:endParaRPr lang="en-US" sz="1200" dirty="0"/>
          </a:p>
          <a:p>
            <a:pPr indent="0" marL="0">
              <a:lnSpc>
                <a:spcPct val="100000"/>
              </a:lnSpc>
              <a:buNone/>
            </a:pPr>
            <a:r>
              <a:rPr lang="en-US" sz="1200" dirty="0">
                <a:solidFill>
                  <a:srgbClr val="E2E5FA"/>
                </a:solidFill>
                <a:latin typeface="Courier New" pitchFamily="34" charset="0"/>
                <a:ea typeface="Courier New" pitchFamily="34" charset="-122"/>
                <a:cs typeface="Courier New" pitchFamily="34" charset="-120"/>
              </a:rPr>
              <a:t>    days = (expiry - today).days</a:t>
            </a:r>
            <a:endParaRPr lang="en-US" sz="1200" dirty="0"/>
          </a:p>
          <a:p>
            <a:pPr indent="0" marL="0">
              <a:lnSpc>
                <a:spcPct val="100000"/>
              </a:lnSpc>
              <a:buNone/>
            </a:pPr>
            <a:r>
              <a:rPr lang="en-US" sz="1200" dirty="0">
                <a:solidFill>
                  <a:srgbClr val="FF8A73"/>
                </a:solidFill>
                <a:latin typeface="Courier New" pitchFamily="34" charset="0"/>
                <a:ea typeface="Courier New" pitchFamily="34" charset="-122"/>
                <a:cs typeface="Courier New" pitchFamily="34" charset="-120"/>
              </a:rPr>
              <a:t>    if </a:t>
            </a:r>
            <a:pPr indent="0" marL="0">
              <a:lnSpc>
                <a:spcPct val="100000"/>
              </a:lnSpc>
              <a:buNone/>
            </a:pPr>
            <a:r>
              <a:rPr lang="en-US" sz="1200" dirty="0">
                <a:solidFill>
                  <a:srgbClr val="E2E5FA"/>
                </a:solidFill>
                <a:latin typeface="Courier New" pitchFamily="34" charset="0"/>
                <a:ea typeface="Courier New" pitchFamily="34" charset="-122"/>
                <a:cs typeface="Courier New" pitchFamily="34" charset="-120"/>
              </a:rPr>
              <a:t>days &lt; 0:  </a:t>
            </a:r>
            <a:pPr indent="0" marL="0">
              <a:lnSpc>
                <a:spcPct val="100000"/>
              </a:lnSpc>
              <a:buNone/>
            </a:pPr>
            <a:r>
              <a:rPr lang="en-US" sz="1200" dirty="0">
                <a:solidFill>
                  <a:srgbClr val="FF8A73"/>
                </a:solidFill>
                <a:latin typeface="Courier New" pitchFamily="34" charset="0"/>
                <a:ea typeface="Courier New" pitchFamily="34" charset="-122"/>
                <a:cs typeface="Courier New" pitchFamily="34" charset="-120"/>
              </a:rPr>
              <a:t>return </a:t>
            </a:r>
            <a:pPr indent="0" marL="0">
              <a:lnSpc>
                <a:spcPct val="100000"/>
              </a:lnSpc>
              <a:buNone/>
            </a:pPr>
            <a:r>
              <a:rPr lang="en-US" sz="1200" dirty="0">
                <a:solidFill>
                  <a:srgbClr val="E2E5FA"/>
                </a:solidFill>
                <a:latin typeface="Courier New" pitchFamily="34" charset="0"/>
                <a:ea typeface="Courier New" pitchFamily="34" charset="-122"/>
                <a:cs typeface="Courier New" pitchFamily="34" charset="-120"/>
              </a:rPr>
              <a:t>EXPIRED</a:t>
            </a:r>
            <a:endParaRPr lang="en-US" sz="1200" dirty="0"/>
          </a:p>
          <a:p>
            <a:pPr indent="0" marL="0">
              <a:lnSpc>
                <a:spcPct val="100000"/>
              </a:lnSpc>
              <a:buNone/>
            </a:pPr>
            <a:r>
              <a:rPr lang="en-US" sz="1200" dirty="0">
                <a:solidFill>
                  <a:srgbClr val="FF8A73"/>
                </a:solidFill>
                <a:latin typeface="Courier New" pitchFamily="34" charset="0"/>
                <a:ea typeface="Courier New" pitchFamily="34" charset="-122"/>
                <a:cs typeface="Courier New" pitchFamily="34" charset="-120"/>
              </a:rPr>
              <a:t>    if </a:t>
            </a:r>
            <a:pPr indent="0" marL="0">
              <a:lnSpc>
                <a:spcPct val="100000"/>
              </a:lnSpc>
              <a:buNone/>
            </a:pPr>
            <a:r>
              <a:rPr lang="en-US" sz="1200" dirty="0">
                <a:solidFill>
                  <a:srgbClr val="E2E5FA"/>
                </a:solidFill>
                <a:latin typeface="Courier New" pitchFamily="34" charset="0"/>
                <a:ea typeface="Courier New" pitchFamily="34" charset="-122"/>
                <a:cs typeface="Courier New" pitchFamily="34" charset="-120"/>
              </a:rPr>
              <a:t>days &lt;= </a:t>
            </a:r>
            <a:pPr indent="0" marL="0">
              <a:lnSpc>
                <a:spcPct val="100000"/>
              </a:lnSpc>
              <a:buNone/>
            </a:pPr>
            <a:r>
              <a:rPr lang="en-US" sz="1200" dirty="0">
                <a:solidFill>
                  <a:srgbClr val="FCD34D"/>
                </a:solidFill>
                <a:latin typeface="Courier New" pitchFamily="34" charset="0"/>
                <a:ea typeface="Courier New" pitchFamily="34" charset="-122"/>
                <a:cs typeface="Courier New" pitchFamily="34" charset="-120"/>
              </a:rPr>
              <a:t>CRITICAL_DAYS</a:t>
            </a:r>
            <a:pPr indent="0" marL="0">
              <a:lnSpc>
                <a:spcPct val="100000"/>
              </a:lnSpc>
              <a:buNone/>
            </a:pPr>
            <a:r>
              <a:rPr lang="en-US" sz="1200" dirty="0">
                <a:solidFill>
                  <a:srgbClr val="E2E5FA"/>
                </a:solidFill>
                <a:latin typeface="Courier New" pitchFamily="34" charset="0"/>
                <a:ea typeface="Courier New" pitchFamily="34" charset="-122"/>
                <a:cs typeface="Courier New" pitchFamily="34" charset="-120"/>
              </a:rPr>
              <a:t>:</a:t>
            </a:r>
            <a:endParaRPr lang="en-US" sz="1200" dirty="0"/>
          </a:p>
          <a:p>
            <a:pPr indent="0" marL="0">
              <a:lnSpc>
                <a:spcPct val="100000"/>
              </a:lnSpc>
              <a:buNone/>
            </a:pPr>
            <a:r>
              <a:rPr lang="en-US" sz="1200" dirty="0">
                <a:solidFill>
                  <a:srgbClr val="FF8A73"/>
                </a:solidFill>
                <a:latin typeface="Courier New" pitchFamily="34" charset="0"/>
                <a:ea typeface="Courier New" pitchFamily="34" charset="-122"/>
                <a:cs typeface="Courier New" pitchFamily="34" charset="-120"/>
              </a:rPr>
              <a:t>        return </a:t>
            </a:r>
            <a:pPr indent="0" marL="0">
              <a:lnSpc>
                <a:spcPct val="100000"/>
              </a:lnSpc>
              <a:buNone/>
            </a:pPr>
            <a:r>
              <a:rPr lang="en-US" sz="1200" dirty="0">
                <a:solidFill>
                  <a:srgbClr val="E2E5FA"/>
                </a:solidFill>
                <a:latin typeface="Courier New" pitchFamily="34" charset="0"/>
                <a:ea typeface="Courier New" pitchFamily="34" charset="-122"/>
                <a:cs typeface="Courier New" pitchFamily="34" charset="-120"/>
              </a:rPr>
              <a:t>CRITICAL</a:t>
            </a:r>
            <a:endParaRPr lang="en-US" sz="1200" dirty="0"/>
          </a:p>
          <a:p>
            <a:pPr indent="0" marL="0">
              <a:lnSpc>
                <a:spcPct val="100000"/>
              </a:lnSpc>
              <a:buNone/>
            </a:pPr>
            <a:r>
              <a:rPr lang="en-US" sz="1200" dirty="0">
                <a:solidFill>
                  <a:srgbClr val="FF8A73"/>
                </a:solidFill>
                <a:latin typeface="Courier New" pitchFamily="34" charset="0"/>
                <a:ea typeface="Courier New" pitchFamily="34" charset="-122"/>
                <a:cs typeface="Courier New" pitchFamily="34" charset="-120"/>
              </a:rPr>
              <a:t>    if </a:t>
            </a:r>
            <a:pPr indent="0" marL="0">
              <a:lnSpc>
                <a:spcPct val="100000"/>
              </a:lnSpc>
              <a:buNone/>
            </a:pPr>
            <a:r>
              <a:rPr lang="en-US" sz="1200" dirty="0">
                <a:solidFill>
                  <a:srgbClr val="E2E5FA"/>
                </a:solidFill>
                <a:latin typeface="Courier New" pitchFamily="34" charset="0"/>
                <a:ea typeface="Courier New" pitchFamily="34" charset="-122"/>
                <a:cs typeface="Courier New" pitchFamily="34" charset="-120"/>
              </a:rPr>
              <a:t>days &lt;= </a:t>
            </a:r>
            <a:pPr indent="0" marL="0">
              <a:lnSpc>
                <a:spcPct val="100000"/>
              </a:lnSpc>
              <a:buNone/>
            </a:pPr>
            <a:r>
              <a:rPr lang="en-US" sz="1200" dirty="0">
                <a:solidFill>
                  <a:srgbClr val="FCD34D"/>
                </a:solidFill>
                <a:latin typeface="Courier New" pitchFamily="34" charset="0"/>
                <a:ea typeface="Courier New" pitchFamily="34" charset="-122"/>
                <a:cs typeface="Courier New" pitchFamily="34" charset="-120"/>
              </a:rPr>
              <a:t>WARNING_DAYS</a:t>
            </a:r>
            <a:pPr indent="0" marL="0">
              <a:lnSpc>
                <a:spcPct val="100000"/>
              </a:lnSpc>
              <a:buNone/>
            </a:pPr>
            <a:r>
              <a:rPr lang="en-US" sz="1200" dirty="0">
                <a:solidFill>
                  <a:srgbClr val="E2E5FA"/>
                </a:solidFill>
                <a:latin typeface="Courier New" pitchFamily="34" charset="0"/>
                <a:ea typeface="Courier New" pitchFamily="34" charset="-122"/>
                <a:cs typeface="Courier New" pitchFamily="34" charset="-120"/>
              </a:rPr>
              <a:t>:</a:t>
            </a:r>
            <a:endParaRPr lang="en-US" sz="1200" dirty="0"/>
          </a:p>
          <a:p>
            <a:pPr indent="0" marL="0">
              <a:lnSpc>
                <a:spcPct val="100000"/>
              </a:lnSpc>
              <a:buNone/>
            </a:pPr>
            <a:r>
              <a:rPr lang="en-US" sz="1200" dirty="0">
                <a:solidFill>
                  <a:srgbClr val="FF8A73"/>
                </a:solidFill>
                <a:latin typeface="Courier New" pitchFamily="34" charset="0"/>
                <a:ea typeface="Courier New" pitchFamily="34" charset="-122"/>
                <a:cs typeface="Courier New" pitchFamily="34" charset="-120"/>
              </a:rPr>
              <a:t>        return </a:t>
            </a:r>
            <a:pPr indent="0" marL="0">
              <a:lnSpc>
                <a:spcPct val="100000"/>
              </a:lnSpc>
              <a:buNone/>
            </a:pPr>
            <a:r>
              <a:rPr lang="en-US" sz="1200" dirty="0">
                <a:solidFill>
                  <a:srgbClr val="E2E5FA"/>
                </a:solidFill>
                <a:latin typeface="Courier New" pitchFamily="34" charset="0"/>
                <a:ea typeface="Courier New" pitchFamily="34" charset="-122"/>
                <a:cs typeface="Courier New" pitchFamily="34" charset="-120"/>
              </a:rPr>
              <a:t>EXPIRING_SOON</a:t>
            </a:r>
            <a:endParaRPr lang="en-US" sz="1200" dirty="0"/>
          </a:p>
          <a:p>
            <a:pPr indent="0" marL="0">
              <a:lnSpc>
                <a:spcPct val="100000"/>
              </a:lnSpc>
              <a:buNone/>
            </a:pPr>
            <a:r>
              <a:rPr lang="en-US" sz="1200" dirty="0">
                <a:solidFill>
                  <a:srgbClr val="FF8A73"/>
                </a:solidFill>
                <a:latin typeface="Courier New" pitchFamily="34" charset="0"/>
                <a:ea typeface="Courier New" pitchFamily="34" charset="-122"/>
                <a:cs typeface="Courier New" pitchFamily="34" charset="-120"/>
              </a:rPr>
              <a:t>    return </a:t>
            </a:r>
            <a:pPr indent="0" marL="0">
              <a:lnSpc>
                <a:spcPct val="100000"/>
              </a:lnSpc>
              <a:buNone/>
            </a:pPr>
            <a:r>
              <a:rPr lang="en-US" sz="1200" dirty="0">
                <a:solidFill>
                  <a:srgbClr val="E2E5FA"/>
                </a:solidFill>
                <a:latin typeface="Courier New" pitchFamily="34" charset="0"/>
                <a:ea typeface="Courier New" pitchFamily="34" charset="-122"/>
                <a:cs typeface="Courier New" pitchFamily="34" charset="-120"/>
              </a:rPr>
              <a:t>ACTIVE</a:t>
            </a:r>
            <a:endParaRPr lang="en-US" sz="1200" dirty="0"/>
          </a:p>
        </p:txBody>
      </p:sp>
      <p:sp>
        <p:nvSpPr>
          <p:cNvPr id="11" name="code_panel_548"/>
          <p:cNvSpPr/>
          <p:nvPr/>
        </p:nvSpPr>
        <p:spPr>
          <a:xfrm>
            <a:off x="6172200" y="1508760"/>
            <a:ext cx="5440680" cy="3429000"/>
          </a:xfrm>
          <a:prstGeom prst="roundRect">
            <a:avLst>
              <a:gd name="adj" fmla="val 3200"/>
            </a:avLst>
          </a:prstGeom>
          <a:solidFill>
            <a:srgbClr val="0A0F2C"/>
          </a:solidFill>
          <a:ln w="9525">
            <a:solidFill>
              <a:srgbClr val="2B3470"/>
            </a:solidFill>
            <a:prstDash val="solid"/>
          </a:ln>
        </p:spPr>
      </p:sp>
      <p:sp>
        <p:nvSpPr>
          <p:cNvPr id="12" name="dot_549"/>
          <p:cNvSpPr/>
          <p:nvPr/>
        </p:nvSpPr>
        <p:spPr>
          <a:xfrm>
            <a:off x="6373368" y="1673352"/>
            <a:ext cx="118872" cy="118872"/>
          </a:xfrm>
          <a:prstGeom prst="ellipse">
            <a:avLst/>
          </a:prstGeom>
          <a:solidFill>
            <a:srgbClr val="FF5F57"/>
          </a:solidFill>
          <a:ln/>
        </p:spPr>
      </p:sp>
      <p:sp>
        <p:nvSpPr>
          <p:cNvPr id="13" name="dot_550"/>
          <p:cNvSpPr/>
          <p:nvPr/>
        </p:nvSpPr>
        <p:spPr>
          <a:xfrm>
            <a:off x="6574536" y="1673352"/>
            <a:ext cx="118872" cy="118872"/>
          </a:xfrm>
          <a:prstGeom prst="ellipse">
            <a:avLst/>
          </a:prstGeom>
          <a:solidFill>
            <a:srgbClr val="FEBC2E"/>
          </a:solidFill>
          <a:ln/>
        </p:spPr>
      </p:sp>
      <p:sp>
        <p:nvSpPr>
          <p:cNvPr id="14" name="dot_551"/>
          <p:cNvSpPr/>
          <p:nvPr/>
        </p:nvSpPr>
        <p:spPr>
          <a:xfrm>
            <a:off x="6775704" y="1673352"/>
            <a:ext cx="118872" cy="118872"/>
          </a:xfrm>
          <a:prstGeom prst="ellipse">
            <a:avLst/>
          </a:prstGeom>
          <a:solidFill>
            <a:srgbClr val="28C840"/>
          </a:solidFill>
          <a:ln/>
        </p:spPr>
      </p:sp>
      <p:sp>
        <p:nvSpPr>
          <p:cNvPr id="15" name="text_552"/>
          <p:cNvSpPr txBox="1"/>
          <p:nvPr/>
        </p:nvSpPr>
        <p:spPr>
          <a:xfrm>
            <a:off x="7040880" y="1591056"/>
            <a:ext cx="2377440" cy="274320"/>
          </a:xfrm>
          <a:prstGeom prst="rect">
            <a:avLst/>
          </a:prstGeom>
          <a:noFill/>
          <a:ln/>
        </p:spPr>
        <p:txBody>
          <a:bodyPr wrap="square" lIns="0" tIns="0" rIns="0" bIns="0" rtlCol="0" anchor="ctr"/>
          <a:lstStyle/>
          <a:p>
            <a:pPr indent="0" marL="0">
              <a:buNone/>
            </a:pPr>
            <a:r>
              <a:rPr lang="en-US" sz="1200" b="1" dirty="0">
                <a:solidFill>
                  <a:srgbClr val="C7CAFF"/>
                </a:solidFill>
                <a:latin typeface="Courier New" pitchFamily="34" charset="0"/>
                <a:ea typeface="Courier New" pitchFamily="34" charset="-122"/>
                <a:cs typeface="Courier New" pitchFamily="34" charset="-120"/>
              </a:rPr>
              <a:t>parser.py</a:t>
            </a:r>
            <a:endParaRPr lang="en-US" sz="1200" dirty="0"/>
          </a:p>
        </p:txBody>
      </p:sp>
      <p:sp>
        <p:nvSpPr>
          <p:cNvPr id="16" name="text_553"/>
          <p:cNvSpPr txBox="1"/>
          <p:nvPr/>
        </p:nvSpPr>
        <p:spPr>
          <a:xfrm>
            <a:off x="9189720" y="1591056"/>
            <a:ext cx="2240280" cy="274320"/>
          </a:xfrm>
          <a:prstGeom prst="rect">
            <a:avLst/>
          </a:prstGeom>
          <a:noFill/>
          <a:ln/>
        </p:spPr>
        <p:txBody>
          <a:bodyPr wrap="square" lIns="0" tIns="0" rIns="0" bIns="0" rtlCol="0" anchor="ctr"/>
          <a:lstStyle/>
          <a:p>
            <a:pPr algn="r" indent="0" marL="0">
              <a:buNone/>
            </a:pPr>
            <a:r>
              <a:rPr lang="en-US" sz="1050" i="1" dirty="0">
                <a:solidFill>
                  <a:schemeClr val="bg2"/>
                </a:solidFill>
              </a:rPr>
              <a:t>policy period</a:t>
            </a:r>
            <a:endParaRPr lang="en-US" sz="1050" dirty="0"/>
          </a:p>
        </p:txBody>
      </p:sp>
      <p:sp>
        <p:nvSpPr>
          <p:cNvPr id="17" name="text_554"/>
          <p:cNvSpPr txBox="1"/>
          <p:nvPr/>
        </p:nvSpPr>
        <p:spPr>
          <a:xfrm>
            <a:off x="6400800" y="2029968"/>
            <a:ext cx="5029200" cy="2788920"/>
          </a:xfrm>
          <a:prstGeom prst="rect">
            <a:avLst/>
          </a:prstGeom>
          <a:noFill/>
          <a:ln/>
        </p:spPr>
        <p:txBody>
          <a:bodyPr wrap="square" lIns="0" tIns="0" rIns="0" bIns="0" rtlCol="0" anchor="t"/>
          <a:lstStyle/>
          <a:p>
            <a:pPr indent="0" marL="0">
              <a:lnSpc>
                <a:spcPct val="100000"/>
              </a:lnSpc>
              <a:buNone/>
            </a:pPr>
            <a:r>
              <a:rPr lang="en-US" sz="1200" dirty="0">
                <a:solidFill>
                  <a:srgbClr val="7C84B0"/>
                </a:solidFill>
                <a:latin typeface="Courier New" pitchFamily="34" charset="0"/>
                <a:ea typeface="Courier New" pitchFamily="34" charset="-122"/>
                <a:cs typeface="Courier New" pitchFamily="34" charset="-120"/>
              </a:rPr>
              <a:t># matches 12/04/2026, 2026-04-12, 12 Apr 2026 …</a:t>
            </a:r>
            <a:endParaRPr lang="en-US" sz="1200" dirty="0"/>
          </a:p>
          <a:p>
            <a:pPr indent="0" marL="0">
              <a:lnSpc>
                <a:spcPct val="100000"/>
              </a:lnSpc>
              <a:buNone/>
            </a:pPr>
            <a:r>
              <a:rPr lang="en-US" sz="1200" dirty="0">
                <a:solidFill>
                  <a:srgbClr val="E2E5FA"/>
                </a:solidFill>
                <a:latin typeface="Courier New" pitchFamily="34" charset="0"/>
                <a:ea typeface="Courier New" pitchFamily="34" charset="-122"/>
                <a:cs typeface="Courier New" pitchFamily="34" charset="-120"/>
              </a:rPr>
              <a:t>PERIOD = </a:t>
            </a:r>
            <a:pPr indent="0" marL="0">
              <a:lnSpc>
                <a:spcPct val="100000"/>
              </a:lnSpc>
              <a:buNone/>
            </a:pPr>
            <a:r>
              <a:rPr lang="en-US" sz="1200" dirty="0">
                <a:solidFill>
                  <a:srgbClr val="86EFAC"/>
                </a:solidFill>
                <a:latin typeface="Courier New" pitchFamily="34" charset="0"/>
                <a:ea typeface="Courier New" pitchFamily="34" charset="-122"/>
                <a:cs typeface="Courier New" pitchFamily="34" charset="-120"/>
              </a:rPr>
              <a:t>r"period\s*of\s*insurance|policy\s*period"</a:t>
            </a:r>
            <a:endParaRPr lang="en-US" sz="1200" dirty="0"/>
          </a:p>
          <a:p>
            <a:pPr indent="0" marL="0">
              <a:lnSpc>
                <a:spcPct val="100000"/>
              </a:lnSpc>
              <a:buNone/>
            </a:pPr>
            <a:endParaRPr lang="en-US" sz="1200" dirty="0"/>
          </a:p>
          <a:p>
            <a:pPr indent="0" marL="0">
              <a:lnSpc>
                <a:spcPct val="100000"/>
              </a:lnSpc>
              <a:buNone/>
            </a:pPr>
            <a:r>
              <a:rPr lang="en-US" sz="1200" dirty="0">
                <a:solidFill>
                  <a:srgbClr val="FF8A73"/>
                </a:solidFill>
                <a:latin typeface="Courier New" pitchFamily="34" charset="0"/>
                <a:ea typeface="Courier New" pitchFamily="34" charset="-122"/>
                <a:cs typeface="Courier New" pitchFamily="34" charset="-120"/>
              </a:rPr>
              <a:t>def </a:t>
            </a:r>
            <a:pPr indent="0" marL="0">
              <a:lnSpc>
                <a:spcPct val="100000"/>
              </a:lnSpc>
              <a:buNone/>
            </a:pPr>
            <a:r>
              <a:rPr lang="en-US" sz="1200" dirty="0">
                <a:solidFill>
                  <a:srgbClr val="93C5FD"/>
                </a:solidFill>
                <a:latin typeface="Courier New" pitchFamily="34" charset="0"/>
                <a:ea typeface="Courier New" pitchFamily="34" charset="-122"/>
                <a:cs typeface="Courier New" pitchFamily="34" charset="-120"/>
              </a:rPr>
              <a:t>find_period</a:t>
            </a:r>
            <a:pPr indent="0" marL="0">
              <a:lnSpc>
                <a:spcPct val="100000"/>
              </a:lnSpc>
              <a:buNone/>
            </a:pPr>
            <a:r>
              <a:rPr lang="en-US" sz="1200" dirty="0">
                <a:solidFill>
                  <a:srgbClr val="E2E5FA"/>
                </a:solidFill>
                <a:latin typeface="Courier New" pitchFamily="34" charset="0"/>
                <a:ea typeface="Courier New" pitchFamily="34" charset="-122"/>
                <a:cs typeface="Courier New" pitchFamily="34" charset="-120"/>
              </a:rPr>
              <a:t>(text):</a:t>
            </a:r>
            <a:endParaRPr lang="en-US" sz="1200" dirty="0"/>
          </a:p>
          <a:p>
            <a:pPr indent="0" marL="0">
              <a:lnSpc>
                <a:spcPct val="100000"/>
              </a:lnSpc>
              <a:buNone/>
            </a:pPr>
            <a:r>
              <a:rPr lang="en-US" sz="1200" dirty="0">
                <a:solidFill>
                  <a:srgbClr val="E2E5FA"/>
                </a:solidFill>
                <a:latin typeface="Courier New" pitchFamily="34" charset="0"/>
                <a:ea typeface="Courier New" pitchFamily="34" charset="-122"/>
                <a:cs typeface="Courier New" pitchFamily="34" charset="-120"/>
              </a:rPr>
              <a:t>    m = re.search(</a:t>
            </a:r>
            <a:endParaRPr lang="en-US" sz="1200" dirty="0"/>
          </a:p>
          <a:p>
            <a:pPr indent="0" marL="0">
              <a:lnSpc>
                <a:spcPct val="100000"/>
              </a:lnSpc>
              <a:buNone/>
            </a:pPr>
            <a:r>
              <a:rPr lang="en-US" sz="1200" dirty="0">
                <a:solidFill>
                  <a:srgbClr val="86EFAC"/>
                </a:solidFill>
                <a:latin typeface="Courier New" pitchFamily="34" charset="0"/>
                <a:ea typeface="Courier New" pitchFamily="34" charset="-122"/>
                <a:cs typeface="Courier New" pitchFamily="34" charset="-120"/>
              </a:rPr>
              <a:t>        rf"(?:{PERIOD})[^\d\n]{{0,30}}?({DATE})"</a:t>
            </a:r>
            <a:endParaRPr lang="en-US" sz="1200" dirty="0"/>
          </a:p>
          <a:p>
            <a:pPr indent="0" marL="0">
              <a:lnSpc>
                <a:spcPct val="100000"/>
              </a:lnSpc>
              <a:buNone/>
            </a:pPr>
            <a:r>
              <a:rPr lang="en-US" sz="1200" dirty="0">
                <a:solidFill>
                  <a:srgbClr val="86EFAC"/>
                </a:solidFill>
                <a:latin typeface="Courier New" pitchFamily="34" charset="0"/>
                <a:ea typeface="Courier New" pitchFamily="34" charset="-122"/>
                <a:cs typeface="Courier New" pitchFamily="34" charset="-120"/>
              </a:rPr>
              <a:t>        rf"[^\d\n]{{0,25}}?"</a:t>
            </a:r>
            <a:endParaRPr lang="en-US" sz="1200" dirty="0"/>
          </a:p>
          <a:p>
            <a:pPr indent="0" marL="0">
              <a:lnSpc>
                <a:spcPct val="100000"/>
              </a:lnSpc>
              <a:buNone/>
            </a:pPr>
            <a:r>
              <a:rPr lang="en-US" sz="1200" dirty="0">
                <a:solidFill>
                  <a:srgbClr val="86EFAC"/>
                </a:solidFill>
                <a:latin typeface="Courier New" pitchFamily="34" charset="0"/>
                <a:ea typeface="Courier New" pitchFamily="34" charset="-122"/>
                <a:cs typeface="Courier New" pitchFamily="34" charset="-120"/>
              </a:rPr>
              <a:t>        rf"(?:to|till|until)\s*({DATE})"</a:t>
            </a:r>
            <a:pPr indent="0" marL="0">
              <a:lnSpc>
                <a:spcPct val="100000"/>
              </a:lnSpc>
              <a:buNone/>
            </a:pPr>
            <a:r>
              <a:rPr lang="en-US" sz="1200" dirty="0">
                <a:solidFill>
                  <a:srgbClr val="E2E5FA"/>
                </a:solidFill>
                <a:latin typeface="Courier New" pitchFamily="34" charset="0"/>
                <a:ea typeface="Courier New" pitchFamily="34" charset="-122"/>
                <a:cs typeface="Courier New" pitchFamily="34" charset="-120"/>
              </a:rPr>
              <a:t>,</a:t>
            </a:r>
            <a:endParaRPr lang="en-US" sz="1200" dirty="0"/>
          </a:p>
          <a:p>
            <a:pPr indent="0" marL="0">
              <a:lnSpc>
                <a:spcPct val="100000"/>
              </a:lnSpc>
              <a:buNone/>
            </a:pPr>
            <a:r>
              <a:rPr lang="en-US" sz="1200" dirty="0">
                <a:solidFill>
                  <a:srgbClr val="E2E5FA"/>
                </a:solidFill>
                <a:latin typeface="Courier New" pitchFamily="34" charset="0"/>
                <a:ea typeface="Courier New" pitchFamily="34" charset="-122"/>
                <a:cs typeface="Courier New" pitchFamily="34" charset="-120"/>
              </a:rPr>
              <a:t>        text, re.I)</a:t>
            </a:r>
            <a:endParaRPr lang="en-US" sz="1200" dirty="0"/>
          </a:p>
          <a:p>
            <a:pPr indent="0" marL="0">
              <a:lnSpc>
                <a:spcPct val="100000"/>
              </a:lnSpc>
              <a:buNone/>
            </a:pPr>
            <a:r>
              <a:rPr lang="en-US" sz="1200" dirty="0">
                <a:solidFill>
                  <a:srgbClr val="FF8A73"/>
                </a:solidFill>
                <a:latin typeface="Courier New" pitchFamily="34" charset="0"/>
                <a:ea typeface="Courier New" pitchFamily="34" charset="-122"/>
                <a:cs typeface="Courier New" pitchFamily="34" charset="-120"/>
              </a:rPr>
              <a:t>    if </a:t>
            </a:r>
            <a:pPr indent="0" marL="0">
              <a:lnSpc>
                <a:spcPct val="100000"/>
              </a:lnSpc>
              <a:buNone/>
            </a:pPr>
            <a:r>
              <a:rPr lang="en-US" sz="1200" dirty="0">
                <a:solidFill>
                  <a:srgbClr val="E2E5FA"/>
                </a:solidFill>
                <a:latin typeface="Courier New" pitchFamily="34" charset="0"/>
                <a:ea typeface="Courier New" pitchFamily="34" charset="-122"/>
                <a:cs typeface="Courier New" pitchFamily="34" charset="-120"/>
              </a:rPr>
              <a:t>m:</a:t>
            </a:r>
            <a:endParaRPr lang="en-US" sz="1200" dirty="0"/>
          </a:p>
          <a:p>
            <a:pPr indent="0" marL="0">
              <a:lnSpc>
                <a:spcPct val="100000"/>
              </a:lnSpc>
              <a:buNone/>
            </a:pPr>
            <a:r>
              <a:rPr lang="en-US" sz="1200" dirty="0">
                <a:solidFill>
                  <a:srgbClr val="FF8A73"/>
                </a:solidFill>
                <a:latin typeface="Courier New" pitchFamily="34" charset="0"/>
                <a:ea typeface="Courier New" pitchFamily="34" charset="-122"/>
                <a:cs typeface="Courier New" pitchFamily="34" charset="-120"/>
              </a:rPr>
              <a:t>        return </a:t>
            </a:r>
            <a:pPr indent="0" marL="0">
              <a:lnSpc>
                <a:spcPct val="100000"/>
              </a:lnSpc>
              <a:buNone/>
            </a:pPr>
            <a:r>
              <a:rPr lang="en-US" sz="1200" dirty="0">
                <a:solidFill>
                  <a:srgbClr val="93C5FD"/>
                </a:solidFill>
                <a:latin typeface="Courier New" pitchFamily="34" charset="0"/>
                <a:ea typeface="Courier New" pitchFamily="34" charset="-122"/>
                <a:cs typeface="Courier New" pitchFamily="34" charset="-120"/>
              </a:rPr>
              <a:t>parse_date</a:t>
            </a:r>
            <a:pPr indent="0" marL="0">
              <a:lnSpc>
                <a:spcPct val="100000"/>
              </a:lnSpc>
              <a:buNone/>
            </a:pPr>
            <a:r>
              <a:rPr lang="en-US" sz="1200" dirty="0">
                <a:solidFill>
                  <a:srgbClr val="E2E5FA"/>
                </a:solidFill>
                <a:latin typeface="Courier New" pitchFamily="34" charset="0"/>
                <a:ea typeface="Courier New" pitchFamily="34" charset="-122"/>
                <a:cs typeface="Courier New" pitchFamily="34" charset="-120"/>
              </a:rPr>
              <a:t>(m[1]), </a:t>
            </a:r>
            <a:pPr indent="0" marL="0">
              <a:lnSpc>
                <a:spcPct val="100000"/>
              </a:lnSpc>
              <a:buNone/>
            </a:pPr>
            <a:r>
              <a:rPr lang="en-US" sz="1200" dirty="0">
                <a:solidFill>
                  <a:srgbClr val="93C5FD"/>
                </a:solidFill>
                <a:latin typeface="Courier New" pitchFamily="34" charset="0"/>
                <a:ea typeface="Courier New" pitchFamily="34" charset="-122"/>
                <a:cs typeface="Courier New" pitchFamily="34" charset="-120"/>
              </a:rPr>
              <a:t>parse_date</a:t>
            </a:r>
            <a:pPr indent="0" marL="0">
              <a:lnSpc>
                <a:spcPct val="100000"/>
              </a:lnSpc>
              <a:buNone/>
            </a:pPr>
            <a:r>
              <a:rPr lang="en-US" sz="1200" dirty="0">
                <a:solidFill>
                  <a:srgbClr val="E2E5FA"/>
                </a:solidFill>
                <a:latin typeface="Courier New" pitchFamily="34" charset="0"/>
                <a:ea typeface="Courier New" pitchFamily="34" charset="-122"/>
                <a:cs typeface="Courier New" pitchFamily="34" charset="-120"/>
              </a:rPr>
              <a:t>(m[2])</a:t>
            </a:r>
            <a:endParaRPr lang="en-US" sz="1200" dirty="0"/>
          </a:p>
        </p:txBody>
      </p:sp>
      <p:sp>
        <p:nvSpPr>
          <p:cNvPr id="18" name="result1_555"/>
          <p:cNvSpPr/>
          <p:nvPr/>
        </p:nvSpPr>
        <p:spPr>
          <a:xfrm>
            <a:off x="548640" y="5074920"/>
            <a:ext cx="5440680" cy="1051560"/>
          </a:xfrm>
          <a:prstGeom prst="roundRect">
            <a:avLst>
              <a:gd name="adj" fmla="val 10435"/>
            </a:avLst>
          </a:prstGeom>
          <a:solidFill>
            <a:schemeClr val="accent3">
              <a:alpha val="12000"/>
            </a:schemeClr>
          </a:solidFill>
          <a:ln w="9525">
            <a:solidFill>
              <a:schemeClr val="accent3"/>
            </a:solidFill>
            <a:prstDash val="solid"/>
          </a:ln>
        </p:spPr>
      </p:sp>
      <p:sp>
        <p:nvSpPr>
          <p:cNvPr id="19" name="text_556"/>
          <p:cNvSpPr txBox="1"/>
          <p:nvPr/>
        </p:nvSpPr>
        <p:spPr>
          <a:xfrm>
            <a:off x="777240" y="5184648"/>
            <a:ext cx="5029200" cy="868680"/>
          </a:xfrm>
          <a:prstGeom prst="rect">
            <a:avLst/>
          </a:prstGeom>
          <a:noFill/>
          <a:ln/>
        </p:spPr>
        <p:txBody>
          <a:bodyPr wrap="square" lIns="0" tIns="0" rIns="0" bIns="0" rtlCol="0" anchor="t"/>
          <a:lstStyle/>
          <a:p>
            <a:pPr indent="0" marL="0">
              <a:buNone/>
            </a:pPr>
            <a:r>
              <a:rPr lang="en-US" sz="1200" dirty="0">
                <a:solidFill>
                  <a:schemeClr val="bg2"/>
                </a:solidFill>
                <a:latin typeface="Courier New" pitchFamily="34" charset="0"/>
                <a:ea typeface="Courier New" pitchFamily="34" charset="-122"/>
                <a:cs typeface="Courier New" pitchFamily="34" charset="-120"/>
              </a:rPr>
              <a:t>expiry in 20 days  →  </a:t>
            </a:r>
            <a:pPr indent="0" marL="0">
              <a:buNone/>
            </a:pPr>
            <a:r>
              <a:rPr lang="en-US" sz="1200" b="1" dirty="0">
                <a:solidFill>
                  <a:srgbClr val="FBBF24"/>
                </a:solidFill>
                <a:latin typeface="Courier New" pitchFamily="34" charset="0"/>
                <a:ea typeface="Courier New" pitchFamily="34" charset="-122"/>
                <a:cs typeface="Courier New" pitchFamily="34" charset="-120"/>
              </a:rPr>
              <a:t>EXPIRING SOON</a:t>
            </a:r>
            <a:endParaRPr lang="en-US" sz="1200" dirty="0"/>
          </a:p>
          <a:p>
            <a:pPr indent="0" marL="0">
              <a:buNone/>
            </a:pPr>
            <a:r>
              <a:rPr lang="en-US" sz="1200" dirty="0">
                <a:solidFill>
                  <a:schemeClr val="bg2"/>
                </a:solidFill>
                <a:latin typeface="Courier New" pitchFamily="34" charset="0"/>
                <a:ea typeface="Courier New" pitchFamily="34" charset="-122"/>
                <a:cs typeface="Courier New" pitchFamily="34" charset="-120"/>
              </a:rPr>
              <a:t>expiry in 5 days    →  </a:t>
            </a:r>
            <a:pPr indent="0" marL="0">
              <a:buNone/>
            </a:pPr>
            <a:r>
              <a:rPr lang="en-US" sz="1200" b="1" dirty="0">
                <a:solidFill>
                  <a:srgbClr val="FB923C"/>
                </a:solidFill>
                <a:latin typeface="Courier New" pitchFamily="34" charset="0"/>
                <a:ea typeface="Courier New" pitchFamily="34" charset="-122"/>
                <a:cs typeface="Courier New" pitchFamily="34" charset="-120"/>
              </a:rPr>
              <a:t>CRITICAL</a:t>
            </a:r>
            <a:endParaRPr lang="en-US" sz="1200" dirty="0"/>
          </a:p>
          <a:p>
            <a:pPr indent="0" marL="0">
              <a:buNone/>
            </a:pPr>
            <a:r>
              <a:rPr lang="en-US" sz="1200" dirty="0">
                <a:solidFill>
                  <a:schemeClr val="bg2"/>
                </a:solidFill>
                <a:latin typeface="Courier New" pitchFamily="34" charset="0"/>
                <a:ea typeface="Courier New" pitchFamily="34" charset="-122"/>
                <a:cs typeface="Courier New" pitchFamily="34" charset="-120"/>
              </a:rPr>
              <a:t>expired 24 days ago →  </a:t>
            </a:r>
            <a:pPr indent="0" marL="0">
              <a:buNone/>
            </a:pPr>
            <a:r>
              <a:rPr lang="en-US" sz="1200" b="1" dirty="0">
                <a:solidFill>
                  <a:srgbClr val="F87171"/>
                </a:solidFill>
                <a:latin typeface="Courier New" pitchFamily="34" charset="0"/>
                <a:ea typeface="Courier New" pitchFamily="34" charset="-122"/>
                <a:cs typeface="Courier New" pitchFamily="34" charset="-120"/>
              </a:rPr>
              <a:t>EXPIRED</a:t>
            </a:r>
            <a:endParaRPr lang="en-US" sz="1200" dirty="0"/>
          </a:p>
        </p:txBody>
      </p:sp>
      <p:sp>
        <p:nvSpPr>
          <p:cNvPr id="20" name="result2_557"/>
          <p:cNvSpPr/>
          <p:nvPr/>
        </p:nvSpPr>
        <p:spPr>
          <a:xfrm>
            <a:off x="6172200" y="5074920"/>
            <a:ext cx="5440680" cy="1051560"/>
          </a:xfrm>
          <a:prstGeom prst="roundRect">
            <a:avLst>
              <a:gd name="adj" fmla="val 10435"/>
            </a:avLst>
          </a:prstGeom>
          <a:solidFill>
            <a:schemeClr val="accent3">
              <a:alpha val="12000"/>
            </a:schemeClr>
          </a:solidFill>
          <a:ln w="9525">
            <a:solidFill>
              <a:schemeClr val="accent3"/>
            </a:solidFill>
            <a:prstDash val="solid"/>
          </a:ln>
        </p:spPr>
      </p:sp>
      <p:sp>
        <p:nvSpPr>
          <p:cNvPr id="21" name="text_558"/>
          <p:cNvSpPr txBox="1"/>
          <p:nvPr/>
        </p:nvSpPr>
        <p:spPr>
          <a:xfrm>
            <a:off x="6400800" y="5230368"/>
            <a:ext cx="5074920" cy="777240"/>
          </a:xfrm>
          <a:prstGeom prst="rect">
            <a:avLst/>
          </a:prstGeom>
          <a:noFill/>
          <a:ln/>
        </p:spPr>
        <p:txBody>
          <a:bodyPr wrap="square" lIns="0" tIns="0" rIns="0" bIns="0" rtlCol="0" anchor="t"/>
          <a:lstStyle/>
          <a:p>
            <a:pPr indent="0" marL="0">
              <a:spcAft>
                <a:spcPts val="400"/>
              </a:spcAft>
              <a:buNone/>
            </a:pPr>
            <a:r>
              <a:rPr lang="en-US" sz="1150" b="1" dirty="0">
                <a:solidFill>
                  <a:schemeClr val="bg2"/>
                </a:solidFill>
                <a:latin typeface="Courier New" pitchFamily="34" charset="0"/>
                <a:ea typeface="Courier New" pitchFamily="34" charset="-122"/>
                <a:cs typeface="Courier New" pitchFamily="34" charset="-120"/>
              </a:rPr>
              <a:t>IN   </a:t>
            </a:r>
            <a:pPr indent="0" marL="0">
              <a:spcAft>
                <a:spcPts val="400"/>
              </a:spcAft>
              <a:buNone/>
            </a:pPr>
            <a:r>
              <a:rPr lang="en-US" sz="1150" dirty="0">
                <a:solidFill>
                  <a:srgbClr val="E2E5FA"/>
                </a:solidFill>
                <a:latin typeface="Courier New" pitchFamily="34" charset="0"/>
                <a:ea typeface="Courier New" pitchFamily="34" charset="-122"/>
                <a:cs typeface="Courier New" pitchFamily="34" charset="-120"/>
              </a:rPr>
              <a:t>Period of Insurance: 12/04/2026 to 11/04/2027</a:t>
            </a:r>
            <a:endParaRPr lang="en-US" sz="1150" dirty="0"/>
          </a:p>
          <a:p>
            <a:pPr indent="0" marL="0">
              <a:spcAft>
                <a:spcPts val="400"/>
              </a:spcAft>
              <a:buNone/>
            </a:pPr>
            <a:r>
              <a:rPr lang="en-US" sz="1150" b="1" dirty="0">
                <a:solidFill>
                  <a:schemeClr val="bg2"/>
                </a:solidFill>
                <a:latin typeface="Courier New" pitchFamily="34" charset="0"/>
                <a:ea typeface="Courier New" pitchFamily="34" charset="-122"/>
                <a:cs typeface="Courier New" pitchFamily="34" charset="-120"/>
              </a:rPr>
              <a:t>OUT  </a:t>
            </a:r>
            <a:pPr indent="0" marL="0">
              <a:spcAft>
                <a:spcPts val="400"/>
              </a:spcAft>
              <a:buNone/>
            </a:pPr>
            <a:r>
              <a:rPr lang="en-US" sz="1150" b="1" dirty="0">
                <a:solidFill>
                  <a:srgbClr val="86EFAC"/>
                </a:solidFill>
                <a:latin typeface="Courier New" pitchFamily="34" charset="0"/>
                <a:ea typeface="Courier New" pitchFamily="34" charset="-122"/>
                <a:cs typeface="Courier New" pitchFamily="34" charset="-120"/>
              </a:rPr>
              <a:t>start = 12 Apr 2026,  expiry = 11 Apr 2027</a:t>
            </a:r>
            <a:endParaRPr lang="en-US" sz="1150" dirty="0"/>
          </a:p>
        </p:txBody>
      </p:sp>
      <p:sp>
        <p:nvSpPr>
          <p:cNvPr id="25" name="Slide Number Placeholder 0"/>
          <p:cNvSpPr>
            <a:spLocks noGrp="1"/>
          </p:cNvSpPr>
          <p:nvPr>
            <p:ph type="sldNum" sz="quarter" idx="4294967295"/>
          </p:nvPr>
        </p:nvSpPr>
        <p:spPr>
          <a:xfrm>
            <a:off x="11109960" y="6355080"/>
            <a:ext cx="530352"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bg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8229600" cy="274320"/>
          </a:xfrm>
          <a:prstGeom prst="rect">
            <a:avLst/>
          </a:prstGeom>
          <a:noFill/>
          <a:ln/>
        </p:spPr>
        <p:txBody>
          <a:bodyPr wrap="square" lIns="0" tIns="0" rIns="0" bIns="0" rtlCol="0" anchor="ctr"/>
          <a:lstStyle/>
          <a:p>
            <a:pPr algn="l" indent="0" marL="0">
              <a:buNone/>
            </a:pPr>
            <a:r>
              <a:rPr lang="en-US" sz="1200" b="1" spc="200" kern="0" dirty="0">
                <a:solidFill>
                  <a:schemeClr val="accent2"/>
                </a:solidFill>
              </a:rPr>
              <a:t>LIVE DEMO</a:t>
            </a:r>
            <a:endParaRPr lang="en-US" sz="1200" dirty="0"/>
          </a:p>
        </p:txBody>
      </p:sp>
      <p:sp>
        <p:nvSpPr>
          <p:cNvPr id="3" name="Text 0"/>
          <p:cNvSpPr/>
          <p:nvPr>
            <p:ph idx="101" type="title" hasCustomPrompt="1"/>
          </p:nvPr>
        </p:nvSpPr>
        <p:spPr>
          <a:xfrm>
            <a:off x="548640" y="603504"/>
            <a:ext cx="11064240" cy="685800"/>
          </a:xfrm>
          <a:prstGeom prst="rect">
            <a:avLst/>
          </a:prstGeom>
          <a:noFill/>
          <a:ln/>
        </p:spPr>
        <p:txBody>
          <a:bodyPr wrap="square" lIns="0" tIns="0" rIns="0" bIns="0" rtlCol="0" anchor="ctr"/>
          <a:lstStyle/>
          <a:p>
            <a:pPr algn="l" indent="0" marL="0">
              <a:buNone/>
            </a:pPr>
            <a:r>
              <a:rPr lang="en-US" sz="3200" b="1" dirty="0">
                <a:solidFill>
                  <a:schemeClr val="bg1"/>
                </a:solidFill>
              </a:rPr>
              <a:t>The dashboard at a glance</a:t>
            </a:r>
            <a:endParaRPr lang="en-US" sz="3200" dirty="0"/>
          </a:p>
        </p:txBody>
      </p:sp>
      <p:sp>
        <p:nvSpPr>
          <p:cNvPr id="4" name="frame_559"/>
          <p:cNvSpPr/>
          <p:nvPr/>
        </p:nvSpPr>
        <p:spPr>
          <a:xfrm>
            <a:off x="484632" y="1444752"/>
            <a:ext cx="7443216" cy="4700016"/>
          </a:xfrm>
          <a:prstGeom prst="roundRect">
            <a:avLst>
              <a:gd name="adj" fmla="val 1946"/>
            </a:avLst>
          </a:prstGeom>
          <a:solidFill>
            <a:schemeClr val="tx2"/>
          </a:solidFill>
          <a:ln w="12700">
            <a:solidFill>
              <a:srgbClr val="3B44A0"/>
            </a:solidFill>
            <a:prstDash val="solid"/>
          </a:ln>
          <a:effectLst>
            <a:outerShdw sx="100000" sy="100000" kx="0" ky="0" algn="bl" rotWithShape="0" blurRad="127000" dist="38100" dir="5400000">
              <a:srgbClr val="000000">
                <a:alpha val="35000"/>
              </a:srgbClr>
            </a:outerShdw>
          </a:effectLst>
        </p:spPr>
      </p:sp>
      <p:pic>
        <p:nvPicPr>
          <p:cNvPr id="5" name="screenshot_560" descr="/tmp/claude-0/-home-claude/584731ee-e493-5c78-a637-0b254e057472/scratchpad/deck/img/dashboard.png">    </p:cNvPr>
          <p:cNvPicPr>
            <a:picLocks noChangeAspect="1"/>
          </p:cNvPicPr>
          <p:nvPr/>
        </p:nvPicPr>
        <p:blipFill>
          <a:blip r:embed="rId1"/>
          <a:stretch>
            <a:fillRect/>
          </a:stretch>
        </p:blipFill>
        <p:spPr>
          <a:xfrm>
            <a:off x="548640" y="1508760"/>
            <a:ext cx="7315200" cy="4572000"/>
          </a:xfrm>
          <a:prstGeom prst="rect">
            <a:avLst/>
          </a:prstGeom>
        </p:spPr>
      </p:pic>
      <p:sp>
        <p:nvSpPr>
          <p:cNvPr id="6" name="num_561"/>
          <p:cNvSpPr/>
          <p:nvPr/>
        </p:nvSpPr>
        <p:spPr>
          <a:xfrm>
            <a:off x="1755648" y="2263140"/>
            <a:ext cx="365760" cy="365760"/>
          </a:xfrm>
          <a:prstGeom prst="ellipse">
            <a:avLst/>
          </a:prstGeom>
          <a:solidFill>
            <a:schemeClr val="accent2"/>
          </a:solidFill>
          <a:ln/>
        </p:spPr>
      </p:sp>
      <p:sp>
        <p:nvSpPr>
          <p:cNvPr id="7" name="text_562"/>
          <p:cNvSpPr txBox="1"/>
          <p:nvPr/>
        </p:nvSpPr>
        <p:spPr>
          <a:xfrm>
            <a:off x="1755648" y="2263140"/>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8" name="num_563"/>
          <p:cNvSpPr/>
          <p:nvPr/>
        </p:nvSpPr>
        <p:spPr>
          <a:xfrm>
            <a:off x="1755648" y="2903220"/>
            <a:ext cx="365760" cy="365760"/>
          </a:xfrm>
          <a:prstGeom prst="ellipse">
            <a:avLst/>
          </a:prstGeom>
          <a:solidFill>
            <a:schemeClr val="accent2"/>
          </a:solidFill>
          <a:ln/>
        </p:spPr>
      </p:sp>
      <p:sp>
        <p:nvSpPr>
          <p:cNvPr id="9" name="text_564"/>
          <p:cNvSpPr txBox="1"/>
          <p:nvPr/>
        </p:nvSpPr>
        <p:spPr>
          <a:xfrm>
            <a:off x="1755648" y="2903220"/>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0" name="num_565"/>
          <p:cNvSpPr/>
          <p:nvPr/>
        </p:nvSpPr>
        <p:spPr>
          <a:xfrm>
            <a:off x="5303520" y="2903220"/>
            <a:ext cx="365760" cy="365760"/>
          </a:xfrm>
          <a:prstGeom prst="ellipse">
            <a:avLst/>
          </a:prstGeom>
          <a:solidFill>
            <a:schemeClr val="accent2"/>
          </a:solidFill>
          <a:ln/>
        </p:spPr>
      </p:sp>
      <p:sp>
        <p:nvSpPr>
          <p:cNvPr id="11" name="text_566"/>
          <p:cNvSpPr txBox="1"/>
          <p:nvPr/>
        </p:nvSpPr>
        <p:spPr>
          <a:xfrm>
            <a:off x="5303520" y="2903220"/>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2" name="num_567"/>
          <p:cNvSpPr/>
          <p:nvPr/>
        </p:nvSpPr>
        <p:spPr>
          <a:xfrm>
            <a:off x="1755648" y="4457700"/>
            <a:ext cx="365760" cy="365760"/>
          </a:xfrm>
          <a:prstGeom prst="ellipse">
            <a:avLst/>
          </a:prstGeom>
          <a:solidFill>
            <a:schemeClr val="accent2"/>
          </a:solidFill>
          <a:ln/>
        </p:spPr>
      </p:sp>
      <p:sp>
        <p:nvSpPr>
          <p:cNvPr id="13" name="text_568"/>
          <p:cNvSpPr txBox="1"/>
          <p:nvPr/>
        </p:nvSpPr>
        <p:spPr>
          <a:xfrm>
            <a:off x="1755648" y="4457700"/>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14" name="num_569"/>
          <p:cNvSpPr/>
          <p:nvPr/>
        </p:nvSpPr>
        <p:spPr>
          <a:xfrm>
            <a:off x="4645152" y="1600200"/>
            <a:ext cx="365760" cy="365760"/>
          </a:xfrm>
          <a:prstGeom prst="ellipse">
            <a:avLst/>
          </a:prstGeom>
          <a:solidFill>
            <a:schemeClr val="accent2"/>
          </a:solidFill>
          <a:ln/>
        </p:spPr>
      </p:sp>
      <p:sp>
        <p:nvSpPr>
          <p:cNvPr id="15" name="text_570"/>
          <p:cNvSpPr txBox="1"/>
          <p:nvPr/>
        </p:nvSpPr>
        <p:spPr>
          <a:xfrm>
            <a:off x="4645152" y="1600200"/>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16" name="num_571"/>
          <p:cNvSpPr/>
          <p:nvPr/>
        </p:nvSpPr>
        <p:spPr>
          <a:xfrm>
            <a:off x="8183880" y="1581912"/>
            <a:ext cx="365760" cy="365760"/>
          </a:xfrm>
          <a:prstGeom prst="ellipse">
            <a:avLst/>
          </a:prstGeom>
          <a:solidFill>
            <a:schemeClr val="accent2"/>
          </a:solidFill>
          <a:ln/>
        </p:spPr>
      </p:sp>
      <p:sp>
        <p:nvSpPr>
          <p:cNvPr id="17" name="text_572"/>
          <p:cNvSpPr txBox="1"/>
          <p:nvPr/>
        </p:nvSpPr>
        <p:spPr>
          <a:xfrm>
            <a:off x="8183880" y="1581912"/>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18" name="text_573"/>
          <p:cNvSpPr txBox="1"/>
          <p:nvPr/>
        </p:nvSpPr>
        <p:spPr>
          <a:xfrm>
            <a:off x="8686800" y="1554480"/>
            <a:ext cx="2926080" cy="310896"/>
          </a:xfrm>
          <a:prstGeom prst="rect">
            <a:avLst/>
          </a:prstGeom>
          <a:noFill/>
          <a:ln/>
        </p:spPr>
        <p:txBody>
          <a:bodyPr wrap="square" lIns="0" tIns="0" rIns="0" bIns="0" rtlCol="0" anchor="t"/>
          <a:lstStyle/>
          <a:p>
            <a:pPr indent="0" marL="0">
              <a:buNone/>
            </a:pPr>
            <a:r>
              <a:rPr lang="en-US" sz="1500" b="1" dirty="0">
                <a:solidFill>
                  <a:schemeClr val="bg1"/>
                </a:solidFill>
              </a:rPr>
              <a:t>KPI cards</a:t>
            </a:r>
            <a:endParaRPr lang="en-US" sz="1500" dirty="0"/>
          </a:p>
        </p:txBody>
      </p:sp>
      <p:sp>
        <p:nvSpPr>
          <p:cNvPr id="19" name="text_574"/>
          <p:cNvSpPr txBox="1"/>
          <p:nvPr/>
        </p:nvSpPr>
        <p:spPr>
          <a:xfrm>
            <a:off x="8686800" y="1883664"/>
            <a:ext cx="2926080" cy="512064"/>
          </a:xfrm>
          <a:prstGeom prst="rect">
            <a:avLst/>
          </a:prstGeom>
          <a:noFill/>
          <a:ln/>
        </p:spPr>
        <p:txBody>
          <a:bodyPr wrap="square" lIns="0" tIns="0" rIns="0" bIns="0" rtlCol="0" anchor="t"/>
          <a:lstStyle/>
          <a:p>
            <a:pPr indent="0" marL="0">
              <a:buNone/>
            </a:pPr>
            <a:r>
              <a:rPr lang="en-US" sz="1200" dirty="0">
                <a:solidFill>
                  <a:schemeClr val="bg2"/>
                </a:solidFill>
              </a:rPr>
              <a:t>Total, Active, Expiring Soon and Critical update as soon as a file is saved</a:t>
            </a:r>
            <a:endParaRPr lang="en-US" sz="1200" dirty="0"/>
          </a:p>
        </p:txBody>
      </p:sp>
      <p:sp>
        <p:nvSpPr>
          <p:cNvPr id="20" name="num_575"/>
          <p:cNvSpPr/>
          <p:nvPr/>
        </p:nvSpPr>
        <p:spPr>
          <a:xfrm>
            <a:off x="8183880" y="2496312"/>
            <a:ext cx="365760" cy="365760"/>
          </a:xfrm>
          <a:prstGeom prst="ellipse">
            <a:avLst/>
          </a:prstGeom>
          <a:solidFill>
            <a:schemeClr val="accent2"/>
          </a:solidFill>
          <a:ln/>
        </p:spPr>
      </p:sp>
      <p:sp>
        <p:nvSpPr>
          <p:cNvPr id="21" name="text_576"/>
          <p:cNvSpPr txBox="1"/>
          <p:nvPr/>
        </p:nvSpPr>
        <p:spPr>
          <a:xfrm>
            <a:off x="8183880" y="2496312"/>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22" name="text_577"/>
          <p:cNvSpPr txBox="1"/>
          <p:nvPr/>
        </p:nvSpPr>
        <p:spPr>
          <a:xfrm>
            <a:off x="8686800" y="2468880"/>
            <a:ext cx="2926080" cy="310896"/>
          </a:xfrm>
          <a:prstGeom prst="rect">
            <a:avLst/>
          </a:prstGeom>
          <a:noFill/>
          <a:ln/>
        </p:spPr>
        <p:txBody>
          <a:bodyPr wrap="square" lIns="0" tIns="0" rIns="0" bIns="0" rtlCol="0" anchor="t"/>
          <a:lstStyle/>
          <a:p>
            <a:pPr indent="0" marL="0">
              <a:buNone/>
            </a:pPr>
            <a:r>
              <a:rPr lang="en-US" sz="1500" b="1" dirty="0">
                <a:solidFill>
                  <a:schemeClr val="bg1"/>
                </a:solidFill>
              </a:rPr>
              <a:t>Document Health</a:t>
            </a:r>
            <a:endParaRPr lang="en-US" sz="1500" dirty="0"/>
          </a:p>
        </p:txBody>
      </p:sp>
      <p:sp>
        <p:nvSpPr>
          <p:cNvPr id="23" name="text_578"/>
          <p:cNvSpPr txBox="1"/>
          <p:nvPr/>
        </p:nvSpPr>
        <p:spPr>
          <a:xfrm>
            <a:off x="8686800" y="2798064"/>
            <a:ext cx="2926080" cy="512064"/>
          </a:xfrm>
          <a:prstGeom prst="rect">
            <a:avLst/>
          </a:prstGeom>
          <a:noFill/>
          <a:ln/>
        </p:spPr>
        <p:txBody>
          <a:bodyPr wrap="square" lIns="0" tIns="0" rIns="0" bIns="0" rtlCol="0" anchor="t"/>
          <a:lstStyle/>
          <a:p>
            <a:pPr indent="0" marL="0">
              <a:buNone/>
            </a:pPr>
            <a:r>
              <a:rPr lang="en-US" sz="1200" dirty="0">
                <a:solidFill>
                  <a:schemeClr val="bg2"/>
                </a:solidFill>
              </a:rPr>
              <a:t>Status donut plus one health score for the whole vault</a:t>
            </a:r>
            <a:endParaRPr lang="en-US" sz="1200" dirty="0"/>
          </a:p>
        </p:txBody>
      </p:sp>
      <p:sp>
        <p:nvSpPr>
          <p:cNvPr id="24" name="num_579"/>
          <p:cNvSpPr/>
          <p:nvPr/>
        </p:nvSpPr>
        <p:spPr>
          <a:xfrm>
            <a:off x="8183880" y="3410712"/>
            <a:ext cx="365760" cy="365760"/>
          </a:xfrm>
          <a:prstGeom prst="ellipse">
            <a:avLst/>
          </a:prstGeom>
          <a:solidFill>
            <a:schemeClr val="accent2"/>
          </a:solidFill>
          <a:ln/>
        </p:spPr>
      </p:sp>
      <p:sp>
        <p:nvSpPr>
          <p:cNvPr id="25" name="text_580"/>
          <p:cNvSpPr txBox="1"/>
          <p:nvPr/>
        </p:nvSpPr>
        <p:spPr>
          <a:xfrm>
            <a:off x="8183880" y="3410712"/>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26" name="text_581"/>
          <p:cNvSpPr txBox="1"/>
          <p:nvPr/>
        </p:nvSpPr>
        <p:spPr>
          <a:xfrm>
            <a:off x="8686800" y="3383280"/>
            <a:ext cx="2926080" cy="310896"/>
          </a:xfrm>
          <a:prstGeom prst="rect">
            <a:avLst/>
          </a:prstGeom>
          <a:noFill/>
          <a:ln/>
        </p:spPr>
        <p:txBody>
          <a:bodyPr wrap="square" lIns="0" tIns="0" rIns="0" bIns="0" rtlCol="0" anchor="t"/>
          <a:lstStyle/>
          <a:p>
            <a:pPr indent="0" marL="0">
              <a:buNone/>
            </a:pPr>
            <a:r>
              <a:rPr lang="en-US" sz="1500" b="1" dirty="0">
                <a:solidFill>
                  <a:schemeClr val="bg1"/>
                </a:solidFill>
              </a:rPr>
              <a:t>Upcoming Deadlines</a:t>
            </a:r>
            <a:endParaRPr lang="en-US" sz="1500" dirty="0"/>
          </a:p>
        </p:txBody>
      </p:sp>
      <p:sp>
        <p:nvSpPr>
          <p:cNvPr id="27" name="text_582"/>
          <p:cNvSpPr txBox="1"/>
          <p:nvPr/>
        </p:nvSpPr>
        <p:spPr>
          <a:xfrm>
            <a:off x="8686800" y="3712464"/>
            <a:ext cx="2926080" cy="512064"/>
          </a:xfrm>
          <a:prstGeom prst="rect">
            <a:avLst/>
          </a:prstGeom>
          <a:noFill/>
          <a:ln/>
        </p:spPr>
        <p:txBody>
          <a:bodyPr wrap="square" lIns="0" tIns="0" rIns="0" bIns="0" rtlCol="0" anchor="t"/>
          <a:lstStyle/>
          <a:p>
            <a:pPr indent="0" marL="0">
              <a:buNone/>
            </a:pPr>
            <a:r>
              <a:rPr lang="en-US" sz="1200" dirty="0">
                <a:solidFill>
                  <a:schemeClr val="bg2"/>
                </a:solidFill>
              </a:rPr>
              <a:t>The next five expiries, colour-coded by urgency</a:t>
            </a:r>
            <a:endParaRPr lang="en-US" sz="1200" dirty="0"/>
          </a:p>
        </p:txBody>
      </p:sp>
      <p:sp>
        <p:nvSpPr>
          <p:cNvPr id="28" name="num_583"/>
          <p:cNvSpPr/>
          <p:nvPr/>
        </p:nvSpPr>
        <p:spPr>
          <a:xfrm>
            <a:off x="8183880" y="4325112"/>
            <a:ext cx="365760" cy="365760"/>
          </a:xfrm>
          <a:prstGeom prst="ellipse">
            <a:avLst/>
          </a:prstGeom>
          <a:solidFill>
            <a:schemeClr val="accent2"/>
          </a:solidFill>
          <a:ln/>
        </p:spPr>
      </p:sp>
      <p:sp>
        <p:nvSpPr>
          <p:cNvPr id="29" name="text_584"/>
          <p:cNvSpPr txBox="1"/>
          <p:nvPr/>
        </p:nvSpPr>
        <p:spPr>
          <a:xfrm>
            <a:off x="8183880" y="4325112"/>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30" name="text_585"/>
          <p:cNvSpPr txBox="1"/>
          <p:nvPr/>
        </p:nvSpPr>
        <p:spPr>
          <a:xfrm>
            <a:off x="8686800" y="4297680"/>
            <a:ext cx="2926080" cy="310896"/>
          </a:xfrm>
          <a:prstGeom prst="rect">
            <a:avLst/>
          </a:prstGeom>
          <a:noFill/>
          <a:ln/>
        </p:spPr>
        <p:txBody>
          <a:bodyPr wrap="square" lIns="0" tIns="0" rIns="0" bIns="0" rtlCol="0" anchor="t"/>
          <a:lstStyle/>
          <a:p>
            <a:pPr indent="0" marL="0">
              <a:buNone/>
            </a:pPr>
            <a:r>
              <a:rPr lang="en-US" sz="1500" b="1" dirty="0">
                <a:solidFill>
                  <a:schemeClr val="bg1"/>
                </a:solidFill>
              </a:rPr>
              <a:t>Recent Documents</a:t>
            </a:r>
            <a:endParaRPr lang="en-US" sz="1500" dirty="0"/>
          </a:p>
        </p:txBody>
      </p:sp>
      <p:sp>
        <p:nvSpPr>
          <p:cNvPr id="31" name="text_586"/>
          <p:cNvSpPr txBox="1"/>
          <p:nvPr/>
        </p:nvSpPr>
        <p:spPr>
          <a:xfrm>
            <a:off x="8686800" y="4626864"/>
            <a:ext cx="2926080" cy="512064"/>
          </a:xfrm>
          <a:prstGeom prst="rect">
            <a:avLst/>
          </a:prstGeom>
          <a:noFill/>
          <a:ln/>
        </p:spPr>
        <p:txBody>
          <a:bodyPr wrap="square" lIns="0" tIns="0" rIns="0" bIns="0" rtlCol="0" anchor="t"/>
          <a:lstStyle/>
          <a:p>
            <a:pPr indent="0" marL="0">
              <a:buNone/>
            </a:pPr>
            <a:r>
              <a:rPr lang="en-US" sz="1200" dirty="0">
                <a:solidFill>
                  <a:schemeClr val="bg2"/>
                </a:solidFill>
              </a:rPr>
              <a:t>Latest uploads with their current status</a:t>
            </a:r>
            <a:endParaRPr lang="en-US" sz="1200" dirty="0"/>
          </a:p>
        </p:txBody>
      </p:sp>
      <p:sp>
        <p:nvSpPr>
          <p:cNvPr id="32" name="num_587"/>
          <p:cNvSpPr/>
          <p:nvPr/>
        </p:nvSpPr>
        <p:spPr>
          <a:xfrm>
            <a:off x="8183880" y="5239512"/>
            <a:ext cx="365760" cy="365760"/>
          </a:xfrm>
          <a:prstGeom prst="ellipse">
            <a:avLst/>
          </a:prstGeom>
          <a:solidFill>
            <a:schemeClr val="accent2"/>
          </a:solidFill>
          <a:ln/>
        </p:spPr>
      </p:sp>
      <p:sp>
        <p:nvSpPr>
          <p:cNvPr id="33" name="text_588"/>
          <p:cNvSpPr txBox="1"/>
          <p:nvPr/>
        </p:nvSpPr>
        <p:spPr>
          <a:xfrm>
            <a:off x="8183880" y="5239512"/>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34" name="text_589"/>
          <p:cNvSpPr txBox="1"/>
          <p:nvPr/>
        </p:nvSpPr>
        <p:spPr>
          <a:xfrm>
            <a:off x="8686800" y="5212080"/>
            <a:ext cx="2926080" cy="310896"/>
          </a:xfrm>
          <a:prstGeom prst="rect">
            <a:avLst/>
          </a:prstGeom>
          <a:noFill/>
          <a:ln/>
        </p:spPr>
        <p:txBody>
          <a:bodyPr wrap="square" lIns="0" tIns="0" rIns="0" bIns="0" rtlCol="0" anchor="t"/>
          <a:lstStyle/>
          <a:p>
            <a:pPr indent="0" marL="0">
              <a:buNone/>
            </a:pPr>
            <a:r>
              <a:rPr lang="en-US" sz="1500" b="1" dirty="0">
                <a:solidFill>
                  <a:schemeClr val="bg1"/>
                </a:solidFill>
              </a:rPr>
              <a:t>Top bar</a:t>
            </a:r>
            <a:endParaRPr lang="en-US" sz="1500" dirty="0"/>
          </a:p>
        </p:txBody>
      </p:sp>
      <p:sp>
        <p:nvSpPr>
          <p:cNvPr id="35" name="text_590"/>
          <p:cNvSpPr txBox="1"/>
          <p:nvPr/>
        </p:nvSpPr>
        <p:spPr>
          <a:xfrm>
            <a:off x="8686800" y="5541264"/>
            <a:ext cx="2926080" cy="512064"/>
          </a:xfrm>
          <a:prstGeom prst="rect">
            <a:avLst/>
          </a:prstGeom>
          <a:noFill/>
          <a:ln/>
        </p:spPr>
        <p:txBody>
          <a:bodyPr wrap="square" lIns="0" tIns="0" rIns="0" bIns="0" rtlCol="0" anchor="t"/>
          <a:lstStyle/>
          <a:p>
            <a:pPr indent="0" marL="0">
              <a:buNone/>
            </a:pPr>
            <a:r>
              <a:rPr lang="en-US" sz="1200" dirty="0">
                <a:solidFill>
                  <a:schemeClr val="bg2"/>
                </a:solidFill>
              </a:rPr>
              <a:t>Search any document; the bell lists what needs attention</a:t>
            </a:r>
            <a:endParaRPr lang="en-US" sz="1200" dirty="0"/>
          </a:p>
        </p:txBody>
      </p:sp>
      <p:sp>
        <p:nvSpPr>
          <p:cNvPr id="25" name="Slide Number Placeholder 0"/>
          <p:cNvSpPr>
            <a:spLocks noGrp="1"/>
          </p:cNvSpPr>
          <p:nvPr>
            <p:ph type="sldNum" sz="quarter" idx="4294967295"/>
          </p:nvPr>
        </p:nvSpPr>
        <p:spPr>
          <a:xfrm>
            <a:off x="11109960" y="6355080"/>
            <a:ext cx="530352"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bg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8229600" cy="274320"/>
          </a:xfrm>
          <a:prstGeom prst="rect">
            <a:avLst/>
          </a:prstGeom>
          <a:noFill/>
          <a:ln/>
        </p:spPr>
        <p:txBody>
          <a:bodyPr wrap="square" lIns="0" tIns="0" rIns="0" bIns="0" rtlCol="0" anchor="ctr"/>
          <a:lstStyle/>
          <a:p>
            <a:pPr algn="l" indent="0" marL="0">
              <a:buNone/>
            </a:pPr>
            <a:r>
              <a:rPr lang="en-US" sz="1200" b="1" spc="200" kern="0" dirty="0">
                <a:solidFill>
                  <a:schemeClr val="accent2"/>
                </a:solidFill>
              </a:rPr>
              <a:t>LIVE DEMO</a:t>
            </a:r>
            <a:endParaRPr lang="en-US" sz="1200" dirty="0"/>
          </a:p>
        </p:txBody>
      </p:sp>
      <p:sp>
        <p:nvSpPr>
          <p:cNvPr id="3" name="Text 0"/>
          <p:cNvSpPr/>
          <p:nvPr>
            <p:ph idx="101" type="title" hasCustomPrompt="1"/>
          </p:nvPr>
        </p:nvSpPr>
        <p:spPr>
          <a:xfrm>
            <a:off x="548640" y="603504"/>
            <a:ext cx="11064240" cy="685800"/>
          </a:xfrm>
          <a:prstGeom prst="rect">
            <a:avLst/>
          </a:prstGeom>
          <a:noFill/>
          <a:ln/>
        </p:spPr>
        <p:txBody>
          <a:bodyPr wrap="square" lIns="0" tIns="0" rIns="0" bIns="0" rtlCol="0" anchor="ctr"/>
          <a:lstStyle/>
          <a:p>
            <a:pPr algn="l" indent="0" marL="0">
              <a:buNone/>
            </a:pPr>
            <a:r>
              <a:rPr lang="en-US" sz="3200" b="1" dirty="0">
                <a:solidFill>
                  <a:schemeClr val="bg1"/>
                </a:solidFill>
              </a:rPr>
              <a:t>Upload, review, and never miss a date</a:t>
            </a:r>
            <a:endParaRPr lang="en-US" sz="3200" dirty="0"/>
          </a:p>
        </p:txBody>
      </p:sp>
      <p:sp>
        <p:nvSpPr>
          <p:cNvPr id="4" name="frame_591"/>
          <p:cNvSpPr/>
          <p:nvPr/>
        </p:nvSpPr>
        <p:spPr>
          <a:xfrm>
            <a:off x="484632" y="1508760"/>
            <a:ext cx="5568696" cy="3529584"/>
          </a:xfrm>
          <a:prstGeom prst="roundRect">
            <a:avLst>
              <a:gd name="adj" fmla="val 2591"/>
            </a:avLst>
          </a:prstGeom>
          <a:solidFill>
            <a:schemeClr val="tx2"/>
          </a:solidFill>
          <a:ln w="12700">
            <a:solidFill>
              <a:srgbClr val="3B44A0"/>
            </a:solidFill>
            <a:prstDash val="solid"/>
          </a:ln>
          <a:effectLst>
            <a:outerShdw sx="100000" sy="100000" kx="0" ky="0" algn="bl" rotWithShape="0" blurRad="127000" dist="38100" dir="5400000">
              <a:srgbClr val="000000">
                <a:alpha val="35000"/>
              </a:srgbClr>
            </a:outerShdw>
          </a:effectLst>
        </p:spPr>
      </p:sp>
      <p:pic>
        <p:nvPicPr>
          <p:cNvPr id="5" name="screenshot_592" descr="/tmp/claude-0/-home-claude/584731ee-e493-5c78-a637-0b254e057472/scratchpad/deck/img/upload.png">    </p:cNvPr>
          <p:cNvPicPr>
            <a:picLocks noChangeAspect="1"/>
          </p:cNvPicPr>
          <p:nvPr/>
        </p:nvPicPr>
        <p:blipFill>
          <a:blip r:embed="rId1"/>
          <a:stretch>
            <a:fillRect/>
          </a:stretch>
        </p:blipFill>
        <p:spPr>
          <a:xfrm>
            <a:off x="548640" y="1572768"/>
            <a:ext cx="5440680" cy="3401568"/>
          </a:xfrm>
          <a:prstGeom prst="rect">
            <a:avLst/>
          </a:prstGeom>
        </p:spPr>
      </p:pic>
      <p:sp>
        <p:nvSpPr>
          <p:cNvPr id="6" name="frame_593"/>
          <p:cNvSpPr/>
          <p:nvPr/>
        </p:nvSpPr>
        <p:spPr>
          <a:xfrm>
            <a:off x="6108192" y="1508760"/>
            <a:ext cx="5568696" cy="3529584"/>
          </a:xfrm>
          <a:prstGeom prst="roundRect">
            <a:avLst>
              <a:gd name="adj" fmla="val 2591"/>
            </a:avLst>
          </a:prstGeom>
          <a:solidFill>
            <a:schemeClr val="tx2"/>
          </a:solidFill>
          <a:ln w="12700">
            <a:solidFill>
              <a:srgbClr val="3B44A0"/>
            </a:solidFill>
            <a:prstDash val="solid"/>
          </a:ln>
          <a:effectLst>
            <a:outerShdw sx="100000" sy="100000" kx="0" ky="0" algn="bl" rotWithShape="0" blurRad="127000" dist="38100" dir="5400000">
              <a:srgbClr val="000000">
                <a:alpha val="35000"/>
              </a:srgbClr>
            </a:outerShdw>
          </a:effectLst>
        </p:spPr>
      </p:sp>
      <p:pic>
        <p:nvPicPr>
          <p:cNvPr id="7" name="screenshot_594" descr="/tmp/claude-0/-home-claude/584731ee-e493-5c78-a637-0b254e057472/scratchpad/deck/img/reminders.png">    </p:cNvPr>
          <p:cNvPicPr>
            <a:picLocks noChangeAspect="1"/>
          </p:cNvPicPr>
          <p:nvPr/>
        </p:nvPicPr>
        <p:blipFill>
          <a:blip r:embed="rId2"/>
          <a:stretch>
            <a:fillRect/>
          </a:stretch>
        </p:blipFill>
        <p:spPr>
          <a:xfrm>
            <a:off x="6172200" y="1572768"/>
            <a:ext cx="5440680" cy="3401568"/>
          </a:xfrm>
          <a:prstGeom prst="rect">
            <a:avLst/>
          </a:prstGeom>
        </p:spPr>
      </p:pic>
      <p:sp>
        <p:nvSpPr>
          <p:cNvPr id="8" name="icon_bg_595"/>
          <p:cNvSpPr/>
          <p:nvPr/>
        </p:nvSpPr>
        <p:spPr>
          <a:xfrm>
            <a:off x="548640" y="5257800"/>
            <a:ext cx="502920" cy="502920"/>
          </a:xfrm>
          <a:prstGeom prst="roundRect">
            <a:avLst>
              <a:gd name="adj" fmla="val 24000"/>
            </a:avLst>
          </a:prstGeom>
          <a:solidFill>
            <a:schemeClr val="accent1">
              <a:alpha val="22000"/>
            </a:schemeClr>
          </a:solidFill>
          <a:ln/>
        </p:spPr>
      </p:sp>
      <p:pic>
        <p:nvPicPr>
          <p:cNvPr id="9" name="icon_596" descr="/tmp/claude-0/-home-claude/584731ee-e493-5c78-a637-0b254e057472/scratchpad/deck/img/i_upload.png">    </p:cNvPr>
          <p:cNvPicPr>
            <a:picLocks noChangeAspect="1"/>
          </p:cNvPicPr>
          <p:nvPr/>
        </p:nvPicPr>
        <p:blipFill>
          <a:blip r:embed="rId3"/>
          <a:stretch>
            <a:fillRect/>
          </a:stretch>
        </p:blipFill>
        <p:spPr>
          <a:xfrm>
            <a:off x="669341" y="5378501"/>
            <a:ext cx="261518" cy="261518"/>
          </a:xfrm>
          <a:prstGeom prst="rect">
            <a:avLst/>
          </a:prstGeom>
        </p:spPr>
      </p:pic>
      <p:sp>
        <p:nvSpPr>
          <p:cNvPr id="10" name="text_597"/>
          <p:cNvSpPr txBox="1"/>
          <p:nvPr/>
        </p:nvSpPr>
        <p:spPr>
          <a:xfrm>
            <a:off x="1207008" y="5230368"/>
            <a:ext cx="4663440" cy="310896"/>
          </a:xfrm>
          <a:prstGeom prst="rect">
            <a:avLst/>
          </a:prstGeom>
          <a:noFill/>
          <a:ln/>
        </p:spPr>
        <p:txBody>
          <a:bodyPr wrap="square" lIns="0" tIns="0" rIns="0" bIns="0" rtlCol="0" anchor="t"/>
          <a:lstStyle/>
          <a:p>
            <a:pPr indent="0" marL="0">
              <a:buNone/>
            </a:pPr>
            <a:r>
              <a:rPr lang="en-US" sz="1600" b="1" dirty="0">
                <a:solidFill>
                  <a:schemeClr val="bg1"/>
                </a:solidFill>
              </a:rPr>
              <a:t>Upload &amp; review</a:t>
            </a:r>
            <a:endParaRPr lang="en-US" sz="1600" dirty="0"/>
          </a:p>
        </p:txBody>
      </p:sp>
      <p:sp>
        <p:nvSpPr>
          <p:cNvPr id="11" name="text_598"/>
          <p:cNvSpPr txBox="1"/>
          <p:nvPr/>
        </p:nvSpPr>
        <p:spPr>
          <a:xfrm>
            <a:off x="1207008" y="5550408"/>
            <a:ext cx="4754880" cy="566928"/>
          </a:xfrm>
          <a:prstGeom prst="rect">
            <a:avLst/>
          </a:prstGeom>
          <a:noFill/>
          <a:ln/>
        </p:spPr>
        <p:txBody>
          <a:bodyPr wrap="square" lIns="0" tIns="0" rIns="0" bIns="0" rtlCol="0" anchor="t"/>
          <a:lstStyle/>
          <a:p>
            <a:pPr indent="0" marL="0">
              <a:buNone/>
            </a:pPr>
            <a:r>
              <a:rPr lang="en-US" sz="1250" dirty="0">
                <a:solidFill>
                  <a:schemeClr val="bg2"/>
                </a:solidFill>
              </a:rPr>
              <a:t>Drop PDF, image, Word or Excel files. Fields arrive pre-filled from the document; correct anything before saving.</a:t>
            </a:r>
            <a:endParaRPr lang="en-US" sz="1250" dirty="0"/>
          </a:p>
        </p:txBody>
      </p:sp>
      <p:sp>
        <p:nvSpPr>
          <p:cNvPr id="12" name="icon_bg_599"/>
          <p:cNvSpPr/>
          <p:nvPr/>
        </p:nvSpPr>
        <p:spPr>
          <a:xfrm>
            <a:off x="6172200" y="5257800"/>
            <a:ext cx="502920" cy="502920"/>
          </a:xfrm>
          <a:prstGeom prst="roundRect">
            <a:avLst>
              <a:gd name="adj" fmla="val 24000"/>
            </a:avLst>
          </a:prstGeom>
          <a:solidFill>
            <a:schemeClr val="accent1">
              <a:alpha val="22000"/>
            </a:schemeClr>
          </a:solidFill>
          <a:ln/>
        </p:spPr>
      </p:sp>
      <p:pic>
        <p:nvPicPr>
          <p:cNvPr id="13" name="icon_600" descr="/tmp/claude-0/-home-claude/584731ee-e493-5c78-a637-0b254e057472/scratchpad/deck/img/i_calendar.png">    </p:cNvPr>
          <p:cNvPicPr>
            <a:picLocks noChangeAspect="1"/>
          </p:cNvPicPr>
          <p:nvPr/>
        </p:nvPicPr>
        <p:blipFill>
          <a:blip r:embed="rId4"/>
          <a:stretch>
            <a:fillRect/>
          </a:stretch>
        </p:blipFill>
        <p:spPr>
          <a:xfrm>
            <a:off x="6292901" y="5378501"/>
            <a:ext cx="261518" cy="261518"/>
          </a:xfrm>
          <a:prstGeom prst="rect">
            <a:avLst/>
          </a:prstGeom>
        </p:spPr>
      </p:pic>
      <p:sp>
        <p:nvSpPr>
          <p:cNvPr id="14" name="text_601"/>
          <p:cNvSpPr txBox="1"/>
          <p:nvPr/>
        </p:nvSpPr>
        <p:spPr>
          <a:xfrm>
            <a:off x="6830568" y="5230368"/>
            <a:ext cx="4663440" cy="310896"/>
          </a:xfrm>
          <a:prstGeom prst="rect">
            <a:avLst/>
          </a:prstGeom>
          <a:noFill/>
          <a:ln/>
        </p:spPr>
        <p:txBody>
          <a:bodyPr wrap="square" lIns="0" tIns="0" rIns="0" bIns="0" rtlCol="0" anchor="t"/>
          <a:lstStyle/>
          <a:p>
            <a:pPr indent="0" marL="0">
              <a:buNone/>
            </a:pPr>
            <a:r>
              <a:rPr lang="en-US" sz="1600" b="1" dirty="0">
                <a:solidFill>
                  <a:schemeClr val="bg1"/>
                </a:solidFill>
              </a:rPr>
              <a:t>Reminders</a:t>
            </a:r>
            <a:endParaRPr lang="en-US" sz="1600" dirty="0"/>
          </a:p>
        </p:txBody>
      </p:sp>
      <p:sp>
        <p:nvSpPr>
          <p:cNvPr id="15" name="text_602"/>
          <p:cNvSpPr txBox="1"/>
          <p:nvPr/>
        </p:nvSpPr>
        <p:spPr>
          <a:xfrm>
            <a:off x="6830568" y="5550408"/>
            <a:ext cx="4754880" cy="566928"/>
          </a:xfrm>
          <a:prstGeom prst="rect">
            <a:avLst/>
          </a:prstGeom>
          <a:noFill/>
          <a:ln/>
        </p:spPr>
        <p:txBody>
          <a:bodyPr wrap="square" lIns="0" tIns="0" rIns="0" bIns="0" rtlCol="0" anchor="t"/>
          <a:lstStyle/>
          <a:p>
            <a:pPr indent="0" marL="0">
              <a:buNone/>
            </a:pPr>
            <a:r>
              <a:rPr lang="en-US" sz="1250" dirty="0">
                <a:solidFill>
                  <a:schemeClr val="bg2"/>
                </a:solidFill>
              </a:rPr>
              <a:t>Upcoming, Overdue and Completed tabs, a calendar with deadline dots, and a one-click calendar export.</a:t>
            </a:r>
            <a:endParaRPr lang="en-US" sz="1250" dirty="0"/>
          </a:p>
        </p:txBody>
      </p:sp>
      <p:sp>
        <p:nvSpPr>
          <p:cNvPr id="25" name="Slide Number Placeholder 0"/>
          <p:cNvSpPr>
            <a:spLocks noGrp="1"/>
          </p:cNvSpPr>
          <p:nvPr>
            <p:ph type="sldNum" sz="quarter" idx="4294967295"/>
          </p:nvPr>
        </p:nvSpPr>
        <p:spPr>
          <a:xfrm>
            <a:off x="11109960" y="6355080"/>
            <a:ext cx="530352"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bg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8229600" cy="274320"/>
          </a:xfrm>
          <a:prstGeom prst="rect">
            <a:avLst/>
          </a:prstGeom>
          <a:noFill/>
          <a:ln/>
        </p:spPr>
        <p:txBody>
          <a:bodyPr wrap="square" lIns="0" tIns="0" rIns="0" bIns="0" rtlCol="0" anchor="ctr"/>
          <a:lstStyle/>
          <a:p>
            <a:pPr algn="l" indent="0" marL="0">
              <a:buNone/>
            </a:pPr>
            <a:r>
              <a:rPr lang="en-US" sz="1200" b="1" spc="200" kern="0" dirty="0">
                <a:solidFill>
                  <a:schemeClr val="accent2"/>
                </a:solidFill>
              </a:rPr>
              <a:t>QUALITY &amp; STACK</a:t>
            </a:r>
            <a:endParaRPr lang="en-US" sz="1200" dirty="0"/>
          </a:p>
        </p:txBody>
      </p:sp>
      <p:sp>
        <p:nvSpPr>
          <p:cNvPr id="3" name="Text 0"/>
          <p:cNvSpPr/>
          <p:nvPr>
            <p:ph idx="101" type="title" hasCustomPrompt="1"/>
          </p:nvPr>
        </p:nvSpPr>
        <p:spPr>
          <a:xfrm>
            <a:off x="548640" y="603504"/>
            <a:ext cx="11064240" cy="685800"/>
          </a:xfrm>
          <a:prstGeom prst="rect">
            <a:avLst/>
          </a:prstGeom>
          <a:noFill/>
          <a:ln/>
        </p:spPr>
        <p:txBody>
          <a:bodyPr wrap="square" lIns="0" tIns="0" rIns="0" bIns="0" rtlCol="0" anchor="ctr"/>
          <a:lstStyle/>
          <a:p>
            <a:pPr algn="l" indent="0" marL="0">
              <a:buNone/>
            </a:pPr>
            <a:r>
              <a:rPr lang="en-US" sz="3200" b="1" dirty="0">
                <a:solidFill>
                  <a:schemeClr val="bg1"/>
                </a:solidFill>
              </a:rPr>
              <a:t>Tested, lightweight, and fully offline</a:t>
            </a:r>
            <a:endParaRPr lang="en-US" sz="3200" dirty="0"/>
          </a:p>
        </p:txBody>
      </p:sp>
      <p:sp>
        <p:nvSpPr>
          <p:cNvPr id="4" name="quality_card_603"/>
          <p:cNvSpPr/>
          <p:nvPr/>
        </p:nvSpPr>
        <p:spPr>
          <a:xfrm>
            <a:off x="548640" y="1508760"/>
            <a:ext cx="4480560" cy="4617720"/>
          </a:xfrm>
          <a:prstGeom prst="roundRect">
            <a:avLst>
              <a:gd name="adj" fmla="val 2449"/>
            </a:avLst>
          </a:prstGeom>
          <a:solidFill>
            <a:schemeClr val="tx2"/>
          </a:solidFill>
          <a:ln w="9525">
            <a:solidFill>
              <a:srgbClr val="2B3470"/>
            </a:solidFill>
            <a:prstDash val="solid"/>
          </a:ln>
        </p:spPr>
      </p:sp>
      <p:sp>
        <p:nvSpPr>
          <p:cNvPr id="5" name="text_604"/>
          <p:cNvSpPr txBox="1"/>
          <p:nvPr/>
        </p:nvSpPr>
        <p:spPr>
          <a:xfrm>
            <a:off x="822960" y="1737360"/>
            <a:ext cx="4023360" cy="685800"/>
          </a:xfrm>
          <a:prstGeom prst="rect">
            <a:avLst/>
          </a:prstGeom>
          <a:noFill/>
          <a:ln/>
        </p:spPr>
        <p:txBody>
          <a:bodyPr wrap="square" lIns="0" tIns="0" rIns="0" bIns="0" rtlCol="0" anchor="t"/>
          <a:lstStyle/>
          <a:p>
            <a:pPr indent="0" marL="0">
              <a:buNone/>
            </a:pPr>
            <a:r>
              <a:rPr lang="en-US" sz="4000" b="1" dirty="0">
                <a:solidFill>
                  <a:schemeClr val="accent3"/>
                </a:solidFill>
              </a:rPr>
              <a:t>28 / 28</a:t>
            </a:r>
            <a:endParaRPr lang="en-US" sz="4000" dirty="0"/>
          </a:p>
        </p:txBody>
      </p:sp>
      <p:sp>
        <p:nvSpPr>
          <p:cNvPr id="6" name="text_605"/>
          <p:cNvSpPr txBox="1"/>
          <p:nvPr/>
        </p:nvSpPr>
        <p:spPr>
          <a:xfrm>
            <a:off x="822960" y="2423160"/>
            <a:ext cx="4023360" cy="292608"/>
          </a:xfrm>
          <a:prstGeom prst="rect">
            <a:avLst/>
          </a:prstGeom>
          <a:noFill/>
          <a:ln/>
        </p:spPr>
        <p:txBody>
          <a:bodyPr wrap="square" lIns="0" tIns="0" rIns="0" bIns="0" rtlCol="0" anchor="t"/>
          <a:lstStyle/>
          <a:p>
            <a:pPr indent="0" marL="0">
              <a:buNone/>
            </a:pPr>
            <a:r>
              <a:rPr lang="en-US" sz="1500" b="1" dirty="0">
                <a:solidFill>
                  <a:schemeClr val="bg1"/>
                </a:solidFill>
              </a:rPr>
              <a:t>unit tests passing</a:t>
            </a:r>
            <a:endParaRPr lang="en-US" sz="1500" dirty="0"/>
          </a:p>
        </p:txBody>
      </p:sp>
      <p:sp>
        <p:nvSpPr>
          <p:cNvPr id="7" name="text_606"/>
          <p:cNvSpPr txBox="1"/>
          <p:nvPr/>
        </p:nvSpPr>
        <p:spPr>
          <a:xfrm>
            <a:off x="822960" y="2715768"/>
            <a:ext cx="4023360" cy="256032"/>
          </a:xfrm>
          <a:prstGeom prst="rect">
            <a:avLst/>
          </a:prstGeom>
          <a:noFill/>
          <a:ln/>
        </p:spPr>
        <p:txBody>
          <a:bodyPr wrap="square" lIns="0" tIns="0" rIns="0" bIns="0" rtlCol="0" anchor="t"/>
          <a:lstStyle/>
          <a:p>
            <a:pPr indent="0" marL="0">
              <a:buNone/>
            </a:pPr>
            <a:r>
              <a:rPr lang="en-US" sz="1150" dirty="0">
                <a:solidFill>
                  <a:schemeClr val="bg2"/>
                </a:solidFill>
              </a:rPr>
              <a:t>pytest · parser, rules, database, exports</a:t>
            </a:r>
            <a:endParaRPr lang="en-US" sz="1150" dirty="0"/>
          </a:p>
        </p:txBody>
      </p:sp>
      <p:sp>
        <p:nvSpPr>
          <p:cNvPr id="8" name="text_607"/>
          <p:cNvSpPr txBox="1"/>
          <p:nvPr/>
        </p:nvSpPr>
        <p:spPr>
          <a:xfrm>
            <a:off x="822960" y="3200400"/>
            <a:ext cx="4023360" cy="685800"/>
          </a:xfrm>
          <a:prstGeom prst="rect">
            <a:avLst/>
          </a:prstGeom>
          <a:noFill/>
          <a:ln/>
        </p:spPr>
        <p:txBody>
          <a:bodyPr wrap="square" lIns="0" tIns="0" rIns="0" bIns="0" rtlCol="0" anchor="t"/>
          <a:lstStyle/>
          <a:p>
            <a:pPr indent="0" marL="0">
              <a:buNone/>
            </a:pPr>
            <a:r>
              <a:rPr lang="en-US" sz="4000" b="1" dirty="0">
                <a:solidFill>
                  <a:schemeClr val="accent1"/>
                </a:solidFill>
              </a:rPr>
              <a:t>4 / 4</a:t>
            </a:r>
            <a:endParaRPr lang="en-US" sz="4000" dirty="0"/>
          </a:p>
        </p:txBody>
      </p:sp>
      <p:sp>
        <p:nvSpPr>
          <p:cNvPr id="9" name="text_608"/>
          <p:cNvSpPr txBox="1"/>
          <p:nvPr/>
        </p:nvSpPr>
        <p:spPr>
          <a:xfrm>
            <a:off x="822960" y="3886200"/>
            <a:ext cx="4023360" cy="292608"/>
          </a:xfrm>
          <a:prstGeom prst="rect">
            <a:avLst/>
          </a:prstGeom>
          <a:noFill/>
          <a:ln/>
        </p:spPr>
        <p:txBody>
          <a:bodyPr wrap="square" lIns="0" tIns="0" rIns="0" bIns="0" rtlCol="0" anchor="t"/>
          <a:lstStyle/>
          <a:p>
            <a:pPr indent="0" marL="0">
              <a:buNone/>
            </a:pPr>
            <a:r>
              <a:rPr lang="en-US" sz="1500" b="1" dirty="0">
                <a:solidFill>
                  <a:schemeClr val="bg1"/>
                </a:solidFill>
              </a:rPr>
              <a:t>screens pass the smoke test</a:t>
            </a:r>
            <a:endParaRPr lang="en-US" sz="1500" dirty="0"/>
          </a:p>
        </p:txBody>
      </p:sp>
      <p:sp>
        <p:nvSpPr>
          <p:cNvPr id="10" name="text_609"/>
          <p:cNvSpPr txBox="1"/>
          <p:nvPr/>
        </p:nvSpPr>
        <p:spPr>
          <a:xfrm>
            <a:off x="822960" y="4178808"/>
            <a:ext cx="4023360" cy="256032"/>
          </a:xfrm>
          <a:prstGeom prst="rect">
            <a:avLst/>
          </a:prstGeom>
          <a:noFill/>
          <a:ln/>
        </p:spPr>
        <p:txBody>
          <a:bodyPr wrap="square" lIns="0" tIns="0" rIns="0" bIns="0" rtlCol="0" anchor="t"/>
          <a:lstStyle/>
          <a:p>
            <a:pPr indent="0" marL="0">
              <a:buNone/>
            </a:pPr>
            <a:r>
              <a:rPr lang="en-US" sz="1150" dirty="0">
                <a:solidFill>
                  <a:schemeClr val="bg2"/>
                </a:solidFill>
              </a:rPr>
              <a:t>headless Streamlit AppTest, no errors</a:t>
            </a:r>
            <a:endParaRPr lang="en-US" sz="1150" dirty="0"/>
          </a:p>
        </p:txBody>
      </p:sp>
      <p:sp>
        <p:nvSpPr>
          <p:cNvPr id="11" name="text_610"/>
          <p:cNvSpPr txBox="1"/>
          <p:nvPr/>
        </p:nvSpPr>
        <p:spPr>
          <a:xfrm>
            <a:off x="822960" y="4663440"/>
            <a:ext cx="4023360" cy="685800"/>
          </a:xfrm>
          <a:prstGeom prst="rect">
            <a:avLst/>
          </a:prstGeom>
          <a:noFill/>
          <a:ln/>
        </p:spPr>
        <p:txBody>
          <a:bodyPr wrap="square" lIns="0" tIns="0" rIns="0" bIns="0" rtlCol="0" anchor="t"/>
          <a:lstStyle/>
          <a:p>
            <a:pPr indent="0" marL="0">
              <a:buNone/>
            </a:pPr>
            <a:r>
              <a:rPr lang="en-US" sz="4000" b="1" dirty="0">
                <a:solidFill>
                  <a:schemeClr val="accent4"/>
                </a:solidFill>
              </a:rPr>
              <a:t>2</a:t>
            </a:r>
            <a:endParaRPr lang="en-US" sz="4000" dirty="0"/>
          </a:p>
        </p:txBody>
      </p:sp>
      <p:sp>
        <p:nvSpPr>
          <p:cNvPr id="12" name="text_611"/>
          <p:cNvSpPr txBox="1"/>
          <p:nvPr/>
        </p:nvSpPr>
        <p:spPr>
          <a:xfrm>
            <a:off x="822960" y="5349240"/>
            <a:ext cx="4023360" cy="292608"/>
          </a:xfrm>
          <a:prstGeom prst="rect">
            <a:avLst/>
          </a:prstGeom>
          <a:noFill/>
          <a:ln/>
        </p:spPr>
        <p:txBody>
          <a:bodyPr wrap="square" lIns="0" tIns="0" rIns="0" bIns="0" rtlCol="0" anchor="t"/>
          <a:lstStyle/>
          <a:p>
            <a:pPr indent="0" marL="0">
              <a:buNone/>
            </a:pPr>
            <a:r>
              <a:rPr lang="en-US" sz="1500" b="1" dirty="0">
                <a:solidFill>
                  <a:schemeClr val="bg1"/>
                </a:solidFill>
              </a:rPr>
              <a:t>Streamlit versions verified</a:t>
            </a:r>
            <a:endParaRPr lang="en-US" sz="1500" dirty="0"/>
          </a:p>
        </p:txBody>
      </p:sp>
      <p:sp>
        <p:nvSpPr>
          <p:cNvPr id="13" name="text_612"/>
          <p:cNvSpPr txBox="1"/>
          <p:nvPr/>
        </p:nvSpPr>
        <p:spPr>
          <a:xfrm>
            <a:off x="822960" y="5641848"/>
            <a:ext cx="4023360" cy="256032"/>
          </a:xfrm>
          <a:prstGeom prst="rect">
            <a:avLst/>
          </a:prstGeom>
          <a:noFill/>
          <a:ln/>
        </p:spPr>
        <p:txBody>
          <a:bodyPr wrap="square" lIns="0" tIns="0" rIns="0" bIns="0" rtlCol="0" anchor="t"/>
          <a:lstStyle/>
          <a:p>
            <a:pPr indent="0" marL="0">
              <a:buNone/>
            </a:pPr>
            <a:r>
              <a:rPr lang="en-US" sz="1150" dirty="0">
                <a:solidFill>
                  <a:schemeClr val="bg2"/>
                </a:solidFill>
              </a:rPr>
              <a:t>1.50 and 1.65</a:t>
            </a:r>
            <a:endParaRPr lang="en-US" sz="1150" dirty="0"/>
          </a:p>
        </p:txBody>
      </p:sp>
      <p:sp>
        <p:nvSpPr>
          <p:cNvPr id="14" name="stack_chip_613"/>
          <p:cNvSpPr/>
          <p:nvPr/>
        </p:nvSpPr>
        <p:spPr>
          <a:xfrm>
            <a:off x="5303520" y="1508760"/>
            <a:ext cx="1984248" cy="1024128"/>
          </a:xfrm>
          <a:prstGeom prst="roundRect">
            <a:avLst>
              <a:gd name="adj" fmla="val 10714"/>
            </a:avLst>
          </a:prstGeom>
          <a:solidFill>
            <a:schemeClr val="tx2"/>
          </a:solidFill>
          <a:ln w="9525">
            <a:solidFill>
              <a:srgbClr val="2B3470"/>
            </a:solidFill>
            <a:prstDash val="solid"/>
          </a:ln>
        </p:spPr>
      </p:sp>
      <p:sp>
        <p:nvSpPr>
          <p:cNvPr id="15" name="dot_614"/>
          <p:cNvSpPr/>
          <p:nvPr/>
        </p:nvSpPr>
        <p:spPr>
          <a:xfrm>
            <a:off x="5486400" y="1755648"/>
            <a:ext cx="146304" cy="146304"/>
          </a:xfrm>
          <a:prstGeom prst="ellipse">
            <a:avLst/>
          </a:prstGeom>
          <a:solidFill>
            <a:schemeClr val="accent4"/>
          </a:solidFill>
          <a:ln/>
        </p:spPr>
      </p:sp>
      <p:sp>
        <p:nvSpPr>
          <p:cNvPr id="16" name="text_615"/>
          <p:cNvSpPr txBox="1"/>
          <p:nvPr/>
        </p:nvSpPr>
        <p:spPr>
          <a:xfrm>
            <a:off x="5715000" y="1664208"/>
            <a:ext cx="1508760" cy="329184"/>
          </a:xfrm>
          <a:prstGeom prst="rect">
            <a:avLst/>
          </a:prstGeom>
          <a:noFill/>
          <a:ln/>
        </p:spPr>
        <p:txBody>
          <a:bodyPr wrap="square" lIns="0" tIns="0" rIns="0" bIns="0" rtlCol="0" anchor="t"/>
          <a:lstStyle/>
          <a:p>
            <a:pPr indent="0" marL="0">
              <a:buNone/>
            </a:pPr>
            <a:r>
              <a:rPr lang="en-US" sz="1500" b="1" dirty="0">
                <a:solidFill>
                  <a:schemeClr val="bg1"/>
                </a:solidFill>
              </a:rPr>
              <a:t>Python</a:t>
            </a:r>
            <a:endParaRPr lang="en-US" sz="1500" dirty="0"/>
          </a:p>
        </p:txBody>
      </p:sp>
      <p:sp>
        <p:nvSpPr>
          <p:cNvPr id="17" name="text_616"/>
          <p:cNvSpPr txBox="1"/>
          <p:nvPr/>
        </p:nvSpPr>
        <p:spPr>
          <a:xfrm>
            <a:off x="5715000" y="2039112"/>
            <a:ext cx="1508760" cy="274320"/>
          </a:xfrm>
          <a:prstGeom prst="rect">
            <a:avLst/>
          </a:prstGeom>
          <a:noFill/>
          <a:ln/>
        </p:spPr>
        <p:txBody>
          <a:bodyPr wrap="square" lIns="0" tIns="0" rIns="0" bIns="0" rtlCol="0" anchor="t"/>
          <a:lstStyle/>
          <a:p>
            <a:pPr indent="0" marL="0">
              <a:buNone/>
            </a:pPr>
            <a:r>
              <a:rPr lang="en-US" sz="1200" dirty="0">
                <a:solidFill>
                  <a:schemeClr val="bg2"/>
                </a:solidFill>
              </a:rPr>
              <a:t>language</a:t>
            </a:r>
            <a:endParaRPr lang="en-US" sz="1200" dirty="0"/>
          </a:p>
        </p:txBody>
      </p:sp>
      <p:sp>
        <p:nvSpPr>
          <p:cNvPr id="18" name="stack_chip_617"/>
          <p:cNvSpPr/>
          <p:nvPr/>
        </p:nvSpPr>
        <p:spPr>
          <a:xfrm>
            <a:off x="7424928" y="1508760"/>
            <a:ext cx="1984248" cy="1024128"/>
          </a:xfrm>
          <a:prstGeom prst="roundRect">
            <a:avLst>
              <a:gd name="adj" fmla="val 10714"/>
            </a:avLst>
          </a:prstGeom>
          <a:solidFill>
            <a:schemeClr val="tx2"/>
          </a:solidFill>
          <a:ln w="9525">
            <a:solidFill>
              <a:srgbClr val="2B3470"/>
            </a:solidFill>
            <a:prstDash val="solid"/>
          </a:ln>
        </p:spPr>
      </p:sp>
      <p:sp>
        <p:nvSpPr>
          <p:cNvPr id="19" name="dot_618"/>
          <p:cNvSpPr/>
          <p:nvPr/>
        </p:nvSpPr>
        <p:spPr>
          <a:xfrm>
            <a:off x="7607808" y="1755648"/>
            <a:ext cx="146304" cy="146304"/>
          </a:xfrm>
          <a:prstGeom prst="ellipse">
            <a:avLst/>
          </a:prstGeom>
          <a:solidFill>
            <a:schemeClr val="accent4"/>
          </a:solidFill>
          <a:ln/>
        </p:spPr>
      </p:sp>
      <p:sp>
        <p:nvSpPr>
          <p:cNvPr id="20" name="text_619"/>
          <p:cNvSpPr txBox="1"/>
          <p:nvPr/>
        </p:nvSpPr>
        <p:spPr>
          <a:xfrm>
            <a:off x="7836408" y="1664208"/>
            <a:ext cx="1508760" cy="329184"/>
          </a:xfrm>
          <a:prstGeom prst="rect">
            <a:avLst/>
          </a:prstGeom>
          <a:noFill/>
          <a:ln/>
        </p:spPr>
        <p:txBody>
          <a:bodyPr wrap="square" lIns="0" tIns="0" rIns="0" bIns="0" rtlCol="0" anchor="t"/>
          <a:lstStyle/>
          <a:p>
            <a:pPr indent="0" marL="0">
              <a:buNone/>
            </a:pPr>
            <a:r>
              <a:rPr lang="en-US" sz="1500" b="1" dirty="0">
                <a:solidFill>
                  <a:schemeClr val="bg1"/>
                </a:solidFill>
              </a:rPr>
              <a:t>Streamlit</a:t>
            </a:r>
            <a:endParaRPr lang="en-US" sz="1500" dirty="0"/>
          </a:p>
        </p:txBody>
      </p:sp>
      <p:sp>
        <p:nvSpPr>
          <p:cNvPr id="21" name="text_620"/>
          <p:cNvSpPr txBox="1"/>
          <p:nvPr/>
        </p:nvSpPr>
        <p:spPr>
          <a:xfrm>
            <a:off x="7836408" y="2039112"/>
            <a:ext cx="1508760" cy="274320"/>
          </a:xfrm>
          <a:prstGeom prst="rect">
            <a:avLst/>
          </a:prstGeom>
          <a:noFill/>
          <a:ln/>
        </p:spPr>
        <p:txBody>
          <a:bodyPr wrap="square" lIns="0" tIns="0" rIns="0" bIns="0" rtlCol="0" anchor="t"/>
          <a:lstStyle/>
          <a:p>
            <a:pPr indent="0" marL="0">
              <a:buNone/>
            </a:pPr>
            <a:r>
              <a:rPr lang="en-US" sz="1200" dirty="0">
                <a:solidFill>
                  <a:schemeClr val="bg2"/>
                </a:solidFill>
              </a:rPr>
              <a:t>web UI</a:t>
            </a:r>
            <a:endParaRPr lang="en-US" sz="1200" dirty="0"/>
          </a:p>
        </p:txBody>
      </p:sp>
      <p:sp>
        <p:nvSpPr>
          <p:cNvPr id="22" name="stack_chip_621"/>
          <p:cNvSpPr/>
          <p:nvPr/>
        </p:nvSpPr>
        <p:spPr>
          <a:xfrm>
            <a:off x="9546336" y="1508760"/>
            <a:ext cx="1984248" cy="1024128"/>
          </a:xfrm>
          <a:prstGeom prst="roundRect">
            <a:avLst>
              <a:gd name="adj" fmla="val 10714"/>
            </a:avLst>
          </a:prstGeom>
          <a:solidFill>
            <a:schemeClr val="tx2"/>
          </a:solidFill>
          <a:ln w="9525">
            <a:solidFill>
              <a:srgbClr val="2B3470"/>
            </a:solidFill>
            <a:prstDash val="solid"/>
          </a:ln>
        </p:spPr>
      </p:sp>
      <p:sp>
        <p:nvSpPr>
          <p:cNvPr id="23" name="dot_622"/>
          <p:cNvSpPr/>
          <p:nvPr/>
        </p:nvSpPr>
        <p:spPr>
          <a:xfrm>
            <a:off x="9729216" y="1755648"/>
            <a:ext cx="146304" cy="146304"/>
          </a:xfrm>
          <a:prstGeom prst="ellipse">
            <a:avLst/>
          </a:prstGeom>
          <a:solidFill>
            <a:schemeClr val="accent4"/>
          </a:solidFill>
          <a:ln/>
        </p:spPr>
      </p:sp>
      <p:sp>
        <p:nvSpPr>
          <p:cNvPr id="24" name="text_623"/>
          <p:cNvSpPr txBox="1"/>
          <p:nvPr/>
        </p:nvSpPr>
        <p:spPr>
          <a:xfrm>
            <a:off x="9957816" y="1664208"/>
            <a:ext cx="1508760" cy="329184"/>
          </a:xfrm>
          <a:prstGeom prst="rect">
            <a:avLst/>
          </a:prstGeom>
          <a:noFill/>
          <a:ln/>
        </p:spPr>
        <p:txBody>
          <a:bodyPr wrap="square" lIns="0" tIns="0" rIns="0" bIns="0" rtlCol="0" anchor="t"/>
          <a:lstStyle/>
          <a:p>
            <a:pPr indent="0" marL="0">
              <a:buNone/>
            </a:pPr>
            <a:r>
              <a:rPr lang="en-US" sz="1500" b="1" dirty="0">
                <a:solidFill>
                  <a:schemeClr val="bg1"/>
                </a:solidFill>
              </a:rPr>
              <a:t>SQLite</a:t>
            </a:r>
            <a:endParaRPr lang="en-US" sz="1500" dirty="0"/>
          </a:p>
        </p:txBody>
      </p:sp>
      <p:sp>
        <p:nvSpPr>
          <p:cNvPr id="25" name="text_624"/>
          <p:cNvSpPr txBox="1"/>
          <p:nvPr/>
        </p:nvSpPr>
        <p:spPr>
          <a:xfrm>
            <a:off x="9957816" y="2039112"/>
            <a:ext cx="1508760" cy="274320"/>
          </a:xfrm>
          <a:prstGeom prst="rect">
            <a:avLst/>
          </a:prstGeom>
          <a:noFill/>
          <a:ln/>
        </p:spPr>
        <p:txBody>
          <a:bodyPr wrap="square" lIns="0" tIns="0" rIns="0" bIns="0" rtlCol="0" anchor="t"/>
          <a:lstStyle/>
          <a:p>
            <a:pPr indent="0" marL="0">
              <a:buNone/>
            </a:pPr>
            <a:r>
              <a:rPr lang="en-US" sz="1200" dirty="0">
                <a:solidFill>
                  <a:schemeClr val="bg2"/>
                </a:solidFill>
              </a:rPr>
              <a:t>database</a:t>
            </a:r>
            <a:endParaRPr lang="en-US" sz="1200" dirty="0"/>
          </a:p>
        </p:txBody>
      </p:sp>
      <p:sp>
        <p:nvSpPr>
          <p:cNvPr id="26" name="stack_chip_625"/>
          <p:cNvSpPr/>
          <p:nvPr/>
        </p:nvSpPr>
        <p:spPr>
          <a:xfrm>
            <a:off x="5303520" y="2679192"/>
            <a:ext cx="1984248" cy="1024128"/>
          </a:xfrm>
          <a:prstGeom prst="roundRect">
            <a:avLst>
              <a:gd name="adj" fmla="val 10714"/>
            </a:avLst>
          </a:prstGeom>
          <a:solidFill>
            <a:schemeClr val="tx2"/>
          </a:solidFill>
          <a:ln w="9525">
            <a:solidFill>
              <a:srgbClr val="2B3470"/>
            </a:solidFill>
            <a:prstDash val="solid"/>
          </a:ln>
        </p:spPr>
      </p:sp>
      <p:sp>
        <p:nvSpPr>
          <p:cNvPr id="27" name="dot_626"/>
          <p:cNvSpPr/>
          <p:nvPr/>
        </p:nvSpPr>
        <p:spPr>
          <a:xfrm>
            <a:off x="5486400" y="2926080"/>
            <a:ext cx="146304" cy="146304"/>
          </a:xfrm>
          <a:prstGeom prst="ellipse">
            <a:avLst/>
          </a:prstGeom>
          <a:solidFill>
            <a:schemeClr val="accent2"/>
          </a:solidFill>
          <a:ln/>
        </p:spPr>
      </p:sp>
      <p:sp>
        <p:nvSpPr>
          <p:cNvPr id="28" name="text_627"/>
          <p:cNvSpPr txBox="1"/>
          <p:nvPr/>
        </p:nvSpPr>
        <p:spPr>
          <a:xfrm>
            <a:off x="5715000" y="2834640"/>
            <a:ext cx="1508760" cy="329184"/>
          </a:xfrm>
          <a:prstGeom prst="rect">
            <a:avLst/>
          </a:prstGeom>
          <a:noFill/>
          <a:ln/>
        </p:spPr>
        <p:txBody>
          <a:bodyPr wrap="square" lIns="0" tIns="0" rIns="0" bIns="0" rtlCol="0" anchor="t"/>
          <a:lstStyle/>
          <a:p>
            <a:pPr indent="0" marL="0">
              <a:buNone/>
            </a:pPr>
            <a:r>
              <a:rPr lang="en-US" sz="1500" b="1" dirty="0">
                <a:solidFill>
                  <a:schemeClr val="bg1"/>
                </a:solidFill>
              </a:rPr>
              <a:t>Pandas</a:t>
            </a:r>
            <a:endParaRPr lang="en-US" sz="1500" dirty="0"/>
          </a:p>
        </p:txBody>
      </p:sp>
      <p:sp>
        <p:nvSpPr>
          <p:cNvPr id="29" name="text_628"/>
          <p:cNvSpPr txBox="1"/>
          <p:nvPr/>
        </p:nvSpPr>
        <p:spPr>
          <a:xfrm>
            <a:off x="5715000" y="3209544"/>
            <a:ext cx="1508760" cy="274320"/>
          </a:xfrm>
          <a:prstGeom prst="rect">
            <a:avLst/>
          </a:prstGeom>
          <a:noFill/>
          <a:ln/>
        </p:spPr>
        <p:txBody>
          <a:bodyPr wrap="square" lIns="0" tIns="0" rIns="0" bIns="0" rtlCol="0" anchor="t"/>
          <a:lstStyle/>
          <a:p>
            <a:pPr indent="0" marL="0">
              <a:buNone/>
            </a:pPr>
            <a:r>
              <a:rPr lang="en-US" sz="1200" dirty="0">
                <a:solidFill>
                  <a:schemeClr val="bg2"/>
                </a:solidFill>
              </a:rPr>
              <a:t>tables &amp; CSV</a:t>
            </a:r>
            <a:endParaRPr lang="en-US" sz="1200" dirty="0"/>
          </a:p>
        </p:txBody>
      </p:sp>
      <p:sp>
        <p:nvSpPr>
          <p:cNvPr id="30" name="stack_chip_629"/>
          <p:cNvSpPr/>
          <p:nvPr/>
        </p:nvSpPr>
        <p:spPr>
          <a:xfrm>
            <a:off x="7424928" y="2679192"/>
            <a:ext cx="1984248" cy="1024128"/>
          </a:xfrm>
          <a:prstGeom prst="roundRect">
            <a:avLst>
              <a:gd name="adj" fmla="val 10714"/>
            </a:avLst>
          </a:prstGeom>
          <a:solidFill>
            <a:schemeClr val="tx2"/>
          </a:solidFill>
          <a:ln w="9525">
            <a:solidFill>
              <a:srgbClr val="2B3470"/>
            </a:solidFill>
            <a:prstDash val="solid"/>
          </a:ln>
        </p:spPr>
      </p:sp>
      <p:sp>
        <p:nvSpPr>
          <p:cNvPr id="31" name="dot_630"/>
          <p:cNvSpPr/>
          <p:nvPr/>
        </p:nvSpPr>
        <p:spPr>
          <a:xfrm>
            <a:off x="7607808" y="2926080"/>
            <a:ext cx="146304" cy="146304"/>
          </a:xfrm>
          <a:prstGeom prst="ellipse">
            <a:avLst/>
          </a:prstGeom>
          <a:solidFill>
            <a:schemeClr val="accent2"/>
          </a:solidFill>
          <a:ln/>
        </p:spPr>
      </p:sp>
      <p:sp>
        <p:nvSpPr>
          <p:cNvPr id="32" name="text_631"/>
          <p:cNvSpPr txBox="1"/>
          <p:nvPr/>
        </p:nvSpPr>
        <p:spPr>
          <a:xfrm>
            <a:off x="7836408" y="2834640"/>
            <a:ext cx="1508760" cy="329184"/>
          </a:xfrm>
          <a:prstGeom prst="rect">
            <a:avLst/>
          </a:prstGeom>
          <a:noFill/>
          <a:ln/>
        </p:spPr>
        <p:txBody>
          <a:bodyPr wrap="square" lIns="0" tIns="0" rIns="0" bIns="0" rtlCol="0" anchor="t"/>
          <a:lstStyle/>
          <a:p>
            <a:pPr indent="0" marL="0">
              <a:buNone/>
            </a:pPr>
            <a:r>
              <a:rPr lang="en-US" sz="1500" b="1" dirty="0">
                <a:solidFill>
                  <a:schemeClr val="bg1"/>
                </a:solidFill>
              </a:rPr>
              <a:t>Plotly</a:t>
            </a:r>
            <a:endParaRPr lang="en-US" sz="1500" dirty="0"/>
          </a:p>
        </p:txBody>
      </p:sp>
      <p:sp>
        <p:nvSpPr>
          <p:cNvPr id="33" name="text_632"/>
          <p:cNvSpPr txBox="1"/>
          <p:nvPr/>
        </p:nvSpPr>
        <p:spPr>
          <a:xfrm>
            <a:off x="7836408" y="3209544"/>
            <a:ext cx="1508760" cy="274320"/>
          </a:xfrm>
          <a:prstGeom prst="rect">
            <a:avLst/>
          </a:prstGeom>
          <a:noFill/>
          <a:ln/>
        </p:spPr>
        <p:txBody>
          <a:bodyPr wrap="square" lIns="0" tIns="0" rIns="0" bIns="0" rtlCol="0" anchor="t"/>
          <a:lstStyle/>
          <a:p>
            <a:pPr indent="0" marL="0">
              <a:buNone/>
            </a:pPr>
            <a:r>
              <a:rPr lang="en-US" sz="1200" dirty="0">
                <a:solidFill>
                  <a:schemeClr val="bg2"/>
                </a:solidFill>
              </a:rPr>
              <a:t>charts</a:t>
            </a:r>
            <a:endParaRPr lang="en-US" sz="1200" dirty="0"/>
          </a:p>
        </p:txBody>
      </p:sp>
      <p:sp>
        <p:nvSpPr>
          <p:cNvPr id="34" name="stack_chip_633"/>
          <p:cNvSpPr/>
          <p:nvPr/>
        </p:nvSpPr>
        <p:spPr>
          <a:xfrm>
            <a:off x="9546336" y="2679192"/>
            <a:ext cx="1984248" cy="1024128"/>
          </a:xfrm>
          <a:prstGeom prst="roundRect">
            <a:avLst>
              <a:gd name="adj" fmla="val 10714"/>
            </a:avLst>
          </a:prstGeom>
          <a:solidFill>
            <a:schemeClr val="tx2"/>
          </a:solidFill>
          <a:ln w="9525">
            <a:solidFill>
              <a:srgbClr val="2B3470"/>
            </a:solidFill>
            <a:prstDash val="solid"/>
          </a:ln>
        </p:spPr>
      </p:sp>
      <p:sp>
        <p:nvSpPr>
          <p:cNvPr id="35" name="dot_634"/>
          <p:cNvSpPr/>
          <p:nvPr/>
        </p:nvSpPr>
        <p:spPr>
          <a:xfrm>
            <a:off x="9729216" y="2926080"/>
            <a:ext cx="146304" cy="146304"/>
          </a:xfrm>
          <a:prstGeom prst="ellipse">
            <a:avLst/>
          </a:prstGeom>
          <a:solidFill>
            <a:schemeClr val="accent2"/>
          </a:solidFill>
          <a:ln/>
        </p:spPr>
      </p:sp>
      <p:sp>
        <p:nvSpPr>
          <p:cNvPr id="36" name="text_635"/>
          <p:cNvSpPr txBox="1"/>
          <p:nvPr/>
        </p:nvSpPr>
        <p:spPr>
          <a:xfrm>
            <a:off x="9957816" y="2834640"/>
            <a:ext cx="1508760" cy="329184"/>
          </a:xfrm>
          <a:prstGeom prst="rect">
            <a:avLst/>
          </a:prstGeom>
          <a:noFill/>
          <a:ln/>
        </p:spPr>
        <p:txBody>
          <a:bodyPr wrap="square" lIns="0" tIns="0" rIns="0" bIns="0" rtlCol="0" anchor="t"/>
          <a:lstStyle/>
          <a:p>
            <a:pPr indent="0" marL="0">
              <a:buNone/>
            </a:pPr>
            <a:r>
              <a:rPr lang="en-US" sz="1500" b="1" dirty="0">
                <a:solidFill>
                  <a:schemeClr val="bg1"/>
                </a:solidFill>
              </a:rPr>
              <a:t>pypdf</a:t>
            </a:r>
            <a:endParaRPr lang="en-US" sz="1500" dirty="0"/>
          </a:p>
        </p:txBody>
      </p:sp>
      <p:sp>
        <p:nvSpPr>
          <p:cNvPr id="37" name="text_636"/>
          <p:cNvSpPr txBox="1"/>
          <p:nvPr/>
        </p:nvSpPr>
        <p:spPr>
          <a:xfrm>
            <a:off x="9957816" y="3209544"/>
            <a:ext cx="1508760" cy="274320"/>
          </a:xfrm>
          <a:prstGeom prst="rect">
            <a:avLst/>
          </a:prstGeom>
          <a:noFill/>
          <a:ln/>
        </p:spPr>
        <p:txBody>
          <a:bodyPr wrap="square" lIns="0" tIns="0" rIns="0" bIns="0" rtlCol="0" anchor="t"/>
          <a:lstStyle/>
          <a:p>
            <a:pPr indent="0" marL="0">
              <a:buNone/>
            </a:pPr>
            <a:r>
              <a:rPr lang="en-US" sz="1200" dirty="0">
                <a:solidFill>
                  <a:schemeClr val="bg2"/>
                </a:solidFill>
              </a:rPr>
              <a:t>PDF text</a:t>
            </a:r>
            <a:endParaRPr lang="en-US" sz="1200" dirty="0"/>
          </a:p>
        </p:txBody>
      </p:sp>
      <p:sp>
        <p:nvSpPr>
          <p:cNvPr id="38" name="stack_chip_637"/>
          <p:cNvSpPr/>
          <p:nvPr/>
        </p:nvSpPr>
        <p:spPr>
          <a:xfrm>
            <a:off x="5303520" y="3849624"/>
            <a:ext cx="1984248" cy="1024128"/>
          </a:xfrm>
          <a:prstGeom prst="roundRect">
            <a:avLst>
              <a:gd name="adj" fmla="val 10714"/>
            </a:avLst>
          </a:prstGeom>
          <a:solidFill>
            <a:schemeClr val="tx2"/>
          </a:solidFill>
          <a:ln w="9525">
            <a:solidFill>
              <a:srgbClr val="2B3470"/>
            </a:solidFill>
            <a:prstDash val="solid"/>
          </a:ln>
        </p:spPr>
      </p:sp>
      <p:sp>
        <p:nvSpPr>
          <p:cNvPr id="39" name="dot_638"/>
          <p:cNvSpPr/>
          <p:nvPr/>
        </p:nvSpPr>
        <p:spPr>
          <a:xfrm>
            <a:off x="5486400" y="4096512"/>
            <a:ext cx="146304" cy="146304"/>
          </a:xfrm>
          <a:prstGeom prst="ellipse">
            <a:avLst/>
          </a:prstGeom>
          <a:solidFill>
            <a:schemeClr val="accent6"/>
          </a:solidFill>
          <a:ln/>
        </p:spPr>
      </p:sp>
      <p:sp>
        <p:nvSpPr>
          <p:cNvPr id="40" name="text_639"/>
          <p:cNvSpPr txBox="1"/>
          <p:nvPr/>
        </p:nvSpPr>
        <p:spPr>
          <a:xfrm>
            <a:off x="5715000" y="4005072"/>
            <a:ext cx="1508760" cy="329184"/>
          </a:xfrm>
          <a:prstGeom prst="rect">
            <a:avLst/>
          </a:prstGeom>
          <a:noFill/>
          <a:ln/>
        </p:spPr>
        <p:txBody>
          <a:bodyPr wrap="square" lIns="0" tIns="0" rIns="0" bIns="0" rtlCol="0" anchor="t"/>
          <a:lstStyle/>
          <a:p>
            <a:pPr indent="0" marL="0">
              <a:buNone/>
            </a:pPr>
            <a:r>
              <a:rPr lang="en-US" sz="1500" b="1" dirty="0">
                <a:solidFill>
                  <a:schemeClr val="bg1"/>
                </a:solidFill>
              </a:rPr>
              <a:t>python-docx</a:t>
            </a:r>
            <a:endParaRPr lang="en-US" sz="1500" dirty="0"/>
          </a:p>
        </p:txBody>
      </p:sp>
      <p:sp>
        <p:nvSpPr>
          <p:cNvPr id="41" name="text_640"/>
          <p:cNvSpPr txBox="1"/>
          <p:nvPr/>
        </p:nvSpPr>
        <p:spPr>
          <a:xfrm>
            <a:off x="5715000" y="4379976"/>
            <a:ext cx="1508760" cy="274320"/>
          </a:xfrm>
          <a:prstGeom prst="rect">
            <a:avLst/>
          </a:prstGeom>
          <a:noFill/>
          <a:ln/>
        </p:spPr>
        <p:txBody>
          <a:bodyPr wrap="square" lIns="0" tIns="0" rIns="0" bIns="0" rtlCol="0" anchor="t"/>
          <a:lstStyle/>
          <a:p>
            <a:pPr indent="0" marL="0">
              <a:buNone/>
            </a:pPr>
            <a:r>
              <a:rPr lang="en-US" sz="1200" dirty="0">
                <a:solidFill>
                  <a:schemeClr val="bg2"/>
                </a:solidFill>
              </a:rPr>
              <a:t>Word files</a:t>
            </a:r>
            <a:endParaRPr lang="en-US" sz="1200" dirty="0"/>
          </a:p>
        </p:txBody>
      </p:sp>
      <p:sp>
        <p:nvSpPr>
          <p:cNvPr id="42" name="stack_chip_641"/>
          <p:cNvSpPr/>
          <p:nvPr/>
        </p:nvSpPr>
        <p:spPr>
          <a:xfrm>
            <a:off x="7424928" y="3849624"/>
            <a:ext cx="1984248" cy="1024128"/>
          </a:xfrm>
          <a:prstGeom prst="roundRect">
            <a:avLst>
              <a:gd name="adj" fmla="val 10714"/>
            </a:avLst>
          </a:prstGeom>
          <a:solidFill>
            <a:schemeClr val="tx2"/>
          </a:solidFill>
          <a:ln w="9525">
            <a:solidFill>
              <a:srgbClr val="2B3470"/>
            </a:solidFill>
            <a:prstDash val="solid"/>
          </a:ln>
        </p:spPr>
      </p:sp>
      <p:sp>
        <p:nvSpPr>
          <p:cNvPr id="43" name="dot_642"/>
          <p:cNvSpPr/>
          <p:nvPr/>
        </p:nvSpPr>
        <p:spPr>
          <a:xfrm>
            <a:off x="7607808" y="4096512"/>
            <a:ext cx="146304" cy="146304"/>
          </a:xfrm>
          <a:prstGeom prst="ellipse">
            <a:avLst/>
          </a:prstGeom>
          <a:solidFill>
            <a:schemeClr val="accent6"/>
          </a:solidFill>
          <a:ln/>
        </p:spPr>
      </p:sp>
      <p:sp>
        <p:nvSpPr>
          <p:cNvPr id="44" name="text_643"/>
          <p:cNvSpPr txBox="1"/>
          <p:nvPr/>
        </p:nvSpPr>
        <p:spPr>
          <a:xfrm>
            <a:off x="7836408" y="4005072"/>
            <a:ext cx="1508760" cy="329184"/>
          </a:xfrm>
          <a:prstGeom prst="rect">
            <a:avLst/>
          </a:prstGeom>
          <a:noFill/>
          <a:ln/>
        </p:spPr>
        <p:txBody>
          <a:bodyPr wrap="square" lIns="0" tIns="0" rIns="0" bIns="0" rtlCol="0" anchor="t"/>
          <a:lstStyle/>
          <a:p>
            <a:pPr indent="0" marL="0">
              <a:buNone/>
            </a:pPr>
            <a:r>
              <a:rPr lang="en-US" sz="1500" b="1" dirty="0">
                <a:solidFill>
                  <a:schemeClr val="bg1"/>
                </a:solidFill>
              </a:rPr>
              <a:t>openpyxl</a:t>
            </a:r>
            <a:endParaRPr lang="en-US" sz="1500" dirty="0"/>
          </a:p>
        </p:txBody>
      </p:sp>
      <p:sp>
        <p:nvSpPr>
          <p:cNvPr id="45" name="text_644"/>
          <p:cNvSpPr txBox="1"/>
          <p:nvPr/>
        </p:nvSpPr>
        <p:spPr>
          <a:xfrm>
            <a:off x="7836408" y="4379976"/>
            <a:ext cx="1508760" cy="274320"/>
          </a:xfrm>
          <a:prstGeom prst="rect">
            <a:avLst/>
          </a:prstGeom>
          <a:noFill/>
          <a:ln/>
        </p:spPr>
        <p:txBody>
          <a:bodyPr wrap="square" lIns="0" tIns="0" rIns="0" bIns="0" rtlCol="0" anchor="t"/>
          <a:lstStyle/>
          <a:p>
            <a:pPr indent="0" marL="0">
              <a:buNone/>
            </a:pPr>
            <a:r>
              <a:rPr lang="en-US" sz="1200" dirty="0">
                <a:solidFill>
                  <a:schemeClr val="bg2"/>
                </a:solidFill>
              </a:rPr>
              <a:t>Excel files</a:t>
            </a:r>
            <a:endParaRPr lang="en-US" sz="1200" dirty="0"/>
          </a:p>
        </p:txBody>
      </p:sp>
      <p:sp>
        <p:nvSpPr>
          <p:cNvPr id="46" name="stack_chip_645"/>
          <p:cNvSpPr/>
          <p:nvPr/>
        </p:nvSpPr>
        <p:spPr>
          <a:xfrm>
            <a:off x="9546336" y="3849624"/>
            <a:ext cx="1984248" cy="1024128"/>
          </a:xfrm>
          <a:prstGeom prst="roundRect">
            <a:avLst>
              <a:gd name="adj" fmla="val 10714"/>
            </a:avLst>
          </a:prstGeom>
          <a:solidFill>
            <a:schemeClr val="tx2"/>
          </a:solidFill>
          <a:ln w="9525">
            <a:solidFill>
              <a:srgbClr val="2B3470"/>
            </a:solidFill>
            <a:prstDash val="solid"/>
          </a:ln>
        </p:spPr>
      </p:sp>
      <p:sp>
        <p:nvSpPr>
          <p:cNvPr id="47" name="dot_646"/>
          <p:cNvSpPr/>
          <p:nvPr/>
        </p:nvSpPr>
        <p:spPr>
          <a:xfrm>
            <a:off x="9729216" y="4096512"/>
            <a:ext cx="146304" cy="146304"/>
          </a:xfrm>
          <a:prstGeom prst="ellipse">
            <a:avLst/>
          </a:prstGeom>
          <a:solidFill>
            <a:schemeClr val="accent6"/>
          </a:solidFill>
          <a:ln/>
        </p:spPr>
      </p:sp>
      <p:sp>
        <p:nvSpPr>
          <p:cNvPr id="48" name="text_647"/>
          <p:cNvSpPr txBox="1"/>
          <p:nvPr/>
        </p:nvSpPr>
        <p:spPr>
          <a:xfrm>
            <a:off x="9957816" y="4005072"/>
            <a:ext cx="1508760" cy="329184"/>
          </a:xfrm>
          <a:prstGeom prst="rect">
            <a:avLst/>
          </a:prstGeom>
          <a:noFill/>
          <a:ln/>
        </p:spPr>
        <p:txBody>
          <a:bodyPr wrap="square" lIns="0" tIns="0" rIns="0" bIns="0" rtlCol="0" anchor="t"/>
          <a:lstStyle/>
          <a:p>
            <a:pPr indent="0" marL="0">
              <a:buNone/>
            </a:pPr>
            <a:r>
              <a:rPr lang="en-US" sz="1500" b="1" dirty="0">
                <a:solidFill>
                  <a:schemeClr val="bg1"/>
                </a:solidFill>
              </a:rPr>
              <a:t>pypdfium2</a:t>
            </a:r>
            <a:endParaRPr lang="en-US" sz="1500" dirty="0"/>
          </a:p>
        </p:txBody>
      </p:sp>
      <p:sp>
        <p:nvSpPr>
          <p:cNvPr id="49" name="text_648"/>
          <p:cNvSpPr txBox="1"/>
          <p:nvPr/>
        </p:nvSpPr>
        <p:spPr>
          <a:xfrm>
            <a:off x="9957816" y="4379976"/>
            <a:ext cx="1508760" cy="274320"/>
          </a:xfrm>
          <a:prstGeom prst="rect">
            <a:avLst/>
          </a:prstGeom>
          <a:noFill/>
          <a:ln/>
        </p:spPr>
        <p:txBody>
          <a:bodyPr wrap="square" lIns="0" tIns="0" rIns="0" bIns="0" rtlCol="0" anchor="t"/>
          <a:lstStyle/>
          <a:p>
            <a:pPr indent="0" marL="0">
              <a:buNone/>
            </a:pPr>
            <a:r>
              <a:rPr lang="en-US" sz="1200" dirty="0">
                <a:solidFill>
                  <a:schemeClr val="bg2"/>
                </a:solidFill>
              </a:rPr>
              <a:t>thumbnails</a:t>
            </a:r>
            <a:endParaRPr lang="en-US" sz="1200" dirty="0"/>
          </a:p>
        </p:txBody>
      </p:sp>
      <p:sp>
        <p:nvSpPr>
          <p:cNvPr id="50" name="stack_chip_649"/>
          <p:cNvSpPr/>
          <p:nvPr/>
        </p:nvSpPr>
        <p:spPr>
          <a:xfrm>
            <a:off x="5303520" y="5020056"/>
            <a:ext cx="1984248" cy="1024128"/>
          </a:xfrm>
          <a:prstGeom prst="roundRect">
            <a:avLst>
              <a:gd name="adj" fmla="val 10714"/>
            </a:avLst>
          </a:prstGeom>
          <a:solidFill>
            <a:schemeClr val="tx2"/>
          </a:solidFill>
          <a:ln w="9525">
            <a:solidFill>
              <a:srgbClr val="2B3470"/>
            </a:solidFill>
            <a:prstDash val="solid"/>
          </a:ln>
        </p:spPr>
      </p:sp>
      <p:sp>
        <p:nvSpPr>
          <p:cNvPr id="51" name="dot_650"/>
          <p:cNvSpPr/>
          <p:nvPr/>
        </p:nvSpPr>
        <p:spPr>
          <a:xfrm>
            <a:off x="5486400" y="5266944"/>
            <a:ext cx="146304" cy="146304"/>
          </a:xfrm>
          <a:prstGeom prst="ellipse">
            <a:avLst/>
          </a:prstGeom>
          <a:solidFill>
            <a:schemeClr val="accent1"/>
          </a:solidFill>
          <a:ln/>
        </p:spPr>
      </p:sp>
      <p:sp>
        <p:nvSpPr>
          <p:cNvPr id="52" name="text_651"/>
          <p:cNvSpPr txBox="1"/>
          <p:nvPr/>
        </p:nvSpPr>
        <p:spPr>
          <a:xfrm>
            <a:off x="5715000" y="5175504"/>
            <a:ext cx="1508760" cy="329184"/>
          </a:xfrm>
          <a:prstGeom prst="rect">
            <a:avLst/>
          </a:prstGeom>
          <a:noFill/>
          <a:ln/>
        </p:spPr>
        <p:txBody>
          <a:bodyPr wrap="square" lIns="0" tIns="0" rIns="0" bIns="0" rtlCol="0" anchor="t"/>
          <a:lstStyle/>
          <a:p>
            <a:pPr indent="0" marL="0">
              <a:buNone/>
            </a:pPr>
            <a:r>
              <a:rPr lang="en-US" sz="1500" b="1" dirty="0">
                <a:solidFill>
                  <a:schemeClr val="bg1"/>
                </a:solidFill>
              </a:rPr>
              <a:t>Tesseract</a:t>
            </a:r>
            <a:endParaRPr lang="en-US" sz="1500" dirty="0"/>
          </a:p>
        </p:txBody>
      </p:sp>
      <p:sp>
        <p:nvSpPr>
          <p:cNvPr id="53" name="text_652"/>
          <p:cNvSpPr txBox="1"/>
          <p:nvPr/>
        </p:nvSpPr>
        <p:spPr>
          <a:xfrm>
            <a:off x="5715000" y="5550408"/>
            <a:ext cx="1508760" cy="274320"/>
          </a:xfrm>
          <a:prstGeom prst="rect">
            <a:avLst/>
          </a:prstGeom>
          <a:noFill/>
          <a:ln/>
        </p:spPr>
        <p:txBody>
          <a:bodyPr wrap="square" lIns="0" tIns="0" rIns="0" bIns="0" rtlCol="0" anchor="t"/>
          <a:lstStyle/>
          <a:p>
            <a:pPr indent="0" marL="0">
              <a:buNone/>
            </a:pPr>
            <a:r>
              <a:rPr lang="en-US" sz="1200" dirty="0">
                <a:solidFill>
                  <a:schemeClr val="bg2"/>
                </a:solidFill>
              </a:rPr>
              <a:t>OCR (optional)</a:t>
            </a:r>
            <a:endParaRPr lang="en-US" sz="1200" dirty="0"/>
          </a:p>
        </p:txBody>
      </p:sp>
      <p:sp>
        <p:nvSpPr>
          <p:cNvPr id="54" name="stack_chip_653"/>
          <p:cNvSpPr/>
          <p:nvPr/>
        </p:nvSpPr>
        <p:spPr>
          <a:xfrm>
            <a:off x="7424928" y="5020056"/>
            <a:ext cx="1984248" cy="1024128"/>
          </a:xfrm>
          <a:prstGeom prst="roundRect">
            <a:avLst>
              <a:gd name="adj" fmla="val 10714"/>
            </a:avLst>
          </a:prstGeom>
          <a:solidFill>
            <a:schemeClr val="tx2"/>
          </a:solidFill>
          <a:ln w="9525">
            <a:solidFill>
              <a:srgbClr val="2B3470"/>
            </a:solidFill>
            <a:prstDash val="solid"/>
          </a:ln>
        </p:spPr>
      </p:sp>
      <p:sp>
        <p:nvSpPr>
          <p:cNvPr id="55" name="dot_654"/>
          <p:cNvSpPr/>
          <p:nvPr/>
        </p:nvSpPr>
        <p:spPr>
          <a:xfrm>
            <a:off x="7607808" y="5266944"/>
            <a:ext cx="146304" cy="146304"/>
          </a:xfrm>
          <a:prstGeom prst="ellipse">
            <a:avLst/>
          </a:prstGeom>
          <a:solidFill>
            <a:schemeClr val="accent1"/>
          </a:solidFill>
          <a:ln/>
        </p:spPr>
      </p:sp>
      <p:sp>
        <p:nvSpPr>
          <p:cNvPr id="56" name="text_655"/>
          <p:cNvSpPr txBox="1"/>
          <p:nvPr/>
        </p:nvSpPr>
        <p:spPr>
          <a:xfrm>
            <a:off x="7836408" y="5175504"/>
            <a:ext cx="1508760" cy="329184"/>
          </a:xfrm>
          <a:prstGeom prst="rect">
            <a:avLst/>
          </a:prstGeom>
          <a:noFill/>
          <a:ln/>
        </p:spPr>
        <p:txBody>
          <a:bodyPr wrap="square" lIns="0" tIns="0" rIns="0" bIns="0" rtlCol="0" anchor="t"/>
          <a:lstStyle/>
          <a:p>
            <a:pPr indent="0" marL="0">
              <a:buNone/>
            </a:pPr>
            <a:r>
              <a:rPr lang="en-US" sz="1500" b="1" dirty="0">
                <a:solidFill>
                  <a:schemeClr val="bg1"/>
                </a:solidFill>
              </a:rPr>
              <a:t>pytest</a:t>
            </a:r>
            <a:endParaRPr lang="en-US" sz="1500" dirty="0"/>
          </a:p>
        </p:txBody>
      </p:sp>
      <p:sp>
        <p:nvSpPr>
          <p:cNvPr id="57" name="text_656"/>
          <p:cNvSpPr txBox="1"/>
          <p:nvPr/>
        </p:nvSpPr>
        <p:spPr>
          <a:xfrm>
            <a:off x="7836408" y="5550408"/>
            <a:ext cx="1508760" cy="274320"/>
          </a:xfrm>
          <a:prstGeom prst="rect">
            <a:avLst/>
          </a:prstGeom>
          <a:noFill/>
          <a:ln/>
        </p:spPr>
        <p:txBody>
          <a:bodyPr wrap="square" lIns="0" tIns="0" rIns="0" bIns="0" rtlCol="0" anchor="t"/>
          <a:lstStyle/>
          <a:p>
            <a:pPr indent="0" marL="0">
              <a:buNone/>
            </a:pPr>
            <a:r>
              <a:rPr lang="en-US" sz="1200" dirty="0">
                <a:solidFill>
                  <a:schemeClr val="bg2"/>
                </a:solidFill>
              </a:rPr>
              <a:t>testing</a:t>
            </a:r>
            <a:endParaRPr lang="en-US" sz="1200" dirty="0"/>
          </a:p>
        </p:txBody>
      </p:sp>
      <p:sp>
        <p:nvSpPr>
          <p:cNvPr id="58" name="stack_chip_657"/>
          <p:cNvSpPr/>
          <p:nvPr/>
        </p:nvSpPr>
        <p:spPr>
          <a:xfrm>
            <a:off x="9546336" y="5020056"/>
            <a:ext cx="1984248" cy="1024128"/>
          </a:xfrm>
          <a:prstGeom prst="roundRect">
            <a:avLst>
              <a:gd name="adj" fmla="val 10714"/>
            </a:avLst>
          </a:prstGeom>
          <a:solidFill>
            <a:schemeClr val="tx2"/>
          </a:solidFill>
          <a:ln w="9525">
            <a:solidFill>
              <a:srgbClr val="2B3470"/>
            </a:solidFill>
            <a:prstDash val="solid"/>
          </a:ln>
        </p:spPr>
      </p:sp>
      <p:sp>
        <p:nvSpPr>
          <p:cNvPr id="59" name="dot_658"/>
          <p:cNvSpPr/>
          <p:nvPr/>
        </p:nvSpPr>
        <p:spPr>
          <a:xfrm>
            <a:off x="9729216" y="5266944"/>
            <a:ext cx="146304" cy="146304"/>
          </a:xfrm>
          <a:prstGeom prst="ellipse">
            <a:avLst/>
          </a:prstGeom>
          <a:solidFill>
            <a:schemeClr val="accent1"/>
          </a:solidFill>
          <a:ln/>
        </p:spPr>
      </p:sp>
      <p:sp>
        <p:nvSpPr>
          <p:cNvPr id="60" name="text_659"/>
          <p:cNvSpPr txBox="1"/>
          <p:nvPr/>
        </p:nvSpPr>
        <p:spPr>
          <a:xfrm>
            <a:off x="9957816" y="5175504"/>
            <a:ext cx="1508760" cy="329184"/>
          </a:xfrm>
          <a:prstGeom prst="rect">
            <a:avLst/>
          </a:prstGeom>
          <a:noFill/>
          <a:ln/>
        </p:spPr>
        <p:txBody>
          <a:bodyPr wrap="square" lIns="0" tIns="0" rIns="0" bIns="0" rtlCol="0" anchor="t"/>
          <a:lstStyle/>
          <a:p>
            <a:pPr indent="0" marL="0">
              <a:buNone/>
            </a:pPr>
            <a:r>
              <a:rPr lang="en-US" sz="1500" b="1" dirty="0">
                <a:solidFill>
                  <a:schemeClr val="bg1"/>
                </a:solidFill>
              </a:rPr>
              <a:t>reportlab</a:t>
            </a:r>
            <a:endParaRPr lang="en-US" sz="1500" dirty="0"/>
          </a:p>
        </p:txBody>
      </p:sp>
      <p:sp>
        <p:nvSpPr>
          <p:cNvPr id="61" name="text_660"/>
          <p:cNvSpPr txBox="1"/>
          <p:nvPr/>
        </p:nvSpPr>
        <p:spPr>
          <a:xfrm>
            <a:off x="9957816" y="5550408"/>
            <a:ext cx="1508760" cy="274320"/>
          </a:xfrm>
          <a:prstGeom prst="rect">
            <a:avLst/>
          </a:prstGeom>
          <a:noFill/>
          <a:ln/>
        </p:spPr>
        <p:txBody>
          <a:bodyPr wrap="square" lIns="0" tIns="0" rIns="0" bIns="0" rtlCol="0" anchor="t"/>
          <a:lstStyle/>
          <a:p>
            <a:pPr indent="0" marL="0">
              <a:buNone/>
            </a:pPr>
            <a:r>
              <a:rPr lang="en-US" sz="1200" dirty="0">
                <a:solidFill>
                  <a:schemeClr val="bg2"/>
                </a:solidFill>
              </a:rPr>
              <a:t>demo PDFs</a:t>
            </a:r>
            <a:endParaRPr lang="en-US" sz="1200" dirty="0"/>
          </a:p>
        </p:txBody>
      </p:sp>
      <p:sp>
        <p:nvSpPr>
          <p:cNvPr id="25" name="Slide Number Placeholder 0"/>
          <p:cNvSpPr>
            <a:spLocks noGrp="1"/>
          </p:cNvSpPr>
          <p:nvPr>
            <p:ph type="sldNum" sz="quarter" idx="4294967295"/>
          </p:nvPr>
        </p:nvSpPr>
        <p:spPr>
          <a:xfrm>
            <a:off x="11109960" y="6355080"/>
            <a:ext cx="530352"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bg2"/>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8229600" cy="274320"/>
          </a:xfrm>
          <a:prstGeom prst="rect">
            <a:avLst/>
          </a:prstGeom>
          <a:noFill/>
          <a:ln/>
        </p:spPr>
        <p:txBody>
          <a:bodyPr wrap="square" lIns="0" tIns="0" rIns="0" bIns="0" rtlCol="0" anchor="ctr"/>
          <a:lstStyle/>
          <a:p>
            <a:pPr algn="l" indent="0" marL="0">
              <a:buNone/>
            </a:pPr>
            <a:r>
              <a:rPr lang="en-US" sz="1200" b="1" spc="200" kern="0" dirty="0">
                <a:solidFill>
                  <a:schemeClr val="accent2"/>
                </a:solidFill>
              </a:rPr>
              <a:t>AFTER APPROVAL</a:t>
            </a:r>
            <a:endParaRPr lang="en-US" sz="1200" dirty="0"/>
          </a:p>
        </p:txBody>
      </p:sp>
      <p:sp>
        <p:nvSpPr>
          <p:cNvPr id="3" name="Text 0"/>
          <p:cNvSpPr/>
          <p:nvPr>
            <p:ph idx="101" type="title" hasCustomPrompt="1"/>
          </p:nvPr>
        </p:nvSpPr>
        <p:spPr>
          <a:xfrm>
            <a:off x="548640" y="603504"/>
            <a:ext cx="11064240" cy="685800"/>
          </a:xfrm>
          <a:prstGeom prst="rect">
            <a:avLst/>
          </a:prstGeom>
          <a:noFill/>
          <a:ln/>
        </p:spPr>
        <p:txBody>
          <a:bodyPr wrap="square" lIns="0" tIns="0" rIns="0" bIns="0" rtlCol="0" anchor="ctr"/>
          <a:lstStyle/>
          <a:p>
            <a:pPr algn="l" indent="0" marL="0">
              <a:buNone/>
            </a:pPr>
            <a:r>
              <a:rPr lang="en-US" sz="3200" b="1" dirty="0">
                <a:solidFill>
                  <a:schemeClr val="bg1"/>
                </a:solidFill>
              </a:rPr>
              <a:t>Ready to upload once approved</a:t>
            </a:r>
            <a:endParaRPr lang="en-US" sz="3200" dirty="0"/>
          </a:p>
        </p:txBody>
      </p:sp>
      <p:sp>
        <p:nvSpPr>
          <p:cNvPr id="4" name="next_step_661"/>
          <p:cNvSpPr/>
          <p:nvPr/>
        </p:nvSpPr>
        <p:spPr>
          <a:xfrm>
            <a:off x="548640" y="1508760"/>
            <a:ext cx="6126480" cy="1005840"/>
          </a:xfrm>
          <a:prstGeom prst="roundRect">
            <a:avLst>
              <a:gd name="adj" fmla="val 10909"/>
            </a:avLst>
          </a:prstGeom>
          <a:solidFill>
            <a:schemeClr val="tx2"/>
          </a:solidFill>
          <a:ln w="9525">
            <a:solidFill>
              <a:srgbClr val="2B3470"/>
            </a:solidFill>
            <a:prstDash val="solid"/>
          </a:ln>
        </p:spPr>
      </p:sp>
      <p:sp>
        <p:nvSpPr>
          <p:cNvPr id="5" name="num_662"/>
          <p:cNvSpPr/>
          <p:nvPr/>
        </p:nvSpPr>
        <p:spPr>
          <a:xfrm>
            <a:off x="749808" y="1783080"/>
            <a:ext cx="457200" cy="457200"/>
          </a:xfrm>
          <a:prstGeom prst="ellipse">
            <a:avLst/>
          </a:prstGeom>
          <a:solidFill>
            <a:schemeClr val="accent3"/>
          </a:solidFill>
          <a:ln/>
        </p:spPr>
      </p:sp>
      <p:sp>
        <p:nvSpPr>
          <p:cNvPr id="6" name="text_663"/>
          <p:cNvSpPr txBox="1"/>
          <p:nvPr/>
        </p:nvSpPr>
        <p:spPr>
          <a:xfrm>
            <a:off x="749808" y="178308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7" name="text_664"/>
          <p:cNvSpPr txBox="1"/>
          <p:nvPr/>
        </p:nvSpPr>
        <p:spPr>
          <a:xfrm>
            <a:off x="1417320" y="1673352"/>
            <a:ext cx="3931920" cy="329184"/>
          </a:xfrm>
          <a:prstGeom prst="rect">
            <a:avLst/>
          </a:prstGeom>
          <a:noFill/>
          <a:ln/>
        </p:spPr>
        <p:txBody>
          <a:bodyPr wrap="square" lIns="0" tIns="0" rIns="0" bIns="0" rtlCol="0" anchor="t"/>
          <a:lstStyle/>
          <a:p>
            <a:pPr indent="0" marL="0">
              <a:buNone/>
            </a:pPr>
            <a:r>
              <a:rPr lang="en-US" sz="1600" b="1" dirty="0">
                <a:solidFill>
                  <a:schemeClr val="bg1"/>
                </a:solidFill>
              </a:rPr>
              <a:t>Upload the approved source</a:t>
            </a:r>
            <a:endParaRPr lang="en-US" sz="1600" dirty="0"/>
          </a:p>
        </p:txBody>
      </p:sp>
      <p:sp>
        <p:nvSpPr>
          <p:cNvPr id="8" name="text_665"/>
          <p:cNvSpPr txBox="1"/>
          <p:nvPr/>
        </p:nvSpPr>
        <p:spPr>
          <a:xfrm>
            <a:off x="1417320" y="2020824"/>
            <a:ext cx="4114800" cy="384048"/>
          </a:xfrm>
          <a:prstGeom prst="rect">
            <a:avLst/>
          </a:prstGeom>
          <a:noFill/>
          <a:ln/>
        </p:spPr>
        <p:txBody>
          <a:bodyPr wrap="square" lIns="0" tIns="0" rIns="0" bIns="0" rtlCol="0" anchor="t"/>
          <a:lstStyle/>
          <a:p>
            <a:pPr indent="0" marL="0">
              <a:buNone/>
            </a:pPr>
            <a:r>
              <a:rPr lang="en-US" sz="1200" dirty="0">
                <a:solidFill>
                  <a:schemeClr val="bg2"/>
                </a:solidFill>
              </a:rPr>
              <a:t>lifeadmin_source.zip: app, 11 modules, tests, scripts, samples</a:t>
            </a:r>
            <a:endParaRPr lang="en-US" sz="1200" dirty="0"/>
          </a:p>
        </p:txBody>
      </p:sp>
      <p:sp>
        <p:nvSpPr>
          <p:cNvPr id="9" name="pill_666"/>
          <p:cNvSpPr/>
          <p:nvPr/>
        </p:nvSpPr>
        <p:spPr>
          <a:xfrm>
            <a:off x="5486400" y="1847088"/>
            <a:ext cx="1005840" cy="310896"/>
          </a:xfrm>
          <a:prstGeom prst="roundRect">
            <a:avLst>
              <a:gd name="adj" fmla="val 50000"/>
            </a:avLst>
          </a:prstGeom>
          <a:solidFill>
            <a:schemeClr val="accent3">
              <a:alpha val="22000"/>
            </a:schemeClr>
          </a:solidFill>
          <a:ln/>
        </p:spPr>
      </p:sp>
      <p:sp>
        <p:nvSpPr>
          <p:cNvPr id="10" name="text_667"/>
          <p:cNvSpPr txBox="1"/>
          <p:nvPr/>
        </p:nvSpPr>
        <p:spPr>
          <a:xfrm>
            <a:off x="5486400" y="1847088"/>
            <a:ext cx="1005840" cy="310896"/>
          </a:xfrm>
          <a:prstGeom prst="rect">
            <a:avLst/>
          </a:prstGeom>
          <a:noFill/>
          <a:ln/>
        </p:spPr>
        <p:txBody>
          <a:bodyPr wrap="square" lIns="0" tIns="0" rIns="0" bIns="0" rtlCol="0" anchor="ctr"/>
          <a:lstStyle/>
          <a:p>
            <a:pPr algn="ctr" indent="0" marL="0">
              <a:buNone/>
            </a:pPr>
            <a:r>
              <a:rPr lang="en-US" sz="1050" b="1" spc="100" kern="0" dirty="0">
                <a:solidFill>
                  <a:schemeClr val="accent3"/>
                </a:solidFill>
              </a:rPr>
              <a:t>READY</a:t>
            </a:r>
            <a:endParaRPr lang="en-US" sz="1050" dirty="0"/>
          </a:p>
        </p:txBody>
      </p:sp>
      <p:sp>
        <p:nvSpPr>
          <p:cNvPr id="11" name="next_step_668"/>
          <p:cNvSpPr/>
          <p:nvPr/>
        </p:nvSpPr>
        <p:spPr>
          <a:xfrm>
            <a:off x="548640" y="2670048"/>
            <a:ext cx="6126480" cy="1005840"/>
          </a:xfrm>
          <a:prstGeom prst="roundRect">
            <a:avLst>
              <a:gd name="adj" fmla="val 10909"/>
            </a:avLst>
          </a:prstGeom>
          <a:solidFill>
            <a:schemeClr val="tx2"/>
          </a:solidFill>
          <a:ln w="9525">
            <a:solidFill>
              <a:srgbClr val="2B3470"/>
            </a:solidFill>
            <a:prstDash val="solid"/>
          </a:ln>
        </p:spPr>
      </p:sp>
      <p:sp>
        <p:nvSpPr>
          <p:cNvPr id="12" name="num_669"/>
          <p:cNvSpPr/>
          <p:nvPr/>
        </p:nvSpPr>
        <p:spPr>
          <a:xfrm>
            <a:off x="749808" y="2944368"/>
            <a:ext cx="457200" cy="457200"/>
          </a:xfrm>
          <a:prstGeom prst="ellipse">
            <a:avLst/>
          </a:prstGeom>
          <a:solidFill>
            <a:schemeClr val="accent1"/>
          </a:solidFill>
          <a:ln/>
        </p:spPr>
      </p:sp>
      <p:sp>
        <p:nvSpPr>
          <p:cNvPr id="13" name="text_670"/>
          <p:cNvSpPr txBox="1"/>
          <p:nvPr/>
        </p:nvSpPr>
        <p:spPr>
          <a:xfrm>
            <a:off x="749808" y="2944368"/>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14" name="text_671"/>
          <p:cNvSpPr txBox="1"/>
          <p:nvPr/>
        </p:nvSpPr>
        <p:spPr>
          <a:xfrm>
            <a:off x="1417320" y="2834640"/>
            <a:ext cx="3931920" cy="329184"/>
          </a:xfrm>
          <a:prstGeom prst="rect">
            <a:avLst/>
          </a:prstGeom>
          <a:noFill/>
          <a:ln/>
        </p:spPr>
        <p:txBody>
          <a:bodyPr wrap="square" lIns="0" tIns="0" rIns="0" bIns="0" rtlCol="0" anchor="t"/>
          <a:lstStyle/>
          <a:p>
            <a:pPr indent="0" marL="0">
              <a:buNone/>
            </a:pPr>
            <a:r>
              <a:rPr lang="en-US" sz="1600" b="1" dirty="0">
                <a:solidFill>
                  <a:schemeClr val="bg1"/>
                </a:solidFill>
              </a:rPr>
              <a:t>Push to GitHub</a:t>
            </a:r>
            <a:endParaRPr lang="en-US" sz="1600" dirty="0"/>
          </a:p>
        </p:txBody>
      </p:sp>
      <p:sp>
        <p:nvSpPr>
          <p:cNvPr id="15" name="text_672"/>
          <p:cNvSpPr txBox="1"/>
          <p:nvPr/>
        </p:nvSpPr>
        <p:spPr>
          <a:xfrm>
            <a:off x="1417320" y="3182112"/>
            <a:ext cx="4114800" cy="384048"/>
          </a:xfrm>
          <a:prstGeom prst="rect">
            <a:avLst/>
          </a:prstGeom>
          <a:noFill/>
          <a:ln/>
        </p:spPr>
        <p:txBody>
          <a:bodyPr wrap="square" lIns="0" tIns="0" rIns="0" bIns="0" rtlCol="0" anchor="t"/>
          <a:lstStyle/>
          <a:p>
            <a:pPr indent="0" marL="0">
              <a:buNone/>
            </a:pPr>
            <a:r>
              <a:rPr lang="en-US" sz="1200" dirty="0">
                <a:solidFill>
                  <a:schemeClr val="bg2"/>
                </a:solidFill>
              </a:rPr>
              <a:t>README with setup steps; personal data/ folder stays git-ignored</a:t>
            </a:r>
            <a:endParaRPr lang="en-US" sz="1200" dirty="0"/>
          </a:p>
        </p:txBody>
      </p:sp>
      <p:sp>
        <p:nvSpPr>
          <p:cNvPr id="16" name="pill_673"/>
          <p:cNvSpPr/>
          <p:nvPr/>
        </p:nvSpPr>
        <p:spPr>
          <a:xfrm>
            <a:off x="5486400" y="3008376"/>
            <a:ext cx="1005840" cy="310896"/>
          </a:xfrm>
          <a:prstGeom prst="roundRect">
            <a:avLst>
              <a:gd name="adj" fmla="val 50000"/>
            </a:avLst>
          </a:prstGeom>
          <a:solidFill>
            <a:schemeClr val="accent1">
              <a:alpha val="22000"/>
            </a:schemeClr>
          </a:solidFill>
          <a:ln/>
        </p:spPr>
      </p:sp>
      <p:sp>
        <p:nvSpPr>
          <p:cNvPr id="17" name="text_674"/>
          <p:cNvSpPr txBox="1"/>
          <p:nvPr/>
        </p:nvSpPr>
        <p:spPr>
          <a:xfrm>
            <a:off x="5486400" y="3008376"/>
            <a:ext cx="1005840" cy="310896"/>
          </a:xfrm>
          <a:prstGeom prst="rect">
            <a:avLst/>
          </a:prstGeom>
          <a:noFill/>
          <a:ln/>
        </p:spPr>
        <p:txBody>
          <a:bodyPr wrap="square" lIns="0" tIns="0" rIns="0" bIns="0" rtlCol="0" anchor="ctr"/>
          <a:lstStyle/>
          <a:p>
            <a:pPr algn="ctr" indent="0" marL="0">
              <a:buNone/>
            </a:pPr>
            <a:r>
              <a:rPr lang="en-US" sz="1050" b="1" spc="100" kern="0" dirty="0">
                <a:solidFill>
                  <a:schemeClr val="accent1"/>
                </a:solidFill>
              </a:rPr>
              <a:t>NEXT</a:t>
            </a:r>
            <a:endParaRPr lang="en-US" sz="1050" dirty="0"/>
          </a:p>
        </p:txBody>
      </p:sp>
      <p:sp>
        <p:nvSpPr>
          <p:cNvPr id="18" name="next_step_675"/>
          <p:cNvSpPr/>
          <p:nvPr/>
        </p:nvSpPr>
        <p:spPr>
          <a:xfrm>
            <a:off x="548640" y="3831336"/>
            <a:ext cx="6126480" cy="1005840"/>
          </a:xfrm>
          <a:prstGeom prst="roundRect">
            <a:avLst>
              <a:gd name="adj" fmla="val 10909"/>
            </a:avLst>
          </a:prstGeom>
          <a:solidFill>
            <a:schemeClr val="tx2"/>
          </a:solidFill>
          <a:ln w="9525">
            <a:solidFill>
              <a:srgbClr val="2B3470"/>
            </a:solidFill>
            <a:prstDash val="solid"/>
          </a:ln>
        </p:spPr>
      </p:sp>
      <p:sp>
        <p:nvSpPr>
          <p:cNvPr id="19" name="num_676"/>
          <p:cNvSpPr/>
          <p:nvPr/>
        </p:nvSpPr>
        <p:spPr>
          <a:xfrm>
            <a:off x="749808" y="4105656"/>
            <a:ext cx="457200" cy="457200"/>
          </a:xfrm>
          <a:prstGeom prst="ellipse">
            <a:avLst/>
          </a:prstGeom>
          <a:solidFill>
            <a:schemeClr val="accent1"/>
          </a:solidFill>
          <a:ln/>
        </p:spPr>
      </p:sp>
      <p:sp>
        <p:nvSpPr>
          <p:cNvPr id="20" name="text_677"/>
          <p:cNvSpPr txBox="1"/>
          <p:nvPr/>
        </p:nvSpPr>
        <p:spPr>
          <a:xfrm>
            <a:off x="749808" y="4105656"/>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21" name="text_678"/>
          <p:cNvSpPr txBox="1"/>
          <p:nvPr/>
        </p:nvSpPr>
        <p:spPr>
          <a:xfrm>
            <a:off x="1417320" y="3995928"/>
            <a:ext cx="3931920" cy="329184"/>
          </a:xfrm>
          <a:prstGeom prst="rect">
            <a:avLst/>
          </a:prstGeom>
          <a:noFill/>
          <a:ln/>
        </p:spPr>
        <p:txBody>
          <a:bodyPr wrap="square" lIns="0" tIns="0" rIns="0" bIns="0" rtlCol="0" anchor="t"/>
          <a:lstStyle/>
          <a:p>
            <a:pPr indent="0" marL="0">
              <a:buNone/>
            </a:pPr>
            <a:r>
              <a:rPr lang="en-US" sz="1600" b="1" dirty="0">
                <a:solidFill>
                  <a:schemeClr val="bg1"/>
                </a:solidFill>
              </a:rPr>
              <a:t>Deploy a public demo</a:t>
            </a:r>
            <a:endParaRPr lang="en-US" sz="1600" dirty="0"/>
          </a:p>
        </p:txBody>
      </p:sp>
      <p:sp>
        <p:nvSpPr>
          <p:cNvPr id="22" name="text_679"/>
          <p:cNvSpPr txBox="1"/>
          <p:nvPr/>
        </p:nvSpPr>
        <p:spPr>
          <a:xfrm>
            <a:off x="1417320" y="4343400"/>
            <a:ext cx="4114800" cy="384048"/>
          </a:xfrm>
          <a:prstGeom prst="rect">
            <a:avLst/>
          </a:prstGeom>
          <a:noFill/>
          <a:ln/>
        </p:spPr>
        <p:txBody>
          <a:bodyPr wrap="square" lIns="0" tIns="0" rIns="0" bIns="0" rtlCol="0" anchor="t"/>
          <a:lstStyle/>
          <a:p>
            <a:pPr indent="0" marL="0">
              <a:buNone/>
            </a:pPr>
            <a:r>
              <a:rPr lang="en-US" sz="1200" dirty="0">
                <a:solidFill>
                  <a:schemeClr val="bg2"/>
                </a:solidFill>
              </a:rPr>
              <a:t>Streamlit Community Cloud from GitHub → shareable link</a:t>
            </a:r>
            <a:endParaRPr lang="en-US" sz="1200" dirty="0"/>
          </a:p>
        </p:txBody>
      </p:sp>
      <p:sp>
        <p:nvSpPr>
          <p:cNvPr id="23" name="pill_680"/>
          <p:cNvSpPr/>
          <p:nvPr/>
        </p:nvSpPr>
        <p:spPr>
          <a:xfrm>
            <a:off x="5486400" y="4169664"/>
            <a:ext cx="1005840" cy="310896"/>
          </a:xfrm>
          <a:prstGeom prst="roundRect">
            <a:avLst>
              <a:gd name="adj" fmla="val 50000"/>
            </a:avLst>
          </a:prstGeom>
          <a:solidFill>
            <a:schemeClr val="accent1">
              <a:alpha val="22000"/>
            </a:schemeClr>
          </a:solidFill>
          <a:ln/>
        </p:spPr>
      </p:sp>
      <p:sp>
        <p:nvSpPr>
          <p:cNvPr id="24" name="text_681"/>
          <p:cNvSpPr txBox="1"/>
          <p:nvPr/>
        </p:nvSpPr>
        <p:spPr>
          <a:xfrm>
            <a:off x="5486400" y="4169664"/>
            <a:ext cx="1005840" cy="310896"/>
          </a:xfrm>
          <a:prstGeom prst="rect">
            <a:avLst/>
          </a:prstGeom>
          <a:noFill/>
          <a:ln/>
        </p:spPr>
        <p:txBody>
          <a:bodyPr wrap="square" lIns="0" tIns="0" rIns="0" bIns="0" rtlCol="0" anchor="ctr"/>
          <a:lstStyle/>
          <a:p>
            <a:pPr algn="ctr" indent="0" marL="0">
              <a:buNone/>
            </a:pPr>
            <a:r>
              <a:rPr lang="en-US" sz="1050" b="1" spc="100" kern="0" dirty="0">
                <a:solidFill>
                  <a:schemeClr val="accent1"/>
                </a:solidFill>
              </a:rPr>
              <a:t>NEXT</a:t>
            </a:r>
            <a:endParaRPr lang="en-US" sz="1050" dirty="0"/>
          </a:p>
        </p:txBody>
      </p:sp>
      <p:sp>
        <p:nvSpPr>
          <p:cNvPr id="25" name="next_step_682"/>
          <p:cNvSpPr/>
          <p:nvPr/>
        </p:nvSpPr>
        <p:spPr>
          <a:xfrm>
            <a:off x="548640" y="4992624"/>
            <a:ext cx="6126480" cy="1005840"/>
          </a:xfrm>
          <a:prstGeom prst="roundRect">
            <a:avLst>
              <a:gd name="adj" fmla="val 10909"/>
            </a:avLst>
          </a:prstGeom>
          <a:solidFill>
            <a:schemeClr val="tx2"/>
          </a:solidFill>
          <a:ln w="9525">
            <a:solidFill>
              <a:srgbClr val="2B3470"/>
            </a:solidFill>
            <a:prstDash val="solid"/>
          </a:ln>
        </p:spPr>
      </p:sp>
      <p:sp>
        <p:nvSpPr>
          <p:cNvPr id="26" name="num_683"/>
          <p:cNvSpPr/>
          <p:nvPr/>
        </p:nvSpPr>
        <p:spPr>
          <a:xfrm>
            <a:off x="749808" y="5266944"/>
            <a:ext cx="457200" cy="457200"/>
          </a:xfrm>
          <a:prstGeom prst="ellipse">
            <a:avLst/>
          </a:prstGeom>
          <a:solidFill>
            <a:schemeClr val="accent4"/>
          </a:solidFill>
          <a:ln/>
        </p:spPr>
      </p:sp>
      <p:sp>
        <p:nvSpPr>
          <p:cNvPr id="27" name="text_684"/>
          <p:cNvSpPr txBox="1"/>
          <p:nvPr/>
        </p:nvSpPr>
        <p:spPr>
          <a:xfrm>
            <a:off x="749808" y="5266944"/>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4</a:t>
            </a:r>
            <a:endParaRPr lang="en-US" sz="1500" dirty="0"/>
          </a:p>
        </p:txBody>
      </p:sp>
      <p:sp>
        <p:nvSpPr>
          <p:cNvPr id="28" name="text_685"/>
          <p:cNvSpPr txBox="1"/>
          <p:nvPr/>
        </p:nvSpPr>
        <p:spPr>
          <a:xfrm>
            <a:off x="1417320" y="5157216"/>
            <a:ext cx="3931920" cy="329184"/>
          </a:xfrm>
          <a:prstGeom prst="rect">
            <a:avLst/>
          </a:prstGeom>
          <a:noFill/>
          <a:ln/>
        </p:spPr>
        <p:txBody>
          <a:bodyPr wrap="square" lIns="0" tIns="0" rIns="0" bIns="0" rtlCol="0" anchor="t"/>
          <a:lstStyle/>
          <a:p>
            <a:pPr indent="0" marL="0">
              <a:buNone/>
            </a:pPr>
            <a:r>
              <a:rPr lang="en-US" sz="1600" b="1" dirty="0">
                <a:solidFill>
                  <a:schemeClr val="bg1"/>
                </a:solidFill>
              </a:rPr>
              <a:t>Extend reminders</a:t>
            </a:r>
            <a:endParaRPr lang="en-US" sz="1600" dirty="0"/>
          </a:p>
        </p:txBody>
      </p:sp>
      <p:sp>
        <p:nvSpPr>
          <p:cNvPr id="29" name="text_686"/>
          <p:cNvSpPr txBox="1"/>
          <p:nvPr/>
        </p:nvSpPr>
        <p:spPr>
          <a:xfrm>
            <a:off x="1417320" y="5504688"/>
            <a:ext cx="4114800" cy="384048"/>
          </a:xfrm>
          <a:prstGeom prst="rect">
            <a:avLst/>
          </a:prstGeom>
          <a:noFill/>
          <a:ln/>
        </p:spPr>
        <p:txBody>
          <a:bodyPr wrap="square" lIns="0" tIns="0" rIns="0" bIns="0" rtlCol="0" anchor="t"/>
          <a:lstStyle/>
          <a:p>
            <a:pPr indent="0" marL="0">
              <a:buNone/>
            </a:pPr>
            <a:r>
              <a:rPr lang="en-US" sz="1200" dirty="0">
                <a:solidFill>
                  <a:schemeClr val="bg2"/>
                </a:solidFill>
              </a:rPr>
              <a:t>Email / WhatsApp alerts for deadlines within 7 days</a:t>
            </a:r>
            <a:endParaRPr lang="en-US" sz="1200" dirty="0"/>
          </a:p>
        </p:txBody>
      </p:sp>
      <p:sp>
        <p:nvSpPr>
          <p:cNvPr id="30" name="pill_687"/>
          <p:cNvSpPr/>
          <p:nvPr/>
        </p:nvSpPr>
        <p:spPr>
          <a:xfrm>
            <a:off x="5486400" y="5330952"/>
            <a:ext cx="1005840" cy="310896"/>
          </a:xfrm>
          <a:prstGeom prst="roundRect">
            <a:avLst>
              <a:gd name="adj" fmla="val 50000"/>
            </a:avLst>
          </a:prstGeom>
          <a:solidFill>
            <a:schemeClr val="accent4">
              <a:alpha val="22000"/>
            </a:schemeClr>
          </a:solidFill>
          <a:ln/>
        </p:spPr>
      </p:sp>
      <p:sp>
        <p:nvSpPr>
          <p:cNvPr id="31" name="text_688"/>
          <p:cNvSpPr txBox="1"/>
          <p:nvPr/>
        </p:nvSpPr>
        <p:spPr>
          <a:xfrm>
            <a:off x="5486400" y="5330952"/>
            <a:ext cx="1005840" cy="310896"/>
          </a:xfrm>
          <a:prstGeom prst="rect">
            <a:avLst/>
          </a:prstGeom>
          <a:noFill/>
          <a:ln/>
        </p:spPr>
        <p:txBody>
          <a:bodyPr wrap="square" lIns="0" tIns="0" rIns="0" bIns="0" rtlCol="0" anchor="ctr"/>
          <a:lstStyle/>
          <a:p>
            <a:pPr algn="ctr" indent="0" marL="0">
              <a:buNone/>
            </a:pPr>
            <a:r>
              <a:rPr lang="en-US" sz="1050" b="1" spc="100" kern="0" dirty="0">
                <a:solidFill>
                  <a:schemeClr val="accent4"/>
                </a:solidFill>
              </a:rPr>
              <a:t>LATER</a:t>
            </a:r>
            <a:endParaRPr lang="en-US" sz="1050" dirty="0"/>
          </a:p>
        </p:txBody>
      </p:sp>
      <p:sp>
        <p:nvSpPr>
          <p:cNvPr id="32" name="terminal_689"/>
          <p:cNvSpPr/>
          <p:nvPr/>
        </p:nvSpPr>
        <p:spPr>
          <a:xfrm>
            <a:off x="6949440" y="1508760"/>
            <a:ext cx="4663440" cy="3017520"/>
          </a:xfrm>
          <a:prstGeom prst="roundRect">
            <a:avLst>
              <a:gd name="adj" fmla="val 3636"/>
            </a:avLst>
          </a:prstGeom>
          <a:solidFill>
            <a:srgbClr val="05081A"/>
          </a:solidFill>
          <a:ln w="9525">
            <a:solidFill>
              <a:srgbClr val="2B3470"/>
            </a:solidFill>
            <a:prstDash val="solid"/>
          </a:ln>
        </p:spPr>
      </p:sp>
      <p:sp>
        <p:nvSpPr>
          <p:cNvPr id="33" name="dot_690"/>
          <p:cNvSpPr/>
          <p:nvPr/>
        </p:nvSpPr>
        <p:spPr>
          <a:xfrm>
            <a:off x="7150608" y="1673352"/>
            <a:ext cx="118872" cy="118872"/>
          </a:xfrm>
          <a:prstGeom prst="ellipse">
            <a:avLst/>
          </a:prstGeom>
          <a:solidFill>
            <a:srgbClr val="FF5F57"/>
          </a:solidFill>
          <a:ln/>
        </p:spPr>
      </p:sp>
      <p:sp>
        <p:nvSpPr>
          <p:cNvPr id="34" name="dot_691"/>
          <p:cNvSpPr/>
          <p:nvPr/>
        </p:nvSpPr>
        <p:spPr>
          <a:xfrm>
            <a:off x="7351776" y="1673352"/>
            <a:ext cx="118872" cy="118872"/>
          </a:xfrm>
          <a:prstGeom prst="ellipse">
            <a:avLst/>
          </a:prstGeom>
          <a:solidFill>
            <a:srgbClr val="FEBC2E"/>
          </a:solidFill>
          <a:ln/>
        </p:spPr>
      </p:sp>
      <p:sp>
        <p:nvSpPr>
          <p:cNvPr id="35" name="dot_692"/>
          <p:cNvSpPr/>
          <p:nvPr/>
        </p:nvSpPr>
        <p:spPr>
          <a:xfrm>
            <a:off x="7552944" y="1673352"/>
            <a:ext cx="118872" cy="118872"/>
          </a:xfrm>
          <a:prstGeom prst="ellipse">
            <a:avLst/>
          </a:prstGeom>
          <a:solidFill>
            <a:srgbClr val="28C840"/>
          </a:solidFill>
          <a:ln/>
        </p:spPr>
      </p:sp>
      <p:sp>
        <p:nvSpPr>
          <p:cNvPr id="36" name="text_693"/>
          <p:cNvSpPr txBox="1"/>
          <p:nvPr/>
        </p:nvSpPr>
        <p:spPr>
          <a:xfrm>
            <a:off x="7818120" y="1591056"/>
            <a:ext cx="2743200" cy="274320"/>
          </a:xfrm>
          <a:prstGeom prst="rect">
            <a:avLst/>
          </a:prstGeom>
          <a:noFill/>
          <a:ln/>
        </p:spPr>
        <p:txBody>
          <a:bodyPr wrap="square" lIns="0" tIns="0" rIns="0" bIns="0" rtlCol="0" anchor="ctr"/>
          <a:lstStyle/>
          <a:p>
            <a:pPr indent="0" marL="0">
              <a:buNone/>
            </a:pPr>
            <a:r>
              <a:rPr lang="en-US" sz="1200" b="1" dirty="0">
                <a:solidFill>
                  <a:schemeClr val="bg2"/>
                </a:solidFill>
              </a:rPr>
              <a:t>Run it locally</a:t>
            </a:r>
            <a:endParaRPr lang="en-US" sz="1200" dirty="0"/>
          </a:p>
        </p:txBody>
      </p:sp>
      <p:sp>
        <p:nvSpPr>
          <p:cNvPr id="37" name="text_694"/>
          <p:cNvSpPr txBox="1"/>
          <p:nvPr/>
        </p:nvSpPr>
        <p:spPr>
          <a:xfrm>
            <a:off x="7178040" y="2103120"/>
            <a:ext cx="4297680" cy="2286000"/>
          </a:xfrm>
          <a:prstGeom prst="rect">
            <a:avLst/>
          </a:prstGeom>
          <a:noFill/>
          <a:ln/>
        </p:spPr>
        <p:txBody>
          <a:bodyPr wrap="square" lIns="0" tIns="0" rIns="0" bIns="0" rtlCol="0" anchor="t"/>
          <a:lstStyle/>
          <a:p>
            <a:pPr indent="0" marL="0">
              <a:lnSpc>
                <a:spcPct val="115000"/>
              </a:lnSpc>
              <a:buNone/>
            </a:pPr>
            <a:r>
              <a:rPr lang="en-US" sz="1350" dirty="0">
                <a:solidFill>
                  <a:srgbClr val="4ADE80"/>
                </a:solidFill>
                <a:latin typeface="Courier New" pitchFamily="34" charset="0"/>
                <a:ea typeface="Courier New" pitchFamily="34" charset="-122"/>
                <a:cs typeface="Courier New" pitchFamily="34" charset="-120"/>
              </a:rPr>
              <a:t>$ </a:t>
            </a:r>
            <a:pPr indent="0" marL="0">
              <a:lnSpc>
                <a:spcPct val="115000"/>
              </a:lnSpc>
              <a:buNone/>
            </a:pPr>
            <a:r>
              <a:rPr lang="en-US" sz="1350" dirty="0">
                <a:solidFill>
                  <a:srgbClr val="E2E5FA"/>
                </a:solidFill>
                <a:latin typeface="Courier New" pitchFamily="34" charset="0"/>
                <a:ea typeface="Courier New" pitchFamily="34" charset="-122"/>
                <a:cs typeface="Courier New" pitchFamily="34" charset="-120"/>
              </a:rPr>
              <a:t>pip install -r requirements.txt</a:t>
            </a:r>
            <a:endParaRPr lang="en-US" sz="1350" dirty="0"/>
          </a:p>
          <a:p>
            <a:pPr indent="0" marL="0">
              <a:lnSpc>
                <a:spcPct val="115000"/>
              </a:lnSpc>
              <a:buNone/>
            </a:pPr>
            <a:r>
              <a:rPr lang="en-US" sz="1350" dirty="0">
                <a:solidFill>
                  <a:srgbClr val="4ADE80"/>
                </a:solidFill>
                <a:latin typeface="Courier New" pitchFamily="34" charset="0"/>
                <a:ea typeface="Courier New" pitchFamily="34" charset="-122"/>
                <a:cs typeface="Courier New" pitchFamily="34" charset="-120"/>
              </a:rPr>
              <a:t>$ </a:t>
            </a:r>
            <a:pPr indent="0" marL="0">
              <a:lnSpc>
                <a:spcPct val="115000"/>
              </a:lnSpc>
              <a:buNone/>
            </a:pPr>
            <a:r>
              <a:rPr lang="en-US" sz="1350" dirty="0">
                <a:solidFill>
                  <a:srgbClr val="E2E5FA"/>
                </a:solidFill>
                <a:latin typeface="Courier New" pitchFamily="34" charset="0"/>
                <a:ea typeface="Courier New" pitchFamily="34" charset="-122"/>
                <a:cs typeface="Courier New" pitchFamily="34" charset="-120"/>
              </a:rPr>
              <a:t>streamlit run app.py</a:t>
            </a:r>
            <a:endParaRPr lang="en-US" sz="1350" dirty="0"/>
          </a:p>
          <a:p>
            <a:pPr indent="0" marL="0">
              <a:lnSpc>
                <a:spcPct val="115000"/>
              </a:lnSpc>
              <a:buNone/>
            </a:pPr>
            <a:r>
              <a:rPr lang="en-US" sz="1350" dirty="0">
                <a:solidFill>
                  <a:srgbClr val="8B93B8"/>
                </a:solidFill>
                <a:latin typeface="Courier New" pitchFamily="34" charset="0"/>
                <a:ea typeface="Courier New" pitchFamily="34" charset="-122"/>
                <a:cs typeface="Courier New" pitchFamily="34" charset="-120"/>
              </a:rPr>
              <a:t>  Local URL: http://localhost:8501</a:t>
            </a:r>
            <a:endParaRPr lang="en-US" sz="1350" dirty="0"/>
          </a:p>
          <a:p>
            <a:pPr indent="0" marL="0">
              <a:lnSpc>
                <a:spcPct val="115000"/>
              </a:lnSpc>
              <a:buNone/>
            </a:pPr>
            <a:r>
              <a:rPr lang="en-US" sz="1350" dirty="0">
                <a:solidFill>
                  <a:schemeClr val="bg1"/>
                </a:solidFill>
                <a:latin typeface="Courier New" pitchFamily="34" charset="0"/>
                <a:ea typeface="Courier New" pitchFamily="34" charset="-122"/>
                <a:cs typeface="Courier New" pitchFamily="34" charset="-120"/>
              </a:rPr>
              <a:t> </a:t>
            </a:r>
            <a:endParaRPr lang="en-US" sz="1350" dirty="0"/>
          </a:p>
          <a:p>
            <a:pPr indent="0" marL="0">
              <a:lnSpc>
                <a:spcPct val="115000"/>
              </a:lnSpc>
              <a:buNone/>
            </a:pPr>
            <a:r>
              <a:rPr lang="en-US" sz="1350" dirty="0">
                <a:solidFill>
                  <a:srgbClr val="4ADE80"/>
                </a:solidFill>
                <a:latin typeface="Courier New" pitchFamily="34" charset="0"/>
                <a:ea typeface="Courier New" pitchFamily="34" charset="-122"/>
                <a:cs typeface="Courier New" pitchFamily="34" charset="-120"/>
              </a:rPr>
              <a:t>$ </a:t>
            </a:r>
            <a:pPr indent="0" marL="0">
              <a:lnSpc>
                <a:spcPct val="115000"/>
              </a:lnSpc>
              <a:buNone/>
            </a:pPr>
            <a:r>
              <a:rPr lang="en-US" sz="1350" dirty="0">
                <a:solidFill>
                  <a:srgbClr val="E2E5FA"/>
                </a:solidFill>
                <a:latin typeface="Courier New" pitchFamily="34" charset="0"/>
                <a:ea typeface="Courier New" pitchFamily="34" charset="-122"/>
                <a:cs typeface="Courier New" pitchFamily="34" charset="-120"/>
              </a:rPr>
              <a:t>python -m pytest -q tests</a:t>
            </a:r>
            <a:endParaRPr lang="en-US" sz="1350" dirty="0"/>
          </a:p>
          <a:p>
            <a:pPr indent="0" marL="0">
              <a:lnSpc>
                <a:spcPct val="115000"/>
              </a:lnSpc>
              <a:buNone/>
            </a:pPr>
            <a:r>
              <a:rPr lang="en-US" sz="1350" b="1" dirty="0">
                <a:solidFill>
                  <a:srgbClr val="4ADE80"/>
                </a:solidFill>
                <a:latin typeface="Courier New" pitchFamily="34" charset="0"/>
                <a:ea typeface="Courier New" pitchFamily="34" charset="-122"/>
                <a:cs typeface="Courier New" pitchFamily="34" charset="-120"/>
              </a:rPr>
              <a:t>  28 passed</a:t>
            </a:r>
            <a:endParaRPr lang="en-US" sz="1350" dirty="0"/>
          </a:p>
        </p:txBody>
      </p:sp>
      <p:sp>
        <p:nvSpPr>
          <p:cNvPr id="38" name="hosting_note_695"/>
          <p:cNvSpPr/>
          <p:nvPr/>
        </p:nvSpPr>
        <p:spPr>
          <a:xfrm>
            <a:off x="6949440" y="4709160"/>
            <a:ext cx="4663440" cy="1417320"/>
          </a:xfrm>
          <a:prstGeom prst="roundRect">
            <a:avLst>
              <a:gd name="adj" fmla="val 7742"/>
            </a:avLst>
          </a:prstGeom>
          <a:solidFill>
            <a:schemeClr val="accent1">
              <a:alpha val="18000"/>
            </a:schemeClr>
          </a:solidFill>
          <a:ln w="9525">
            <a:solidFill>
              <a:schemeClr val="accent1"/>
            </a:solidFill>
            <a:prstDash val="solid"/>
          </a:ln>
        </p:spPr>
      </p:sp>
      <p:sp>
        <p:nvSpPr>
          <p:cNvPr id="39" name="icon_bg_696"/>
          <p:cNvSpPr/>
          <p:nvPr/>
        </p:nvSpPr>
        <p:spPr>
          <a:xfrm>
            <a:off x="7132320" y="4892040"/>
            <a:ext cx="475488" cy="475488"/>
          </a:xfrm>
          <a:prstGeom prst="roundRect">
            <a:avLst>
              <a:gd name="adj" fmla="val 24000"/>
            </a:avLst>
          </a:prstGeom>
          <a:solidFill>
            <a:schemeClr val="accent1">
              <a:alpha val="22000"/>
            </a:schemeClr>
          </a:solidFill>
          <a:ln/>
        </p:spPr>
      </p:sp>
      <p:pic>
        <p:nvPicPr>
          <p:cNvPr id="40" name="icon_697" descr="/tmp/claude-0/-home-claude/584731ee-e493-5c78-a637-0b254e057472/scratchpad/deck/img/i_cloud.png">    </p:cNvPr>
          <p:cNvPicPr>
            <a:picLocks noChangeAspect="1"/>
          </p:cNvPicPr>
          <p:nvPr/>
        </p:nvPicPr>
        <p:blipFill>
          <a:blip r:embed="rId1"/>
          <a:stretch>
            <a:fillRect/>
          </a:stretch>
        </p:blipFill>
        <p:spPr>
          <a:xfrm>
            <a:off x="7246437" y="5006157"/>
            <a:ext cx="247254" cy="247254"/>
          </a:xfrm>
          <a:prstGeom prst="rect">
            <a:avLst/>
          </a:prstGeom>
        </p:spPr>
      </p:pic>
      <p:sp>
        <p:nvSpPr>
          <p:cNvPr id="41" name="text_698"/>
          <p:cNvSpPr txBox="1"/>
          <p:nvPr/>
        </p:nvSpPr>
        <p:spPr>
          <a:xfrm>
            <a:off x="7754112" y="4919472"/>
            <a:ext cx="3566160" cy="292608"/>
          </a:xfrm>
          <a:prstGeom prst="rect">
            <a:avLst/>
          </a:prstGeom>
          <a:noFill/>
          <a:ln/>
        </p:spPr>
        <p:txBody>
          <a:bodyPr wrap="square" lIns="0" tIns="0" rIns="0" bIns="0" rtlCol="0" anchor="t"/>
          <a:lstStyle/>
          <a:p>
            <a:pPr indent="0" marL="0">
              <a:buNone/>
            </a:pPr>
            <a:r>
              <a:rPr lang="en-US" sz="1500" b="1" dirty="0">
                <a:solidFill>
                  <a:schemeClr val="bg1"/>
                </a:solidFill>
              </a:rPr>
              <a:t>Hosting</a:t>
            </a:r>
            <a:endParaRPr lang="en-US" sz="1500" dirty="0"/>
          </a:p>
        </p:txBody>
      </p:sp>
      <p:sp>
        <p:nvSpPr>
          <p:cNvPr id="42" name="text_699"/>
          <p:cNvSpPr txBox="1"/>
          <p:nvPr/>
        </p:nvSpPr>
        <p:spPr>
          <a:xfrm>
            <a:off x="7132320" y="5440680"/>
            <a:ext cx="4343400" cy="640080"/>
          </a:xfrm>
          <a:prstGeom prst="rect">
            <a:avLst/>
          </a:prstGeom>
          <a:noFill/>
          <a:ln/>
        </p:spPr>
        <p:txBody>
          <a:bodyPr wrap="square" lIns="0" tIns="0" rIns="0" bIns="0" rtlCol="0" anchor="t"/>
          <a:lstStyle/>
          <a:p>
            <a:pPr indent="0" marL="0">
              <a:buNone/>
            </a:pPr>
            <a:r>
              <a:rPr lang="en-US" sz="1200" dirty="0">
                <a:solidFill>
                  <a:srgbClr val="DDE0F5"/>
                </a:solidFill>
              </a:rPr>
              <a:t>One Streamlit app, no separate frontend server: local on :8501 today, Streamlit Community Cloud next.</a:t>
            </a:r>
            <a:endParaRPr lang="en-US" sz="1200" dirty="0"/>
          </a:p>
        </p:txBody>
      </p:sp>
      <p:sp>
        <p:nvSpPr>
          <p:cNvPr id="25" name="Slide Number Placeholder 0"/>
          <p:cNvSpPr>
            <a:spLocks noGrp="1"/>
          </p:cNvSpPr>
          <p:nvPr>
            <p:ph type="sldNum" sz="quarter" idx="4294967295"/>
          </p:nvPr>
        </p:nvSpPr>
        <p:spPr>
          <a:xfrm>
            <a:off x="11109960" y="6355080"/>
            <a:ext cx="530352"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bg2"/>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mountain" descr="/tmp/claude-0/-home-claude/584731ee-e493-5c78-a637-0b254e057472/scratchpad/deck/img/mountain.png">    </p:cNvPr>
          <p:cNvPicPr>
            <a:picLocks noChangeAspect="1"/>
          </p:cNvPicPr>
          <p:nvPr/>
        </p:nvPicPr>
        <p:blipFill>
          <a:blip r:embed="rId1"/>
          <a:stretch>
            <a:fillRect/>
          </a:stretch>
        </p:blipFill>
        <p:spPr>
          <a:xfrm>
            <a:off x="0" y="4023360"/>
            <a:ext cx="12191695" cy="2834640"/>
          </a:xfrm>
          <a:prstGeom prst="rect">
            <a:avLst/>
          </a:prstGeom>
        </p:spPr>
      </p:pic>
      <p:pic>
        <p:nvPicPr>
          <p:cNvPr id="3" name="logo" descr="/tmp/claude-0/-home-claude/584731ee-e493-5c78-a637-0b254e057472/scratchpad/deck/img/logo.png">    </p:cNvPr>
          <p:cNvPicPr>
            <a:picLocks noChangeAspect="1"/>
          </p:cNvPicPr>
          <p:nvPr/>
        </p:nvPicPr>
        <p:blipFill>
          <a:blip r:embed="rId2"/>
          <a:stretch>
            <a:fillRect/>
          </a:stretch>
        </p:blipFill>
        <p:spPr>
          <a:xfrm>
            <a:off x="640080" y="822960"/>
            <a:ext cx="1005840" cy="1005840"/>
          </a:xfrm>
          <a:prstGeom prst="rect">
            <a:avLst/>
          </a:prstGeom>
        </p:spPr>
      </p:pic>
      <p:sp>
        <p:nvSpPr>
          <p:cNvPr id="4" name="text_700"/>
          <p:cNvSpPr txBox="1"/>
          <p:nvPr/>
        </p:nvSpPr>
        <p:spPr>
          <a:xfrm>
            <a:off x="640080" y="2011680"/>
            <a:ext cx="7315200" cy="1097280"/>
          </a:xfrm>
          <a:prstGeom prst="rect">
            <a:avLst/>
          </a:prstGeom>
          <a:noFill/>
          <a:ln/>
        </p:spPr>
        <p:txBody>
          <a:bodyPr wrap="square" lIns="0" tIns="0" rIns="0" bIns="0" rtlCol="0" anchor="t"/>
          <a:lstStyle/>
          <a:p>
            <a:pPr indent="0" marL="0">
              <a:buNone/>
            </a:pPr>
            <a:r>
              <a:rPr lang="en-US" sz="6600" b="1" dirty="0">
                <a:solidFill>
                  <a:schemeClr val="bg1"/>
                </a:solidFill>
              </a:rPr>
              <a:t>Thank you</a:t>
            </a:r>
            <a:endParaRPr lang="en-US" sz="6600" dirty="0"/>
          </a:p>
        </p:txBody>
      </p:sp>
      <p:sp>
        <p:nvSpPr>
          <p:cNvPr id="5" name="text_701"/>
          <p:cNvSpPr txBox="1"/>
          <p:nvPr/>
        </p:nvSpPr>
        <p:spPr>
          <a:xfrm>
            <a:off x="640080" y="3108960"/>
            <a:ext cx="7315200" cy="457200"/>
          </a:xfrm>
          <a:prstGeom prst="rect">
            <a:avLst/>
          </a:prstGeom>
          <a:noFill/>
          <a:ln/>
        </p:spPr>
        <p:txBody>
          <a:bodyPr wrap="square" lIns="0" tIns="0" rIns="0" bIns="0" rtlCol="0" anchor="t"/>
          <a:lstStyle/>
          <a:p>
            <a:pPr indent="0" marL="0">
              <a:buNone/>
            </a:pPr>
            <a:r>
              <a:rPr lang="en-US" sz="2000" dirty="0">
                <a:solidFill>
                  <a:schemeClr val="bg2"/>
                </a:solidFill>
              </a:rPr>
              <a:t>Questions, feedback, and approval to upload</a:t>
            </a:r>
            <a:endParaRPr lang="en-US" sz="2000" dirty="0"/>
          </a:p>
        </p:txBody>
      </p:sp>
      <p:sp>
        <p:nvSpPr>
          <p:cNvPr id="6" name="text_702"/>
          <p:cNvSpPr txBox="1"/>
          <p:nvPr/>
        </p:nvSpPr>
        <p:spPr>
          <a:xfrm>
            <a:off x="640080" y="3840480"/>
            <a:ext cx="5486400" cy="411480"/>
          </a:xfrm>
          <a:prstGeom prst="rect">
            <a:avLst/>
          </a:prstGeom>
          <a:noFill/>
          <a:ln/>
        </p:spPr>
        <p:txBody>
          <a:bodyPr wrap="square" lIns="0" tIns="0" rIns="0" bIns="0" rtlCol="0" anchor="t"/>
          <a:lstStyle/>
          <a:p>
            <a:pPr indent="0" marL="0">
              <a:buNone/>
            </a:pPr>
            <a:r>
              <a:rPr lang="en-US" sz="1800" b="1" i="1" dirty="0">
                <a:solidFill>
                  <a:schemeClr val="accent2"/>
                </a:solidFill>
              </a:rPr>
              <a:t>Less chaos. More life.</a:t>
            </a:r>
            <a:endParaRPr lang="en-US" sz="1800" dirty="0"/>
          </a:p>
        </p:txBody>
      </p:sp>
      <p:sp>
        <p:nvSpPr>
          <p:cNvPr id="7" name="text_703"/>
          <p:cNvSpPr txBox="1"/>
          <p:nvPr/>
        </p:nvSpPr>
        <p:spPr>
          <a:xfrm>
            <a:off x="640080" y="6172200"/>
            <a:ext cx="5486400" cy="320040"/>
          </a:xfrm>
          <a:prstGeom prst="rect">
            <a:avLst/>
          </a:prstGeom>
          <a:noFill/>
          <a:ln/>
        </p:spPr>
        <p:txBody>
          <a:bodyPr wrap="square" lIns="0" tIns="0" rIns="0" bIns="0" rtlCol="0" anchor="t"/>
          <a:lstStyle/>
          <a:p>
            <a:pPr indent="0" marL="0">
              <a:buNone/>
            </a:pPr>
            <a:r>
              <a:rPr lang="en-US" sz="1300" dirty="0">
                <a:solidFill>
                  <a:srgbClr val="DDE0F5"/>
                </a:solidFill>
              </a:rPr>
              <a:t>A. Adityavardhan Reddy  ·  23MID0186</a:t>
            </a:r>
            <a:endParaRPr lang="en-US" sz="1300" dirty="0"/>
          </a:p>
        </p:txBody>
      </p:sp>
    </p:spTree>
  </p:cSld>
  <p:clrMapOvr>
    <a:masterClrMapping/>
  </p:clrMapOvr>
</p:sld>
</file>

<file path=ppt/theme/theme1.xml><?xml version="1.0" encoding="utf-8"?>
<a:theme xmlns:a="http://schemas.openxmlformats.org/drawingml/2006/main" name="LifeAdmin Night">
  <a:themeElements>
    <a:clrScheme name="LifeAdmin Night">
      <a:dk1>
        <a:srgbClr val="070B1F"/>
      </a:dk1>
      <a:lt1>
        <a:srgbClr val="FFFFFF"/>
      </a:lt1>
      <a:dk2>
        <a:srgbClr val="121A44"/>
      </a:dk2>
      <a:lt2>
        <a:srgbClr val="A3ABD1"/>
      </a:lt2>
      <a:accent1>
        <a:srgbClr val="5B5EF4"/>
      </a:accent1>
      <a:accent2>
        <a:srgbClr val="FF6B57"/>
      </a:accent2>
      <a:accent3>
        <a:srgbClr val="22C55E"/>
      </a:accent3>
      <a:accent4>
        <a:srgbClr val="F5A524"/>
      </a:accent4>
      <a:accent5>
        <a:srgbClr val="EF4444"/>
      </a:accent5>
      <a:accent6>
        <a:srgbClr val="14B8A6"/>
      </a:accent6>
      <a:hlink>
        <a:srgbClr val="8F94FF"/>
      </a:hlink>
      <a:folHlink>
        <a:srgbClr val="7C7FFA"/>
      </a:folHlink>
    </a:clrScheme>
    <a:fontScheme name="LifeAdmin Night">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LifeAdmin — Project Review 2</dc:title>
  <dc:subject>Architecture, website roadmap and code</dc:subject>
  <dc:creator>A. Adityavardhan Reddy</dc:creator>
  <cp:lastModifiedBy>A. Adityavardhan Reddy</cp:lastModifiedBy>
  <cp:revision>1</cp:revision>
  <dcterms:created xsi:type="dcterms:W3CDTF">2026-10-14T18:05:41Z</dcterms:created>
  <dcterms:modified xsi:type="dcterms:W3CDTF">2026-10-14T18:05:41Z</dcterms:modified>
</cp:coreProperties>
</file>