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06041007-a18d-ef00-9c61-c652de2adf2e}">
          <p14:sldIdLst>
            <p14:sldId id="256"/>
            <p14:sldId id="257"/>
            <p14:sldId id="258"/>
          </p14:sldIdLst>
        </p14:section>
        <p14:section name="Technical" id="{5d0e318d-11df-8a4e-85cc-d14b3346448e}">
          <p14:sldIdLst>
            <p14:sldId id="259"/>
            <p14:sldId id="260"/>
            <p14:sldId id="261"/>
            <p14:sldId id="262"/>
            <p14:sldId id="263"/>
          </p14:sldIdLst>
        </p14:section>
        <p14:section name="Demo &amp; roadmap" id="{248ed558-948c-49d8-1956-a521fefdead4}">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LifeAdmin is a Python web app. You upload a document such as an ID, insurance policy, PUC, bill or warranty; it reads the file, pulls out the expiry date and other details, stores them, and warns you before anything expires. Today: what it does, the tech used, the architecture, the files, the screens and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line: upload, extract, store, remind. The user never types a date by hand; the app reads it from the document. It handles seven kinds of personal documents, and everything stays on the user's own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The two that matter most are automatic extraction and smart reminders: the regular expressions pull out the expiry date, and the reminder rules turn that date into Active, Expiring, Critical or Expired. The review form lets the user correct anything before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which API was used: there is no third-party web API. The app calls the APIs of open-source Python libraries. Streamlit for the web interface, SQLite for storage, pypdf, python-docx and openpyxl to read files, regular expressions to find the fields, Pandas and Plotly for tables and charts. Because nothing calls the internet, it is free to run and the user's personal documents never leave their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The user works in the browser; the Streamlit frontend sends the uploaded file to the backend engine, pipeline.py, which runs five modules in order: read the text, detect the type, find the fields, set the status, score the health. The result is saved in SQLite. Every screen then reads from SQLite to show the dashboard, reminders and exports. Frontend and backend are Python modules in one app, so no separate API server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run on one of the sample PDFs. On the left is the raw text pypdf reads. The classifier decides it's an insurance document with 90 percent confidence, the regular expressions pull out each field, and the reminder rules mark it Critical because it expires within seven days. The user sees these values pre-filled in a form and can correct them before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data is in one SQLite file. documents holds every extracted field. reminders stores which deadlines the user marked as completed and is linked to documents with a foreign key, so deleting a document removes its reminders. users holds the profile name, and activity_logs records every add, edit, delete and completion.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three files: app.py with the four screens, style.py with the visual design, and config.toml with theme settings. The backend is ten modules in the lifeadmin package; pipeline.py calls the others in order. All of them are in the source zip ready to upload after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if possible: upload a sample PDF, show the pre-filled fields, save it, and show it on the dashboard and the reminders calendar. The fourth screen, Documents, lets the user search, edit and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one and two are done; today is Review 2. After approval: upload the source files, push to GitHub and share a live demo link. Later: email or WhatsApp alerts and multi-user login. Thank the panel and ask for questions and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A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A_DIVIDER-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LA_CONTENT-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LA_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A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94560"/>
            <a:ext cx="5669280" cy="1600200"/>
          </a:xfrm>
          <a:prstGeom prst="rect">
            <a:avLst/>
          </a:prstGeom>
          <a:noFill/>
          <a:ln/>
        </p:spPr>
        <p:txBody>
          <a:bodyPr wrap="square" rtlCol="0"/>
          <a:lstStyle>
            <a:lvl1pPr algn="l" indent="0" marL="0">
              <a:buNone/>
              <a:defRPr lang="en-US" sz="40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A_DIVI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788920"/>
            <a:ext cx="6949440" cy="9144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3794760"/>
            <a:ext cx="640080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A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pic>
        <p:nvPicPr>
          <p:cNvPr id="4" name="Image 0" descr="/tmp/claude-0/-home-claude/584731ee-e493-5c78-a637-0b254e057472/scratchpad/deck/img/logo.png">    </p:cNvPr>
          <p:cNvPicPr>
            <a:picLocks noChangeAspect="1"/>
          </p:cNvPicPr>
          <p:nvPr/>
        </p:nvPicPr>
        <p:blipFill>
          <a:blip r:embed="rId1"/>
          <a:stretch>
            <a:fillRect/>
          </a:stretch>
        </p:blipFill>
        <p:spPr>
          <a:xfrm>
            <a:off x="548640" y="6373368"/>
            <a:ext cx="237744" cy="237744"/>
          </a:xfrm>
          <a:prstGeom prst="rect">
            <a:avLst/>
          </a:prstGeom>
        </p:spPr>
      </p:pic>
      <p:sp>
        <p:nvSpPr>
          <p:cNvPr id="5" name="Text 0"/>
          <p:cNvSpPr/>
          <p:nvPr/>
        </p:nvSpPr>
        <p:spPr>
          <a:xfrm>
            <a:off x="868680" y="6355080"/>
            <a:ext cx="3657600" cy="274320"/>
          </a:xfrm>
          <a:prstGeom prst="rect">
            <a:avLst/>
          </a:prstGeom>
          <a:noFill/>
          <a:ln/>
        </p:spPr>
        <p:txBody>
          <a:bodyPr wrap="square" lIns="0" tIns="0" rIns="0" bIns="0" rtlCol="0" anchor="ctr"/>
          <a:lstStyle/>
          <a:p>
            <a:pPr indent="0" marL="0">
              <a:buNone/>
            </a:pPr>
            <a:r>
              <a:rPr lang="en-US" sz="1000" dirty="0">
                <a:solidFill>
                  <a:schemeClr val="bg2"/>
                </a:solidFill>
              </a:rPr>
              <a:t>LifeAdmin  ·  Project Review 2</a:t>
            </a:r>
            <a:endParaRPr lang="en-US" sz="10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A_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2-2.png"/><Relationship Id="rId7" Type="http://schemas.openxmlformats.org/officeDocument/2006/relationships/image" Target="../media/image-2-7.png"/><Relationship Id="rId8" Type="http://schemas.openxmlformats.org/officeDocument/2006/relationships/slideLayout" Target="../slideLayouts/slideLayout4.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7-9.png"/><Relationship Id="rId10" Type="http://schemas.openxmlformats.org/officeDocument/2006/relationships/slideLayout" Target="../slideLayouts/slideLayout4.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tmp/claude-0/-home-claude/584731ee-e493-5c78-a637-0b254e057472/scratchpad/deck/img/logo.png">    </p:cNvPr>
          <p:cNvPicPr>
            <a:picLocks noChangeAspect="1"/>
          </p:cNvPicPr>
          <p:nvPr/>
        </p:nvPicPr>
        <p:blipFill>
          <a:blip r:embed="rId1"/>
          <a:stretch>
            <a:fillRect/>
          </a:stretch>
        </p:blipFill>
        <p:spPr>
          <a:xfrm>
            <a:off x="640080" y="658368"/>
            <a:ext cx="658368" cy="658368"/>
          </a:xfrm>
          <a:prstGeom prst="rect">
            <a:avLst/>
          </a:prstGeom>
        </p:spPr>
      </p:pic>
      <p:sp>
        <p:nvSpPr>
          <p:cNvPr id="3" name="text_1"/>
          <p:cNvSpPr txBox="1"/>
          <p:nvPr/>
        </p:nvSpPr>
        <p:spPr>
          <a:xfrm>
            <a:off x="1417320" y="713232"/>
            <a:ext cx="3200400" cy="548640"/>
          </a:xfrm>
          <a:prstGeom prst="rect">
            <a:avLst/>
          </a:prstGeom>
          <a:noFill/>
          <a:ln/>
        </p:spPr>
        <p:txBody>
          <a:bodyPr wrap="square" lIns="0" tIns="0" rIns="0" bIns="0" rtlCol="0" anchor="ctr"/>
          <a:lstStyle/>
          <a:p>
            <a:pPr indent="0" marL="0">
              <a:buNone/>
            </a:pPr>
            <a:r>
              <a:rPr lang="en-US" sz="2600" b="1" dirty="0">
                <a:solidFill>
                  <a:schemeClr val="bg1"/>
                </a:solidFill>
              </a:rPr>
              <a:t>LifeAdmin</a:t>
            </a:r>
            <a:endParaRPr lang="en-US" sz="2600" dirty="0"/>
          </a:p>
        </p:txBody>
      </p:sp>
      <p:sp>
        <p:nvSpPr>
          <p:cNvPr id="4" name="pill_2"/>
          <p:cNvSpPr/>
          <p:nvPr/>
        </p:nvSpPr>
        <p:spPr>
          <a:xfrm>
            <a:off x="640080" y="1664208"/>
            <a:ext cx="2240280" cy="365760"/>
          </a:xfrm>
          <a:prstGeom prst="roundRect">
            <a:avLst>
              <a:gd name="adj" fmla="val 50000"/>
            </a:avLst>
          </a:prstGeom>
          <a:solidFill>
            <a:schemeClr val="accent2">
              <a:alpha val="22000"/>
            </a:schemeClr>
          </a:solidFill>
          <a:ln/>
        </p:spPr>
      </p:sp>
      <p:sp>
        <p:nvSpPr>
          <p:cNvPr id="5" name="text_3"/>
          <p:cNvSpPr txBox="1"/>
          <p:nvPr/>
        </p:nvSpPr>
        <p:spPr>
          <a:xfrm>
            <a:off x="640080" y="1664208"/>
            <a:ext cx="2240280" cy="365760"/>
          </a:xfrm>
          <a:prstGeom prst="rect">
            <a:avLst/>
          </a:prstGeom>
          <a:noFill/>
          <a:ln/>
        </p:spPr>
        <p:txBody>
          <a:bodyPr wrap="square" lIns="0" tIns="0" rIns="0" bIns="0" rtlCol="0" anchor="ctr"/>
          <a:lstStyle/>
          <a:p>
            <a:pPr algn="ctr" indent="0" marL="0">
              <a:buNone/>
            </a:pPr>
            <a:r>
              <a:rPr lang="en-US" sz="1200" b="1" spc="200" kern="0" dirty="0">
                <a:solidFill>
                  <a:schemeClr val="accent2"/>
                </a:solidFill>
              </a:rPr>
              <a:t>PROJECT REVIEW 2</a:t>
            </a:r>
            <a:endParaRPr lang="en-US" sz="1200" dirty="0"/>
          </a:p>
        </p:txBody>
      </p:sp>
      <p:sp>
        <p:nvSpPr>
          <p:cNvPr id="6" name="Text 0"/>
          <p:cNvSpPr/>
          <p:nvPr>
            <p:ph idx="100" type="title" hasCustomPrompt="1"/>
          </p:nvPr>
        </p:nvSpPr>
        <p:spPr>
          <a:xfrm>
            <a:off x="640080" y="2194560"/>
            <a:ext cx="5669280" cy="1600200"/>
          </a:xfrm>
          <a:prstGeom prst="rect">
            <a:avLst/>
          </a:prstGeom>
          <a:noFill/>
          <a:ln/>
        </p:spPr>
        <p:txBody>
          <a:bodyPr wrap="square" lIns="0" tIns="0" rIns="0" bIns="0" rtlCol="0" anchor="t"/>
          <a:lstStyle/>
          <a:p>
            <a:pPr algn="l" indent="0" marL="0">
              <a:buNone/>
            </a:pPr>
            <a:r>
              <a:rPr lang="en-US" sz="4000" b="1" dirty="0">
                <a:solidFill>
                  <a:schemeClr val="bg1"/>
                </a:solidFill>
                <a:latin typeface="Calibri" pitchFamily="34" charset="0"/>
                <a:ea typeface="Calibri" pitchFamily="34" charset="-122"/>
                <a:cs typeface="Calibri" pitchFamily="34" charset="-120"/>
              </a:rPr>
              <a:t>Smart Personal Document &amp; Deadline Manager</a:t>
            </a:r>
            <a:endParaRPr lang="en-US" sz="4000" dirty="0"/>
          </a:p>
        </p:txBody>
      </p:sp>
      <p:sp>
        <p:nvSpPr>
          <p:cNvPr id="7" name="text_4"/>
          <p:cNvSpPr txBox="1"/>
          <p:nvPr/>
        </p:nvSpPr>
        <p:spPr>
          <a:xfrm>
            <a:off x="640080" y="3931920"/>
            <a:ext cx="5394960" cy="777240"/>
          </a:xfrm>
          <a:prstGeom prst="rect">
            <a:avLst/>
          </a:prstGeom>
          <a:noFill/>
          <a:ln/>
        </p:spPr>
        <p:txBody>
          <a:bodyPr wrap="square" lIns="0" tIns="0" rIns="0" bIns="0" rtlCol="0" anchor="t"/>
          <a:lstStyle/>
          <a:p>
            <a:pPr indent="0" marL="0">
              <a:buNone/>
            </a:pPr>
            <a:r>
              <a:rPr lang="en-US" sz="1600" dirty="0">
                <a:solidFill>
                  <a:schemeClr val="bg2"/>
                </a:solidFill>
              </a:rPr>
              <a:t>A Python web app that reads your documents, finds the expiry dates and reminds you before they lapse.</a:t>
            </a:r>
            <a:endParaRPr lang="en-US" sz="1600" dirty="0"/>
          </a:p>
        </p:txBody>
      </p:sp>
      <p:sp>
        <p:nvSpPr>
          <p:cNvPr id="8" name="text_5"/>
          <p:cNvSpPr txBox="1"/>
          <p:nvPr/>
        </p:nvSpPr>
        <p:spPr>
          <a:xfrm>
            <a:off x="640080" y="5120640"/>
            <a:ext cx="4572000" cy="347472"/>
          </a:xfrm>
          <a:prstGeom prst="rect">
            <a:avLst/>
          </a:prstGeom>
          <a:noFill/>
          <a:ln/>
        </p:spPr>
        <p:txBody>
          <a:bodyPr wrap="square" lIns="0" tIns="0" rIns="0" bIns="0" rtlCol="0" anchor="t"/>
          <a:lstStyle/>
          <a:p>
            <a:pPr indent="0" marL="0">
              <a:buNone/>
            </a:pPr>
            <a:r>
              <a:rPr lang="en-US" sz="1700" b="1" dirty="0">
                <a:solidFill>
                  <a:schemeClr val="bg1"/>
                </a:solidFill>
              </a:rPr>
              <a:t>A. Adityavardhan Reddy</a:t>
            </a:r>
            <a:endParaRPr lang="en-US" sz="1700" dirty="0"/>
          </a:p>
        </p:txBody>
      </p:sp>
      <p:sp>
        <p:nvSpPr>
          <p:cNvPr id="9" name="text_6"/>
          <p:cNvSpPr txBox="1"/>
          <p:nvPr/>
        </p:nvSpPr>
        <p:spPr>
          <a:xfrm>
            <a:off x="640080" y="5486400"/>
            <a:ext cx="5029200" cy="292608"/>
          </a:xfrm>
          <a:prstGeom prst="rect">
            <a:avLst/>
          </a:prstGeom>
          <a:noFill/>
          <a:ln/>
        </p:spPr>
        <p:txBody>
          <a:bodyPr wrap="square" lIns="0" tIns="0" rIns="0" bIns="0" rtlCol="0" anchor="t"/>
          <a:lstStyle/>
          <a:p>
            <a:pPr indent="0" marL="0">
              <a:buNone/>
            </a:pPr>
            <a:r>
              <a:rPr lang="en-US" sz="1300" dirty="0">
                <a:solidFill>
                  <a:schemeClr val="bg2"/>
                </a:solidFill>
              </a:rPr>
              <a:t>Reg. No. 23MID0186   ·   15 October 2026</a:t>
            </a:r>
            <a:endParaRPr lang="en-US" sz="1300" dirty="0"/>
          </a:p>
        </p:txBody>
      </p:sp>
      <p:sp>
        <p:nvSpPr>
          <p:cNvPr id="10" name="hero_frame_7"/>
          <p:cNvSpPr/>
          <p:nvPr/>
        </p:nvSpPr>
        <p:spPr>
          <a:xfrm>
            <a:off x="6400800" y="914400"/>
            <a:ext cx="6583680" cy="4224528"/>
          </a:xfrm>
          <a:prstGeom prst="roundRect">
            <a:avLst>
              <a:gd name="adj" fmla="val 2597"/>
            </a:avLst>
          </a:prstGeom>
          <a:solidFill>
            <a:schemeClr val="tx2"/>
          </a:solidFill>
          <a:ln w="12700">
            <a:solidFill>
              <a:srgbClr val="3B44A0"/>
            </a:solidFill>
            <a:prstDash val="solid"/>
          </a:ln>
          <a:effectLst>
            <a:outerShdw sx="100000" sy="100000" kx="0" ky="0" algn="bl" rotWithShape="0" blurRad="127000" dist="38100" dir="5400000">
              <a:srgbClr val="000000">
                <a:alpha val="35000"/>
              </a:srgbClr>
            </a:outerShdw>
          </a:effectLst>
        </p:spPr>
      </p:sp>
      <p:pic>
        <p:nvPicPr>
          <p:cNvPr id="11" name="hero_screenshot" descr="/tmp/claude-0/-home-claude/584731ee-e493-5c78-a637-0b254e057472/scratchpad/deck/img/dashboard.png">    </p:cNvPr>
          <p:cNvPicPr>
            <a:picLocks noChangeAspect="1"/>
          </p:cNvPicPr>
          <p:nvPr/>
        </p:nvPicPr>
        <p:blipFill>
          <a:blip r:embed="rId2"/>
          <a:stretch>
            <a:fillRect/>
          </a:stretch>
        </p:blipFill>
        <p:spPr>
          <a:xfrm>
            <a:off x="6510528" y="1024128"/>
            <a:ext cx="6309360" cy="3943350"/>
          </a:xfrm>
          <a:prstGeom prst="rect">
            <a:avLst/>
          </a:prstGeom>
        </p:spPr>
      </p:pic>
      <p:sp>
        <p:nvSpPr>
          <p:cNvPr id="12" name="notif_chip_8"/>
          <p:cNvSpPr/>
          <p:nvPr/>
        </p:nvSpPr>
        <p:spPr>
          <a:xfrm>
            <a:off x="5806440" y="4617720"/>
            <a:ext cx="3566160" cy="868680"/>
          </a:xfrm>
          <a:prstGeom prst="roundRect">
            <a:avLst>
              <a:gd name="adj" fmla="val 14737"/>
            </a:avLst>
          </a:prstGeom>
          <a:solidFill>
            <a:srgbClr val="161E52"/>
          </a:solidFill>
          <a:ln w="12700">
            <a:solidFill>
              <a:srgbClr val="4B4FE0"/>
            </a:solidFill>
            <a:prstDash val="solid"/>
          </a:ln>
          <a:effectLst>
            <a:outerShdw sx="100000" sy="100000" kx="0" ky="0" algn="bl" rotWithShape="0" blurRad="127000" dist="38100" dir="5400000">
              <a:srgbClr val="000000">
                <a:alpha val="35000"/>
              </a:srgbClr>
            </a:outerShdw>
          </a:effectLst>
        </p:spPr>
      </p:sp>
      <p:sp>
        <p:nvSpPr>
          <p:cNvPr id="13" name="icon_bg_9"/>
          <p:cNvSpPr/>
          <p:nvPr/>
        </p:nvSpPr>
        <p:spPr>
          <a:xfrm>
            <a:off x="5943600" y="4754880"/>
            <a:ext cx="594360" cy="594360"/>
          </a:xfrm>
          <a:prstGeom prst="roundRect">
            <a:avLst>
              <a:gd name="adj" fmla="val 24000"/>
            </a:avLst>
          </a:prstGeom>
          <a:solidFill>
            <a:schemeClr val="accent5">
              <a:alpha val="22000"/>
            </a:schemeClr>
          </a:solidFill>
          <a:ln/>
        </p:spPr>
      </p:sp>
      <p:pic>
        <p:nvPicPr>
          <p:cNvPr id="14" name="icon_10" descr="/tmp/claude-0/-home-claude/584731ee-e493-5c78-a637-0b254e057472/scratchpad/deck/img/i_alert.png">    </p:cNvPr>
          <p:cNvPicPr>
            <a:picLocks noChangeAspect="1"/>
          </p:cNvPicPr>
          <p:nvPr/>
        </p:nvPicPr>
        <p:blipFill>
          <a:blip r:embed="rId3"/>
          <a:stretch>
            <a:fillRect/>
          </a:stretch>
        </p:blipFill>
        <p:spPr>
          <a:xfrm>
            <a:off x="6086246" y="4897526"/>
            <a:ext cx="309067" cy="309067"/>
          </a:xfrm>
          <a:prstGeom prst="rect">
            <a:avLst/>
          </a:prstGeom>
        </p:spPr>
      </p:pic>
      <p:sp>
        <p:nvSpPr>
          <p:cNvPr id="15" name="text_11"/>
          <p:cNvSpPr txBox="1"/>
          <p:nvPr/>
        </p:nvSpPr>
        <p:spPr>
          <a:xfrm>
            <a:off x="6675120" y="4754880"/>
            <a:ext cx="2560320" cy="292608"/>
          </a:xfrm>
          <a:prstGeom prst="rect">
            <a:avLst/>
          </a:prstGeom>
          <a:noFill/>
          <a:ln/>
        </p:spPr>
        <p:txBody>
          <a:bodyPr wrap="square" lIns="0" tIns="0" rIns="0" bIns="0" rtlCol="0" anchor="t"/>
          <a:lstStyle/>
          <a:p>
            <a:pPr indent="0" marL="0">
              <a:buNone/>
            </a:pPr>
            <a:r>
              <a:rPr lang="en-US" sz="1400" b="1" dirty="0">
                <a:solidFill>
                  <a:schemeClr val="bg1"/>
                </a:solidFill>
              </a:rPr>
              <a:t>Car Insurance</a:t>
            </a:r>
            <a:endParaRPr lang="en-US" sz="1400" dirty="0"/>
          </a:p>
        </p:txBody>
      </p:sp>
      <p:sp>
        <p:nvSpPr>
          <p:cNvPr id="16" name="text_12"/>
          <p:cNvSpPr txBox="1"/>
          <p:nvPr/>
        </p:nvSpPr>
        <p:spPr>
          <a:xfrm>
            <a:off x="6675120" y="5047488"/>
            <a:ext cx="2606040" cy="274320"/>
          </a:xfrm>
          <a:prstGeom prst="rect">
            <a:avLst/>
          </a:prstGeom>
          <a:noFill/>
          <a:ln/>
        </p:spPr>
        <p:txBody>
          <a:bodyPr wrap="square" lIns="0" tIns="0" rIns="0" bIns="0" rtlCol="0" anchor="t"/>
          <a:lstStyle/>
          <a:p>
            <a:pPr indent="0" marL="0">
              <a:buNone/>
            </a:pPr>
            <a:r>
              <a:rPr lang="en-US" sz="1200" dirty="0">
                <a:solidFill>
                  <a:srgbClr val="FCA5A5"/>
                </a:solidFill>
              </a:rPr>
              <a:t>Critical · expires in 6 days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WHAT THE PROJECT DOES</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Upload a document. LifeAdmin does the rest</a:t>
            </a:r>
            <a:endParaRPr lang="en-US" sz="3200" dirty="0"/>
          </a:p>
        </p:txBody>
      </p:sp>
      <p:sp>
        <p:nvSpPr>
          <p:cNvPr id="4" name="text_13"/>
          <p:cNvSpPr txBox="1"/>
          <p:nvPr/>
        </p:nvSpPr>
        <p:spPr>
          <a:xfrm>
            <a:off x="548640" y="1463040"/>
            <a:ext cx="11064240" cy="685800"/>
          </a:xfrm>
          <a:prstGeom prst="rect">
            <a:avLst/>
          </a:prstGeom>
          <a:noFill/>
          <a:ln/>
        </p:spPr>
        <p:txBody>
          <a:bodyPr wrap="square" lIns="0" tIns="0" rIns="0" bIns="0" rtlCol="0" anchor="t"/>
          <a:lstStyle/>
          <a:p>
            <a:pPr indent="0" marL="0">
              <a:buNone/>
            </a:pPr>
            <a:r>
              <a:rPr lang="en-US" sz="1600" dirty="0">
                <a:solidFill>
                  <a:schemeClr val="bg2"/>
                </a:solidFill>
              </a:rPr>
              <a:t>Important documents expire silently: the date is buried inside a PDF and nobody remembers to renew. LifeAdmin reads the document for you and keeps watch.</a:t>
            </a:r>
            <a:endParaRPr lang="en-US" sz="1600" dirty="0"/>
          </a:p>
        </p:txBody>
      </p:sp>
      <p:sp>
        <p:nvSpPr>
          <p:cNvPr id="5" name="step_card_14"/>
          <p:cNvSpPr/>
          <p:nvPr/>
        </p:nvSpPr>
        <p:spPr>
          <a:xfrm>
            <a:off x="548640" y="2377440"/>
            <a:ext cx="2560320" cy="2331720"/>
          </a:xfrm>
          <a:prstGeom prst="roundRect">
            <a:avLst>
              <a:gd name="adj" fmla="val 4706"/>
            </a:avLst>
          </a:prstGeom>
          <a:solidFill>
            <a:schemeClr val="tx2"/>
          </a:solidFill>
          <a:ln w="9525">
            <a:solidFill>
              <a:srgbClr val="2B3470"/>
            </a:solidFill>
            <a:prstDash val="solid"/>
          </a:ln>
        </p:spPr>
      </p:sp>
      <p:sp>
        <p:nvSpPr>
          <p:cNvPr id="6" name="icon_bg_15"/>
          <p:cNvSpPr/>
          <p:nvPr/>
        </p:nvSpPr>
        <p:spPr>
          <a:xfrm>
            <a:off x="777240" y="2633472"/>
            <a:ext cx="658368" cy="658368"/>
          </a:xfrm>
          <a:prstGeom prst="roundRect">
            <a:avLst>
              <a:gd name="adj" fmla="val 24000"/>
            </a:avLst>
          </a:prstGeom>
          <a:solidFill>
            <a:schemeClr val="accent1">
              <a:alpha val="22000"/>
            </a:schemeClr>
          </a:solidFill>
          <a:ln/>
        </p:spPr>
      </p:sp>
      <p:pic>
        <p:nvPicPr>
          <p:cNvPr id="7" name="icon_16" descr="/tmp/claude-0/-home-claude/584731ee-e493-5c78-a637-0b254e057472/scratchpad/deck/img/i_upload.png">    </p:cNvPr>
          <p:cNvPicPr>
            <a:picLocks noChangeAspect="1"/>
          </p:cNvPicPr>
          <p:nvPr/>
        </p:nvPicPr>
        <p:blipFill>
          <a:blip r:embed="rId1"/>
          <a:stretch>
            <a:fillRect/>
          </a:stretch>
        </p:blipFill>
        <p:spPr>
          <a:xfrm>
            <a:off x="935248" y="2791480"/>
            <a:ext cx="342351" cy="342351"/>
          </a:xfrm>
          <a:prstGeom prst="rect">
            <a:avLst/>
          </a:prstGeom>
        </p:spPr>
      </p:pic>
      <p:sp>
        <p:nvSpPr>
          <p:cNvPr id="8" name="pill_17"/>
          <p:cNvSpPr/>
          <p:nvPr/>
        </p:nvSpPr>
        <p:spPr>
          <a:xfrm>
            <a:off x="1572768" y="2816352"/>
            <a:ext cx="868680" cy="274320"/>
          </a:xfrm>
          <a:prstGeom prst="roundRect">
            <a:avLst>
              <a:gd name="adj" fmla="val 50000"/>
            </a:avLst>
          </a:prstGeom>
          <a:solidFill>
            <a:schemeClr val="accent1">
              <a:alpha val="22000"/>
            </a:schemeClr>
          </a:solidFill>
          <a:ln/>
        </p:spPr>
      </p:sp>
      <p:sp>
        <p:nvSpPr>
          <p:cNvPr id="9" name="text_18"/>
          <p:cNvSpPr txBox="1"/>
          <p:nvPr/>
        </p:nvSpPr>
        <p:spPr>
          <a:xfrm>
            <a:off x="1572768" y="2816352"/>
            <a:ext cx="86868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STEP 1</a:t>
            </a:r>
            <a:endParaRPr lang="en-US" sz="1000" dirty="0"/>
          </a:p>
        </p:txBody>
      </p:sp>
      <p:sp>
        <p:nvSpPr>
          <p:cNvPr id="10" name="text_19"/>
          <p:cNvSpPr txBox="1"/>
          <p:nvPr/>
        </p:nvSpPr>
        <p:spPr>
          <a:xfrm>
            <a:off x="777240" y="3456432"/>
            <a:ext cx="2148840" cy="365760"/>
          </a:xfrm>
          <a:prstGeom prst="rect">
            <a:avLst/>
          </a:prstGeom>
          <a:noFill/>
          <a:ln/>
        </p:spPr>
        <p:txBody>
          <a:bodyPr wrap="square" lIns="0" tIns="0" rIns="0" bIns="0" rtlCol="0" anchor="t"/>
          <a:lstStyle/>
          <a:p>
            <a:pPr indent="0" marL="0">
              <a:buNone/>
            </a:pPr>
            <a:r>
              <a:rPr lang="en-US" sz="1800" b="1" dirty="0">
                <a:solidFill>
                  <a:schemeClr val="bg1"/>
                </a:solidFill>
              </a:rPr>
              <a:t>Upload</a:t>
            </a:r>
            <a:endParaRPr lang="en-US" sz="1800" dirty="0"/>
          </a:p>
        </p:txBody>
      </p:sp>
      <p:sp>
        <p:nvSpPr>
          <p:cNvPr id="11" name="text_20"/>
          <p:cNvSpPr txBox="1"/>
          <p:nvPr/>
        </p:nvSpPr>
        <p:spPr>
          <a:xfrm>
            <a:off x="777240" y="3858768"/>
            <a:ext cx="2148840" cy="731520"/>
          </a:xfrm>
          <a:prstGeom prst="rect">
            <a:avLst/>
          </a:prstGeom>
          <a:noFill/>
          <a:ln/>
        </p:spPr>
        <p:txBody>
          <a:bodyPr wrap="square" lIns="0" tIns="0" rIns="0" bIns="0" rtlCol="0" anchor="t"/>
          <a:lstStyle/>
          <a:p>
            <a:pPr indent="0" marL="0">
              <a:buNone/>
            </a:pPr>
            <a:r>
              <a:rPr lang="en-US" sz="1300" dirty="0">
                <a:solidFill>
                  <a:schemeClr val="bg2"/>
                </a:solidFill>
              </a:rPr>
              <a:t>Drop a PDF, photo, Word or Excel file (max 10 MB)</a:t>
            </a:r>
            <a:endParaRPr lang="en-US" sz="1300" dirty="0"/>
          </a:p>
        </p:txBody>
      </p:sp>
      <p:pic>
        <p:nvPicPr>
          <p:cNvPr id="12" name="arrow_21" descr="/tmp/claude-0/-home-claude/584731ee-e493-5c78-a637-0b254e057472/scratchpad/deck/img/i_arrow.png">    </p:cNvPr>
          <p:cNvPicPr>
            <a:picLocks noChangeAspect="1"/>
          </p:cNvPicPr>
          <p:nvPr/>
        </p:nvPicPr>
        <p:blipFill>
          <a:blip r:embed="rId2"/>
          <a:stretch>
            <a:fillRect/>
          </a:stretch>
        </p:blipFill>
        <p:spPr>
          <a:xfrm>
            <a:off x="3163824" y="3429000"/>
            <a:ext cx="164592" cy="164592"/>
          </a:xfrm>
          <a:prstGeom prst="rect">
            <a:avLst/>
          </a:prstGeom>
        </p:spPr>
      </p:pic>
      <p:sp>
        <p:nvSpPr>
          <p:cNvPr id="13" name="step_card_22"/>
          <p:cNvSpPr/>
          <p:nvPr/>
        </p:nvSpPr>
        <p:spPr>
          <a:xfrm>
            <a:off x="3383280" y="2377440"/>
            <a:ext cx="2560320" cy="2331720"/>
          </a:xfrm>
          <a:prstGeom prst="roundRect">
            <a:avLst>
              <a:gd name="adj" fmla="val 4706"/>
            </a:avLst>
          </a:prstGeom>
          <a:solidFill>
            <a:schemeClr val="tx2"/>
          </a:solidFill>
          <a:ln w="9525">
            <a:solidFill>
              <a:srgbClr val="2B3470"/>
            </a:solidFill>
            <a:prstDash val="solid"/>
          </a:ln>
        </p:spPr>
      </p:sp>
      <p:sp>
        <p:nvSpPr>
          <p:cNvPr id="14" name="icon_bg_23"/>
          <p:cNvSpPr/>
          <p:nvPr/>
        </p:nvSpPr>
        <p:spPr>
          <a:xfrm>
            <a:off x="3611880" y="2633472"/>
            <a:ext cx="658368" cy="658368"/>
          </a:xfrm>
          <a:prstGeom prst="roundRect">
            <a:avLst>
              <a:gd name="adj" fmla="val 24000"/>
            </a:avLst>
          </a:prstGeom>
          <a:solidFill>
            <a:schemeClr val="accent2">
              <a:alpha val="22000"/>
            </a:schemeClr>
          </a:solidFill>
          <a:ln/>
        </p:spPr>
      </p:sp>
      <p:pic>
        <p:nvPicPr>
          <p:cNvPr id="15" name="icon_24" descr="/tmp/claude-0/-home-claude/584731ee-e493-5c78-a637-0b254e057472/scratchpad/deck/img/i_magic.png">    </p:cNvPr>
          <p:cNvPicPr>
            <a:picLocks noChangeAspect="1"/>
          </p:cNvPicPr>
          <p:nvPr/>
        </p:nvPicPr>
        <p:blipFill>
          <a:blip r:embed="rId3"/>
          <a:stretch>
            <a:fillRect/>
          </a:stretch>
        </p:blipFill>
        <p:spPr>
          <a:xfrm>
            <a:off x="3769888" y="2791480"/>
            <a:ext cx="342351" cy="342351"/>
          </a:xfrm>
          <a:prstGeom prst="rect">
            <a:avLst/>
          </a:prstGeom>
        </p:spPr>
      </p:pic>
      <p:sp>
        <p:nvSpPr>
          <p:cNvPr id="16" name="pill_25"/>
          <p:cNvSpPr/>
          <p:nvPr/>
        </p:nvSpPr>
        <p:spPr>
          <a:xfrm>
            <a:off x="4407408" y="2816352"/>
            <a:ext cx="868680" cy="274320"/>
          </a:xfrm>
          <a:prstGeom prst="roundRect">
            <a:avLst>
              <a:gd name="adj" fmla="val 50000"/>
            </a:avLst>
          </a:prstGeom>
          <a:solidFill>
            <a:schemeClr val="accent2">
              <a:alpha val="22000"/>
            </a:schemeClr>
          </a:solidFill>
          <a:ln/>
        </p:spPr>
      </p:sp>
      <p:sp>
        <p:nvSpPr>
          <p:cNvPr id="17" name="text_26"/>
          <p:cNvSpPr txBox="1"/>
          <p:nvPr/>
        </p:nvSpPr>
        <p:spPr>
          <a:xfrm>
            <a:off x="4407408" y="2816352"/>
            <a:ext cx="868680" cy="274320"/>
          </a:xfrm>
          <a:prstGeom prst="rect">
            <a:avLst/>
          </a:prstGeom>
          <a:noFill/>
          <a:ln/>
        </p:spPr>
        <p:txBody>
          <a:bodyPr wrap="square" lIns="0" tIns="0" rIns="0" bIns="0" rtlCol="0" anchor="ctr"/>
          <a:lstStyle/>
          <a:p>
            <a:pPr algn="ctr" indent="0" marL="0">
              <a:buNone/>
            </a:pPr>
            <a:r>
              <a:rPr lang="en-US" sz="1000" b="1" spc="100" kern="0" dirty="0">
                <a:solidFill>
                  <a:schemeClr val="accent2"/>
                </a:solidFill>
              </a:rPr>
              <a:t>STEP 2</a:t>
            </a:r>
            <a:endParaRPr lang="en-US" sz="1000" dirty="0"/>
          </a:p>
        </p:txBody>
      </p:sp>
      <p:sp>
        <p:nvSpPr>
          <p:cNvPr id="18" name="text_27"/>
          <p:cNvSpPr txBox="1"/>
          <p:nvPr/>
        </p:nvSpPr>
        <p:spPr>
          <a:xfrm>
            <a:off x="3611880" y="3456432"/>
            <a:ext cx="2148840" cy="365760"/>
          </a:xfrm>
          <a:prstGeom prst="rect">
            <a:avLst/>
          </a:prstGeom>
          <a:noFill/>
          <a:ln/>
        </p:spPr>
        <p:txBody>
          <a:bodyPr wrap="square" lIns="0" tIns="0" rIns="0" bIns="0" rtlCol="0" anchor="t"/>
          <a:lstStyle/>
          <a:p>
            <a:pPr indent="0" marL="0">
              <a:buNone/>
            </a:pPr>
            <a:r>
              <a:rPr lang="en-US" sz="1800" b="1" dirty="0">
                <a:solidFill>
                  <a:schemeClr val="bg1"/>
                </a:solidFill>
              </a:rPr>
              <a:t>Read &amp; extract</a:t>
            </a:r>
            <a:endParaRPr lang="en-US" sz="1800" dirty="0"/>
          </a:p>
        </p:txBody>
      </p:sp>
      <p:sp>
        <p:nvSpPr>
          <p:cNvPr id="19" name="text_28"/>
          <p:cNvSpPr txBox="1"/>
          <p:nvPr/>
        </p:nvSpPr>
        <p:spPr>
          <a:xfrm>
            <a:off x="3611880" y="3858768"/>
            <a:ext cx="2148840" cy="731520"/>
          </a:xfrm>
          <a:prstGeom prst="rect">
            <a:avLst/>
          </a:prstGeom>
          <a:noFill/>
          <a:ln/>
        </p:spPr>
        <p:txBody>
          <a:bodyPr wrap="square" lIns="0" tIns="0" rIns="0" bIns="0" rtlCol="0" anchor="t"/>
          <a:lstStyle/>
          <a:p>
            <a:pPr indent="0" marL="0">
              <a:buNone/>
            </a:pPr>
            <a:r>
              <a:rPr lang="en-US" sz="1300" dirty="0">
                <a:solidFill>
                  <a:schemeClr val="bg2"/>
                </a:solidFill>
              </a:rPr>
              <a:t>Finds the type, holder, number, amount and expiry date</a:t>
            </a:r>
            <a:endParaRPr lang="en-US" sz="1300" dirty="0"/>
          </a:p>
        </p:txBody>
      </p:sp>
      <p:pic>
        <p:nvPicPr>
          <p:cNvPr id="20" name="arrow_29" descr="/tmp/claude-0/-home-claude/584731ee-e493-5c78-a637-0b254e057472/scratchpad/deck/img/i_arrow.png">    </p:cNvPr>
          <p:cNvPicPr>
            <a:picLocks noChangeAspect="1"/>
          </p:cNvPicPr>
          <p:nvPr/>
        </p:nvPicPr>
        <p:blipFill>
          <a:blip r:embed="rId4"/>
          <a:stretch>
            <a:fillRect/>
          </a:stretch>
        </p:blipFill>
        <p:spPr>
          <a:xfrm>
            <a:off x="5998464" y="3429000"/>
            <a:ext cx="164592" cy="164592"/>
          </a:xfrm>
          <a:prstGeom prst="rect">
            <a:avLst/>
          </a:prstGeom>
        </p:spPr>
      </p:pic>
      <p:sp>
        <p:nvSpPr>
          <p:cNvPr id="21" name="step_card_30"/>
          <p:cNvSpPr/>
          <p:nvPr/>
        </p:nvSpPr>
        <p:spPr>
          <a:xfrm>
            <a:off x="6217920" y="2377440"/>
            <a:ext cx="2560320" cy="2331720"/>
          </a:xfrm>
          <a:prstGeom prst="roundRect">
            <a:avLst>
              <a:gd name="adj" fmla="val 4706"/>
            </a:avLst>
          </a:prstGeom>
          <a:solidFill>
            <a:schemeClr val="tx2"/>
          </a:solidFill>
          <a:ln w="9525">
            <a:solidFill>
              <a:srgbClr val="2B3470"/>
            </a:solidFill>
            <a:prstDash val="solid"/>
          </a:ln>
        </p:spPr>
      </p:sp>
      <p:sp>
        <p:nvSpPr>
          <p:cNvPr id="22" name="icon_bg_31"/>
          <p:cNvSpPr/>
          <p:nvPr/>
        </p:nvSpPr>
        <p:spPr>
          <a:xfrm>
            <a:off x="6446520" y="2633472"/>
            <a:ext cx="658368" cy="658368"/>
          </a:xfrm>
          <a:prstGeom prst="roundRect">
            <a:avLst>
              <a:gd name="adj" fmla="val 24000"/>
            </a:avLst>
          </a:prstGeom>
          <a:solidFill>
            <a:schemeClr val="accent6">
              <a:alpha val="22000"/>
            </a:schemeClr>
          </a:solidFill>
          <a:ln/>
        </p:spPr>
      </p:sp>
      <p:pic>
        <p:nvPicPr>
          <p:cNvPr id="23" name="icon_32" descr="/tmp/claude-0/-home-claude/584731ee-e493-5c78-a637-0b254e057472/scratchpad/deck/img/i_db.png">    </p:cNvPr>
          <p:cNvPicPr>
            <a:picLocks noChangeAspect="1"/>
          </p:cNvPicPr>
          <p:nvPr/>
        </p:nvPicPr>
        <p:blipFill>
          <a:blip r:embed="rId5"/>
          <a:stretch>
            <a:fillRect/>
          </a:stretch>
        </p:blipFill>
        <p:spPr>
          <a:xfrm>
            <a:off x="6604528" y="2791480"/>
            <a:ext cx="342351" cy="342351"/>
          </a:xfrm>
          <a:prstGeom prst="rect">
            <a:avLst/>
          </a:prstGeom>
        </p:spPr>
      </p:pic>
      <p:sp>
        <p:nvSpPr>
          <p:cNvPr id="24" name="pill_33"/>
          <p:cNvSpPr/>
          <p:nvPr/>
        </p:nvSpPr>
        <p:spPr>
          <a:xfrm>
            <a:off x="7242048" y="2816352"/>
            <a:ext cx="868680" cy="274320"/>
          </a:xfrm>
          <a:prstGeom prst="roundRect">
            <a:avLst>
              <a:gd name="adj" fmla="val 50000"/>
            </a:avLst>
          </a:prstGeom>
          <a:solidFill>
            <a:schemeClr val="accent6">
              <a:alpha val="22000"/>
            </a:schemeClr>
          </a:solidFill>
          <a:ln/>
        </p:spPr>
      </p:sp>
      <p:sp>
        <p:nvSpPr>
          <p:cNvPr id="25" name="text_34"/>
          <p:cNvSpPr txBox="1"/>
          <p:nvPr/>
        </p:nvSpPr>
        <p:spPr>
          <a:xfrm>
            <a:off x="7242048" y="2816352"/>
            <a:ext cx="868680" cy="274320"/>
          </a:xfrm>
          <a:prstGeom prst="rect">
            <a:avLst/>
          </a:prstGeom>
          <a:noFill/>
          <a:ln/>
        </p:spPr>
        <p:txBody>
          <a:bodyPr wrap="square" lIns="0" tIns="0" rIns="0" bIns="0" rtlCol="0" anchor="ctr"/>
          <a:lstStyle/>
          <a:p>
            <a:pPr algn="ctr" indent="0" marL="0">
              <a:buNone/>
            </a:pPr>
            <a:r>
              <a:rPr lang="en-US" sz="1000" b="1" spc="100" kern="0" dirty="0">
                <a:solidFill>
                  <a:schemeClr val="accent6"/>
                </a:solidFill>
              </a:rPr>
              <a:t>STEP 3</a:t>
            </a:r>
            <a:endParaRPr lang="en-US" sz="1000" dirty="0"/>
          </a:p>
        </p:txBody>
      </p:sp>
      <p:sp>
        <p:nvSpPr>
          <p:cNvPr id="26" name="text_35"/>
          <p:cNvSpPr txBox="1"/>
          <p:nvPr/>
        </p:nvSpPr>
        <p:spPr>
          <a:xfrm>
            <a:off x="6446520" y="3456432"/>
            <a:ext cx="2148840" cy="365760"/>
          </a:xfrm>
          <a:prstGeom prst="rect">
            <a:avLst/>
          </a:prstGeom>
          <a:noFill/>
          <a:ln/>
        </p:spPr>
        <p:txBody>
          <a:bodyPr wrap="square" lIns="0" tIns="0" rIns="0" bIns="0" rtlCol="0" anchor="t"/>
          <a:lstStyle/>
          <a:p>
            <a:pPr indent="0" marL="0">
              <a:buNone/>
            </a:pPr>
            <a:r>
              <a:rPr lang="en-US" sz="1800" b="1" dirty="0">
                <a:solidFill>
                  <a:schemeClr val="bg1"/>
                </a:solidFill>
              </a:rPr>
              <a:t>Store &amp; track</a:t>
            </a:r>
            <a:endParaRPr lang="en-US" sz="1800" dirty="0"/>
          </a:p>
        </p:txBody>
      </p:sp>
      <p:sp>
        <p:nvSpPr>
          <p:cNvPr id="27" name="text_36"/>
          <p:cNvSpPr txBox="1"/>
          <p:nvPr/>
        </p:nvSpPr>
        <p:spPr>
          <a:xfrm>
            <a:off x="6446520" y="3858768"/>
            <a:ext cx="2148840" cy="731520"/>
          </a:xfrm>
          <a:prstGeom prst="rect">
            <a:avLst/>
          </a:prstGeom>
          <a:noFill/>
          <a:ln/>
        </p:spPr>
        <p:txBody>
          <a:bodyPr wrap="square" lIns="0" tIns="0" rIns="0" bIns="0" rtlCol="0" anchor="t"/>
          <a:lstStyle/>
          <a:p>
            <a:pPr indent="0" marL="0">
              <a:buNone/>
            </a:pPr>
            <a:r>
              <a:rPr lang="en-US" sz="1300" dirty="0">
                <a:solidFill>
                  <a:schemeClr val="bg2"/>
                </a:solidFill>
              </a:rPr>
              <a:t>Saves everything in a local SQLite database</a:t>
            </a:r>
            <a:endParaRPr lang="en-US" sz="1300" dirty="0"/>
          </a:p>
        </p:txBody>
      </p:sp>
      <p:pic>
        <p:nvPicPr>
          <p:cNvPr id="28" name="arrow_37" descr="/tmp/claude-0/-home-claude/584731ee-e493-5c78-a637-0b254e057472/scratchpad/deck/img/i_arrow.png">    </p:cNvPr>
          <p:cNvPicPr>
            <a:picLocks noChangeAspect="1"/>
          </p:cNvPicPr>
          <p:nvPr/>
        </p:nvPicPr>
        <p:blipFill>
          <a:blip r:embed="rId6"/>
          <a:stretch>
            <a:fillRect/>
          </a:stretch>
        </p:blipFill>
        <p:spPr>
          <a:xfrm>
            <a:off x="8833104" y="3429000"/>
            <a:ext cx="164592" cy="164592"/>
          </a:xfrm>
          <a:prstGeom prst="rect">
            <a:avLst/>
          </a:prstGeom>
        </p:spPr>
      </p:pic>
      <p:sp>
        <p:nvSpPr>
          <p:cNvPr id="29" name="step_card_38"/>
          <p:cNvSpPr/>
          <p:nvPr/>
        </p:nvSpPr>
        <p:spPr>
          <a:xfrm>
            <a:off x="9052560" y="2377440"/>
            <a:ext cx="2560320" cy="2331720"/>
          </a:xfrm>
          <a:prstGeom prst="roundRect">
            <a:avLst>
              <a:gd name="adj" fmla="val 4706"/>
            </a:avLst>
          </a:prstGeom>
          <a:solidFill>
            <a:schemeClr val="tx2"/>
          </a:solidFill>
          <a:ln w="9525">
            <a:solidFill>
              <a:srgbClr val="2B3470"/>
            </a:solidFill>
            <a:prstDash val="solid"/>
          </a:ln>
        </p:spPr>
      </p:sp>
      <p:sp>
        <p:nvSpPr>
          <p:cNvPr id="30" name="icon_bg_39"/>
          <p:cNvSpPr/>
          <p:nvPr/>
        </p:nvSpPr>
        <p:spPr>
          <a:xfrm>
            <a:off x="9281160" y="2633472"/>
            <a:ext cx="658368" cy="658368"/>
          </a:xfrm>
          <a:prstGeom prst="roundRect">
            <a:avLst>
              <a:gd name="adj" fmla="val 24000"/>
            </a:avLst>
          </a:prstGeom>
          <a:solidFill>
            <a:schemeClr val="accent4">
              <a:alpha val="22000"/>
            </a:schemeClr>
          </a:solidFill>
          <a:ln/>
        </p:spPr>
      </p:sp>
      <p:pic>
        <p:nvPicPr>
          <p:cNvPr id="31" name="icon_40" descr="/tmp/claude-0/-home-claude/584731ee-e493-5c78-a637-0b254e057472/scratchpad/deck/img/i_bell.png">    </p:cNvPr>
          <p:cNvPicPr>
            <a:picLocks noChangeAspect="1"/>
          </p:cNvPicPr>
          <p:nvPr/>
        </p:nvPicPr>
        <p:blipFill>
          <a:blip r:embed="rId7"/>
          <a:stretch>
            <a:fillRect/>
          </a:stretch>
        </p:blipFill>
        <p:spPr>
          <a:xfrm>
            <a:off x="9439168" y="2791480"/>
            <a:ext cx="342351" cy="342351"/>
          </a:xfrm>
          <a:prstGeom prst="rect">
            <a:avLst/>
          </a:prstGeom>
        </p:spPr>
      </p:pic>
      <p:sp>
        <p:nvSpPr>
          <p:cNvPr id="32" name="pill_41"/>
          <p:cNvSpPr/>
          <p:nvPr/>
        </p:nvSpPr>
        <p:spPr>
          <a:xfrm>
            <a:off x="10076688" y="2816352"/>
            <a:ext cx="868680" cy="274320"/>
          </a:xfrm>
          <a:prstGeom prst="roundRect">
            <a:avLst>
              <a:gd name="adj" fmla="val 50000"/>
            </a:avLst>
          </a:prstGeom>
          <a:solidFill>
            <a:schemeClr val="accent4">
              <a:alpha val="22000"/>
            </a:schemeClr>
          </a:solidFill>
          <a:ln/>
        </p:spPr>
      </p:sp>
      <p:sp>
        <p:nvSpPr>
          <p:cNvPr id="33" name="text_42"/>
          <p:cNvSpPr txBox="1"/>
          <p:nvPr/>
        </p:nvSpPr>
        <p:spPr>
          <a:xfrm>
            <a:off x="10076688" y="2816352"/>
            <a:ext cx="868680" cy="274320"/>
          </a:xfrm>
          <a:prstGeom prst="rect">
            <a:avLst/>
          </a:prstGeom>
          <a:noFill/>
          <a:ln/>
        </p:spPr>
        <p:txBody>
          <a:bodyPr wrap="square" lIns="0" tIns="0" rIns="0" bIns="0" rtlCol="0" anchor="ctr"/>
          <a:lstStyle/>
          <a:p>
            <a:pPr algn="ctr" indent="0" marL="0">
              <a:buNone/>
            </a:pPr>
            <a:r>
              <a:rPr lang="en-US" sz="1000" b="1" spc="100" kern="0" dirty="0">
                <a:solidFill>
                  <a:schemeClr val="accent4"/>
                </a:solidFill>
              </a:rPr>
              <a:t>STEP 4</a:t>
            </a:r>
            <a:endParaRPr lang="en-US" sz="1000" dirty="0"/>
          </a:p>
        </p:txBody>
      </p:sp>
      <p:sp>
        <p:nvSpPr>
          <p:cNvPr id="34" name="text_43"/>
          <p:cNvSpPr txBox="1"/>
          <p:nvPr/>
        </p:nvSpPr>
        <p:spPr>
          <a:xfrm>
            <a:off x="9281160" y="3456432"/>
            <a:ext cx="2148840" cy="365760"/>
          </a:xfrm>
          <a:prstGeom prst="rect">
            <a:avLst/>
          </a:prstGeom>
          <a:noFill/>
          <a:ln/>
        </p:spPr>
        <p:txBody>
          <a:bodyPr wrap="square" lIns="0" tIns="0" rIns="0" bIns="0" rtlCol="0" anchor="t"/>
          <a:lstStyle/>
          <a:p>
            <a:pPr indent="0" marL="0">
              <a:buNone/>
            </a:pPr>
            <a:r>
              <a:rPr lang="en-US" sz="1800" b="1" dirty="0">
                <a:solidFill>
                  <a:schemeClr val="bg1"/>
                </a:solidFill>
              </a:rPr>
              <a:t>Remind</a:t>
            </a:r>
            <a:endParaRPr lang="en-US" sz="1800" dirty="0"/>
          </a:p>
        </p:txBody>
      </p:sp>
      <p:sp>
        <p:nvSpPr>
          <p:cNvPr id="35" name="text_44"/>
          <p:cNvSpPr txBox="1"/>
          <p:nvPr/>
        </p:nvSpPr>
        <p:spPr>
          <a:xfrm>
            <a:off x="9281160" y="3858768"/>
            <a:ext cx="2148840" cy="731520"/>
          </a:xfrm>
          <a:prstGeom prst="rect">
            <a:avLst/>
          </a:prstGeom>
          <a:noFill/>
          <a:ln/>
        </p:spPr>
        <p:txBody>
          <a:bodyPr wrap="square" lIns="0" tIns="0" rIns="0" bIns="0" rtlCol="0" anchor="t"/>
          <a:lstStyle/>
          <a:p>
            <a:pPr indent="0" marL="0">
              <a:buNone/>
            </a:pPr>
            <a:r>
              <a:rPr lang="en-US" sz="1300" dirty="0">
                <a:solidFill>
                  <a:schemeClr val="bg2"/>
                </a:solidFill>
              </a:rPr>
              <a:t>Warns 30 and 7 days before expiry: dashboard, bell, calendar</a:t>
            </a:r>
            <a:endParaRPr lang="en-US" sz="1300" dirty="0"/>
          </a:p>
        </p:txBody>
      </p:sp>
      <p:sp>
        <p:nvSpPr>
          <p:cNvPr id="36" name="text_45"/>
          <p:cNvSpPr txBox="1"/>
          <p:nvPr/>
        </p:nvSpPr>
        <p:spPr>
          <a:xfrm>
            <a:off x="548640" y="5029200"/>
            <a:ext cx="274320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WORKS WITH</a:t>
            </a:r>
            <a:endParaRPr lang="en-US" sz="1100" dirty="0"/>
          </a:p>
        </p:txBody>
      </p:sp>
      <p:sp>
        <p:nvSpPr>
          <p:cNvPr id="37" name="pill_46"/>
          <p:cNvSpPr/>
          <p:nvPr/>
        </p:nvSpPr>
        <p:spPr>
          <a:xfrm>
            <a:off x="548640" y="5376672"/>
            <a:ext cx="1188720" cy="384048"/>
          </a:xfrm>
          <a:prstGeom prst="roundRect">
            <a:avLst>
              <a:gd name="adj" fmla="val 50000"/>
            </a:avLst>
          </a:prstGeom>
          <a:solidFill>
            <a:schemeClr val="accent1">
              <a:alpha val="22000"/>
            </a:schemeClr>
          </a:solidFill>
          <a:ln/>
        </p:spPr>
      </p:sp>
      <p:sp>
        <p:nvSpPr>
          <p:cNvPr id="38" name="text_47"/>
          <p:cNvSpPr txBox="1"/>
          <p:nvPr/>
        </p:nvSpPr>
        <p:spPr>
          <a:xfrm>
            <a:off x="548640" y="5376672"/>
            <a:ext cx="1188720" cy="384048"/>
          </a:xfrm>
          <a:prstGeom prst="rect">
            <a:avLst/>
          </a:prstGeom>
          <a:noFill/>
          <a:ln/>
        </p:spPr>
        <p:txBody>
          <a:bodyPr wrap="square" lIns="0" tIns="0" rIns="0" bIns="0" rtlCol="0" anchor="ctr"/>
          <a:lstStyle/>
          <a:p>
            <a:pPr algn="ctr" indent="0" marL="0">
              <a:buNone/>
            </a:pPr>
            <a:r>
              <a:rPr lang="en-US" sz="1250" b="1" dirty="0">
                <a:solidFill>
                  <a:srgbClr val="DDE0FF"/>
                </a:solidFill>
              </a:rPr>
              <a:t>ID cards</a:t>
            </a:r>
            <a:endParaRPr lang="en-US" sz="1250" dirty="0"/>
          </a:p>
        </p:txBody>
      </p:sp>
      <p:sp>
        <p:nvSpPr>
          <p:cNvPr id="39" name="pill_48"/>
          <p:cNvSpPr/>
          <p:nvPr/>
        </p:nvSpPr>
        <p:spPr>
          <a:xfrm>
            <a:off x="1901952" y="5376672"/>
            <a:ext cx="1234440" cy="384048"/>
          </a:xfrm>
          <a:prstGeom prst="roundRect">
            <a:avLst>
              <a:gd name="adj" fmla="val 50000"/>
            </a:avLst>
          </a:prstGeom>
          <a:solidFill>
            <a:schemeClr val="accent1">
              <a:alpha val="22000"/>
            </a:schemeClr>
          </a:solidFill>
          <a:ln/>
        </p:spPr>
      </p:sp>
      <p:sp>
        <p:nvSpPr>
          <p:cNvPr id="40" name="text_49"/>
          <p:cNvSpPr txBox="1"/>
          <p:nvPr/>
        </p:nvSpPr>
        <p:spPr>
          <a:xfrm>
            <a:off x="1901952" y="5376672"/>
            <a:ext cx="1234440" cy="384048"/>
          </a:xfrm>
          <a:prstGeom prst="rect">
            <a:avLst/>
          </a:prstGeom>
          <a:noFill/>
          <a:ln/>
        </p:spPr>
        <p:txBody>
          <a:bodyPr wrap="square" lIns="0" tIns="0" rIns="0" bIns="0" rtlCol="0" anchor="ctr"/>
          <a:lstStyle/>
          <a:p>
            <a:pPr algn="ctr" indent="0" marL="0">
              <a:buNone/>
            </a:pPr>
            <a:r>
              <a:rPr lang="en-US" sz="1250" b="1" dirty="0">
                <a:solidFill>
                  <a:srgbClr val="DDE0FF"/>
                </a:solidFill>
              </a:rPr>
              <a:t>Insurance</a:t>
            </a:r>
            <a:endParaRPr lang="en-US" sz="1250" dirty="0"/>
          </a:p>
        </p:txBody>
      </p:sp>
      <p:sp>
        <p:nvSpPr>
          <p:cNvPr id="41" name="pill_50"/>
          <p:cNvSpPr/>
          <p:nvPr/>
        </p:nvSpPr>
        <p:spPr>
          <a:xfrm>
            <a:off x="3300984" y="5376672"/>
            <a:ext cx="1828800" cy="384048"/>
          </a:xfrm>
          <a:prstGeom prst="roundRect">
            <a:avLst>
              <a:gd name="adj" fmla="val 50000"/>
            </a:avLst>
          </a:prstGeom>
          <a:solidFill>
            <a:schemeClr val="accent1">
              <a:alpha val="22000"/>
            </a:schemeClr>
          </a:solidFill>
          <a:ln/>
        </p:spPr>
      </p:sp>
      <p:sp>
        <p:nvSpPr>
          <p:cNvPr id="42" name="text_51"/>
          <p:cNvSpPr txBox="1"/>
          <p:nvPr/>
        </p:nvSpPr>
        <p:spPr>
          <a:xfrm>
            <a:off x="3300984" y="5376672"/>
            <a:ext cx="1828800" cy="384048"/>
          </a:xfrm>
          <a:prstGeom prst="rect">
            <a:avLst/>
          </a:prstGeom>
          <a:noFill/>
          <a:ln/>
        </p:spPr>
        <p:txBody>
          <a:bodyPr wrap="square" lIns="0" tIns="0" rIns="0" bIns="0" rtlCol="0" anchor="ctr"/>
          <a:lstStyle/>
          <a:p>
            <a:pPr algn="ctr" indent="0" marL="0">
              <a:buNone/>
            </a:pPr>
            <a:r>
              <a:rPr lang="en-US" sz="1250" b="1" dirty="0">
                <a:solidFill>
                  <a:srgbClr val="DDE0FF"/>
                </a:solidFill>
              </a:rPr>
              <a:t>Vehicle RC / PUC</a:t>
            </a:r>
            <a:endParaRPr lang="en-US" sz="1250" dirty="0"/>
          </a:p>
        </p:txBody>
      </p:sp>
      <p:sp>
        <p:nvSpPr>
          <p:cNvPr id="43" name="pill_52"/>
          <p:cNvSpPr/>
          <p:nvPr/>
        </p:nvSpPr>
        <p:spPr>
          <a:xfrm>
            <a:off x="5294376" y="5376672"/>
            <a:ext cx="868680" cy="384048"/>
          </a:xfrm>
          <a:prstGeom prst="roundRect">
            <a:avLst>
              <a:gd name="adj" fmla="val 50000"/>
            </a:avLst>
          </a:prstGeom>
          <a:solidFill>
            <a:schemeClr val="accent1">
              <a:alpha val="22000"/>
            </a:schemeClr>
          </a:solidFill>
          <a:ln/>
        </p:spPr>
      </p:sp>
      <p:sp>
        <p:nvSpPr>
          <p:cNvPr id="44" name="text_53"/>
          <p:cNvSpPr txBox="1"/>
          <p:nvPr/>
        </p:nvSpPr>
        <p:spPr>
          <a:xfrm>
            <a:off x="5294376" y="5376672"/>
            <a:ext cx="868680" cy="384048"/>
          </a:xfrm>
          <a:prstGeom prst="rect">
            <a:avLst/>
          </a:prstGeom>
          <a:noFill/>
          <a:ln/>
        </p:spPr>
        <p:txBody>
          <a:bodyPr wrap="square" lIns="0" tIns="0" rIns="0" bIns="0" rtlCol="0" anchor="ctr"/>
          <a:lstStyle/>
          <a:p>
            <a:pPr algn="ctr" indent="0" marL="0">
              <a:buNone/>
            </a:pPr>
            <a:r>
              <a:rPr lang="en-US" sz="1250" b="1" dirty="0">
                <a:solidFill>
                  <a:srgbClr val="DDE0FF"/>
                </a:solidFill>
              </a:rPr>
              <a:t>Bills</a:t>
            </a:r>
            <a:endParaRPr lang="en-US" sz="1250" dirty="0"/>
          </a:p>
        </p:txBody>
      </p:sp>
      <p:sp>
        <p:nvSpPr>
          <p:cNvPr id="45" name="pill_54"/>
          <p:cNvSpPr/>
          <p:nvPr/>
        </p:nvSpPr>
        <p:spPr>
          <a:xfrm>
            <a:off x="6327648" y="5376672"/>
            <a:ext cx="1325880" cy="384048"/>
          </a:xfrm>
          <a:prstGeom prst="roundRect">
            <a:avLst>
              <a:gd name="adj" fmla="val 50000"/>
            </a:avLst>
          </a:prstGeom>
          <a:solidFill>
            <a:schemeClr val="accent1">
              <a:alpha val="22000"/>
            </a:schemeClr>
          </a:solidFill>
          <a:ln/>
        </p:spPr>
      </p:sp>
      <p:sp>
        <p:nvSpPr>
          <p:cNvPr id="46" name="text_55"/>
          <p:cNvSpPr txBox="1"/>
          <p:nvPr/>
        </p:nvSpPr>
        <p:spPr>
          <a:xfrm>
            <a:off x="6327648" y="5376672"/>
            <a:ext cx="1325880" cy="384048"/>
          </a:xfrm>
          <a:prstGeom prst="rect">
            <a:avLst/>
          </a:prstGeom>
          <a:noFill/>
          <a:ln/>
        </p:spPr>
        <p:txBody>
          <a:bodyPr wrap="square" lIns="0" tIns="0" rIns="0" bIns="0" rtlCol="0" anchor="ctr"/>
          <a:lstStyle/>
          <a:p>
            <a:pPr algn="ctr" indent="0" marL="0">
              <a:buNone/>
            </a:pPr>
            <a:r>
              <a:rPr lang="en-US" sz="1250" b="1" dirty="0">
                <a:solidFill>
                  <a:srgbClr val="DDE0FF"/>
                </a:solidFill>
              </a:rPr>
              <a:t>Warranties</a:t>
            </a:r>
            <a:endParaRPr lang="en-US" sz="1250" dirty="0"/>
          </a:p>
        </p:txBody>
      </p:sp>
      <p:sp>
        <p:nvSpPr>
          <p:cNvPr id="47" name="pill_56"/>
          <p:cNvSpPr/>
          <p:nvPr/>
        </p:nvSpPr>
        <p:spPr>
          <a:xfrm>
            <a:off x="7818120" y="5376672"/>
            <a:ext cx="1463040" cy="384048"/>
          </a:xfrm>
          <a:prstGeom prst="roundRect">
            <a:avLst>
              <a:gd name="adj" fmla="val 50000"/>
            </a:avLst>
          </a:prstGeom>
          <a:solidFill>
            <a:schemeClr val="accent1">
              <a:alpha val="22000"/>
            </a:schemeClr>
          </a:solidFill>
          <a:ln/>
        </p:spPr>
      </p:sp>
      <p:sp>
        <p:nvSpPr>
          <p:cNvPr id="48" name="text_57"/>
          <p:cNvSpPr txBox="1"/>
          <p:nvPr/>
        </p:nvSpPr>
        <p:spPr>
          <a:xfrm>
            <a:off x="7818120" y="5376672"/>
            <a:ext cx="1463040" cy="384048"/>
          </a:xfrm>
          <a:prstGeom prst="rect">
            <a:avLst/>
          </a:prstGeom>
          <a:noFill/>
          <a:ln/>
        </p:spPr>
        <p:txBody>
          <a:bodyPr wrap="square" lIns="0" tIns="0" rIns="0" bIns="0" rtlCol="0" anchor="ctr"/>
          <a:lstStyle/>
          <a:p>
            <a:pPr algn="ctr" indent="0" marL="0">
              <a:buNone/>
            </a:pPr>
            <a:r>
              <a:rPr lang="en-US" sz="1250" b="1" dirty="0">
                <a:solidFill>
                  <a:srgbClr val="DDE0FF"/>
                </a:solidFill>
              </a:rPr>
              <a:t>Certificates</a:t>
            </a:r>
            <a:endParaRPr lang="en-US" sz="1250" dirty="0"/>
          </a:p>
        </p:txBody>
      </p:sp>
      <p:sp>
        <p:nvSpPr>
          <p:cNvPr id="49" name="pill_58"/>
          <p:cNvSpPr/>
          <p:nvPr/>
        </p:nvSpPr>
        <p:spPr>
          <a:xfrm>
            <a:off x="9445752" y="5376672"/>
            <a:ext cx="1600200" cy="384048"/>
          </a:xfrm>
          <a:prstGeom prst="roundRect">
            <a:avLst>
              <a:gd name="adj" fmla="val 50000"/>
            </a:avLst>
          </a:prstGeom>
          <a:solidFill>
            <a:schemeClr val="accent1">
              <a:alpha val="22000"/>
            </a:schemeClr>
          </a:solidFill>
          <a:ln/>
        </p:spPr>
      </p:sp>
      <p:sp>
        <p:nvSpPr>
          <p:cNvPr id="50" name="text_59"/>
          <p:cNvSpPr txBox="1"/>
          <p:nvPr/>
        </p:nvSpPr>
        <p:spPr>
          <a:xfrm>
            <a:off x="9445752" y="5376672"/>
            <a:ext cx="1600200" cy="384048"/>
          </a:xfrm>
          <a:prstGeom prst="rect">
            <a:avLst/>
          </a:prstGeom>
          <a:noFill/>
          <a:ln/>
        </p:spPr>
        <p:txBody>
          <a:bodyPr wrap="square" lIns="0" tIns="0" rIns="0" bIns="0" rtlCol="0" anchor="ctr"/>
          <a:lstStyle/>
          <a:p>
            <a:pPr algn="ctr" indent="0" marL="0">
              <a:buNone/>
            </a:pPr>
            <a:r>
              <a:rPr lang="en-US" sz="1250" b="1" dirty="0">
                <a:solidFill>
                  <a:srgbClr val="DDE0FF"/>
                </a:solidFill>
              </a:rPr>
              <a:t>Subscriptions</a:t>
            </a:r>
            <a:endParaRPr lang="en-US" sz="125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KEY FEATURES</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Six things LifeAdmin does automatically</a:t>
            </a:r>
            <a:endParaRPr lang="en-US" sz="3200" dirty="0"/>
          </a:p>
        </p:txBody>
      </p:sp>
      <p:sp>
        <p:nvSpPr>
          <p:cNvPr id="4" name="feature_60"/>
          <p:cNvSpPr/>
          <p:nvPr/>
        </p:nvSpPr>
        <p:spPr>
          <a:xfrm>
            <a:off x="548640" y="1554480"/>
            <a:ext cx="3520440" cy="2103120"/>
          </a:xfrm>
          <a:prstGeom prst="roundRect">
            <a:avLst>
              <a:gd name="adj" fmla="val 5217"/>
            </a:avLst>
          </a:prstGeom>
          <a:solidFill>
            <a:schemeClr val="tx2"/>
          </a:solidFill>
          <a:ln w="9525">
            <a:solidFill>
              <a:srgbClr val="2B3470"/>
            </a:solidFill>
            <a:prstDash val="solid"/>
          </a:ln>
        </p:spPr>
      </p:sp>
      <p:sp>
        <p:nvSpPr>
          <p:cNvPr id="5" name="icon_bg_61"/>
          <p:cNvSpPr/>
          <p:nvPr/>
        </p:nvSpPr>
        <p:spPr>
          <a:xfrm>
            <a:off x="822960" y="1828800"/>
            <a:ext cx="566928" cy="566928"/>
          </a:xfrm>
          <a:prstGeom prst="roundRect">
            <a:avLst>
              <a:gd name="adj" fmla="val 24000"/>
            </a:avLst>
          </a:prstGeom>
          <a:solidFill>
            <a:schemeClr val="accent1">
              <a:alpha val="22000"/>
            </a:schemeClr>
          </a:solidFill>
          <a:ln/>
        </p:spPr>
      </p:sp>
      <p:pic>
        <p:nvPicPr>
          <p:cNvPr id="6" name="icon_62" descr="/tmp/claude-0/-home-claude/584731ee-e493-5c78-a637-0b254e057472/scratchpad/deck/img/i_file.png">    </p:cNvPr>
          <p:cNvPicPr>
            <a:picLocks noChangeAspect="1"/>
          </p:cNvPicPr>
          <p:nvPr/>
        </p:nvPicPr>
        <p:blipFill>
          <a:blip r:embed="rId1"/>
          <a:stretch>
            <a:fillRect/>
          </a:stretch>
        </p:blipFill>
        <p:spPr>
          <a:xfrm>
            <a:off x="959023" y="1964863"/>
            <a:ext cx="294803" cy="294803"/>
          </a:xfrm>
          <a:prstGeom prst="rect">
            <a:avLst/>
          </a:prstGeom>
        </p:spPr>
      </p:pic>
      <p:sp>
        <p:nvSpPr>
          <p:cNvPr id="7" name="text_63"/>
          <p:cNvSpPr txBox="1"/>
          <p:nvPr/>
        </p:nvSpPr>
        <p:spPr>
          <a:xfrm>
            <a:off x="822960" y="2532888"/>
            <a:ext cx="3017520" cy="347472"/>
          </a:xfrm>
          <a:prstGeom prst="rect">
            <a:avLst/>
          </a:prstGeom>
          <a:noFill/>
          <a:ln/>
        </p:spPr>
        <p:txBody>
          <a:bodyPr wrap="square" lIns="0" tIns="0" rIns="0" bIns="0" rtlCol="0" anchor="t"/>
          <a:lstStyle/>
          <a:p>
            <a:pPr indent="0" marL="0">
              <a:buNone/>
            </a:pPr>
            <a:r>
              <a:rPr lang="en-US" sz="1700" b="1" dirty="0">
                <a:solidFill>
                  <a:schemeClr val="bg1"/>
                </a:solidFill>
              </a:rPr>
              <a:t>Multi-format upload</a:t>
            </a:r>
            <a:endParaRPr lang="en-US" sz="1700" dirty="0"/>
          </a:p>
        </p:txBody>
      </p:sp>
      <p:sp>
        <p:nvSpPr>
          <p:cNvPr id="8" name="text_64"/>
          <p:cNvSpPr txBox="1"/>
          <p:nvPr/>
        </p:nvSpPr>
        <p:spPr>
          <a:xfrm>
            <a:off x="822960" y="2907792"/>
            <a:ext cx="3017520" cy="658368"/>
          </a:xfrm>
          <a:prstGeom prst="rect">
            <a:avLst/>
          </a:prstGeom>
          <a:noFill/>
          <a:ln/>
        </p:spPr>
        <p:txBody>
          <a:bodyPr wrap="square" lIns="0" tIns="0" rIns="0" bIns="0" rtlCol="0" anchor="t"/>
          <a:lstStyle/>
          <a:p>
            <a:pPr indent="0" marL="0">
              <a:buNone/>
            </a:pPr>
            <a:r>
              <a:rPr lang="en-US" sz="1300" dirty="0">
                <a:solidFill>
                  <a:schemeClr val="bg2"/>
                </a:solidFill>
              </a:rPr>
              <a:t>PDF, JPG, PNG, DOCX, XLSX and TXT; validated for type and size before processing.</a:t>
            </a:r>
            <a:endParaRPr lang="en-US" sz="1300" dirty="0"/>
          </a:p>
        </p:txBody>
      </p:sp>
      <p:sp>
        <p:nvSpPr>
          <p:cNvPr id="9" name="feature_65"/>
          <p:cNvSpPr/>
          <p:nvPr/>
        </p:nvSpPr>
        <p:spPr>
          <a:xfrm>
            <a:off x="4343400" y="1554480"/>
            <a:ext cx="3520440" cy="2103120"/>
          </a:xfrm>
          <a:prstGeom prst="roundRect">
            <a:avLst>
              <a:gd name="adj" fmla="val 5217"/>
            </a:avLst>
          </a:prstGeom>
          <a:solidFill>
            <a:schemeClr val="tx2"/>
          </a:solidFill>
          <a:ln w="9525">
            <a:solidFill>
              <a:srgbClr val="2B3470"/>
            </a:solidFill>
            <a:prstDash val="solid"/>
          </a:ln>
        </p:spPr>
      </p:sp>
      <p:sp>
        <p:nvSpPr>
          <p:cNvPr id="10" name="icon_bg_66"/>
          <p:cNvSpPr/>
          <p:nvPr/>
        </p:nvSpPr>
        <p:spPr>
          <a:xfrm>
            <a:off x="4617720" y="1828800"/>
            <a:ext cx="566928" cy="566928"/>
          </a:xfrm>
          <a:prstGeom prst="roundRect">
            <a:avLst>
              <a:gd name="adj" fmla="val 24000"/>
            </a:avLst>
          </a:prstGeom>
          <a:solidFill>
            <a:schemeClr val="accent2">
              <a:alpha val="22000"/>
            </a:schemeClr>
          </a:solidFill>
          <a:ln/>
        </p:spPr>
      </p:sp>
      <p:pic>
        <p:nvPicPr>
          <p:cNvPr id="11" name="icon_67" descr="/tmp/claude-0/-home-claude/584731ee-e493-5c78-a637-0b254e057472/scratchpad/deck/img/i_regex.png">    </p:cNvPr>
          <p:cNvPicPr>
            <a:picLocks noChangeAspect="1"/>
          </p:cNvPicPr>
          <p:nvPr/>
        </p:nvPicPr>
        <p:blipFill>
          <a:blip r:embed="rId2"/>
          <a:stretch>
            <a:fillRect/>
          </a:stretch>
        </p:blipFill>
        <p:spPr>
          <a:xfrm>
            <a:off x="4753783" y="1964863"/>
            <a:ext cx="294803" cy="294803"/>
          </a:xfrm>
          <a:prstGeom prst="rect">
            <a:avLst/>
          </a:prstGeom>
        </p:spPr>
      </p:pic>
      <p:sp>
        <p:nvSpPr>
          <p:cNvPr id="12" name="text_68"/>
          <p:cNvSpPr txBox="1"/>
          <p:nvPr/>
        </p:nvSpPr>
        <p:spPr>
          <a:xfrm>
            <a:off x="4617720" y="2532888"/>
            <a:ext cx="3017520" cy="347472"/>
          </a:xfrm>
          <a:prstGeom prst="rect">
            <a:avLst/>
          </a:prstGeom>
          <a:noFill/>
          <a:ln/>
        </p:spPr>
        <p:txBody>
          <a:bodyPr wrap="square" lIns="0" tIns="0" rIns="0" bIns="0" rtlCol="0" anchor="t"/>
          <a:lstStyle/>
          <a:p>
            <a:pPr indent="0" marL="0">
              <a:buNone/>
            </a:pPr>
            <a:r>
              <a:rPr lang="en-US" sz="1700" b="1" dirty="0">
                <a:solidFill>
                  <a:schemeClr val="bg1"/>
                </a:solidFill>
              </a:rPr>
              <a:t>Automatic extraction</a:t>
            </a:r>
            <a:endParaRPr lang="en-US" sz="1700" dirty="0"/>
          </a:p>
        </p:txBody>
      </p:sp>
      <p:sp>
        <p:nvSpPr>
          <p:cNvPr id="13" name="text_69"/>
          <p:cNvSpPr txBox="1"/>
          <p:nvPr/>
        </p:nvSpPr>
        <p:spPr>
          <a:xfrm>
            <a:off x="4617720" y="2907792"/>
            <a:ext cx="3017520" cy="658368"/>
          </a:xfrm>
          <a:prstGeom prst="rect">
            <a:avLst/>
          </a:prstGeom>
          <a:noFill/>
          <a:ln/>
        </p:spPr>
        <p:txBody>
          <a:bodyPr wrap="square" lIns="0" tIns="0" rIns="0" bIns="0" rtlCol="0" anchor="t"/>
          <a:lstStyle/>
          <a:p>
            <a:pPr indent="0" marL="0">
              <a:buNone/>
            </a:pPr>
            <a:r>
              <a:rPr lang="en-US" sz="1300" dirty="0">
                <a:solidFill>
                  <a:schemeClr val="bg2"/>
                </a:solidFill>
              </a:rPr>
              <a:t>Regex finds dates, policy / ID numbers, names, vehicle numbers and ₹ amounts.</a:t>
            </a:r>
            <a:endParaRPr lang="en-US" sz="1300" dirty="0"/>
          </a:p>
        </p:txBody>
      </p:sp>
      <p:sp>
        <p:nvSpPr>
          <p:cNvPr id="14" name="feature_70"/>
          <p:cNvSpPr/>
          <p:nvPr/>
        </p:nvSpPr>
        <p:spPr>
          <a:xfrm>
            <a:off x="8138160" y="1554480"/>
            <a:ext cx="3520440" cy="2103120"/>
          </a:xfrm>
          <a:prstGeom prst="roundRect">
            <a:avLst>
              <a:gd name="adj" fmla="val 5217"/>
            </a:avLst>
          </a:prstGeom>
          <a:solidFill>
            <a:schemeClr val="tx2"/>
          </a:solidFill>
          <a:ln w="9525">
            <a:solidFill>
              <a:srgbClr val="2B3470"/>
            </a:solidFill>
            <a:prstDash val="solid"/>
          </a:ln>
        </p:spPr>
      </p:sp>
      <p:sp>
        <p:nvSpPr>
          <p:cNvPr id="15" name="icon_bg_71"/>
          <p:cNvSpPr/>
          <p:nvPr/>
        </p:nvSpPr>
        <p:spPr>
          <a:xfrm>
            <a:off x="8412480" y="1828800"/>
            <a:ext cx="566928" cy="566928"/>
          </a:xfrm>
          <a:prstGeom prst="roundRect">
            <a:avLst>
              <a:gd name="adj" fmla="val 24000"/>
            </a:avLst>
          </a:prstGeom>
          <a:solidFill>
            <a:schemeClr val="accent6">
              <a:alpha val="22000"/>
            </a:schemeClr>
          </a:solidFill>
          <a:ln/>
        </p:spPr>
      </p:sp>
      <p:pic>
        <p:nvPicPr>
          <p:cNvPr id="16" name="icon_72" descr="/tmp/claude-0/-home-claude/584731ee-e493-5c78-a637-0b254e057472/scratchpad/deck/img/i_tags.png">    </p:cNvPr>
          <p:cNvPicPr>
            <a:picLocks noChangeAspect="1"/>
          </p:cNvPicPr>
          <p:nvPr/>
        </p:nvPicPr>
        <p:blipFill>
          <a:blip r:embed="rId3"/>
          <a:stretch>
            <a:fillRect/>
          </a:stretch>
        </p:blipFill>
        <p:spPr>
          <a:xfrm>
            <a:off x="8548543" y="1964863"/>
            <a:ext cx="294803" cy="294803"/>
          </a:xfrm>
          <a:prstGeom prst="rect">
            <a:avLst/>
          </a:prstGeom>
        </p:spPr>
      </p:pic>
      <p:sp>
        <p:nvSpPr>
          <p:cNvPr id="17" name="text_73"/>
          <p:cNvSpPr txBox="1"/>
          <p:nvPr/>
        </p:nvSpPr>
        <p:spPr>
          <a:xfrm>
            <a:off x="8412480" y="2532888"/>
            <a:ext cx="3017520" cy="347472"/>
          </a:xfrm>
          <a:prstGeom prst="rect">
            <a:avLst/>
          </a:prstGeom>
          <a:noFill/>
          <a:ln/>
        </p:spPr>
        <p:txBody>
          <a:bodyPr wrap="square" lIns="0" tIns="0" rIns="0" bIns="0" rtlCol="0" anchor="t"/>
          <a:lstStyle/>
          <a:p>
            <a:pPr indent="0" marL="0">
              <a:buNone/>
            </a:pPr>
            <a:r>
              <a:rPr lang="en-US" sz="1700" b="1" dirty="0">
                <a:solidFill>
                  <a:schemeClr val="bg1"/>
                </a:solidFill>
              </a:rPr>
              <a:t>Auto classification</a:t>
            </a:r>
            <a:endParaRPr lang="en-US" sz="1700" dirty="0"/>
          </a:p>
        </p:txBody>
      </p:sp>
      <p:sp>
        <p:nvSpPr>
          <p:cNvPr id="18" name="text_74"/>
          <p:cNvSpPr txBox="1"/>
          <p:nvPr/>
        </p:nvSpPr>
        <p:spPr>
          <a:xfrm>
            <a:off x="8412480" y="2907792"/>
            <a:ext cx="3017520" cy="658368"/>
          </a:xfrm>
          <a:prstGeom prst="rect">
            <a:avLst/>
          </a:prstGeom>
          <a:noFill/>
          <a:ln/>
        </p:spPr>
        <p:txBody>
          <a:bodyPr wrap="square" lIns="0" tIns="0" rIns="0" bIns="0" rtlCol="0" anchor="t"/>
          <a:lstStyle/>
          <a:p>
            <a:pPr indent="0" marL="0">
              <a:buNone/>
            </a:pPr>
            <a:r>
              <a:rPr lang="en-US" sz="1300" dirty="0">
                <a:solidFill>
                  <a:schemeClr val="bg2"/>
                </a:solidFill>
              </a:rPr>
              <a:t>Keyword scoring sorts each file into one of 8 types, with a confidence %.</a:t>
            </a:r>
            <a:endParaRPr lang="en-US" sz="1300" dirty="0"/>
          </a:p>
        </p:txBody>
      </p:sp>
      <p:sp>
        <p:nvSpPr>
          <p:cNvPr id="19" name="feature_75"/>
          <p:cNvSpPr/>
          <p:nvPr/>
        </p:nvSpPr>
        <p:spPr>
          <a:xfrm>
            <a:off x="548640" y="3886200"/>
            <a:ext cx="3520440" cy="2103120"/>
          </a:xfrm>
          <a:prstGeom prst="roundRect">
            <a:avLst>
              <a:gd name="adj" fmla="val 5217"/>
            </a:avLst>
          </a:prstGeom>
          <a:solidFill>
            <a:schemeClr val="tx2"/>
          </a:solidFill>
          <a:ln w="9525">
            <a:solidFill>
              <a:srgbClr val="2B3470"/>
            </a:solidFill>
            <a:prstDash val="solid"/>
          </a:ln>
        </p:spPr>
      </p:sp>
      <p:sp>
        <p:nvSpPr>
          <p:cNvPr id="20" name="icon_bg_76"/>
          <p:cNvSpPr/>
          <p:nvPr/>
        </p:nvSpPr>
        <p:spPr>
          <a:xfrm>
            <a:off x="822960" y="4160520"/>
            <a:ext cx="566928" cy="566928"/>
          </a:xfrm>
          <a:prstGeom prst="roundRect">
            <a:avLst>
              <a:gd name="adj" fmla="val 24000"/>
            </a:avLst>
          </a:prstGeom>
          <a:solidFill>
            <a:schemeClr val="accent4">
              <a:alpha val="22000"/>
            </a:schemeClr>
          </a:solidFill>
          <a:ln/>
        </p:spPr>
      </p:sp>
      <p:pic>
        <p:nvPicPr>
          <p:cNvPr id="21" name="icon_77" descr="/tmp/claude-0/-home-claude/584731ee-e493-5c78-a637-0b254e057472/scratchpad/deck/img/i_clock.png">    </p:cNvPr>
          <p:cNvPicPr>
            <a:picLocks noChangeAspect="1"/>
          </p:cNvPicPr>
          <p:nvPr/>
        </p:nvPicPr>
        <p:blipFill>
          <a:blip r:embed="rId4"/>
          <a:stretch>
            <a:fillRect/>
          </a:stretch>
        </p:blipFill>
        <p:spPr>
          <a:xfrm>
            <a:off x="959023" y="4296583"/>
            <a:ext cx="294803" cy="294803"/>
          </a:xfrm>
          <a:prstGeom prst="rect">
            <a:avLst/>
          </a:prstGeom>
        </p:spPr>
      </p:pic>
      <p:sp>
        <p:nvSpPr>
          <p:cNvPr id="22" name="text_78"/>
          <p:cNvSpPr txBox="1"/>
          <p:nvPr/>
        </p:nvSpPr>
        <p:spPr>
          <a:xfrm>
            <a:off x="822960" y="4864608"/>
            <a:ext cx="3017520" cy="347472"/>
          </a:xfrm>
          <a:prstGeom prst="rect">
            <a:avLst/>
          </a:prstGeom>
          <a:noFill/>
          <a:ln/>
        </p:spPr>
        <p:txBody>
          <a:bodyPr wrap="square" lIns="0" tIns="0" rIns="0" bIns="0" rtlCol="0" anchor="t"/>
          <a:lstStyle/>
          <a:p>
            <a:pPr indent="0" marL="0">
              <a:buNone/>
            </a:pPr>
            <a:r>
              <a:rPr lang="en-US" sz="1700" b="1" dirty="0">
                <a:solidFill>
                  <a:schemeClr val="bg1"/>
                </a:solidFill>
              </a:rPr>
              <a:t>Smart reminders</a:t>
            </a:r>
            <a:endParaRPr lang="en-US" sz="1700" dirty="0"/>
          </a:p>
        </p:txBody>
      </p:sp>
      <p:sp>
        <p:nvSpPr>
          <p:cNvPr id="23" name="text_79"/>
          <p:cNvSpPr txBox="1"/>
          <p:nvPr/>
        </p:nvSpPr>
        <p:spPr>
          <a:xfrm>
            <a:off x="822960" y="5239512"/>
            <a:ext cx="3017520" cy="658368"/>
          </a:xfrm>
          <a:prstGeom prst="rect">
            <a:avLst/>
          </a:prstGeom>
          <a:noFill/>
          <a:ln/>
        </p:spPr>
        <p:txBody>
          <a:bodyPr wrap="square" lIns="0" tIns="0" rIns="0" bIns="0" rtlCol="0" anchor="t"/>
          <a:lstStyle/>
          <a:p>
            <a:pPr indent="0" marL="0">
              <a:buNone/>
            </a:pPr>
            <a:r>
              <a:rPr lang="en-US" sz="1300" dirty="0">
                <a:solidFill>
                  <a:schemeClr val="bg2"/>
                </a:solidFill>
              </a:rPr>
              <a:t>Active &gt; 30 days · Expiring ≤ 30 · Critical ≤ 7 · Expired after the date.</a:t>
            </a:r>
            <a:endParaRPr lang="en-US" sz="1300" dirty="0"/>
          </a:p>
        </p:txBody>
      </p:sp>
      <p:sp>
        <p:nvSpPr>
          <p:cNvPr id="24" name="feature_80"/>
          <p:cNvSpPr/>
          <p:nvPr/>
        </p:nvSpPr>
        <p:spPr>
          <a:xfrm>
            <a:off x="4343400" y="3886200"/>
            <a:ext cx="3520440" cy="2103120"/>
          </a:xfrm>
          <a:prstGeom prst="roundRect">
            <a:avLst>
              <a:gd name="adj" fmla="val 5217"/>
            </a:avLst>
          </a:prstGeom>
          <a:solidFill>
            <a:schemeClr val="tx2"/>
          </a:solidFill>
          <a:ln w="9525">
            <a:solidFill>
              <a:srgbClr val="2B3470"/>
            </a:solidFill>
            <a:prstDash val="solid"/>
          </a:ln>
        </p:spPr>
      </p:sp>
      <p:sp>
        <p:nvSpPr>
          <p:cNvPr id="25" name="icon_bg_81"/>
          <p:cNvSpPr/>
          <p:nvPr/>
        </p:nvSpPr>
        <p:spPr>
          <a:xfrm>
            <a:off x="4617720" y="4160520"/>
            <a:ext cx="566928" cy="566928"/>
          </a:xfrm>
          <a:prstGeom prst="roundRect">
            <a:avLst>
              <a:gd name="adj" fmla="val 24000"/>
            </a:avLst>
          </a:prstGeom>
          <a:solidFill>
            <a:schemeClr val="accent3">
              <a:alpha val="22000"/>
            </a:schemeClr>
          </a:solidFill>
          <a:ln/>
        </p:spPr>
      </p:sp>
      <p:pic>
        <p:nvPicPr>
          <p:cNvPr id="26" name="icon_82" descr="/tmp/claude-0/-home-claude/584731ee-e493-5c78-a637-0b254e057472/scratchpad/deck/img/i_heart.png">    </p:cNvPr>
          <p:cNvPicPr>
            <a:picLocks noChangeAspect="1"/>
          </p:cNvPicPr>
          <p:nvPr/>
        </p:nvPicPr>
        <p:blipFill>
          <a:blip r:embed="rId5"/>
          <a:stretch>
            <a:fillRect/>
          </a:stretch>
        </p:blipFill>
        <p:spPr>
          <a:xfrm>
            <a:off x="4753783" y="4296583"/>
            <a:ext cx="294803" cy="294803"/>
          </a:xfrm>
          <a:prstGeom prst="rect">
            <a:avLst/>
          </a:prstGeom>
        </p:spPr>
      </p:pic>
      <p:sp>
        <p:nvSpPr>
          <p:cNvPr id="27" name="text_83"/>
          <p:cNvSpPr txBox="1"/>
          <p:nvPr/>
        </p:nvSpPr>
        <p:spPr>
          <a:xfrm>
            <a:off x="4617720" y="4864608"/>
            <a:ext cx="3017520" cy="347472"/>
          </a:xfrm>
          <a:prstGeom prst="rect">
            <a:avLst/>
          </a:prstGeom>
          <a:noFill/>
          <a:ln/>
        </p:spPr>
        <p:txBody>
          <a:bodyPr wrap="square" lIns="0" tIns="0" rIns="0" bIns="0" rtlCol="0" anchor="t"/>
          <a:lstStyle/>
          <a:p>
            <a:pPr indent="0" marL="0">
              <a:buNone/>
            </a:pPr>
            <a:r>
              <a:rPr lang="en-US" sz="1700" b="1" dirty="0">
                <a:solidFill>
                  <a:schemeClr val="bg1"/>
                </a:solidFill>
              </a:rPr>
              <a:t>Health score</a:t>
            </a:r>
            <a:endParaRPr lang="en-US" sz="1700" dirty="0"/>
          </a:p>
        </p:txBody>
      </p:sp>
      <p:sp>
        <p:nvSpPr>
          <p:cNvPr id="28" name="text_84"/>
          <p:cNvSpPr txBox="1"/>
          <p:nvPr/>
        </p:nvSpPr>
        <p:spPr>
          <a:xfrm>
            <a:off x="4617720" y="5239512"/>
            <a:ext cx="3017520" cy="658368"/>
          </a:xfrm>
          <a:prstGeom prst="rect">
            <a:avLst/>
          </a:prstGeom>
          <a:noFill/>
          <a:ln/>
        </p:spPr>
        <p:txBody>
          <a:bodyPr wrap="square" lIns="0" tIns="0" rIns="0" bIns="0" rtlCol="0" anchor="t"/>
          <a:lstStyle/>
          <a:p>
            <a:pPr indent="0" marL="0">
              <a:buNone/>
            </a:pPr>
            <a:r>
              <a:rPr lang="en-US" sz="1300" dirty="0">
                <a:solidFill>
                  <a:schemeClr val="bg2"/>
                </a:solidFill>
              </a:rPr>
              <a:t>Rates each document on completeness (5 fields) and timeliness (days left).</a:t>
            </a:r>
            <a:endParaRPr lang="en-US" sz="1300" dirty="0"/>
          </a:p>
        </p:txBody>
      </p:sp>
      <p:sp>
        <p:nvSpPr>
          <p:cNvPr id="29" name="feature_85"/>
          <p:cNvSpPr/>
          <p:nvPr/>
        </p:nvSpPr>
        <p:spPr>
          <a:xfrm>
            <a:off x="8138160" y="3886200"/>
            <a:ext cx="3520440" cy="2103120"/>
          </a:xfrm>
          <a:prstGeom prst="roundRect">
            <a:avLst>
              <a:gd name="adj" fmla="val 5217"/>
            </a:avLst>
          </a:prstGeom>
          <a:solidFill>
            <a:schemeClr val="tx2"/>
          </a:solidFill>
          <a:ln w="9525">
            <a:solidFill>
              <a:srgbClr val="2B3470"/>
            </a:solidFill>
            <a:prstDash val="solid"/>
          </a:ln>
        </p:spPr>
      </p:sp>
      <p:sp>
        <p:nvSpPr>
          <p:cNvPr id="30" name="icon_bg_86"/>
          <p:cNvSpPr/>
          <p:nvPr/>
        </p:nvSpPr>
        <p:spPr>
          <a:xfrm>
            <a:off x="8412480" y="4160520"/>
            <a:ext cx="566928" cy="566928"/>
          </a:xfrm>
          <a:prstGeom prst="roundRect">
            <a:avLst>
              <a:gd name="adj" fmla="val 24000"/>
            </a:avLst>
          </a:prstGeom>
          <a:solidFill>
            <a:schemeClr val="accent1">
              <a:alpha val="22000"/>
            </a:schemeClr>
          </a:solidFill>
          <a:ln/>
        </p:spPr>
      </p:sp>
      <p:pic>
        <p:nvPicPr>
          <p:cNvPr id="31" name="icon_87" descr="/tmp/claude-0/-home-claude/584731ee-e493-5c78-a637-0b254e057472/scratchpad/deck/img/i_download.png">    </p:cNvPr>
          <p:cNvPicPr>
            <a:picLocks noChangeAspect="1"/>
          </p:cNvPicPr>
          <p:nvPr/>
        </p:nvPicPr>
        <p:blipFill>
          <a:blip r:embed="rId6"/>
          <a:stretch>
            <a:fillRect/>
          </a:stretch>
        </p:blipFill>
        <p:spPr>
          <a:xfrm>
            <a:off x="8548543" y="4296583"/>
            <a:ext cx="294803" cy="294803"/>
          </a:xfrm>
          <a:prstGeom prst="rect">
            <a:avLst/>
          </a:prstGeom>
        </p:spPr>
      </p:pic>
      <p:sp>
        <p:nvSpPr>
          <p:cNvPr id="32" name="text_88"/>
          <p:cNvSpPr txBox="1"/>
          <p:nvPr/>
        </p:nvSpPr>
        <p:spPr>
          <a:xfrm>
            <a:off x="8412480" y="4864608"/>
            <a:ext cx="3017520" cy="347472"/>
          </a:xfrm>
          <a:prstGeom prst="rect">
            <a:avLst/>
          </a:prstGeom>
          <a:noFill/>
          <a:ln/>
        </p:spPr>
        <p:txBody>
          <a:bodyPr wrap="square" lIns="0" tIns="0" rIns="0" bIns="0" rtlCol="0" anchor="t"/>
          <a:lstStyle/>
          <a:p>
            <a:pPr indent="0" marL="0">
              <a:buNone/>
            </a:pPr>
            <a:r>
              <a:rPr lang="en-US" sz="1700" b="1" dirty="0">
                <a:solidFill>
                  <a:schemeClr val="bg1"/>
                </a:solidFill>
              </a:rPr>
              <a:t>Dashboard &amp; export</a:t>
            </a:r>
            <a:endParaRPr lang="en-US" sz="1700" dirty="0"/>
          </a:p>
        </p:txBody>
      </p:sp>
      <p:sp>
        <p:nvSpPr>
          <p:cNvPr id="33" name="text_89"/>
          <p:cNvSpPr txBox="1"/>
          <p:nvPr/>
        </p:nvSpPr>
        <p:spPr>
          <a:xfrm>
            <a:off x="8412480" y="5239512"/>
            <a:ext cx="3017520" cy="658368"/>
          </a:xfrm>
          <a:prstGeom prst="rect">
            <a:avLst/>
          </a:prstGeom>
          <a:noFill/>
          <a:ln/>
        </p:spPr>
        <p:txBody>
          <a:bodyPr wrap="square" lIns="0" tIns="0" rIns="0" bIns="0" rtlCol="0" anchor="t"/>
          <a:lstStyle/>
          <a:p>
            <a:pPr indent="0" marL="0">
              <a:buNone/>
            </a:pPr>
            <a:r>
              <a:rPr lang="en-US" sz="1300" dirty="0">
                <a:solidFill>
                  <a:schemeClr val="bg2"/>
                </a:solidFill>
              </a:rPr>
              <a:t>Live charts, search, CSV export and an .ics calendar with 30 / 7-day alarms.</a:t>
            </a:r>
            <a:endParaRPr lang="en-US" sz="13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TECHNOLOGY &amp; APIs USED</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No paid API: open-source Python libraries only</a:t>
            </a:r>
            <a:endParaRPr lang="en-US" sz="3200" dirty="0"/>
          </a:p>
        </p:txBody>
      </p:sp>
      <p:sp>
        <p:nvSpPr>
          <p:cNvPr id="4" name="no_api_90"/>
          <p:cNvSpPr/>
          <p:nvPr/>
        </p:nvSpPr>
        <p:spPr>
          <a:xfrm>
            <a:off x="548640" y="1481328"/>
            <a:ext cx="11064240" cy="713232"/>
          </a:xfrm>
          <a:prstGeom prst="roundRect">
            <a:avLst>
              <a:gd name="adj" fmla="val 15385"/>
            </a:avLst>
          </a:prstGeom>
          <a:solidFill>
            <a:schemeClr val="accent3">
              <a:alpha val="14000"/>
            </a:schemeClr>
          </a:solidFill>
          <a:ln w="9525">
            <a:solidFill>
              <a:schemeClr val="accent3"/>
            </a:solidFill>
            <a:prstDash val="solid"/>
          </a:ln>
        </p:spPr>
      </p:sp>
      <p:sp>
        <p:nvSpPr>
          <p:cNvPr id="5" name="icon_bg_91"/>
          <p:cNvSpPr/>
          <p:nvPr/>
        </p:nvSpPr>
        <p:spPr>
          <a:xfrm>
            <a:off x="713232" y="1581912"/>
            <a:ext cx="512064" cy="512064"/>
          </a:xfrm>
          <a:prstGeom prst="roundRect">
            <a:avLst>
              <a:gd name="adj" fmla="val 24000"/>
            </a:avLst>
          </a:prstGeom>
          <a:solidFill>
            <a:schemeClr val="accent3">
              <a:alpha val="22000"/>
            </a:schemeClr>
          </a:solidFill>
          <a:ln/>
        </p:spPr>
      </p:sp>
      <p:pic>
        <p:nvPicPr>
          <p:cNvPr id="6" name="icon_92" descr="/tmp/claude-0/-home-claude/584731ee-e493-5c78-a637-0b254e057472/scratchpad/deck/img/i_lock.png">    </p:cNvPr>
          <p:cNvPicPr>
            <a:picLocks noChangeAspect="1"/>
          </p:cNvPicPr>
          <p:nvPr/>
        </p:nvPicPr>
        <p:blipFill>
          <a:blip r:embed="rId1"/>
          <a:stretch>
            <a:fillRect/>
          </a:stretch>
        </p:blipFill>
        <p:spPr>
          <a:xfrm>
            <a:off x="836127" y="1704807"/>
            <a:ext cx="266273" cy="266273"/>
          </a:xfrm>
          <a:prstGeom prst="rect">
            <a:avLst/>
          </a:prstGeom>
        </p:spPr>
      </p:pic>
      <p:sp>
        <p:nvSpPr>
          <p:cNvPr id="7" name="text_93"/>
          <p:cNvSpPr txBox="1"/>
          <p:nvPr/>
        </p:nvSpPr>
        <p:spPr>
          <a:xfrm>
            <a:off x="1371600" y="1481328"/>
            <a:ext cx="10058400" cy="713232"/>
          </a:xfrm>
          <a:prstGeom prst="rect">
            <a:avLst/>
          </a:prstGeom>
          <a:noFill/>
          <a:ln/>
        </p:spPr>
        <p:txBody>
          <a:bodyPr wrap="square" lIns="0" tIns="0" rIns="0" bIns="0" rtlCol="0" anchor="ctr"/>
          <a:lstStyle/>
          <a:p>
            <a:pPr indent="0" marL="0">
              <a:buNone/>
            </a:pPr>
            <a:r>
              <a:rPr lang="en-US" sz="1500" b="1" dirty="0">
                <a:solidFill>
                  <a:schemeClr val="bg1"/>
                </a:solidFill>
              </a:rPr>
              <a:t>No external web API, no API keys, ₹0 cost.  </a:t>
            </a:r>
            <a:pPr indent="0" marL="0">
              <a:buNone/>
            </a:pPr>
            <a:r>
              <a:rPr lang="en-US" sz="1500" dirty="0">
                <a:solidFill>
                  <a:srgbClr val="D1FAE5"/>
                </a:solidFill>
              </a:rPr>
              <a:t>Every feature uses a free Python library running locally on the user's computer.</a:t>
            </a:r>
            <a:endParaRPr lang="en-US" sz="1500" dirty="0"/>
          </a:p>
        </p:txBody>
      </p:sp>
      <p:sp>
        <p:nvSpPr>
          <p:cNvPr id="8" name="lib_94"/>
          <p:cNvSpPr/>
          <p:nvPr/>
        </p:nvSpPr>
        <p:spPr>
          <a:xfrm>
            <a:off x="548640" y="2423160"/>
            <a:ext cx="3566160" cy="1005840"/>
          </a:xfrm>
          <a:prstGeom prst="roundRect">
            <a:avLst>
              <a:gd name="adj" fmla="val 10909"/>
            </a:avLst>
          </a:prstGeom>
          <a:solidFill>
            <a:schemeClr val="tx2"/>
          </a:solidFill>
          <a:ln w="9525">
            <a:solidFill>
              <a:srgbClr val="2B3470"/>
            </a:solidFill>
            <a:prstDash val="solid"/>
          </a:ln>
        </p:spPr>
      </p:sp>
      <p:sp>
        <p:nvSpPr>
          <p:cNvPr id="9" name="dot_95"/>
          <p:cNvSpPr/>
          <p:nvPr/>
        </p:nvSpPr>
        <p:spPr>
          <a:xfrm>
            <a:off x="777240" y="2670048"/>
            <a:ext cx="146304" cy="146304"/>
          </a:xfrm>
          <a:prstGeom prst="ellipse">
            <a:avLst/>
          </a:prstGeom>
          <a:solidFill>
            <a:schemeClr val="accent2"/>
          </a:solidFill>
          <a:ln/>
        </p:spPr>
      </p:sp>
      <p:sp>
        <p:nvSpPr>
          <p:cNvPr id="10" name="text_96"/>
          <p:cNvSpPr txBox="1"/>
          <p:nvPr/>
        </p:nvSpPr>
        <p:spPr>
          <a:xfrm>
            <a:off x="1024128" y="2560320"/>
            <a:ext cx="2011680" cy="347472"/>
          </a:xfrm>
          <a:prstGeom prst="rect">
            <a:avLst/>
          </a:prstGeom>
          <a:noFill/>
          <a:ln/>
        </p:spPr>
        <p:txBody>
          <a:bodyPr wrap="square" lIns="0" tIns="0" rIns="0" bIns="0" rtlCol="0" anchor="t"/>
          <a:lstStyle/>
          <a:p>
            <a:pPr indent="0" marL="0">
              <a:buNone/>
            </a:pPr>
            <a:r>
              <a:rPr lang="en-US" sz="1550" b="1" dirty="0">
                <a:solidFill>
                  <a:schemeClr val="bg1"/>
                </a:solidFill>
              </a:rPr>
              <a:t>Streamlit</a:t>
            </a:r>
            <a:endParaRPr lang="en-US" sz="1550" dirty="0"/>
          </a:p>
        </p:txBody>
      </p:sp>
      <p:sp>
        <p:nvSpPr>
          <p:cNvPr id="11" name="pill_97"/>
          <p:cNvSpPr/>
          <p:nvPr/>
        </p:nvSpPr>
        <p:spPr>
          <a:xfrm>
            <a:off x="2944368" y="2596896"/>
            <a:ext cx="1033272" cy="274320"/>
          </a:xfrm>
          <a:prstGeom prst="roundRect">
            <a:avLst>
              <a:gd name="adj" fmla="val 50000"/>
            </a:avLst>
          </a:prstGeom>
          <a:solidFill>
            <a:schemeClr val="accent2">
              <a:alpha val="22000"/>
            </a:schemeClr>
          </a:solidFill>
          <a:ln/>
        </p:spPr>
      </p:sp>
      <p:sp>
        <p:nvSpPr>
          <p:cNvPr id="12" name="text_98"/>
          <p:cNvSpPr txBox="1"/>
          <p:nvPr/>
        </p:nvSpPr>
        <p:spPr>
          <a:xfrm>
            <a:off x="2944368" y="2596896"/>
            <a:ext cx="1033272" cy="274320"/>
          </a:xfrm>
          <a:prstGeom prst="rect">
            <a:avLst/>
          </a:prstGeom>
          <a:noFill/>
          <a:ln/>
        </p:spPr>
        <p:txBody>
          <a:bodyPr wrap="square" lIns="0" tIns="0" rIns="0" bIns="0" rtlCol="0" anchor="ctr"/>
          <a:lstStyle/>
          <a:p>
            <a:pPr algn="ctr" indent="0" marL="0">
              <a:buNone/>
            </a:pPr>
            <a:r>
              <a:rPr lang="en-US" sz="950" b="1" dirty="0">
                <a:solidFill>
                  <a:srgbClr val="E0E3FF"/>
                </a:solidFill>
              </a:rPr>
              <a:t>app.py</a:t>
            </a:r>
            <a:endParaRPr lang="en-US" sz="950" dirty="0"/>
          </a:p>
        </p:txBody>
      </p:sp>
      <p:sp>
        <p:nvSpPr>
          <p:cNvPr id="13" name="text_99"/>
          <p:cNvSpPr txBox="1"/>
          <p:nvPr/>
        </p:nvSpPr>
        <p:spPr>
          <a:xfrm>
            <a:off x="1024128" y="2953512"/>
            <a:ext cx="2971800" cy="365760"/>
          </a:xfrm>
          <a:prstGeom prst="rect">
            <a:avLst/>
          </a:prstGeom>
          <a:noFill/>
          <a:ln/>
        </p:spPr>
        <p:txBody>
          <a:bodyPr wrap="square" lIns="0" tIns="0" rIns="0" bIns="0" rtlCol="0" anchor="t"/>
          <a:lstStyle/>
          <a:p>
            <a:pPr indent="0" marL="0">
              <a:buNone/>
            </a:pPr>
            <a:r>
              <a:rPr lang="en-US" sz="1250" dirty="0">
                <a:solidFill>
                  <a:schemeClr val="bg2"/>
                </a:solidFill>
              </a:rPr>
              <a:t>Web UI framework: pages, forms, upload</a:t>
            </a:r>
            <a:endParaRPr lang="en-US" sz="1250" dirty="0"/>
          </a:p>
        </p:txBody>
      </p:sp>
      <p:sp>
        <p:nvSpPr>
          <p:cNvPr id="14" name="lib_100"/>
          <p:cNvSpPr/>
          <p:nvPr/>
        </p:nvSpPr>
        <p:spPr>
          <a:xfrm>
            <a:off x="4270248" y="2423160"/>
            <a:ext cx="3566160" cy="1005840"/>
          </a:xfrm>
          <a:prstGeom prst="roundRect">
            <a:avLst>
              <a:gd name="adj" fmla="val 10909"/>
            </a:avLst>
          </a:prstGeom>
          <a:solidFill>
            <a:schemeClr val="tx2"/>
          </a:solidFill>
          <a:ln w="9525">
            <a:solidFill>
              <a:srgbClr val="2B3470"/>
            </a:solidFill>
            <a:prstDash val="solid"/>
          </a:ln>
        </p:spPr>
      </p:sp>
      <p:sp>
        <p:nvSpPr>
          <p:cNvPr id="15" name="dot_101"/>
          <p:cNvSpPr/>
          <p:nvPr/>
        </p:nvSpPr>
        <p:spPr>
          <a:xfrm>
            <a:off x="4498848" y="2670048"/>
            <a:ext cx="146304" cy="146304"/>
          </a:xfrm>
          <a:prstGeom prst="ellipse">
            <a:avLst/>
          </a:prstGeom>
          <a:solidFill>
            <a:schemeClr val="accent6"/>
          </a:solidFill>
          <a:ln/>
        </p:spPr>
      </p:sp>
      <p:sp>
        <p:nvSpPr>
          <p:cNvPr id="16" name="text_102"/>
          <p:cNvSpPr txBox="1"/>
          <p:nvPr/>
        </p:nvSpPr>
        <p:spPr>
          <a:xfrm>
            <a:off x="4745736" y="2560320"/>
            <a:ext cx="2011680" cy="347472"/>
          </a:xfrm>
          <a:prstGeom prst="rect">
            <a:avLst/>
          </a:prstGeom>
          <a:noFill/>
          <a:ln/>
        </p:spPr>
        <p:txBody>
          <a:bodyPr wrap="square" lIns="0" tIns="0" rIns="0" bIns="0" rtlCol="0" anchor="t"/>
          <a:lstStyle/>
          <a:p>
            <a:pPr indent="0" marL="0">
              <a:buNone/>
            </a:pPr>
            <a:r>
              <a:rPr lang="en-US" sz="1550" b="1" dirty="0">
                <a:solidFill>
                  <a:schemeClr val="bg1"/>
                </a:solidFill>
              </a:rPr>
              <a:t>SQLite (sqlite3)</a:t>
            </a:r>
            <a:endParaRPr lang="en-US" sz="1550" dirty="0"/>
          </a:p>
        </p:txBody>
      </p:sp>
      <p:sp>
        <p:nvSpPr>
          <p:cNvPr id="17" name="pill_103"/>
          <p:cNvSpPr/>
          <p:nvPr/>
        </p:nvSpPr>
        <p:spPr>
          <a:xfrm>
            <a:off x="6665976" y="2596896"/>
            <a:ext cx="1033272" cy="274320"/>
          </a:xfrm>
          <a:prstGeom prst="roundRect">
            <a:avLst>
              <a:gd name="adj" fmla="val 50000"/>
            </a:avLst>
          </a:prstGeom>
          <a:solidFill>
            <a:schemeClr val="accent6">
              <a:alpha val="22000"/>
            </a:schemeClr>
          </a:solidFill>
          <a:ln/>
        </p:spPr>
      </p:sp>
      <p:sp>
        <p:nvSpPr>
          <p:cNvPr id="18" name="text_104"/>
          <p:cNvSpPr txBox="1"/>
          <p:nvPr/>
        </p:nvSpPr>
        <p:spPr>
          <a:xfrm>
            <a:off x="6665976" y="2596896"/>
            <a:ext cx="1033272" cy="274320"/>
          </a:xfrm>
          <a:prstGeom prst="rect">
            <a:avLst/>
          </a:prstGeom>
          <a:noFill/>
          <a:ln/>
        </p:spPr>
        <p:txBody>
          <a:bodyPr wrap="square" lIns="0" tIns="0" rIns="0" bIns="0" rtlCol="0" anchor="ctr"/>
          <a:lstStyle/>
          <a:p>
            <a:pPr algn="ctr" indent="0" marL="0">
              <a:buNone/>
            </a:pPr>
            <a:r>
              <a:rPr lang="en-US" sz="950" b="1" dirty="0">
                <a:solidFill>
                  <a:srgbClr val="E0E3FF"/>
                </a:solidFill>
              </a:rPr>
              <a:t>database.py</a:t>
            </a:r>
            <a:endParaRPr lang="en-US" sz="950" dirty="0"/>
          </a:p>
        </p:txBody>
      </p:sp>
      <p:sp>
        <p:nvSpPr>
          <p:cNvPr id="19" name="text_105"/>
          <p:cNvSpPr txBox="1"/>
          <p:nvPr/>
        </p:nvSpPr>
        <p:spPr>
          <a:xfrm>
            <a:off x="4745736" y="2953512"/>
            <a:ext cx="2971800" cy="365760"/>
          </a:xfrm>
          <a:prstGeom prst="rect">
            <a:avLst/>
          </a:prstGeom>
          <a:noFill/>
          <a:ln/>
        </p:spPr>
        <p:txBody>
          <a:bodyPr wrap="square" lIns="0" tIns="0" rIns="0" bIns="0" rtlCol="0" anchor="t"/>
          <a:lstStyle/>
          <a:p>
            <a:pPr indent="0" marL="0">
              <a:buNone/>
            </a:pPr>
            <a:r>
              <a:rPr lang="en-US" sz="1250" dirty="0">
                <a:solidFill>
                  <a:schemeClr val="bg2"/>
                </a:solidFill>
              </a:rPr>
              <a:t>Built-in database for documents and logs</a:t>
            </a:r>
            <a:endParaRPr lang="en-US" sz="1250" dirty="0"/>
          </a:p>
        </p:txBody>
      </p:sp>
      <p:sp>
        <p:nvSpPr>
          <p:cNvPr id="20" name="lib_106"/>
          <p:cNvSpPr/>
          <p:nvPr/>
        </p:nvSpPr>
        <p:spPr>
          <a:xfrm>
            <a:off x="7991856" y="2423160"/>
            <a:ext cx="3566160" cy="1005840"/>
          </a:xfrm>
          <a:prstGeom prst="roundRect">
            <a:avLst>
              <a:gd name="adj" fmla="val 10909"/>
            </a:avLst>
          </a:prstGeom>
          <a:solidFill>
            <a:schemeClr val="tx2"/>
          </a:solidFill>
          <a:ln w="9525">
            <a:solidFill>
              <a:srgbClr val="2B3470"/>
            </a:solidFill>
            <a:prstDash val="solid"/>
          </a:ln>
        </p:spPr>
      </p:sp>
      <p:sp>
        <p:nvSpPr>
          <p:cNvPr id="21" name="dot_107"/>
          <p:cNvSpPr/>
          <p:nvPr/>
        </p:nvSpPr>
        <p:spPr>
          <a:xfrm>
            <a:off x="8220456" y="2670048"/>
            <a:ext cx="146304" cy="146304"/>
          </a:xfrm>
          <a:prstGeom prst="ellipse">
            <a:avLst/>
          </a:prstGeom>
          <a:solidFill>
            <a:schemeClr val="accent1"/>
          </a:solidFill>
          <a:ln/>
        </p:spPr>
      </p:sp>
      <p:sp>
        <p:nvSpPr>
          <p:cNvPr id="22" name="text_108"/>
          <p:cNvSpPr txBox="1"/>
          <p:nvPr/>
        </p:nvSpPr>
        <p:spPr>
          <a:xfrm>
            <a:off x="8467344" y="2560320"/>
            <a:ext cx="2011680" cy="347472"/>
          </a:xfrm>
          <a:prstGeom prst="rect">
            <a:avLst/>
          </a:prstGeom>
          <a:noFill/>
          <a:ln/>
        </p:spPr>
        <p:txBody>
          <a:bodyPr wrap="square" lIns="0" tIns="0" rIns="0" bIns="0" rtlCol="0" anchor="t"/>
          <a:lstStyle/>
          <a:p>
            <a:pPr indent="0" marL="0">
              <a:buNone/>
            </a:pPr>
            <a:r>
              <a:rPr lang="en-US" sz="1550" b="1" dirty="0">
                <a:solidFill>
                  <a:schemeClr val="bg1"/>
                </a:solidFill>
              </a:rPr>
              <a:t>pypdf</a:t>
            </a:r>
            <a:endParaRPr lang="en-US" sz="1550" dirty="0"/>
          </a:p>
        </p:txBody>
      </p:sp>
      <p:sp>
        <p:nvSpPr>
          <p:cNvPr id="23" name="pill_109"/>
          <p:cNvSpPr/>
          <p:nvPr/>
        </p:nvSpPr>
        <p:spPr>
          <a:xfrm>
            <a:off x="10387584" y="2596896"/>
            <a:ext cx="1033272" cy="274320"/>
          </a:xfrm>
          <a:prstGeom prst="roundRect">
            <a:avLst>
              <a:gd name="adj" fmla="val 50000"/>
            </a:avLst>
          </a:prstGeom>
          <a:solidFill>
            <a:schemeClr val="accent1">
              <a:alpha val="22000"/>
            </a:schemeClr>
          </a:solidFill>
          <a:ln/>
        </p:spPr>
      </p:sp>
      <p:sp>
        <p:nvSpPr>
          <p:cNvPr id="24" name="text_110"/>
          <p:cNvSpPr txBox="1"/>
          <p:nvPr/>
        </p:nvSpPr>
        <p:spPr>
          <a:xfrm>
            <a:off x="10387584" y="2596896"/>
            <a:ext cx="1033272" cy="274320"/>
          </a:xfrm>
          <a:prstGeom prst="rect">
            <a:avLst/>
          </a:prstGeom>
          <a:noFill/>
          <a:ln/>
        </p:spPr>
        <p:txBody>
          <a:bodyPr wrap="square" lIns="0" tIns="0" rIns="0" bIns="0" rtlCol="0" anchor="ctr"/>
          <a:lstStyle/>
          <a:p>
            <a:pPr algn="ctr" indent="0" marL="0">
              <a:buNone/>
            </a:pPr>
            <a:r>
              <a:rPr lang="en-US" sz="950" b="1" dirty="0">
                <a:solidFill>
                  <a:srgbClr val="E0E3FF"/>
                </a:solidFill>
              </a:rPr>
              <a:t>extractor.py</a:t>
            </a:r>
            <a:endParaRPr lang="en-US" sz="950" dirty="0"/>
          </a:p>
        </p:txBody>
      </p:sp>
      <p:sp>
        <p:nvSpPr>
          <p:cNvPr id="25" name="text_111"/>
          <p:cNvSpPr txBox="1"/>
          <p:nvPr/>
        </p:nvSpPr>
        <p:spPr>
          <a:xfrm>
            <a:off x="8467344" y="2953512"/>
            <a:ext cx="2971800" cy="365760"/>
          </a:xfrm>
          <a:prstGeom prst="rect">
            <a:avLst/>
          </a:prstGeom>
          <a:noFill/>
          <a:ln/>
        </p:spPr>
        <p:txBody>
          <a:bodyPr wrap="square" lIns="0" tIns="0" rIns="0" bIns="0" rtlCol="0" anchor="t"/>
          <a:lstStyle/>
          <a:p>
            <a:pPr indent="0" marL="0">
              <a:buNone/>
            </a:pPr>
            <a:r>
              <a:rPr lang="en-US" sz="1250" dirty="0">
                <a:solidFill>
                  <a:schemeClr val="bg2"/>
                </a:solidFill>
              </a:rPr>
              <a:t>Reads text from PDF files</a:t>
            </a:r>
            <a:endParaRPr lang="en-US" sz="1250" dirty="0"/>
          </a:p>
        </p:txBody>
      </p:sp>
      <p:sp>
        <p:nvSpPr>
          <p:cNvPr id="26" name="lib_112"/>
          <p:cNvSpPr/>
          <p:nvPr/>
        </p:nvSpPr>
        <p:spPr>
          <a:xfrm>
            <a:off x="548640" y="3584448"/>
            <a:ext cx="3566160" cy="1005840"/>
          </a:xfrm>
          <a:prstGeom prst="roundRect">
            <a:avLst>
              <a:gd name="adj" fmla="val 10909"/>
            </a:avLst>
          </a:prstGeom>
          <a:solidFill>
            <a:schemeClr val="tx2"/>
          </a:solidFill>
          <a:ln w="9525">
            <a:solidFill>
              <a:srgbClr val="2B3470"/>
            </a:solidFill>
            <a:prstDash val="solid"/>
          </a:ln>
        </p:spPr>
      </p:sp>
      <p:sp>
        <p:nvSpPr>
          <p:cNvPr id="27" name="dot_113"/>
          <p:cNvSpPr/>
          <p:nvPr/>
        </p:nvSpPr>
        <p:spPr>
          <a:xfrm>
            <a:off x="777240" y="3831336"/>
            <a:ext cx="146304" cy="146304"/>
          </a:xfrm>
          <a:prstGeom prst="ellipse">
            <a:avLst/>
          </a:prstGeom>
          <a:solidFill>
            <a:schemeClr val="accent1"/>
          </a:solidFill>
          <a:ln/>
        </p:spPr>
      </p:sp>
      <p:sp>
        <p:nvSpPr>
          <p:cNvPr id="28" name="text_114"/>
          <p:cNvSpPr txBox="1"/>
          <p:nvPr/>
        </p:nvSpPr>
        <p:spPr>
          <a:xfrm>
            <a:off x="1024128" y="3721608"/>
            <a:ext cx="2011680" cy="347472"/>
          </a:xfrm>
          <a:prstGeom prst="rect">
            <a:avLst/>
          </a:prstGeom>
          <a:noFill/>
          <a:ln/>
        </p:spPr>
        <p:txBody>
          <a:bodyPr wrap="square" lIns="0" tIns="0" rIns="0" bIns="0" rtlCol="0" anchor="t"/>
          <a:lstStyle/>
          <a:p>
            <a:pPr indent="0" marL="0">
              <a:buNone/>
            </a:pPr>
            <a:r>
              <a:rPr lang="en-US" sz="1550" b="1" dirty="0">
                <a:solidFill>
                  <a:schemeClr val="bg1"/>
                </a:solidFill>
              </a:rPr>
              <a:t>python-docx</a:t>
            </a:r>
            <a:endParaRPr lang="en-US" sz="1550" dirty="0"/>
          </a:p>
        </p:txBody>
      </p:sp>
      <p:sp>
        <p:nvSpPr>
          <p:cNvPr id="29" name="pill_115"/>
          <p:cNvSpPr/>
          <p:nvPr/>
        </p:nvSpPr>
        <p:spPr>
          <a:xfrm>
            <a:off x="2944368" y="3758184"/>
            <a:ext cx="1033272" cy="274320"/>
          </a:xfrm>
          <a:prstGeom prst="roundRect">
            <a:avLst>
              <a:gd name="adj" fmla="val 50000"/>
            </a:avLst>
          </a:prstGeom>
          <a:solidFill>
            <a:schemeClr val="accent1">
              <a:alpha val="22000"/>
            </a:schemeClr>
          </a:solidFill>
          <a:ln/>
        </p:spPr>
      </p:sp>
      <p:sp>
        <p:nvSpPr>
          <p:cNvPr id="30" name="text_116"/>
          <p:cNvSpPr txBox="1"/>
          <p:nvPr/>
        </p:nvSpPr>
        <p:spPr>
          <a:xfrm>
            <a:off x="2944368" y="3758184"/>
            <a:ext cx="1033272" cy="274320"/>
          </a:xfrm>
          <a:prstGeom prst="rect">
            <a:avLst/>
          </a:prstGeom>
          <a:noFill/>
          <a:ln/>
        </p:spPr>
        <p:txBody>
          <a:bodyPr wrap="square" lIns="0" tIns="0" rIns="0" bIns="0" rtlCol="0" anchor="ctr"/>
          <a:lstStyle/>
          <a:p>
            <a:pPr algn="ctr" indent="0" marL="0">
              <a:buNone/>
            </a:pPr>
            <a:r>
              <a:rPr lang="en-US" sz="950" b="1" dirty="0">
                <a:solidFill>
                  <a:srgbClr val="E0E3FF"/>
                </a:solidFill>
              </a:rPr>
              <a:t>extractor.py</a:t>
            </a:r>
            <a:endParaRPr lang="en-US" sz="950" dirty="0"/>
          </a:p>
        </p:txBody>
      </p:sp>
      <p:sp>
        <p:nvSpPr>
          <p:cNvPr id="31" name="text_117"/>
          <p:cNvSpPr txBox="1"/>
          <p:nvPr/>
        </p:nvSpPr>
        <p:spPr>
          <a:xfrm>
            <a:off x="1024128" y="4114800"/>
            <a:ext cx="2971800" cy="365760"/>
          </a:xfrm>
          <a:prstGeom prst="rect">
            <a:avLst/>
          </a:prstGeom>
          <a:noFill/>
          <a:ln/>
        </p:spPr>
        <p:txBody>
          <a:bodyPr wrap="square" lIns="0" tIns="0" rIns="0" bIns="0" rtlCol="0" anchor="t"/>
          <a:lstStyle/>
          <a:p>
            <a:pPr indent="0" marL="0">
              <a:buNone/>
            </a:pPr>
            <a:r>
              <a:rPr lang="en-US" sz="1250" dirty="0">
                <a:solidFill>
                  <a:schemeClr val="bg2"/>
                </a:solidFill>
              </a:rPr>
              <a:t>Reads text from Word files</a:t>
            </a:r>
            <a:endParaRPr lang="en-US" sz="1250" dirty="0"/>
          </a:p>
        </p:txBody>
      </p:sp>
      <p:sp>
        <p:nvSpPr>
          <p:cNvPr id="32" name="lib_118"/>
          <p:cNvSpPr/>
          <p:nvPr/>
        </p:nvSpPr>
        <p:spPr>
          <a:xfrm>
            <a:off x="4270248" y="3584448"/>
            <a:ext cx="3566160" cy="1005840"/>
          </a:xfrm>
          <a:prstGeom prst="roundRect">
            <a:avLst>
              <a:gd name="adj" fmla="val 10909"/>
            </a:avLst>
          </a:prstGeom>
          <a:solidFill>
            <a:schemeClr val="tx2"/>
          </a:solidFill>
          <a:ln w="9525">
            <a:solidFill>
              <a:srgbClr val="2B3470"/>
            </a:solidFill>
            <a:prstDash val="solid"/>
          </a:ln>
        </p:spPr>
      </p:sp>
      <p:sp>
        <p:nvSpPr>
          <p:cNvPr id="33" name="dot_119"/>
          <p:cNvSpPr/>
          <p:nvPr/>
        </p:nvSpPr>
        <p:spPr>
          <a:xfrm>
            <a:off x="4498848" y="3831336"/>
            <a:ext cx="146304" cy="146304"/>
          </a:xfrm>
          <a:prstGeom prst="ellipse">
            <a:avLst/>
          </a:prstGeom>
          <a:solidFill>
            <a:schemeClr val="accent1"/>
          </a:solidFill>
          <a:ln/>
        </p:spPr>
      </p:sp>
      <p:sp>
        <p:nvSpPr>
          <p:cNvPr id="34" name="text_120"/>
          <p:cNvSpPr txBox="1"/>
          <p:nvPr/>
        </p:nvSpPr>
        <p:spPr>
          <a:xfrm>
            <a:off x="4745736" y="3721608"/>
            <a:ext cx="2011680" cy="347472"/>
          </a:xfrm>
          <a:prstGeom prst="rect">
            <a:avLst/>
          </a:prstGeom>
          <a:noFill/>
          <a:ln/>
        </p:spPr>
        <p:txBody>
          <a:bodyPr wrap="square" lIns="0" tIns="0" rIns="0" bIns="0" rtlCol="0" anchor="t"/>
          <a:lstStyle/>
          <a:p>
            <a:pPr indent="0" marL="0">
              <a:buNone/>
            </a:pPr>
            <a:r>
              <a:rPr lang="en-US" sz="1550" b="1" dirty="0">
                <a:solidFill>
                  <a:schemeClr val="bg1"/>
                </a:solidFill>
              </a:rPr>
              <a:t>openpyxl</a:t>
            </a:r>
            <a:endParaRPr lang="en-US" sz="1550" dirty="0"/>
          </a:p>
        </p:txBody>
      </p:sp>
      <p:sp>
        <p:nvSpPr>
          <p:cNvPr id="35" name="pill_121"/>
          <p:cNvSpPr/>
          <p:nvPr/>
        </p:nvSpPr>
        <p:spPr>
          <a:xfrm>
            <a:off x="6665976" y="3758184"/>
            <a:ext cx="1033272" cy="274320"/>
          </a:xfrm>
          <a:prstGeom prst="roundRect">
            <a:avLst>
              <a:gd name="adj" fmla="val 50000"/>
            </a:avLst>
          </a:prstGeom>
          <a:solidFill>
            <a:schemeClr val="accent1">
              <a:alpha val="22000"/>
            </a:schemeClr>
          </a:solidFill>
          <a:ln/>
        </p:spPr>
      </p:sp>
      <p:sp>
        <p:nvSpPr>
          <p:cNvPr id="36" name="text_122"/>
          <p:cNvSpPr txBox="1"/>
          <p:nvPr/>
        </p:nvSpPr>
        <p:spPr>
          <a:xfrm>
            <a:off x="6665976" y="3758184"/>
            <a:ext cx="1033272" cy="274320"/>
          </a:xfrm>
          <a:prstGeom prst="rect">
            <a:avLst/>
          </a:prstGeom>
          <a:noFill/>
          <a:ln/>
        </p:spPr>
        <p:txBody>
          <a:bodyPr wrap="square" lIns="0" tIns="0" rIns="0" bIns="0" rtlCol="0" anchor="ctr"/>
          <a:lstStyle/>
          <a:p>
            <a:pPr algn="ctr" indent="0" marL="0">
              <a:buNone/>
            </a:pPr>
            <a:r>
              <a:rPr lang="en-US" sz="950" b="1" dirty="0">
                <a:solidFill>
                  <a:srgbClr val="E0E3FF"/>
                </a:solidFill>
              </a:rPr>
              <a:t>extractor.py</a:t>
            </a:r>
            <a:endParaRPr lang="en-US" sz="950" dirty="0"/>
          </a:p>
        </p:txBody>
      </p:sp>
      <p:sp>
        <p:nvSpPr>
          <p:cNvPr id="37" name="text_123"/>
          <p:cNvSpPr txBox="1"/>
          <p:nvPr/>
        </p:nvSpPr>
        <p:spPr>
          <a:xfrm>
            <a:off x="4745736" y="4114800"/>
            <a:ext cx="2971800" cy="365760"/>
          </a:xfrm>
          <a:prstGeom prst="rect">
            <a:avLst/>
          </a:prstGeom>
          <a:noFill/>
          <a:ln/>
        </p:spPr>
        <p:txBody>
          <a:bodyPr wrap="square" lIns="0" tIns="0" rIns="0" bIns="0" rtlCol="0" anchor="t"/>
          <a:lstStyle/>
          <a:p>
            <a:pPr indent="0" marL="0">
              <a:buNone/>
            </a:pPr>
            <a:r>
              <a:rPr lang="en-US" sz="1250" dirty="0">
                <a:solidFill>
                  <a:schemeClr val="bg2"/>
                </a:solidFill>
              </a:rPr>
              <a:t>Reads text from Excel sheets</a:t>
            </a:r>
            <a:endParaRPr lang="en-US" sz="1250" dirty="0"/>
          </a:p>
        </p:txBody>
      </p:sp>
      <p:sp>
        <p:nvSpPr>
          <p:cNvPr id="38" name="lib_124"/>
          <p:cNvSpPr/>
          <p:nvPr/>
        </p:nvSpPr>
        <p:spPr>
          <a:xfrm>
            <a:off x="7991856" y="3584448"/>
            <a:ext cx="3566160" cy="1005840"/>
          </a:xfrm>
          <a:prstGeom prst="roundRect">
            <a:avLst>
              <a:gd name="adj" fmla="val 10909"/>
            </a:avLst>
          </a:prstGeom>
          <a:solidFill>
            <a:schemeClr val="tx2"/>
          </a:solidFill>
          <a:ln w="9525">
            <a:solidFill>
              <a:srgbClr val="2B3470"/>
            </a:solidFill>
            <a:prstDash val="solid"/>
          </a:ln>
        </p:spPr>
      </p:sp>
      <p:sp>
        <p:nvSpPr>
          <p:cNvPr id="39" name="dot_125"/>
          <p:cNvSpPr/>
          <p:nvPr/>
        </p:nvSpPr>
        <p:spPr>
          <a:xfrm>
            <a:off x="8220456" y="3831336"/>
            <a:ext cx="146304" cy="146304"/>
          </a:xfrm>
          <a:prstGeom prst="ellipse">
            <a:avLst/>
          </a:prstGeom>
          <a:solidFill>
            <a:schemeClr val="accent4"/>
          </a:solidFill>
          <a:ln/>
        </p:spPr>
      </p:sp>
      <p:sp>
        <p:nvSpPr>
          <p:cNvPr id="40" name="text_126"/>
          <p:cNvSpPr txBox="1"/>
          <p:nvPr/>
        </p:nvSpPr>
        <p:spPr>
          <a:xfrm>
            <a:off x="8467344" y="3721608"/>
            <a:ext cx="2011680" cy="347472"/>
          </a:xfrm>
          <a:prstGeom prst="rect">
            <a:avLst/>
          </a:prstGeom>
          <a:noFill/>
          <a:ln/>
        </p:spPr>
        <p:txBody>
          <a:bodyPr wrap="square" lIns="0" tIns="0" rIns="0" bIns="0" rtlCol="0" anchor="t"/>
          <a:lstStyle/>
          <a:p>
            <a:pPr indent="0" marL="0">
              <a:buNone/>
            </a:pPr>
            <a:r>
              <a:rPr lang="en-US" sz="1550" b="1" dirty="0">
                <a:solidFill>
                  <a:schemeClr val="bg1"/>
                </a:solidFill>
              </a:rPr>
              <a:t>re (regex)</a:t>
            </a:r>
            <a:endParaRPr lang="en-US" sz="1550" dirty="0"/>
          </a:p>
        </p:txBody>
      </p:sp>
      <p:sp>
        <p:nvSpPr>
          <p:cNvPr id="41" name="pill_127"/>
          <p:cNvSpPr/>
          <p:nvPr/>
        </p:nvSpPr>
        <p:spPr>
          <a:xfrm>
            <a:off x="10387584" y="3758184"/>
            <a:ext cx="1033272" cy="274320"/>
          </a:xfrm>
          <a:prstGeom prst="roundRect">
            <a:avLst>
              <a:gd name="adj" fmla="val 50000"/>
            </a:avLst>
          </a:prstGeom>
          <a:solidFill>
            <a:schemeClr val="accent4">
              <a:alpha val="22000"/>
            </a:schemeClr>
          </a:solidFill>
          <a:ln/>
        </p:spPr>
      </p:sp>
      <p:sp>
        <p:nvSpPr>
          <p:cNvPr id="42" name="text_128"/>
          <p:cNvSpPr txBox="1"/>
          <p:nvPr/>
        </p:nvSpPr>
        <p:spPr>
          <a:xfrm>
            <a:off x="10387584" y="3758184"/>
            <a:ext cx="1033272" cy="274320"/>
          </a:xfrm>
          <a:prstGeom prst="rect">
            <a:avLst/>
          </a:prstGeom>
          <a:noFill/>
          <a:ln/>
        </p:spPr>
        <p:txBody>
          <a:bodyPr wrap="square" lIns="0" tIns="0" rIns="0" bIns="0" rtlCol="0" anchor="ctr"/>
          <a:lstStyle/>
          <a:p>
            <a:pPr algn="ctr" indent="0" marL="0">
              <a:buNone/>
            </a:pPr>
            <a:r>
              <a:rPr lang="en-US" sz="950" b="1" dirty="0">
                <a:solidFill>
                  <a:srgbClr val="E0E3FF"/>
                </a:solidFill>
              </a:rPr>
              <a:t>parser.py</a:t>
            </a:r>
            <a:endParaRPr lang="en-US" sz="950" dirty="0"/>
          </a:p>
        </p:txBody>
      </p:sp>
      <p:sp>
        <p:nvSpPr>
          <p:cNvPr id="43" name="text_129"/>
          <p:cNvSpPr txBox="1"/>
          <p:nvPr/>
        </p:nvSpPr>
        <p:spPr>
          <a:xfrm>
            <a:off x="8467344" y="4114800"/>
            <a:ext cx="2971800" cy="365760"/>
          </a:xfrm>
          <a:prstGeom prst="rect">
            <a:avLst/>
          </a:prstGeom>
          <a:noFill/>
          <a:ln/>
        </p:spPr>
        <p:txBody>
          <a:bodyPr wrap="square" lIns="0" tIns="0" rIns="0" bIns="0" rtlCol="0" anchor="t"/>
          <a:lstStyle/>
          <a:p>
            <a:pPr indent="0" marL="0">
              <a:buNone/>
            </a:pPr>
            <a:r>
              <a:rPr lang="en-US" sz="1250" dirty="0">
                <a:solidFill>
                  <a:schemeClr val="bg2"/>
                </a:solidFill>
              </a:rPr>
              <a:t>Finds dates, numbers, names, ₹ amounts</a:t>
            </a:r>
            <a:endParaRPr lang="en-US" sz="1250" dirty="0"/>
          </a:p>
        </p:txBody>
      </p:sp>
      <p:sp>
        <p:nvSpPr>
          <p:cNvPr id="44" name="lib_130"/>
          <p:cNvSpPr/>
          <p:nvPr/>
        </p:nvSpPr>
        <p:spPr>
          <a:xfrm>
            <a:off x="548640" y="4745736"/>
            <a:ext cx="3566160" cy="1005840"/>
          </a:xfrm>
          <a:prstGeom prst="roundRect">
            <a:avLst>
              <a:gd name="adj" fmla="val 10909"/>
            </a:avLst>
          </a:prstGeom>
          <a:solidFill>
            <a:schemeClr val="tx2"/>
          </a:solidFill>
          <a:ln w="9525">
            <a:solidFill>
              <a:srgbClr val="2B3470"/>
            </a:solidFill>
            <a:prstDash val="solid"/>
          </a:ln>
        </p:spPr>
      </p:sp>
      <p:sp>
        <p:nvSpPr>
          <p:cNvPr id="45" name="dot_131"/>
          <p:cNvSpPr/>
          <p:nvPr/>
        </p:nvSpPr>
        <p:spPr>
          <a:xfrm>
            <a:off x="777240" y="4992624"/>
            <a:ext cx="146304" cy="146304"/>
          </a:xfrm>
          <a:prstGeom prst="ellipse">
            <a:avLst/>
          </a:prstGeom>
          <a:solidFill>
            <a:schemeClr val="accent3"/>
          </a:solidFill>
          <a:ln/>
        </p:spPr>
      </p:sp>
      <p:sp>
        <p:nvSpPr>
          <p:cNvPr id="46" name="text_132"/>
          <p:cNvSpPr txBox="1"/>
          <p:nvPr/>
        </p:nvSpPr>
        <p:spPr>
          <a:xfrm>
            <a:off x="1024128" y="4882896"/>
            <a:ext cx="2011680" cy="347472"/>
          </a:xfrm>
          <a:prstGeom prst="rect">
            <a:avLst/>
          </a:prstGeom>
          <a:noFill/>
          <a:ln/>
        </p:spPr>
        <p:txBody>
          <a:bodyPr wrap="square" lIns="0" tIns="0" rIns="0" bIns="0" rtlCol="0" anchor="t"/>
          <a:lstStyle/>
          <a:p>
            <a:pPr indent="0" marL="0">
              <a:buNone/>
            </a:pPr>
            <a:r>
              <a:rPr lang="en-US" sz="1550" b="1" dirty="0">
                <a:solidFill>
                  <a:schemeClr val="bg1"/>
                </a:solidFill>
              </a:rPr>
              <a:t>Pandas</a:t>
            </a:r>
            <a:endParaRPr lang="en-US" sz="1550" dirty="0"/>
          </a:p>
        </p:txBody>
      </p:sp>
      <p:sp>
        <p:nvSpPr>
          <p:cNvPr id="47" name="pill_133"/>
          <p:cNvSpPr/>
          <p:nvPr/>
        </p:nvSpPr>
        <p:spPr>
          <a:xfrm>
            <a:off x="2944368" y="4919472"/>
            <a:ext cx="1033272" cy="274320"/>
          </a:xfrm>
          <a:prstGeom prst="roundRect">
            <a:avLst>
              <a:gd name="adj" fmla="val 50000"/>
            </a:avLst>
          </a:prstGeom>
          <a:solidFill>
            <a:schemeClr val="accent3">
              <a:alpha val="22000"/>
            </a:schemeClr>
          </a:solidFill>
          <a:ln/>
        </p:spPr>
      </p:sp>
      <p:sp>
        <p:nvSpPr>
          <p:cNvPr id="48" name="text_134"/>
          <p:cNvSpPr txBox="1"/>
          <p:nvPr/>
        </p:nvSpPr>
        <p:spPr>
          <a:xfrm>
            <a:off x="2944368" y="4919472"/>
            <a:ext cx="1033272" cy="274320"/>
          </a:xfrm>
          <a:prstGeom prst="rect">
            <a:avLst/>
          </a:prstGeom>
          <a:noFill/>
          <a:ln/>
        </p:spPr>
        <p:txBody>
          <a:bodyPr wrap="square" lIns="0" tIns="0" rIns="0" bIns="0" rtlCol="0" anchor="ctr"/>
          <a:lstStyle/>
          <a:p>
            <a:pPr algn="ctr" indent="0" marL="0">
              <a:buNone/>
            </a:pPr>
            <a:r>
              <a:rPr lang="en-US" sz="950" b="1" dirty="0">
                <a:solidFill>
                  <a:srgbClr val="E0E3FF"/>
                </a:solidFill>
              </a:rPr>
              <a:t>export.py</a:t>
            </a:r>
            <a:endParaRPr lang="en-US" sz="950" dirty="0"/>
          </a:p>
        </p:txBody>
      </p:sp>
      <p:sp>
        <p:nvSpPr>
          <p:cNvPr id="49" name="text_135"/>
          <p:cNvSpPr txBox="1"/>
          <p:nvPr/>
        </p:nvSpPr>
        <p:spPr>
          <a:xfrm>
            <a:off x="1024128" y="5276088"/>
            <a:ext cx="2971800" cy="365760"/>
          </a:xfrm>
          <a:prstGeom prst="rect">
            <a:avLst/>
          </a:prstGeom>
          <a:noFill/>
          <a:ln/>
        </p:spPr>
        <p:txBody>
          <a:bodyPr wrap="square" lIns="0" tIns="0" rIns="0" bIns="0" rtlCol="0" anchor="t"/>
          <a:lstStyle/>
          <a:p>
            <a:pPr indent="0" marL="0">
              <a:buNone/>
            </a:pPr>
            <a:r>
              <a:rPr lang="en-US" sz="1250" dirty="0">
                <a:solidFill>
                  <a:schemeClr val="bg2"/>
                </a:solidFill>
              </a:rPr>
              <a:t>Document tables and CSV export</a:t>
            </a:r>
            <a:endParaRPr lang="en-US" sz="1250" dirty="0"/>
          </a:p>
        </p:txBody>
      </p:sp>
      <p:sp>
        <p:nvSpPr>
          <p:cNvPr id="50" name="lib_136"/>
          <p:cNvSpPr/>
          <p:nvPr/>
        </p:nvSpPr>
        <p:spPr>
          <a:xfrm>
            <a:off x="4270248" y="4745736"/>
            <a:ext cx="3566160" cy="1005840"/>
          </a:xfrm>
          <a:prstGeom prst="roundRect">
            <a:avLst>
              <a:gd name="adj" fmla="val 10909"/>
            </a:avLst>
          </a:prstGeom>
          <a:solidFill>
            <a:schemeClr val="tx2"/>
          </a:solidFill>
          <a:ln w="9525">
            <a:solidFill>
              <a:srgbClr val="2B3470"/>
            </a:solidFill>
            <a:prstDash val="solid"/>
          </a:ln>
        </p:spPr>
      </p:sp>
      <p:sp>
        <p:nvSpPr>
          <p:cNvPr id="51" name="dot_137"/>
          <p:cNvSpPr/>
          <p:nvPr/>
        </p:nvSpPr>
        <p:spPr>
          <a:xfrm>
            <a:off x="4498848" y="4992624"/>
            <a:ext cx="146304" cy="146304"/>
          </a:xfrm>
          <a:prstGeom prst="ellipse">
            <a:avLst/>
          </a:prstGeom>
          <a:solidFill>
            <a:schemeClr val="accent2"/>
          </a:solidFill>
          <a:ln/>
        </p:spPr>
      </p:sp>
      <p:sp>
        <p:nvSpPr>
          <p:cNvPr id="52" name="text_138"/>
          <p:cNvSpPr txBox="1"/>
          <p:nvPr/>
        </p:nvSpPr>
        <p:spPr>
          <a:xfrm>
            <a:off x="4745736" y="4882896"/>
            <a:ext cx="2011680" cy="347472"/>
          </a:xfrm>
          <a:prstGeom prst="rect">
            <a:avLst/>
          </a:prstGeom>
          <a:noFill/>
          <a:ln/>
        </p:spPr>
        <p:txBody>
          <a:bodyPr wrap="square" lIns="0" tIns="0" rIns="0" bIns="0" rtlCol="0" anchor="t"/>
          <a:lstStyle/>
          <a:p>
            <a:pPr indent="0" marL="0">
              <a:buNone/>
            </a:pPr>
            <a:r>
              <a:rPr lang="en-US" sz="1550" b="1" dirty="0">
                <a:solidFill>
                  <a:schemeClr val="bg1"/>
                </a:solidFill>
              </a:rPr>
              <a:t>Plotly</a:t>
            </a:r>
            <a:endParaRPr lang="en-US" sz="1550" dirty="0"/>
          </a:p>
        </p:txBody>
      </p:sp>
      <p:sp>
        <p:nvSpPr>
          <p:cNvPr id="53" name="pill_139"/>
          <p:cNvSpPr/>
          <p:nvPr/>
        </p:nvSpPr>
        <p:spPr>
          <a:xfrm>
            <a:off x="6665976" y="4919472"/>
            <a:ext cx="1033272" cy="274320"/>
          </a:xfrm>
          <a:prstGeom prst="roundRect">
            <a:avLst>
              <a:gd name="adj" fmla="val 50000"/>
            </a:avLst>
          </a:prstGeom>
          <a:solidFill>
            <a:schemeClr val="accent2">
              <a:alpha val="22000"/>
            </a:schemeClr>
          </a:solidFill>
          <a:ln/>
        </p:spPr>
      </p:sp>
      <p:sp>
        <p:nvSpPr>
          <p:cNvPr id="54" name="text_140"/>
          <p:cNvSpPr txBox="1"/>
          <p:nvPr/>
        </p:nvSpPr>
        <p:spPr>
          <a:xfrm>
            <a:off x="6665976" y="4919472"/>
            <a:ext cx="1033272" cy="274320"/>
          </a:xfrm>
          <a:prstGeom prst="rect">
            <a:avLst/>
          </a:prstGeom>
          <a:noFill/>
          <a:ln/>
        </p:spPr>
        <p:txBody>
          <a:bodyPr wrap="square" lIns="0" tIns="0" rIns="0" bIns="0" rtlCol="0" anchor="ctr"/>
          <a:lstStyle/>
          <a:p>
            <a:pPr algn="ctr" indent="0" marL="0">
              <a:buNone/>
            </a:pPr>
            <a:r>
              <a:rPr lang="en-US" sz="950" b="1" dirty="0">
                <a:solidFill>
                  <a:srgbClr val="E0E3FF"/>
                </a:solidFill>
              </a:rPr>
              <a:t>app.py</a:t>
            </a:r>
            <a:endParaRPr lang="en-US" sz="950" dirty="0"/>
          </a:p>
        </p:txBody>
      </p:sp>
      <p:sp>
        <p:nvSpPr>
          <p:cNvPr id="55" name="text_141"/>
          <p:cNvSpPr txBox="1"/>
          <p:nvPr/>
        </p:nvSpPr>
        <p:spPr>
          <a:xfrm>
            <a:off x="4745736" y="5276088"/>
            <a:ext cx="2971800" cy="365760"/>
          </a:xfrm>
          <a:prstGeom prst="rect">
            <a:avLst/>
          </a:prstGeom>
          <a:noFill/>
          <a:ln/>
        </p:spPr>
        <p:txBody>
          <a:bodyPr wrap="square" lIns="0" tIns="0" rIns="0" bIns="0" rtlCol="0" anchor="t"/>
          <a:lstStyle/>
          <a:p>
            <a:pPr indent="0" marL="0">
              <a:buNone/>
            </a:pPr>
            <a:r>
              <a:rPr lang="en-US" sz="1250" dirty="0">
                <a:solidFill>
                  <a:schemeClr val="bg2"/>
                </a:solidFill>
              </a:rPr>
              <a:t>Donut and bar charts on the dashboard</a:t>
            </a:r>
            <a:endParaRPr lang="en-US" sz="1250" dirty="0"/>
          </a:p>
        </p:txBody>
      </p:sp>
      <p:sp>
        <p:nvSpPr>
          <p:cNvPr id="56" name="lib_142"/>
          <p:cNvSpPr/>
          <p:nvPr/>
        </p:nvSpPr>
        <p:spPr>
          <a:xfrm>
            <a:off x="7991856" y="4745736"/>
            <a:ext cx="3566160" cy="1005840"/>
          </a:xfrm>
          <a:prstGeom prst="roundRect">
            <a:avLst>
              <a:gd name="adj" fmla="val 10909"/>
            </a:avLst>
          </a:prstGeom>
          <a:solidFill>
            <a:schemeClr val="tx2"/>
          </a:solidFill>
          <a:ln w="9525">
            <a:solidFill>
              <a:srgbClr val="2B3470"/>
            </a:solidFill>
            <a:prstDash val="solid"/>
          </a:ln>
        </p:spPr>
      </p:sp>
      <p:sp>
        <p:nvSpPr>
          <p:cNvPr id="57" name="dot_143"/>
          <p:cNvSpPr/>
          <p:nvPr/>
        </p:nvSpPr>
        <p:spPr>
          <a:xfrm>
            <a:off x="8220456" y="4992624"/>
            <a:ext cx="146304" cy="146304"/>
          </a:xfrm>
          <a:prstGeom prst="ellipse">
            <a:avLst/>
          </a:prstGeom>
          <a:solidFill>
            <a:schemeClr val="accent1"/>
          </a:solidFill>
          <a:ln/>
        </p:spPr>
      </p:sp>
      <p:sp>
        <p:nvSpPr>
          <p:cNvPr id="58" name="text_144"/>
          <p:cNvSpPr txBox="1"/>
          <p:nvPr/>
        </p:nvSpPr>
        <p:spPr>
          <a:xfrm>
            <a:off x="8467344" y="4882896"/>
            <a:ext cx="2011680" cy="347472"/>
          </a:xfrm>
          <a:prstGeom prst="rect">
            <a:avLst/>
          </a:prstGeom>
          <a:noFill/>
          <a:ln/>
        </p:spPr>
        <p:txBody>
          <a:bodyPr wrap="square" lIns="0" tIns="0" rIns="0" bIns="0" rtlCol="0" anchor="t"/>
          <a:lstStyle/>
          <a:p>
            <a:pPr indent="0" marL="0">
              <a:buNone/>
            </a:pPr>
            <a:r>
              <a:rPr lang="en-US" sz="1550" b="1" dirty="0">
                <a:solidFill>
                  <a:schemeClr val="bg1"/>
                </a:solidFill>
              </a:rPr>
              <a:t>pypdfium2 + Pillow</a:t>
            </a:r>
            <a:endParaRPr lang="en-US" sz="1550" dirty="0"/>
          </a:p>
        </p:txBody>
      </p:sp>
      <p:sp>
        <p:nvSpPr>
          <p:cNvPr id="59" name="pill_145"/>
          <p:cNvSpPr/>
          <p:nvPr/>
        </p:nvSpPr>
        <p:spPr>
          <a:xfrm>
            <a:off x="10387584" y="4919472"/>
            <a:ext cx="1033272" cy="274320"/>
          </a:xfrm>
          <a:prstGeom prst="roundRect">
            <a:avLst>
              <a:gd name="adj" fmla="val 50000"/>
            </a:avLst>
          </a:prstGeom>
          <a:solidFill>
            <a:schemeClr val="accent1">
              <a:alpha val="22000"/>
            </a:schemeClr>
          </a:solidFill>
          <a:ln/>
        </p:spPr>
      </p:sp>
      <p:sp>
        <p:nvSpPr>
          <p:cNvPr id="60" name="text_146"/>
          <p:cNvSpPr txBox="1"/>
          <p:nvPr/>
        </p:nvSpPr>
        <p:spPr>
          <a:xfrm>
            <a:off x="10387584" y="4919472"/>
            <a:ext cx="1033272" cy="274320"/>
          </a:xfrm>
          <a:prstGeom prst="rect">
            <a:avLst/>
          </a:prstGeom>
          <a:noFill/>
          <a:ln/>
        </p:spPr>
        <p:txBody>
          <a:bodyPr wrap="square" lIns="0" tIns="0" rIns="0" bIns="0" rtlCol="0" anchor="ctr"/>
          <a:lstStyle/>
          <a:p>
            <a:pPr algn="ctr" indent="0" marL="0">
              <a:buNone/>
            </a:pPr>
            <a:r>
              <a:rPr lang="en-US" sz="950" b="1" dirty="0">
                <a:solidFill>
                  <a:srgbClr val="E0E3FF"/>
                </a:solidFill>
              </a:rPr>
              <a:t>preview.py</a:t>
            </a:r>
            <a:endParaRPr lang="en-US" sz="950" dirty="0"/>
          </a:p>
        </p:txBody>
      </p:sp>
      <p:sp>
        <p:nvSpPr>
          <p:cNvPr id="61" name="text_147"/>
          <p:cNvSpPr txBox="1"/>
          <p:nvPr/>
        </p:nvSpPr>
        <p:spPr>
          <a:xfrm>
            <a:off x="8467344" y="5276088"/>
            <a:ext cx="2971800" cy="365760"/>
          </a:xfrm>
          <a:prstGeom prst="rect">
            <a:avLst/>
          </a:prstGeom>
          <a:noFill/>
          <a:ln/>
        </p:spPr>
        <p:txBody>
          <a:bodyPr wrap="square" lIns="0" tIns="0" rIns="0" bIns="0" rtlCol="0" anchor="t"/>
          <a:lstStyle/>
          <a:p>
            <a:pPr indent="0" marL="0">
              <a:buNone/>
            </a:pPr>
            <a:r>
              <a:rPr lang="en-US" sz="1250" dirty="0">
                <a:solidFill>
                  <a:schemeClr val="bg2"/>
                </a:solidFill>
              </a:rPr>
              <a:t>Page thumbnails of uploaded files</a:t>
            </a:r>
            <a:endParaRPr lang="en-US" sz="1250" dirty="0"/>
          </a:p>
        </p:txBody>
      </p:sp>
      <p:sp>
        <p:nvSpPr>
          <p:cNvPr id="62" name="text_148"/>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200" i="1" dirty="0">
                <a:solidFill>
                  <a:schemeClr val="bg2"/>
                </a:solidFill>
              </a:rPr>
              <a:t>Optional: Tesseract OCR (pytesseract) for scanned images  ·  Testing: pytest  ·  Language: Python 3.10+</a:t>
            </a:r>
            <a:endParaRPr lang="en-US" sz="12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SYSTEM ARCHITECTURE</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How the pieces connect</a:t>
            </a:r>
            <a:endParaRPr lang="en-US" sz="3200" dirty="0"/>
          </a:p>
        </p:txBody>
      </p:sp>
      <p:sp>
        <p:nvSpPr>
          <p:cNvPr id="4" name="user_149"/>
          <p:cNvSpPr/>
          <p:nvPr/>
        </p:nvSpPr>
        <p:spPr>
          <a:xfrm>
            <a:off x="548640" y="1600200"/>
            <a:ext cx="1600200" cy="1280160"/>
          </a:xfrm>
          <a:prstGeom prst="roundRect">
            <a:avLst>
              <a:gd name="adj" fmla="val 8571"/>
            </a:avLst>
          </a:prstGeom>
          <a:solidFill>
            <a:srgbClr val="161E52"/>
          </a:solidFill>
          <a:ln w="9525">
            <a:solidFill>
              <a:srgbClr val="4B4FE0"/>
            </a:solidFill>
            <a:prstDash val="solid"/>
          </a:ln>
        </p:spPr>
      </p:sp>
      <p:sp>
        <p:nvSpPr>
          <p:cNvPr id="5" name="icon_bg_150"/>
          <p:cNvSpPr/>
          <p:nvPr/>
        </p:nvSpPr>
        <p:spPr>
          <a:xfrm>
            <a:off x="1051560" y="1783080"/>
            <a:ext cx="566928" cy="566928"/>
          </a:xfrm>
          <a:prstGeom prst="roundRect">
            <a:avLst>
              <a:gd name="adj" fmla="val 24000"/>
            </a:avLst>
          </a:prstGeom>
          <a:solidFill>
            <a:schemeClr val="accent1">
              <a:alpha val="22000"/>
            </a:schemeClr>
          </a:solidFill>
          <a:ln/>
        </p:spPr>
      </p:sp>
      <p:pic>
        <p:nvPicPr>
          <p:cNvPr id="6" name="icon_151" descr="/tmp/claude-0/-home-claude/584731ee-e493-5c78-a637-0b254e057472/scratchpad/deck/img/i_user.png">    </p:cNvPr>
          <p:cNvPicPr>
            <a:picLocks noChangeAspect="1"/>
          </p:cNvPicPr>
          <p:nvPr/>
        </p:nvPicPr>
        <p:blipFill>
          <a:blip r:embed="rId1"/>
          <a:stretch>
            <a:fillRect/>
          </a:stretch>
        </p:blipFill>
        <p:spPr>
          <a:xfrm>
            <a:off x="1187623" y="1919143"/>
            <a:ext cx="294803" cy="294803"/>
          </a:xfrm>
          <a:prstGeom prst="rect">
            <a:avLst/>
          </a:prstGeom>
        </p:spPr>
      </p:pic>
      <p:sp>
        <p:nvSpPr>
          <p:cNvPr id="7" name="text_152"/>
          <p:cNvSpPr txBox="1"/>
          <p:nvPr/>
        </p:nvSpPr>
        <p:spPr>
          <a:xfrm>
            <a:off x="548640" y="2404872"/>
            <a:ext cx="1600200" cy="274320"/>
          </a:xfrm>
          <a:prstGeom prst="rect">
            <a:avLst/>
          </a:prstGeom>
          <a:noFill/>
          <a:ln/>
        </p:spPr>
        <p:txBody>
          <a:bodyPr wrap="square" lIns="0" tIns="0" rIns="0" bIns="0" rtlCol="0" anchor="t"/>
          <a:lstStyle/>
          <a:p>
            <a:pPr algn="ctr" indent="0" marL="0">
              <a:buNone/>
            </a:pPr>
            <a:r>
              <a:rPr lang="en-US" sz="1500" b="1" dirty="0">
                <a:solidFill>
                  <a:schemeClr val="bg1"/>
                </a:solidFill>
              </a:rPr>
              <a:t>User</a:t>
            </a:r>
            <a:endParaRPr lang="en-US" sz="1500" dirty="0"/>
          </a:p>
        </p:txBody>
      </p:sp>
      <p:sp>
        <p:nvSpPr>
          <p:cNvPr id="8" name="text_153"/>
          <p:cNvSpPr txBox="1"/>
          <p:nvPr/>
        </p:nvSpPr>
        <p:spPr>
          <a:xfrm>
            <a:off x="548640" y="2624328"/>
            <a:ext cx="1600200" cy="219456"/>
          </a:xfrm>
          <a:prstGeom prst="rect">
            <a:avLst/>
          </a:prstGeom>
          <a:noFill/>
          <a:ln/>
        </p:spPr>
        <p:txBody>
          <a:bodyPr wrap="square" lIns="0" tIns="0" rIns="0" bIns="0" rtlCol="0" anchor="t"/>
          <a:lstStyle/>
          <a:p>
            <a:pPr algn="ctr" indent="0" marL="0">
              <a:buNone/>
            </a:pPr>
            <a:r>
              <a:rPr lang="en-US" sz="1100" dirty="0">
                <a:solidFill>
                  <a:schemeClr val="bg2"/>
                </a:solidFill>
              </a:rPr>
              <a:t>web browser</a:t>
            </a:r>
            <a:endParaRPr lang="en-US" sz="1100" dirty="0"/>
          </a:p>
        </p:txBody>
      </p:sp>
      <p:sp>
        <p:nvSpPr>
          <p:cNvPr id="9" name="frontend_154"/>
          <p:cNvSpPr/>
          <p:nvPr/>
        </p:nvSpPr>
        <p:spPr>
          <a:xfrm>
            <a:off x="2697480" y="1600200"/>
            <a:ext cx="2834640" cy="1280160"/>
          </a:xfrm>
          <a:prstGeom prst="roundRect">
            <a:avLst>
              <a:gd name="adj" fmla="val 8571"/>
            </a:avLst>
          </a:prstGeom>
          <a:solidFill>
            <a:schemeClr val="accent2">
              <a:alpha val="16000"/>
            </a:schemeClr>
          </a:solidFill>
          <a:ln w="9525">
            <a:solidFill>
              <a:schemeClr val="accent2"/>
            </a:solidFill>
            <a:prstDash val="solid"/>
          </a:ln>
        </p:spPr>
      </p:sp>
      <p:sp>
        <p:nvSpPr>
          <p:cNvPr id="10" name="text_155"/>
          <p:cNvSpPr txBox="1"/>
          <p:nvPr/>
        </p:nvSpPr>
        <p:spPr>
          <a:xfrm>
            <a:off x="2880360" y="1728216"/>
            <a:ext cx="2560320" cy="228600"/>
          </a:xfrm>
          <a:prstGeom prst="rect">
            <a:avLst/>
          </a:prstGeom>
          <a:noFill/>
          <a:ln/>
        </p:spPr>
        <p:txBody>
          <a:bodyPr wrap="square" lIns="0" tIns="0" rIns="0" bIns="0" rtlCol="0" anchor="t"/>
          <a:lstStyle/>
          <a:p>
            <a:pPr indent="0" marL="0">
              <a:buNone/>
            </a:pPr>
            <a:r>
              <a:rPr lang="en-US" sz="1050" b="1" spc="200" kern="0" dirty="0">
                <a:solidFill>
                  <a:schemeClr val="accent2"/>
                </a:solidFill>
              </a:rPr>
              <a:t>FRONTEND</a:t>
            </a:r>
            <a:endParaRPr lang="en-US" sz="1050" dirty="0"/>
          </a:p>
        </p:txBody>
      </p:sp>
      <p:sp>
        <p:nvSpPr>
          <p:cNvPr id="11" name="text_156"/>
          <p:cNvSpPr txBox="1"/>
          <p:nvPr/>
        </p:nvSpPr>
        <p:spPr>
          <a:xfrm>
            <a:off x="2880360" y="1965960"/>
            <a:ext cx="2560320" cy="329184"/>
          </a:xfrm>
          <a:prstGeom prst="rect">
            <a:avLst/>
          </a:prstGeom>
          <a:noFill/>
          <a:ln/>
        </p:spPr>
        <p:txBody>
          <a:bodyPr wrap="square" lIns="0" tIns="0" rIns="0" bIns="0" rtlCol="0" anchor="t"/>
          <a:lstStyle/>
          <a:p>
            <a:pPr indent="0" marL="0">
              <a:buNone/>
            </a:pPr>
            <a:r>
              <a:rPr lang="en-US" sz="1700" b="1" dirty="0">
                <a:solidFill>
                  <a:schemeClr val="bg1"/>
                </a:solidFill>
              </a:rPr>
              <a:t>Streamlit UI</a:t>
            </a:r>
            <a:endParaRPr lang="en-US" sz="1700" dirty="0"/>
          </a:p>
        </p:txBody>
      </p:sp>
      <p:sp>
        <p:nvSpPr>
          <p:cNvPr id="12" name="text_157"/>
          <p:cNvSpPr txBox="1"/>
          <p:nvPr/>
        </p:nvSpPr>
        <p:spPr>
          <a:xfrm>
            <a:off x="2880360" y="2313432"/>
            <a:ext cx="2560320" cy="237744"/>
          </a:xfrm>
          <a:prstGeom prst="rect">
            <a:avLst/>
          </a:prstGeom>
          <a:noFill/>
          <a:ln/>
        </p:spPr>
        <p:txBody>
          <a:bodyPr wrap="square" lIns="0" tIns="0" rIns="0" bIns="0" rtlCol="0" anchor="t"/>
          <a:lstStyle/>
          <a:p>
            <a:pPr indent="0" marL="0">
              <a:buNone/>
            </a:pPr>
            <a:r>
              <a:rPr lang="en-US" sz="1200" dirty="0">
                <a:solidFill>
                  <a:srgbClr val="FFD5CC"/>
                </a:solidFill>
                <a:latin typeface="Courier New" pitchFamily="34" charset="0"/>
                <a:ea typeface="Courier New" pitchFamily="34" charset="-122"/>
                <a:cs typeface="Courier New" pitchFamily="34" charset="-120"/>
              </a:rPr>
              <a:t>app.py · style.py</a:t>
            </a:r>
            <a:endParaRPr lang="en-US" sz="1200" dirty="0"/>
          </a:p>
        </p:txBody>
      </p:sp>
      <p:sp>
        <p:nvSpPr>
          <p:cNvPr id="13" name="text_158"/>
          <p:cNvSpPr txBox="1"/>
          <p:nvPr/>
        </p:nvSpPr>
        <p:spPr>
          <a:xfrm>
            <a:off x="2880360" y="2560320"/>
            <a:ext cx="2606040" cy="237744"/>
          </a:xfrm>
          <a:prstGeom prst="rect">
            <a:avLst/>
          </a:prstGeom>
          <a:noFill/>
          <a:ln/>
        </p:spPr>
        <p:txBody>
          <a:bodyPr wrap="square" lIns="0" tIns="0" rIns="0" bIns="0" rtlCol="0" anchor="t"/>
          <a:lstStyle/>
          <a:p>
            <a:pPr indent="0" marL="0">
              <a:buNone/>
            </a:pPr>
            <a:r>
              <a:rPr lang="en-US" sz="1050" dirty="0">
                <a:solidFill>
                  <a:schemeClr val="bg2"/>
                </a:solidFill>
              </a:rPr>
              <a:t>Dashboard · Upload · Documents · Reminders</a:t>
            </a:r>
            <a:endParaRPr lang="en-US" sz="1050" dirty="0"/>
          </a:p>
        </p:txBody>
      </p:sp>
      <p:sp>
        <p:nvSpPr>
          <p:cNvPr id="14" name="backend_159"/>
          <p:cNvSpPr/>
          <p:nvPr/>
        </p:nvSpPr>
        <p:spPr>
          <a:xfrm>
            <a:off x="6080760" y="1600200"/>
            <a:ext cx="2834640" cy="1280160"/>
          </a:xfrm>
          <a:prstGeom prst="roundRect">
            <a:avLst>
              <a:gd name="adj" fmla="val 8571"/>
            </a:avLst>
          </a:prstGeom>
          <a:solidFill>
            <a:schemeClr val="accent1">
              <a:alpha val="20000"/>
            </a:schemeClr>
          </a:solidFill>
          <a:ln w="9525">
            <a:solidFill>
              <a:schemeClr val="accent1"/>
            </a:solidFill>
            <a:prstDash val="solid"/>
          </a:ln>
        </p:spPr>
      </p:sp>
      <p:sp>
        <p:nvSpPr>
          <p:cNvPr id="15" name="text_160"/>
          <p:cNvSpPr txBox="1"/>
          <p:nvPr/>
        </p:nvSpPr>
        <p:spPr>
          <a:xfrm>
            <a:off x="6263640" y="1728216"/>
            <a:ext cx="2560320" cy="228600"/>
          </a:xfrm>
          <a:prstGeom prst="rect">
            <a:avLst/>
          </a:prstGeom>
          <a:noFill/>
          <a:ln/>
        </p:spPr>
        <p:txBody>
          <a:bodyPr wrap="square" lIns="0" tIns="0" rIns="0" bIns="0" rtlCol="0" anchor="t"/>
          <a:lstStyle/>
          <a:p>
            <a:pPr indent="0" marL="0">
              <a:buNone/>
            </a:pPr>
            <a:r>
              <a:rPr lang="en-US" sz="1050" b="1" spc="200" kern="0" dirty="0">
                <a:solidFill>
                  <a:srgbClr val="A5A8FF"/>
                </a:solidFill>
              </a:rPr>
              <a:t>BACKEND</a:t>
            </a:r>
            <a:endParaRPr lang="en-US" sz="1050" dirty="0"/>
          </a:p>
        </p:txBody>
      </p:sp>
      <p:sp>
        <p:nvSpPr>
          <p:cNvPr id="16" name="text_161"/>
          <p:cNvSpPr txBox="1"/>
          <p:nvPr/>
        </p:nvSpPr>
        <p:spPr>
          <a:xfrm>
            <a:off x="6263640" y="1965960"/>
            <a:ext cx="2560320" cy="329184"/>
          </a:xfrm>
          <a:prstGeom prst="rect">
            <a:avLst/>
          </a:prstGeom>
          <a:noFill/>
          <a:ln/>
        </p:spPr>
        <p:txBody>
          <a:bodyPr wrap="square" lIns="0" tIns="0" rIns="0" bIns="0" rtlCol="0" anchor="t"/>
          <a:lstStyle/>
          <a:p>
            <a:pPr indent="0" marL="0">
              <a:buNone/>
            </a:pPr>
            <a:r>
              <a:rPr lang="en-US" sz="1700" b="1" dirty="0">
                <a:solidFill>
                  <a:schemeClr val="bg1"/>
                </a:solidFill>
              </a:rPr>
              <a:t>Processing engine</a:t>
            </a:r>
            <a:endParaRPr lang="en-US" sz="1700" dirty="0"/>
          </a:p>
        </p:txBody>
      </p:sp>
      <p:sp>
        <p:nvSpPr>
          <p:cNvPr id="17" name="text_162"/>
          <p:cNvSpPr txBox="1"/>
          <p:nvPr/>
        </p:nvSpPr>
        <p:spPr>
          <a:xfrm>
            <a:off x="6263640" y="2313432"/>
            <a:ext cx="2560320" cy="237744"/>
          </a:xfrm>
          <a:prstGeom prst="rect">
            <a:avLst/>
          </a:prstGeom>
          <a:noFill/>
          <a:ln/>
        </p:spPr>
        <p:txBody>
          <a:bodyPr wrap="square" lIns="0" tIns="0" rIns="0" bIns="0" rtlCol="0" anchor="t"/>
          <a:lstStyle/>
          <a:p>
            <a:pPr indent="0" marL="0">
              <a:buNone/>
            </a:pPr>
            <a:r>
              <a:rPr lang="en-US" sz="1200" dirty="0">
                <a:solidFill>
                  <a:srgbClr val="C7CAFF"/>
                </a:solidFill>
                <a:latin typeface="Courier New" pitchFamily="34" charset="0"/>
                <a:ea typeface="Courier New" pitchFamily="34" charset="-122"/>
                <a:cs typeface="Courier New" pitchFamily="34" charset="-120"/>
              </a:rPr>
              <a:t>pipeline.py</a:t>
            </a:r>
            <a:endParaRPr lang="en-US" sz="1200" dirty="0"/>
          </a:p>
        </p:txBody>
      </p:sp>
      <p:sp>
        <p:nvSpPr>
          <p:cNvPr id="18" name="text_163"/>
          <p:cNvSpPr txBox="1"/>
          <p:nvPr/>
        </p:nvSpPr>
        <p:spPr>
          <a:xfrm>
            <a:off x="6263640" y="2560320"/>
            <a:ext cx="2560320" cy="237744"/>
          </a:xfrm>
          <a:prstGeom prst="rect">
            <a:avLst/>
          </a:prstGeom>
          <a:noFill/>
          <a:ln/>
        </p:spPr>
        <p:txBody>
          <a:bodyPr wrap="square" lIns="0" tIns="0" rIns="0" bIns="0" rtlCol="0" anchor="t"/>
          <a:lstStyle/>
          <a:p>
            <a:pPr indent="0" marL="0">
              <a:buNone/>
            </a:pPr>
            <a:r>
              <a:rPr lang="en-US" sz="1050" dirty="0">
                <a:solidFill>
                  <a:schemeClr val="bg2"/>
                </a:solidFill>
              </a:rPr>
              <a:t>Python modules, called directly</a:t>
            </a:r>
            <a:endParaRPr lang="en-US" sz="1050" dirty="0"/>
          </a:p>
        </p:txBody>
      </p:sp>
      <p:sp>
        <p:nvSpPr>
          <p:cNvPr id="19" name="db"/>
          <p:cNvSpPr/>
          <p:nvPr/>
        </p:nvSpPr>
        <p:spPr>
          <a:xfrm>
            <a:off x="9464040" y="1554480"/>
            <a:ext cx="2148840" cy="1371600"/>
          </a:xfrm>
          <a:prstGeom prst="can">
            <a:avLst/>
          </a:prstGeom>
          <a:solidFill>
            <a:schemeClr val="accent6">
              <a:alpha val="25000"/>
            </a:schemeClr>
          </a:solidFill>
          <a:ln w="12700">
            <a:solidFill>
              <a:schemeClr val="accent6"/>
            </a:solidFill>
            <a:prstDash val="solid"/>
          </a:ln>
        </p:spPr>
      </p:sp>
      <p:sp>
        <p:nvSpPr>
          <p:cNvPr id="20" name="text_164"/>
          <p:cNvSpPr txBox="1"/>
          <p:nvPr/>
        </p:nvSpPr>
        <p:spPr>
          <a:xfrm>
            <a:off x="9464040" y="1947672"/>
            <a:ext cx="2148840" cy="228600"/>
          </a:xfrm>
          <a:prstGeom prst="rect">
            <a:avLst/>
          </a:prstGeom>
          <a:noFill/>
          <a:ln/>
        </p:spPr>
        <p:txBody>
          <a:bodyPr wrap="square" lIns="0" tIns="0" rIns="0" bIns="0" rtlCol="0" anchor="t"/>
          <a:lstStyle/>
          <a:p>
            <a:pPr algn="ctr" indent="0" marL="0">
              <a:buNone/>
            </a:pPr>
            <a:r>
              <a:rPr lang="en-US" sz="1050" b="1" spc="200" kern="0" dirty="0">
                <a:solidFill>
                  <a:srgbClr val="5EEAD4"/>
                </a:solidFill>
              </a:rPr>
              <a:t>DATA</a:t>
            </a:r>
            <a:endParaRPr lang="en-US" sz="1050" dirty="0"/>
          </a:p>
        </p:txBody>
      </p:sp>
      <p:sp>
        <p:nvSpPr>
          <p:cNvPr id="21" name="text_165"/>
          <p:cNvSpPr txBox="1"/>
          <p:nvPr/>
        </p:nvSpPr>
        <p:spPr>
          <a:xfrm>
            <a:off x="9464040" y="2167128"/>
            <a:ext cx="2148840" cy="329184"/>
          </a:xfrm>
          <a:prstGeom prst="rect">
            <a:avLst/>
          </a:prstGeom>
          <a:noFill/>
          <a:ln/>
        </p:spPr>
        <p:txBody>
          <a:bodyPr wrap="square" lIns="0" tIns="0" rIns="0" bIns="0" rtlCol="0" anchor="t"/>
          <a:lstStyle/>
          <a:p>
            <a:pPr algn="ctr" indent="0" marL="0">
              <a:buNone/>
            </a:pPr>
            <a:r>
              <a:rPr lang="en-US" sz="1700" b="1" dirty="0">
                <a:solidFill>
                  <a:schemeClr val="bg1"/>
                </a:solidFill>
              </a:rPr>
              <a:t>SQLite</a:t>
            </a:r>
            <a:endParaRPr lang="en-US" sz="1700" dirty="0"/>
          </a:p>
        </p:txBody>
      </p:sp>
      <p:sp>
        <p:nvSpPr>
          <p:cNvPr id="22" name="text_166"/>
          <p:cNvSpPr txBox="1"/>
          <p:nvPr/>
        </p:nvSpPr>
        <p:spPr>
          <a:xfrm>
            <a:off x="9464040" y="2496312"/>
            <a:ext cx="2148840" cy="237744"/>
          </a:xfrm>
          <a:prstGeom prst="rect">
            <a:avLst/>
          </a:prstGeom>
          <a:noFill/>
          <a:ln/>
        </p:spPr>
        <p:txBody>
          <a:bodyPr wrap="square" lIns="0" tIns="0" rIns="0" bIns="0" rtlCol="0" anchor="t"/>
          <a:lstStyle/>
          <a:p>
            <a:pPr algn="ctr" indent="0" marL="0">
              <a:buNone/>
            </a:pPr>
            <a:r>
              <a:rPr lang="en-US" sz="1200" dirty="0">
                <a:solidFill>
                  <a:srgbClr val="99F6E4"/>
                </a:solidFill>
                <a:latin typeface="Courier New" pitchFamily="34" charset="0"/>
                <a:ea typeface="Courier New" pitchFamily="34" charset="-122"/>
                <a:cs typeface="Courier New" pitchFamily="34" charset="-120"/>
              </a:rPr>
              <a:t>database.py</a:t>
            </a:r>
            <a:endParaRPr lang="en-US" sz="1200" dirty="0"/>
          </a:p>
        </p:txBody>
      </p:sp>
      <p:sp>
        <p:nvSpPr>
          <p:cNvPr id="23" name="arrow_167"/>
          <p:cNvSpPr/>
          <p:nvPr/>
        </p:nvSpPr>
        <p:spPr>
          <a:xfrm>
            <a:off x="2176272" y="2240280"/>
            <a:ext cx="493776" cy="0"/>
          </a:xfrm>
          <a:prstGeom prst="line">
            <a:avLst/>
          </a:prstGeom>
          <a:noFill/>
          <a:ln w="25400">
            <a:solidFill>
              <a:srgbClr val="7C7FFA"/>
            </a:solidFill>
            <a:prstDash val="solid"/>
            <a:tailEnd type="triangle"/>
          </a:ln>
        </p:spPr>
      </p:sp>
      <p:sp>
        <p:nvSpPr>
          <p:cNvPr id="24" name="arrow_168"/>
          <p:cNvSpPr/>
          <p:nvPr/>
        </p:nvSpPr>
        <p:spPr>
          <a:xfrm>
            <a:off x="5559552" y="2240280"/>
            <a:ext cx="493776" cy="0"/>
          </a:xfrm>
          <a:prstGeom prst="line">
            <a:avLst/>
          </a:prstGeom>
          <a:noFill/>
          <a:ln w="25400">
            <a:solidFill>
              <a:srgbClr val="7C7FFA"/>
            </a:solidFill>
            <a:prstDash val="solid"/>
            <a:tailEnd type="triangle"/>
          </a:ln>
        </p:spPr>
      </p:sp>
      <p:sp>
        <p:nvSpPr>
          <p:cNvPr id="25" name="arrow_169"/>
          <p:cNvSpPr/>
          <p:nvPr/>
        </p:nvSpPr>
        <p:spPr>
          <a:xfrm>
            <a:off x="8942832" y="2240280"/>
            <a:ext cx="493776" cy="0"/>
          </a:xfrm>
          <a:prstGeom prst="line">
            <a:avLst/>
          </a:prstGeom>
          <a:noFill/>
          <a:ln w="25400">
            <a:solidFill>
              <a:srgbClr val="7C7FFA"/>
            </a:solidFill>
            <a:prstDash val="solid"/>
            <a:tailEnd type="triangle"/>
          </a:ln>
        </p:spPr>
      </p:sp>
      <p:sp>
        <p:nvSpPr>
          <p:cNvPr id="26" name="text_170"/>
          <p:cNvSpPr txBox="1"/>
          <p:nvPr/>
        </p:nvSpPr>
        <p:spPr>
          <a:xfrm>
            <a:off x="5440680" y="1947672"/>
            <a:ext cx="731520" cy="219456"/>
          </a:xfrm>
          <a:prstGeom prst="rect">
            <a:avLst/>
          </a:prstGeom>
          <a:noFill/>
          <a:ln/>
        </p:spPr>
        <p:txBody>
          <a:bodyPr wrap="square" lIns="0" tIns="0" rIns="0" bIns="0" rtlCol="0" anchor="t"/>
          <a:lstStyle/>
          <a:p>
            <a:pPr algn="ctr" indent="0" marL="0">
              <a:buNone/>
            </a:pPr>
            <a:r>
              <a:rPr lang="en-US" sz="1000" dirty="0">
                <a:solidFill>
                  <a:schemeClr val="bg2"/>
                </a:solidFill>
              </a:rPr>
              <a:t>upload</a:t>
            </a:r>
            <a:endParaRPr lang="en-US" sz="1000" dirty="0"/>
          </a:p>
        </p:txBody>
      </p:sp>
      <p:sp>
        <p:nvSpPr>
          <p:cNvPr id="27" name="text_171"/>
          <p:cNvSpPr txBox="1"/>
          <p:nvPr/>
        </p:nvSpPr>
        <p:spPr>
          <a:xfrm>
            <a:off x="8823960" y="1947672"/>
            <a:ext cx="731520" cy="219456"/>
          </a:xfrm>
          <a:prstGeom prst="rect">
            <a:avLst/>
          </a:prstGeom>
          <a:noFill/>
          <a:ln/>
        </p:spPr>
        <p:txBody>
          <a:bodyPr wrap="square" lIns="0" tIns="0" rIns="0" bIns="0" rtlCol="0" anchor="t"/>
          <a:lstStyle/>
          <a:p>
            <a:pPr algn="ctr" indent="0" marL="0">
              <a:buNone/>
            </a:pPr>
            <a:r>
              <a:rPr lang="en-US" sz="1000" dirty="0">
                <a:solidFill>
                  <a:schemeClr val="bg2"/>
                </a:solidFill>
              </a:rPr>
              <a:t>save</a:t>
            </a:r>
            <a:endParaRPr lang="en-US" sz="1000" dirty="0"/>
          </a:p>
        </p:txBody>
      </p:sp>
      <p:sp>
        <p:nvSpPr>
          <p:cNvPr id="28" name="expand_line"/>
          <p:cNvSpPr/>
          <p:nvPr/>
        </p:nvSpPr>
        <p:spPr>
          <a:xfrm>
            <a:off x="7498080" y="2880360"/>
            <a:ext cx="0" cy="502920"/>
          </a:xfrm>
          <a:prstGeom prst="line">
            <a:avLst/>
          </a:prstGeom>
          <a:noFill/>
          <a:ln w="19050">
            <a:solidFill>
              <a:srgbClr val="7C7FFA"/>
            </a:solidFill>
            <a:prstDash val="dash"/>
          </a:ln>
        </p:spPr>
      </p:sp>
      <p:sp>
        <p:nvSpPr>
          <p:cNvPr id="29" name="inside_172"/>
          <p:cNvSpPr/>
          <p:nvPr/>
        </p:nvSpPr>
        <p:spPr>
          <a:xfrm>
            <a:off x="548640" y="3383280"/>
            <a:ext cx="11064240" cy="1417320"/>
          </a:xfrm>
          <a:prstGeom prst="roundRect">
            <a:avLst>
              <a:gd name="adj" fmla="val 7742"/>
            </a:avLst>
          </a:prstGeom>
          <a:solidFill>
            <a:srgbClr val="0E1438"/>
          </a:solidFill>
          <a:ln w="9525">
            <a:solidFill>
              <a:srgbClr val="3B44A0"/>
            </a:solidFill>
            <a:prstDash val="solid"/>
          </a:ln>
        </p:spPr>
      </p:sp>
      <p:sp>
        <p:nvSpPr>
          <p:cNvPr id="30" name="text_173"/>
          <p:cNvSpPr txBox="1"/>
          <p:nvPr/>
        </p:nvSpPr>
        <p:spPr>
          <a:xfrm>
            <a:off x="749808" y="3474720"/>
            <a:ext cx="4572000" cy="228600"/>
          </a:xfrm>
          <a:prstGeom prst="rect">
            <a:avLst/>
          </a:prstGeom>
          <a:noFill/>
          <a:ln/>
        </p:spPr>
        <p:txBody>
          <a:bodyPr wrap="square" lIns="0" tIns="0" rIns="0" bIns="0" rtlCol="0" anchor="t"/>
          <a:lstStyle/>
          <a:p>
            <a:pPr indent="0" marL="0">
              <a:buNone/>
            </a:pPr>
            <a:r>
              <a:rPr lang="en-US" sz="1050" b="1" spc="200" kern="0" dirty="0">
                <a:solidFill>
                  <a:srgbClr val="A5A8FF"/>
                </a:solidFill>
              </a:rPr>
              <a:t>INSIDE THE BACKEND ENGINE</a:t>
            </a:r>
            <a:endParaRPr lang="en-US" sz="1050" dirty="0"/>
          </a:p>
        </p:txBody>
      </p:sp>
      <p:sp>
        <p:nvSpPr>
          <p:cNvPr id="31" name="module_174"/>
          <p:cNvSpPr/>
          <p:nvPr/>
        </p:nvSpPr>
        <p:spPr>
          <a:xfrm>
            <a:off x="749808" y="3767328"/>
            <a:ext cx="1920240" cy="896112"/>
          </a:xfrm>
          <a:prstGeom prst="roundRect">
            <a:avLst>
              <a:gd name="adj" fmla="val 12245"/>
            </a:avLst>
          </a:prstGeom>
          <a:solidFill>
            <a:schemeClr val="tx2"/>
          </a:solidFill>
          <a:ln w="9525">
            <a:solidFill>
              <a:srgbClr val="2B3470"/>
            </a:solidFill>
            <a:prstDash val="solid"/>
          </a:ln>
        </p:spPr>
      </p:sp>
      <p:sp>
        <p:nvSpPr>
          <p:cNvPr id="32" name="text_175"/>
          <p:cNvSpPr txBox="1"/>
          <p:nvPr/>
        </p:nvSpPr>
        <p:spPr>
          <a:xfrm>
            <a:off x="886968" y="3840480"/>
            <a:ext cx="1691640" cy="274320"/>
          </a:xfrm>
          <a:prstGeom prst="rect">
            <a:avLst/>
          </a:prstGeom>
          <a:noFill/>
          <a:ln/>
        </p:spPr>
        <p:txBody>
          <a:bodyPr wrap="square" lIns="0" tIns="0" rIns="0" bIns="0" rtlCol="0" anchor="t"/>
          <a:lstStyle/>
          <a:p>
            <a:pPr indent="0" marL="0">
              <a:buNone/>
            </a:pPr>
            <a:r>
              <a:rPr lang="en-US" sz="1400" b="1" dirty="0">
                <a:solidFill>
                  <a:schemeClr val="bg1"/>
                </a:solidFill>
              </a:rPr>
              <a:t>Read text</a:t>
            </a:r>
            <a:endParaRPr lang="en-US" sz="1400" dirty="0"/>
          </a:p>
        </p:txBody>
      </p:sp>
      <p:sp>
        <p:nvSpPr>
          <p:cNvPr id="33" name="text_176"/>
          <p:cNvSpPr txBox="1"/>
          <p:nvPr/>
        </p:nvSpPr>
        <p:spPr>
          <a:xfrm>
            <a:off x="886968" y="4114800"/>
            <a:ext cx="1691640" cy="237744"/>
          </a:xfrm>
          <a:prstGeom prst="rect">
            <a:avLst/>
          </a:prstGeom>
          <a:noFill/>
          <a:ln/>
        </p:spPr>
        <p:txBody>
          <a:bodyPr wrap="square" lIns="0" tIns="0" rIns="0" bIns="0" rtlCol="0" anchor="t"/>
          <a:lstStyle/>
          <a:p>
            <a:pPr indent="0" marL="0">
              <a:buNone/>
            </a:pPr>
            <a:r>
              <a:rPr lang="en-US" sz="1100" dirty="0">
                <a:solidFill>
                  <a:srgbClr val="C7CAFF"/>
                </a:solidFill>
                <a:latin typeface="Courier New" pitchFamily="34" charset="0"/>
                <a:ea typeface="Courier New" pitchFamily="34" charset="-122"/>
                <a:cs typeface="Courier New" pitchFamily="34" charset="-120"/>
              </a:rPr>
              <a:t>extractor.py</a:t>
            </a:r>
            <a:endParaRPr lang="en-US" sz="1100" dirty="0"/>
          </a:p>
        </p:txBody>
      </p:sp>
      <p:sp>
        <p:nvSpPr>
          <p:cNvPr id="34" name="text_177"/>
          <p:cNvSpPr txBox="1"/>
          <p:nvPr/>
        </p:nvSpPr>
        <p:spPr>
          <a:xfrm>
            <a:off x="886968" y="4352544"/>
            <a:ext cx="1691640" cy="237744"/>
          </a:xfrm>
          <a:prstGeom prst="rect">
            <a:avLst/>
          </a:prstGeom>
          <a:noFill/>
          <a:ln/>
        </p:spPr>
        <p:txBody>
          <a:bodyPr wrap="square" lIns="0" tIns="0" rIns="0" bIns="0" rtlCol="0" anchor="t"/>
          <a:lstStyle/>
          <a:p>
            <a:pPr indent="0" marL="0">
              <a:buNone/>
            </a:pPr>
            <a:r>
              <a:rPr lang="en-US" sz="1050" dirty="0">
                <a:solidFill>
                  <a:schemeClr val="bg2"/>
                </a:solidFill>
              </a:rPr>
              <a:t>pypdf · docx · openpyxl · OCR</a:t>
            </a:r>
            <a:endParaRPr lang="en-US" sz="1050" dirty="0"/>
          </a:p>
        </p:txBody>
      </p:sp>
      <p:sp>
        <p:nvSpPr>
          <p:cNvPr id="35" name="arrow_178"/>
          <p:cNvSpPr/>
          <p:nvPr/>
        </p:nvSpPr>
        <p:spPr>
          <a:xfrm>
            <a:off x="2697480" y="4215384"/>
            <a:ext cx="201168" cy="0"/>
          </a:xfrm>
          <a:prstGeom prst="line">
            <a:avLst/>
          </a:prstGeom>
          <a:noFill/>
          <a:ln w="19050">
            <a:solidFill>
              <a:srgbClr val="7C7FFA"/>
            </a:solidFill>
            <a:prstDash val="solid"/>
            <a:tailEnd type="triangle"/>
          </a:ln>
        </p:spPr>
      </p:sp>
      <p:sp>
        <p:nvSpPr>
          <p:cNvPr id="36" name="module_179"/>
          <p:cNvSpPr/>
          <p:nvPr/>
        </p:nvSpPr>
        <p:spPr>
          <a:xfrm>
            <a:off x="2926080" y="3767328"/>
            <a:ext cx="1920240" cy="896112"/>
          </a:xfrm>
          <a:prstGeom prst="roundRect">
            <a:avLst>
              <a:gd name="adj" fmla="val 12245"/>
            </a:avLst>
          </a:prstGeom>
          <a:solidFill>
            <a:schemeClr val="tx2"/>
          </a:solidFill>
          <a:ln w="9525">
            <a:solidFill>
              <a:srgbClr val="2B3470"/>
            </a:solidFill>
            <a:prstDash val="solid"/>
          </a:ln>
        </p:spPr>
      </p:sp>
      <p:sp>
        <p:nvSpPr>
          <p:cNvPr id="37" name="text_180"/>
          <p:cNvSpPr txBox="1"/>
          <p:nvPr/>
        </p:nvSpPr>
        <p:spPr>
          <a:xfrm>
            <a:off x="3063240" y="3840480"/>
            <a:ext cx="1691640" cy="274320"/>
          </a:xfrm>
          <a:prstGeom prst="rect">
            <a:avLst/>
          </a:prstGeom>
          <a:noFill/>
          <a:ln/>
        </p:spPr>
        <p:txBody>
          <a:bodyPr wrap="square" lIns="0" tIns="0" rIns="0" bIns="0" rtlCol="0" anchor="t"/>
          <a:lstStyle/>
          <a:p>
            <a:pPr indent="0" marL="0">
              <a:buNone/>
            </a:pPr>
            <a:r>
              <a:rPr lang="en-US" sz="1400" b="1" dirty="0">
                <a:solidFill>
                  <a:schemeClr val="bg1"/>
                </a:solidFill>
              </a:rPr>
              <a:t>Detect type</a:t>
            </a:r>
            <a:endParaRPr lang="en-US" sz="1400" dirty="0"/>
          </a:p>
        </p:txBody>
      </p:sp>
      <p:sp>
        <p:nvSpPr>
          <p:cNvPr id="38" name="text_181"/>
          <p:cNvSpPr txBox="1"/>
          <p:nvPr/>
        </p:nvSpPr>
        <p:spPr>
          <a:xfrm>
            <a:off x="3063240" y="4114800"/>
            <a:ext cx="1691640" cy="237744"/>
          </a:xfrm>
          <a:prstGeom prst="rect">
            <a:avLst/>
          </a:prstGeom>
          <a:noFill/>
          <a:ln/>
        </p:spPr>
        <p:txBody>
          <a:bodyPr wrap="square" lIns="0" tIns="0" rIns="0" bIns="0" rtlCol="0" anchor="t"/>
          <a:lstStyle/>
          <a:p>
            <a:pPr indent="0" marL="0">
              <a:buNone/>
            </a:pPr>
            <a:r>
              <a:rPr lang="en-US" sz="1100" dirty="0">
                <a:solidFill>
                  <a:srgbClr val="C7CAFF"/>
                </a:solidFill>
                <a:latin typeface="Courier New" pitchFamily="34" charset="0"/>
                <a:ea typeface="Courier New" pitchFamily="34" charset="-122"/>
                <a:cs typeface="Courier New" pitchFamily="34" charset="-120"/>
              </a:rPr>
              <a:t>classifier.py</a:t>
            </a:r>
            <a:endParaRPr lang="en-US" sz="1100" dirty="0"/>
          </a:p>
        </p:txBody>
      </p:sp>
      <p:sp>
        <p:nvSpPr>
          <p:cNvPr id="39" name="text_182"/>
          <p:cNvSpPr txBox="1"/>
          <p:nvPr/>
        </p:nvSpPr>
        <p:spPr>
          <a:xfrm>
            <a:off x="3063240" y="4352544"/>
            <a:ext cx="1691640" cy="237744"/>
          </a:xfrm>
          <a:prstGeom prst="rect">
            <a:avLst/>
          </a:prstGeom>
          <a:noFill/>
          <a:ln/>
        </p:spPr>
        <p:txBody>
          <a:bodyPr wrap="square" lIns="0" tIns="0" rIns="0" bIns="0" rtlCol="0" anchor="t"/>
          <a:lstStyle/>
          <a:p>
            <a:pPr indent="0" marL="0">
              <a:buNone/>
            </a:pPr>
            <a:r>
              <a:rPr lang="en-US" sz="1050" dirty="0">
                <a:solidFill>
                  <a:schemeClr val="bg2"/>
                </a:solidFill>
              </a:rPr>
              <a:t>keyword scoring</a:t>
            </a:r>
            <a:endParaRPr lang="en-US" sz="1050" dirty="0"/>
          </a:p>
        </p:txBody>
      </p:sp>
      <p:sp>
        <p:nvSpPr>
          <p:cNvPr id="40" name="arrow_183"/>
          <p:cNvSpPr/>
          <p:nvPr/>
        </p:nvSpPr>
        <p:spPr>
          <a:xfrm>
            <a:off x="4873752" y="4215384"/>
            <a:ext cx="201168" cy="0"/>
          </a:xfrm>
          <a:prstGeom prst="line">
            <a:avLst/>
          </a:prstGeom>
          <a:noFill/>
          <a:ln w="19050">
            <a:solidFill>
              <a:srgbClr val="7C7FFA"/>
            </a:solidFill>
            <a:prstDash val="solid"/>
            <a:tailEnd type="triangle"/>
          </a:ln>
        </p:spPr>
      </p:sp>
      <p:sp>
        <p:nvSpPr>
          <p:cNvPr id="41" name="module_184"/>
          <p:cNvSpPr/>
          <p:nvPr/>
        </p:nvSpPr>
        <p:spPr>
          <a:xfrm>
            <a:off x="5102352" y="3767328"/>
            <a:ext cx="1920240" cy="896112"/>
          </a:xfrm>
          <a:prstGeom prst="roundRect">
            <a:avLst>
              <a:gd name="adj" fmla="val 12245"/>
            </a:avLst>
          </a:prstGeom>
          <a:solidFill>
            <a:schemeClr val="tx2"/>
          </a:solidFill>
          <a:ln w="9525">
            <a:solidFill>
              <a:srgbClr val="2B3470"/>
            </a:solidFill>
            <a:prstDash val="solid"/>
          </a:ln>
        </p:spPr>
      </p:sp>
      <p:sp>
        <p:nvSpPr>
          <p:cNvPr id="42" name="text_185"/>
          <p:cNvSpPr txBox="1"/>
          <p:nvPr/>
        </p:nvSpPr>
        <p:spPr>
          <a:xfrm>
            <a:off x="5239512" y="3840480"/>
            <a:ext cx="1691640" cy="274320"/>
          </a:xfrm>
          <a:prstGeom prst="rect">
            <a:avLst/>
          </a:prstGeom>
          <a:noFill/>
          <a:ln/>
        </p:spPr>
        <p:txBody>
          <a:bodyPr wrap="square" lIns="0" tIns="0" rIns="0" bIns="0" rtlCol="0" anchor="t"/>
          <a:lstStyle/>
          <a:p>
            <a:pPr indent="0" marL="0">
              <a:buNone/>
            </a:pPr>
            <a:r>
              <a:rPr lang="en-US" sz="1400" b="1" dirty="0">
                <a:solidFill>
                  <a:schemeClr val="bg1"/>
                </a:solidFill>
              </a:rPr>
              <a:t>Find fields</a:t>
            </a:r>
            <a:endParaRPr lang="en-US" sz="1400" dirty="0"/>
          </a:p>
        </p:txBody>
      </p:sp>
      <p:sp>
        <p:nvSpPr>
          <p:cNvPr id="43" name="text_186"/>
          <p:cNvSpPr txBox="1"/>
          <p:nvPr/>
        </p:nvSpPr>
        <p:spPr>
          <a:xfrm>
            <a:off x="5239512" y="4114800"/>
            <a:ext cx="1691640" cy="237744"/>
          </a:xfrm>
          <a:prstGeom prst="rect">
            <a:avLst/>
          </a:prstGeom>
          <a:noFill/>
          <a:ln/>
        </p:spPr>
        <p:txBody>
          <a:bodyPr wrap="square" lIns="0" tIns="0" rIns="0" bIns="0" rtlCol="0" anchor="t"/>
          <a:lstStyle/>
          <a:p>
            <a:pPr indent="0" marL="0">
              <a:buNone/>
            </a:pPr>
            <a:r>
              <a:rPr lang="en-US" sz="1100" dirty="0">
                <a:solidFill>
                  <a:srgbClr val="C7CAFF"/>
                </a:solidFill>
                <a:latin typeface="Courier New" pitchFamily="34" charset="0"/>
                <a:ea typeface="Courier New" pitchFamily="34" charset="-122"/>
                <a:cs typeface="Courier New" pitchFamily="34" charset="-120"/>
              </a:rPr>
              <a:t>parser.py</a:t>
            </a:r>
            <a:endParaRPr lang="en-US" sz="1100" dirty="0"/>
          </a:p>
        </p:txBody>
      </p:sp>
      <p:sp>
        <p:nvSpPr>
          <p:cNvPr id="44" name="text_187"/>
          <p:cNvSpPr txBox="1"/>
          <p:nvPr/>
        </p:nvSpPr>
        <p:spPr>
          <a:xfrm>
            <a:off x="5239512" y="4352544"/>
            <a:ext cx="1691640" cy="237744"/>
          </a:xfrm>
          <a:prstGeom prst="rect">
            <a:avLst/>
          </a:prstGeom>
          <a:noFill/>
          <a:ln/>
        </p:spPr>
        <p:txBody>
          <a:bodyPr wrap="square" lIns="0" tIns="0" rIns="0" bIns="0" rtlCol="0" anchor="t"/>
          <a:lstStyle/>
          <a:p>
            <a:pPr indent="0" marL="0">
              <a:buNone/>
            </a:pPr>
            <a:r>
              <a:rPr lang="en-US" sz="1050" dirty="0">
                <a:solidFill>
                  <a:schemeClr val="bg2"/>
                </a:solidFill>
              </a:rPr>
              <a:t>regex: dates, IDs, ₹</a:t>
            </a:r>
            <a:endParaRPr lang="en-US" sz="1050" dirty="0"/>
          </a:p>
        </p:txBody>
      </p:sp>
      <p:sp>
        <p:nvSpPr>
          <p:cNvPr id="45" name="arrow_188"/>
          <p:cNvSpPr/>
          <p:nvPr/>
        </p:nvSpPr>
        <p:spPr>
          <a:xfrm>
            <a:off x="7050024" y="4215384"/>
            <a:ext cx="201168" cy="0"/>
          </a:xfrm>
          <a:prstGeom prst="line">
            <a:avLst/>
          </a:prstGeom>
          <a:noFill/>
          <a:ln w="19050">
            <a:solidFill>
              <a:srgbClr val="7C7FFA"/>
            </a:solidFill>
            <a:prstDash val="solid"/>
            <a:tailEnd type="triangle"/>
          </a:ln>
        </p:spPr>
      </p:sp>
      <p:sp>
        <p:nvSpPr>
          <p:cNvPr id="46" name="module_189"/>
          <p:cNvSpPr/>
          <p:nvPr/>
        </p:nvSpPr>
        <p:spPr>
          <a:xfrm>
            <a:off x="7278624" y="3767328"/>
            <a:ext cx="1920240" cy="896112"/>
          </a:xfrm>
          <a:prstGeom prst="roundRect">
            <a:avLst>
              <a:gd name="adj" fmla="val 12245"/>
            </a:avLst>
          </a:prstGeom>
          <a:solidFill>
            <a:schemeClr val="tx2"/>
          </a:solidFill>
          <a:ln w="9525">
            <a:solidFill>
              <a:srgbClr val="2B3470"/>
            </a:solidFill>
            <a:prstDash val="solid"/>
          </a:ln>
        </p:spPr>
      </p:sp>
      <p:sp>
        <p:nvSpPr>
          <p:cNvPr id="47" name="text_190"/>
          <p:cNvSpPr txBox="1"/>
          <p:nvPr/>
        </p:nvSpPr>
        <p:spPr>
          <a:xfrm>
            <a:off x="7415784" y="3840480"/>
            <a:ext cx="1691640" cy="274320"/>
          </a:xfrm>
          <a:prstGeom prst="rect">
            <a:avLst/>
          </a:prstGeom>
          <a:noFill/>
          <a:ln/>
        </p:spPr>
        <p:txBody>
          <a:bodyPr wrap="square" lIns="0" tIns="0" rIns="0" bIns="0" rtlCol="0" anchor="t"/>
          <a:lstStyle/>
          <a:p>
            <a:pPr indent="0" marL="0">
              <a:buNone/>
            </a:pPr>
            <a:r>
              <a:rPr lang="en-US" sz="1400" b="1" dirty="0">
                <a:solidFill>
                  <a:schemeClr val="bg1"/>
                </a:solidFill>
              </a:rPr>
              <a:t>Set status</a:t>
            </a:r>
            <a:endParaRPr lang="en-US" sz="1400" dirty="0"/>
          </a:p>
        </p:txBody>
      </p:sp>
      <p:sp>
        <p:nvSpPr>
          <p:cNvPr id="48" name="text_191"/>
          <p:cNvSpPr txBox="1"/>
          <p:nvPr/>
        </p:nvSpPr>
        <p:spPr>
          <a:xfrm>
            <a:off x="7415784" y="4114800"/>
            <a:ext cx="1691640" cy="237744"/>
          </a:xfrm>
          <a:prstGeom prst="rect">
            <a:avLst/>
          </a:prstGeom>
          <a:noFill/>
          <a:ln/>
        </p:spPr>
        <p:txBody>
          <a:bodyPr wrap="square" lIns="0" tIns="0" rIns="0" bIns="0" rtlCol="0" anchor="t"/>
          <a:lstStyle/>
          <a:p>
            <a:pPr indent="0" marL="0">
              <a:buNone/>
            </a:pPr>
            <a:r>
              <a:rPr lang="en-US" sz="1100" dirty="0">
                <a:solidFill>
                  <a:srgbClr val="C7CAFF"/>
                </a:solidFill>
                <a:latin typeface="Courier New" pitchFamily="34" charset="0"/>
                <a:ea typeface="Courier New" pitchFamily="34" charset="-122"/>
                <a:cs typeface="Courier New" pitchFamily="34" charset="-120"/>
              </a:rPr>
              <a:t>reminders.py</a:t>
            </a:r>
            <a:endParaRPr lang="en-US" sz="1100" dirty="0"/>
          </a:p>
        </p:txBody>
      </p:sp>
      <p:sp>
        <p:nvSpPr>
          <p:cNvPr id="49" name="text_192"/>
          <p:cNvSpPr txBox="1"/>
          <p:nvPr/>
        </p:nvSpPr>
        <p:spPr>
          <a:xfrm>
            <a:off x="7415784" y="4352544"/>
            <a:ext cx="1691640" cy="237744"/>
          </a:xfrm>
          <a:prstGeom prst="rect">
            <a:avLst/>
          </a:prstGeom>
          <a:noFill/>
          <a:ln/>
        </p:spPr>
        <p:txBody>
          <a:bodyPr wrap="square" lIns="0" tIns="0" rIns="0" bIns="0" rtlCol="0" anchor="t"/>
          <a:lstStyle/>
          <a:p>
            <a:pPr indent="0" marL="0">
              <a:buNone/>
            </a:pPr>
            <a:r>
              <a:rPr lang="en-US" sz="1050" dirty="0">
                <a:solidFill>
                  <a:schemeClr val="bg2"/>
                </a:solidFill>
              </a:rPr>
              <a:t>30 / 7-day rules</a:t>
            </a:r>
            <a:endParaRPr lang="en-US" sz="1050" dirty="0"/>
          </a:p>
        </p:txBody>
      </p:sp>
      <p:sp>
        <p:nvSpPr>
          <p:cNvPr id="50" name="arrow_193"/>
          <p:cNvSpPr/>
          <p:nvPr/>
        </p:nvSpPr>
        <p:spPr>
          <a:xfrm>
            <a:off x="9226296" y="4215384"/>
            <a:ext cx="201168" cy="0"/>
          </a:xfrm>
          <a:prstGeom prst="line">
            <a:avLst/>
          </a:prstGeom>
          <a:noFill/>
          <a:ln w="19050">
            <a:solidFill>
              <a:srgbClr val="7C7FFA"/>
            </a:solidFill>
            <a:prstDash val="solid"/>
            <a:tailEnd type="triangle"/>
          </a:ln>
        </p:spPr>
      </p:sp>
      <p:sp>
        <p:nvSpPr>
          <p:cNvPr id="51" name="module_194"/>
          <p:cNvSpPr/>
          <p:nvPr/>
        </p:nvSpPr>
        <p:spPr>
          <a:xfrm>
            <a:off x="9454896" y="3767328"/>
            <a:ext cx="1920240" cy="896112"/>
          </a:xfrm>
          <a:prstGeom prst="roundRect">
            <a:avLst>
              <a:gd name="adj" fmla="val 12245"/>
            </a:avLst>
          </a:prstGeom>
          <a:solidFill>
            <a:schemeClr val="tx2"/>
          </a:solidFill>
          <a:ln w="9525">
            <a:solidFill>
              <a:srgbClr val="2B3470"/>
            </a:solidFill>
            <a:prstDash val="solid"/>
          </a:ln>
        </p:spPr>
      </p:sp>
      <p:sp>
        <p:nvSpPr>
          <p:cNvPr id="52" name="text_195"/>
          <p:cNvSpPr txBox="1"/>
          <p:nvPr/>
        </p:nvSpPr>
        <p:spPr>
          <a:xfrm>
            <a:off x="9592056" y="3840480"/>
            <a:ext cx="1691640" cy="274320"/>
          </a:xfrm>
          <a:prstGeom prst="rect">
            <a:avLst/>
          </a:prstGeom>
          <a:noFill/>
          <a:ln/>
        </p:spPr>
        <p:txBody>
          <a:bodyPr wrap="square" lIns="0" tIns="0" rIns="0" bIns="0" rtlCol="0" anchor="t"/>
          <a:lstStyle/>
          <a:p>
            <a:pPr indent="0" marL="0">
              <a:buNone/>
            </a:pPr>
            <a:r>
              <a:rPr lang="en-US" sz="1400" b="1" dirty="0">
                <a:solidFill>
                  <a:schemeClr val="bg1"/>
                </a:solidFill>
              </a:rPr>
              <a:t>Score health</a:t>
            </a:r>
            <a:endParaRPr lang="en-US" sz="1400" dirty="0"/>
          </a:p>
        </p:txBody>
      </p:sp>
      <p:sp>
        <p:nvSpPr>
          <p:cNvPr id="53" name="text_196"/>
          <p:cNvSpPr txBox="1"/>
          <p:nvPr/>
        </p:nvSpPr>
        <p:spPr>
          <a:xfrm>
            <a:off x="9592056" y="4114800"/>
            <a:ext cx="1691640" cy="237744"/>
          </a:xfrm>
          <a:prstGeom prst="rect">
            <a:avLst/>
          </a:prstGeom>
          <a:noFill/>
          <a:ln/>
        </p:spPr>
        <p:txBody>
          <a:bodyPr wrap="square" lIns="0" tIns="0" rIns="0" bIns="0" rtlCol="0" anchor="t"/>
          <a:lstStyle/>
          <a:p>
            <a:pPr indent="0" marL="0">
              <a:buNone/>
            </a:pPr>
            <a:r>
              <a:rPr lang="en-US" sz="1100" dirty="0">
                <a:solidFill>
                  <a:srgbClr val="C7CAFF"/>
                </a:solidFill>
                <a:latin typeface="Courier New" pitchFamily="34" charset="0"/>
                <a:ea typeface="Courier New" pitchFamily="34" charset="-122"/>
                <a:cs typeface="Courier New" pitchFamily="34" charset="-120"/>
              </a:rPr>
              <a:t>health.py</a:t>
            </a:r>
            <a:endParaRPr lang="en-US" sz="1100" dirty="0"/>
          </a:p>
        </p:txBody>
      </p:sp>
      <p:sp>
        <p:nvSpPr>
          <p:cNvPr id="54" name="text_197"/>
          <p:cNvSpPr txBox="1"/>
          <p:nvPr/>
        </p:nvSpPr>
        <p:spPr>
          <a:xfrm>
            <a:off x="9592056" y="4352544"/>
            <a:ext cx="1691640" cy="237744"/>
          </a:xfrm>
          <a:prstGeom prst="rect">
            <a:avLst/>
          </a:prstGeom>
          <a:noFill/>
          <a:ln/>
        </p:spPr>
        <p:txBody>
          <a:bodyPr wrap="square" lIns="0" tIns="0" rIns="0" bIns="0" rtlCol="0" anchor="t"/>
          <a:lstStyle/>
          <a:p>
            <a:pPr indent="0" marL="0">
              <a:buNone/>
            </a:pPr>
            <a:r>
              <a:rPr lang="en-US" sz="1050" dirty="0">
                <a:solidFill>
                  <a:schemeClr val="bg2"/>
                </a:solidFill>
              </a:rPr>
              <a:t>completeness + timeliness</a:t>
            </a:r>
            <a:endParaRPr lang="en-US" sz="1050" dirty="0"/>
          </a:p>
        </p:txBody>
      </p:sp>
      <p:sp>
        <p:nvSpPr>
          <p:cNvPr id="55" name="text_198"/>
          <p:cNvSpPr txBox="1"/>
          <p:nvPr/>
        </p:nvSpPr>
        <p:spPr>
          <a:xfrm>
            <a:off x="548640" y="5029200"/>
            <a:ext cx="7315200" cy="237744"/>
          </a:xfrm>
          <a:prstGeom prst="rect">
            <a:avLst/>
          </a:prstGeom>
          <a:noFill/>
          <a:ln/>
        </p:spPr>
        <p:txBody>
          <a:bodyPr wrap="square" lIns="0" tIns="0" rIns="0" bIns="0" rtlCol="0" anchor="t"/>
          <a:lstStyle/>
          <a:p>
            <a:pPr indent="0" marL="0">
              <a:buNone/>
            </a:pPr>
            <a:r>
              <a:rPr lang="en-US" sz="1050" b="1" spc="100" kern="0" dirty="0">
                <a:solidFill>
                  <a:schemeClr val="accent3"/>
                </a:solidFill>
              </a:rPr>
              <a:t>OUTPUTS  ·  read back from SQLite and shown in the frontend</a:t>
            </a:r>
            <a:endParaRPr lang="en-US" sz="1050" dirty="0"/>
          </a:p>
        </p:txBody>
      </p:sp>
      <p:sp>
        <p:nvSpPr>
          <p:cNvPr id="56" name="output_199"/>
          <p:cNvSpPr/>
          <p:nvPr/>
        </p:nvSpPr>
        <p:spPr>
          <a:xfrm>
            <a:off x="548640" y="5340096"/>
            <a:ext cx="2628900" cy="804672"/>
          </a:xfrm>
          <a:prstGeom prst="roundRect">
            <a:avLst>
              <a:gd name="adj" fmla="val 13636"/>
            </a:avLst>
          </a:prstGeom>
          <a:solidFill>
            <a:schemeClr val="tx2"/>
          </a:solidFill>
          <a:ln w="9525">
            <a:solidFill>
              <a:srgbClr val="2B3470"/>
            </a:solidFill>
            <a:prstDash val="solid"/>
          </a:ln>
        </p:spPr>
      </p:sp>
      <p:sp>
        <p:nvSpPr>
          <p:cNvPr id="57" name="icon_bg_200"/>
          <p:cNvSpPr/>
          <p:nvPr/>
        </p:nvSpPr>
        <p:spPr>
          <a:xfrm>
            <a:off x="685800" y="5495544"/>
            <a:ext cx="493776" cy="493776"/>
          </a:xfrm>
          <a:prstGeom prst="roundRect">
            <a:avLst>
              <a:gd name="adj" fmla="val 24000"/>
            </a:avLst>
          </a:prstGeom>
          <a:solidFill>
            <a:schemeClr val="accent3">
              <a:alpha val="22000"/>
            </a:schemeClr>
          </a:solidFill>
          <a:ln/>
        </p:spPr>
      </p:sp>
      <p:pic>
        <p:nvPicPr>
          <p:cNvPr id="58" name="icon_201" descr="/tmp/claude-0/-home-claude/584731ee-e493-5c78-a637-0b254e057472/scratchpad/deck/img/i_list.png">    </p:cNvPr>
          <p:cNvPicPr>
            <a:picLocks noChangeAspect="1"/>
          </p:cNvPicPr>
          <p:nvPr/>
        </p:nvPicPr>
        <p:blipFill>
          <a:blip r:embed="rId2"/>
          <a:stretch>
            <a:fillRect/>
          </a:stretch>
        </p:blipFill>
        <p:spPr>
          <a:xfrm>
            <a:off x="804306" y="5614050"/>
            <a:ext cx="256764" cy="256764"/>
          </a:xfrm>
          <a:prstGeom prst="rect">
            <a:avLst/>
          </a:prstGeom>
        </p:spPr>
      </p:pic>
      <p:sp>
        <p:nvSpPr>
          <p:cNvPr id="59" name="text_202"/>
          <p:cNvSpPr txBox="1"/>
          <p:nvPr/>
        </p:nvSpPr>
        <p:spPr>
          <a:xfrm>
            <a:off x="1298448" y="5449824"/>
            <a:ext cx="1783080" cy="292608"/>
          </a:xfrm>
          <a:prstGeom prst="rect">
            <a:avLst/>
          </a:prstGeom>
          <a:noFill/>
          <a:ln/>
        </p:spPr>
        <p:txBody>
          <a:bodyPr wrap="square" lIns="0" tIns="0" rIns="0" bIns="0" rtlCol="0" anchor="t"/>
          <a:lstStyle/>
          <a:p>
            <a:pPr indent="0" marL="0">
              <a:buNone/>
            </a:pPr>
            <a:r>
              <a:rPr lang="en-US" sz="1400" b="1" dirty="0">
                <a:solidFill>
                  <a:schemeClr val="bg1"/>
                </a:solidFill>
              </a:rPr>
              <a:t>Dashboard</a:t>
            </a:r>
            <a:endParaRPr lang="en-US" sz="1400" dirty="0"/>
          </a:p>
        </p:txBody>
      </p:sp>
      <p:sp>
        <p:nvSpPr>
          <p:cNvPr id="60" name="text_203"/>
          <p:cNvSpPr txBox="1"/>
          <p:nvPr/>
        </p:nvSpPr>
        <p:spPr>
          <a:xfrm>
            <a:off x="1298448" y="5760720"/>
            <a:ext cx="1828800" cy="274320"/>
          </a:xfrm>
          <a:prstGeom prst="rect">
            <a:avLst/>
          </a:prstGeom>
          <a:noFill/>
          <a:ln/>
        </p:spPr>
        <p:txBody>
          <a:bodyPr wrap="square" lIns="0" tIns="0" rIns="0" bIns="0" rtlCol="0" anchor="t"/>
          <a:lstStyle/>
          <a:p>
            <a:pPr indent="0" marL="0">
              <a:buNone/>
            </a:pPr>
            <a:r>
              <a:rPr lang="en-US" sz="1100" dirty="0">
                <a:solidFill>
                  <a:schemeClr val="bg2"/>
                </a:solidFill>
              </a:rPr>
              <a:t>Plotly charts + KPIs</a:t>
            </a:r>
            <a:endParaRPr lang="en-US" sz="1100" dirty="0"/>
          </a:p>
        </p:txBody>
      </p:sp>
      <p:sp>
        <p:nvSpPr>
          <p:cNvPr id="61" name="output_204"/>
          <p:cNvSpPr/>
          <p:nvPr/>
        </p:nvSpPr>
        <p:spPr>
          <a:xfrm>
            <a:off x="3360420" y="5340096"/>
            <a:ext cx="2628900" cy="804672"/>
          </a:xfrm>
          <a:prstGeom prst="roundRect">
            <a:avLst>
              <a:gd name="adj" fmla="val 13636"/>
            </a:avLst>
          </a:prstGeom>
          <a:solidFill>
            <a:schemeClr val="tx2"/>
          </a:solidFill>
          <a:ln w="9525">
            <a:solidFill>
              <a:srgbClr val="2B3470"/>
            </a:solidFill>
            <a:prstDash val="solid"/>
          </a:ln>
        </p:spPr>
      </p:sp>
      <p:sp>
        <p:nvSpPr>
          <p:cNvPr id="62" name="icon_bg_205"/>
          <p:cNvSpPr/>
          <p:nvPr/>
        </p:nvSpPr>
        <p:spPr>
          <a:xfrm>
            <a:off x="3497580" y="5495544"/>
            <a:ext cx="493776" cy="493776"/>
          </a:xfrm>
          <a:prstGeom prst="roundRect">
            <a:avLst>
              <a:gd name="adj" fmla="val 24000"/>
            </a:avLst>
          </a:prstGeom>
          <a:solidFill>
            <a:schemeClr val="accent3">
              <a:alpha val="22000"/>
            </a:schemeClr>
          </a:solidFill>
          <a:ln/>
        </p:spPr>
      </p:sp>
      <p:pic>
        <p:nvPicPr>
          <p:cNvPr id="63" name="icon_206" descr="/tmp/claude-0/-home-claude/584731ee-e493-5c78-a637-0b254e057472/scratchpad/deck/img/i_bell.png">    </p:cNvPr>
          <p:cNvPicPr>
            <a:picLocks noChangeAspect="1"/>
          </p:cNvPicPr>
          <p:nvPr/>
        </p:nvPicPr>
        <p:blipFill>
          <a:blip r:embed="rId3"/>
          <a:stretch>
            <a:fillRect/>
          </a:stretch>
        </p:blipFill>
        <p:spPr>
          <a:xfrm>
            <a:off x="3616086" y="5614050"/>
            <a:ext cx="256764" cy="256764"/>
          </a:xfrm>
          <a:prstGeom prst="rect">
            <a:avLst/>
          </a:prstGeom>
        </p:spPr>
      </p:pic>
      <p:sp>
        <p:nvSpPr>
          <p:cNvPr id="64" name="text_207"/>
          <p:cNvSpPr txBox="1"/>
          <p:nvPr/>
        </p:nvSpPr>
        <p:spPr>
          <a:xfrm>
            <a:off x="4110228" y="5449824"/>
            <a:ext cx="1783080" cy="292608"/>
          </a:xfrm>
          <a:prstGeom prst="rect">
            <a:avLst/>
          </a:prstGeom>
          <a:noFill/>
          <a:ln/>
        </p:spPr>
        <p:txBody>
          <a:bodyPr wrap="square" lIns="0" tIns="0" rIns="0" bIns="0" rtlCol="0" anchor="t"/>
          <a:lstStyle/>
          <a:p>
            <a:pPr indent="0" marL="0">
              <a:buNone/>
            </a:pPr>
            <a:r>
              <a:rPr lang="en-US" sz="1400" b="1" dirty="0">
                <a:solidFill>
                  <a:schemeClr val="bg1"/>
                </a:solidFill>
              </a:rPr>
              <a:t>Reminders</a:t>
            </a:r>
            <a:endParaRPr lang="en-US" sz="1400" dirty="0"/>
          </a:p>
        </p:txBody>
      </p:sp>
      <p:sp>
        <p:nvSpPr>
          <p:cNvPr id="65" name="text_208"/>
          <p:cNvSpPr txBox="1"/>
          <p:nvPr/>
        </p:nvSpPr>
        <p:spPr>
          <a:xfrm>
            <a:off x="4110228" y="5760720"/>
            <a:ext cx="1828800" cy="274320"/>
          </a:xfrm>
          <a:prstGeom prst="rect">
            <a:avLst/>
          </a:prstGeom>
          <a:noFill/>
          <a:ln/>
        </p:spPr>
        <p:txBody>
          <a:bodyPr wrap="square" lIns="0" tIns="0" rIns="0" bIns="0" rtlCol="0" anchor="t"/>
          <a:lstStyle/>
          <a:p>
            <a:pPr indent="0" marL="0">
              <a:buNone/>
            </a:pPr>
            <a:r>
              <a:rPr lang="en-US" sz="1100" dirty="0">
                <a:solidFill>
                  <a:schemeClr val="bg2"/>
                </a:solidFill>
              </a:rPr>
              <a:t>tabs, bell, calendar</a:t>
            </a:r>
            <a:endParaRPr lang="en-US" sz="1100" dirty="0"/>
          </a:p>
        </p:txBody>
      </p:sp>
      <p:sp>
        <p:nvSpPr>
          <p:cNvPr id="66" name="output_209"/>
          <p:cNvSpPr/>
          <p:nvPr/>
        </p:nvSpPr>
        <p:spPr>
          <a:xfrm>
            <a:off x="6172200" y="5340096"/>
            <a:ext cx="2628900" cy="804672"/>
          </a:xfrm>
          <a:prstGeom prst="roundRect">
            <a:avLst>
              <a:gd name="adj" fmla="val 13636"/>
            </a:avLst>
          </a:prstGeom>
          <a:solidFill>
            <a:schemeClr val="tx2"/>
          </a:solidFill>
          <a:ln w="9525">
            <a:solidFill>
              <a:srgbClr val="2B3470"/>
            </a:solidFill>
            <a:prstDash val="solid"/>
          </a:ln>
        </p:spPr>
      </p:sp>
      <p:sp>
        <p:nvSpPr>
          <p:cNvPr id="67" name="icon_bg_210"/>
          <p:cNvSpPr/>
          <p:nvPr/>
        </p:nvSpPr>
        <p:spPr>
          <a:xfrm>
            <a:off x="6309360" y="5495544"/>
            <a:ext cx="493776" cy="493776"/>
          </a:xfrm>
          <a:prstGeom prst="roundRect">
            <a:avLst>
              <a:gd name="adj" fmla="val 24000"/>
            </a:avLst>
          </a:prstGeom>
          <a:solidFill>
            <a:schemeClr val="accent3">
              <a:alpha val="22000"/>
            </a:schemeClr>
          </a:solidFill>
          <a:ln/>
        </p:spPr>
      </p:sp>
      <p:pic>
        <p:nvPicPr>
          <p:cNvPr id="68" name="icon_211" descr="/tmp/claude-0/-home-claude/584731ee-e493-5c78-a637-0b254e057472/scratchpad/deck/img/i_download.png">    </p:cNvPr>
          <p:cNvPicPr>
            <a:picLocks noChangeAspect="1"/>
          </p:cNvPicPr>
          <p:nvPr/>
        </p:nvPicPr>
        <p:blipFill>
          <a:blip r:embed="rId4"/>
          <a:stretch>
            <a:fillRect/>
          </a:stretch>
        </p:blipFill>
        <p:spPr>
          <a:xfrm>
            <a:off x="6427866" y="5614050"/>
            <a:ext cx="256764" cy="256764"/>
          </a:xfrm>
          <a:prstGeom prst="rect">
            <a:avLst/>
          </a:prstGeom>
        </p:spPr>
      </p:pic>
      <p:sp>
        <p:nvSpPr>
          <p:cNvPr id="69" name="text_212"/>
          <p:cNvSpPr txBox="1"/>
          <p:nvPr/>
        </p:nvSpPr>
        <p:spPr>
          <a:xfrm>
            <a:off x="6922008" y="5449824"/>
            <a:ext cx="1783080" cy="292608"/>
          </a:xfrm>
          <a:prstGeom prst="rect">
            <a:avLst/>
          </a:prstGeom>
          <a:noFill/>
          <a:ln/>
        </p:spPr>
        <p:txBody>
          <a:bodyPr wrap="square" lIns="0" tIns="0" rIns="0" bIns="0" rtlCol="0" anchor="t"/>
          <a:lstStyle/>
          <a:p>
            <a:pPr indent="0" marL="0">
              <a:buNone/>
            </a:pPr>
            <a:r>
              <a:rPr lang="en-US" sz="1400" b="1" dirty="0">
                <a:solidFill>
                  <a:schemeClr val="bg1"/>
                </a:solidFill>
              </a:rPr>
              <a:t>Export</a:t>
            </a:r>
            <a:endParaRPr lang="en-US" sz="1400" dirty="0"/>
          </a:p>
        </p:txBody>
      </p:sp>
      <p:sp>
        <p:nvSpPr>
          <p:cNvPr id="70" name="text_213"/>
          <p:cNvSpPr txBox="1"/>
          <p:nvPr/>
        </p:nvSpPr>
        <p:spPr>
          <a:xfrm>
            <a:off x="6922008" y="5760720"/>
            <a:ext cx="1828800" cy="274320"/>
          </a:xfrm>
          <a:prstGeom prst="rect">
            <a:avLst/>
          </a:prstGeom>
          <a:noFill/>
          <a:ln/>
        </p:spPr>
        <p:txBody>
          <a:bodyPr wrap="square" lIns="0" tIns="0" rIns="0" bIns="0" rtlCol="0" anchor="t"/>
          <a:lstStyle/>
          <a:p>
            <a:pPr indent="0" marL="0">
              <a:buNone/>
            </a:pPr>
            <a:r>
              <a:rPr lang="en-US" sz="1100" dirty="0">
                <a:solidFill>
                  <a:schemeClr val="bg2"/>
                </a:solidFill>
              </a:rPr>
              <a:t>CSV + .ics (export.py)</a:t>
            </a:r>
            <a:endParaRPr lang="en-US" sz="1100" dirty="0"/>
          </a:p>
        </p:txBody>
      </p:sp>
      <p:sp>
        <p:nvSpPr>
          <p:cNvPr id="71" name="output_214"/>
          <p:cNvSpPr/>
          <p:nvPr/>
        </p:nvSpPr>
        <p:spPr>
          <a:xfrm>
            <a:off x="8983980" y="5340096"/>
            <a:ext cx="2628900" cy="804672"/>
          </a:xfrm>
          <a:prstGeom prst="roundRect">
            <a:avLst>
              <a:gd name="adj" fmla="val 13636"/>
            </a:avLst>
          </a:prstGeom>
          <a:solidFill>
            <a:schemeClr val="tx2"/>
          </a:solidFill>
          <a:ln w="9525">
            <a:solidFill>
              <a:srgbClr val="2B3470"/>
            </a:solidFill>
            <a:prstDash val="solid"/>
          </a:ln>
        </p:spPr>
      </p:sp>
      <p:sp>
        <p:nvSpPr>
          <p:cNvPr id="72" name="icon_bg_215"/>
          <p:cNvSpPr/>
          <p:nvPr/>
        </p:nvSpPr>
        <p:spPr>
          <a:xfrm>
            <a:off x="9121140" y="5495544"/>
            <a:ext cx="493776" cy="493776"/>
          </a:xfrm>
          <a:prstGeom prst="roundRect">
            <a:avLst>
              <a:gd name="adj" fmla="val 24000"/>
            </a:avLst>
          </a:prstGeom>
          <a:solidFill>
            <a:schemeClr val="accent3">
              <a:alpha val="22000"/>
            </a:schemeClr>
          </a:solidFill>
          <a:ln/>
        </p:spPr>
      </p:sp>
      <p:pic>
        <p:nvPicPr>
          <p:cNvPr id="73" name="icon_216" descr="/tmp/claude-0/-home-claude/584731ee-e493-5c78-a637-0b254e057472/scratchpad/deck/img/i_folder.png">    </p:cNvPr>
          <p:cNvPicPr>
            <a:picLocks noChangeAspect="1"/>
          </p:cNvPicPr>
          <p:nvPr/>
        </p:nvPicPr>
        <p:blipFill>
          <a:blip r:embed="rId5"/>
          <a:stretch>
            <a:fillRect/>
          </a:stretch>
        </p:blipFill>
        <p:spPr>
          <a:xfrm>
            <a:off x="9239646" y="5614050"/>
            <a:ext cx="256764" cy="256764"/>
          </a:xfrm>
          <a:prstGeom prst="rect">
            <a:avLst/>
          </a:prstGeom>
        </p:spPr>
      </p:pic>
      <p:sp>
        <p:nvSpPr>
          <p:cNvPr id="74" name="text_217"/>
          <p:cNvSpPr txBox="1"/>
          <p:nvPr/>
        </p:nvSpPr>
        <p:spPr>
          <a:xfrm>
            <a:off x="9733788" y="5449824"/>
            <a:ext cx="1783080" cy="292608"/>
          </a:xfrm>
          <a:prstGeom prst="rect">
            <a:avLst/>
          </a:prstGeom>
          <a:noFill/>
          <a:ln/>
        </p:spPr>
        <p:txBody>
          <a:bodyPr wrap="square" lIns="0" tIns="0" rIns="0" bIns="0" rtlCol="0" anchor="t"/>
          <a:lstStyle/>
          <a:p>
            <a:pPr indent="0" marL="0">
              <a:buNone/>
            </a:pPr>
            <a:r>
              <a:rPr lang="en-US" sz="1400" b="1" dirty="0">
                <a:solidFill>
                  <a:schemeClr val="bg1"/>
                </a:solidFill>
              </a:rPr>
              <a:t>File store</a:t>
            </a:r>
            <a:endParaRPr lang="en-US" sz="1400" dirty="0"/>
          </a:p>
        </p:txBody>
      </p:sp>
      <p:sp>
        <p:nvSpPr>
          <p:cNvPr id="75" name="text_218"/>
          <p:cNvSpPr txBox="1"/>
          <p:nvPr/>
        </p:nvSpPr>
        <p:spPr>
          <a:xfrm>
            <a:off x="9733788" y="5760720"/>
            <a:ext cx="1828800" cy="274320"/>
          </a:xfrm>
          <a:prstGeom prst="rect">
            <a:avLst/>
          </a:prstGeom>
          <a:noFill/>
          <a:ln/>
        </p:spPr>
        <p:txBody>
          <a:bodyPr wrap="square" lIns="0" tIns="0" rIns="0" bIns="0" rtlCol="0" anchor="t"/>
          <a:lstStyle/>
          <a:p>
            <a:pPr indent="0" marL="0">
              <a:buNone/>
            </a:pPr>
            <a:r>
              <a:rPr lang="en-US" sz="1100" dirty="0">
                <a:solidFill>
                  <a:schemeClr val="bg2"/>
                </a:solidFill>
              </a:rPr>
              <a:t>originals in data/uploads/</a:t>
            </a:r>
            <a:endParaRPr lang="en-US" sz="11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DATA FLOW · REAL EXAMPLE</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What happens to one uploaded document</a:t>
            </a:r>
            <a:endParaRPr lang="en-US" sz="3200" dirty="0"/>
          </a:p>
        </p:txBody>
      </p:sp>
      <p:sp>
        <p:nvSpPr>
          <p:cNvPr id="4" name="input_219"/>
          <p:cNvSpPr/>
          <p:nvPr/>
        </p:nvSpPr>
        <p:spPr>
          <a:xfrm>
            <a:off x="548640" y="1554480"/>
            <a:ext cx="4754880" cy="4526280"/>
          </a:xfrm>
          <a:prstGeom prst="roundRect">
            <a:avLst>
              <a:gd name="adj" fmla="val 2424"/>
            </a:avLst>
          </a:prstGeom>
          <a:solidFill>
            <a:srgbClr val="0A0F2C"/>
          </a:solidFill>
          <a:ln w="9525">
            <a:solidFill>
              <a:srgbClr val="2B3470"/>
            </a:solidFill>
            <a:prstDash val="solid"/>
          </a:ln>
        </p:spPr>
      </p:sp>
      <p:sp>
        <p:nvSpPr>
          <p:cNvPr id="5" name="dot_220"/>
          <p:cNvSpPr/>
          <p:nvPr/>
        </p:nvSpPr>
        <p:spPr>
          <a:xfrm>
            <a:off x="749808" y="1737360"/>
            <a:ext cx="118872" cy="118872"/>
          </a:xfrm>
          <a:prstGeom prst="ellipse">
            <a:avLst/>
          </a:prstGeom>
          <a:solidFill>
            <a:srgbClr val="FF5F57"/>
          </a:solidFill>
          <a:ln/>
        </p:spPr>
      </p:sp>
      <p:sp>
        <p:nvSpPr>
          <p:cNvPr id="6" name="dot_221"/>
          <p:cNvSpPr/>
          <p:nvPr/>
        </p:nvSpPr>
        <p:spPr>
          <a:xfrm>
            <a:off x="950976" y="1737360"/>
            <a:ext cx="118872" cy="118872"/>
          </a:xfrm>
          <a:prstGeom prst="ellipse">
            <a:avLst/>
          </a:prstGeom>
          <a:solidFill>
            <a:srgbClr val="FEBC2E"/>
          </a:solidFill>
          <a:ln/>
        </p:spPr>
      </p:sp>
      <p:sp>
        <p:nvSpPr>
          <p:cNvPr id="7" name="dot_222"/>
          <p:cNvSpPr/>
          <p:nvPr/>
        </p:nvSpPr>
        <p:spPr>
          <a:xfrm>
            <a:off x="1152144" y="1737360"/>
            <a:ext cx="118872" cy="118872"/>
          </a:xfrm>
          <a:prstGeom prst="ellipse">
            <a:avLst/>
          </a:prstGeom>
          <a:solidFill>
            <a:srgbClr val="28C840"/>
          </a:solidFill>
          <a:ln/>
        </p:spPr>
      </p:sp>
      <p:sp>
        <p:nvSpPr>
          <p:cNvPr id="8" name="text_223"/>
          <p:cNvSpPr txBox="1"/>
          <p:nvPr/>
        </p:nvSpPr>
        <p:spPr>
          <a:xfrm>
            <a:off x="1417320" y="1664208"/>
            <a:ext cx="365760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INPUT · car_insurance.pdf</a:t>
            </a:r>
            <a:endParaRPr lang="en-US" sz="1100" dirty="0"/>
          </a:p>
        </p:txBody>
      </p:sp>
      <p:sp>
        <p:nvSpPr>
          <p:cNvPr id="9" name="text_224"/>
          <p:cNvSpPr txBox="1"/>
          <p:nvPr/>
        </p:nvSpPr>
        <p:spPr>
          <a:xfrm>
            <a:off x="777240" y="2148840"/>
            <a:ext cx="4389120" cy="3749040"/>
          </a:xfrm>
          <a:prstGeom prst="rect">
            <a:avLst/>
          </a:prstGeom>
          <a:noFill/>
          <a:ln/>
        </p:spPr>
        <p:txBody>
          <a:bodyPr wrap="square" lIns="0" tIns="0" rIns="0" bIns="0" rtlCol="0" anchor="t"/>
          <a:lstStyle/>
          <a:p>
            <a:pPr indent="0" marL="0">
              <a:lnSpc>
                <a:spcPct val="110000"/>
              </a:lnSpc>
              <a:buNone/>
            </a:pPr>
            <a:r>
              <a:rPr lang="en-US" sz="1250" dirty="0">
                <a:solidFill>
                  <a:srgbClr val="C9CDEB"/>
                </a:solidFill>
                <a:latin typeface="Courier New" pitchFamily="34" charset="0"/>
                <a:ea typeface="Courier New" pitchFamily="34" charset="-122"/>
                <a:cs typeface="Courier New" pitchFamily="34" charset="-120"/>
              </a:rPr>
              <a:t>Sundaram General Insurance</a:t>
            </a:r>
            <a:endParaRPr lang="en-US" sz="1250" dirty="0"/>
          </a:p>
          <a:p>
            <a:pPr indent="0" marL="0">
              <a:lnSpc>
                <a:spcPct val="110000"/>
              </a:lnSpc>
              <a:buNone/>
            </a:pPr>
            <a:r>
              <a:rPr lang="en-US" sz="1250" dirty="0">
                <a:solidFill>
                  <a:srgbClr val="C9CDEB"/>
                </a:solidFill>
                <a:latin typeface="Courier New" pitchFamily="34" charset="0"/>
                <a:ea typeface="Courier New" pitchFamily="34" charset="-122"/>
                <a:cs typeface="Courier New" pitchFamily="34" charset="-120"/>
              </a:rPr>
              <a:t>Company Limited</a:t>
            </a:r>
            <a:endParaRPr lang="en-US" sz="1250" dirty="0"/>
          </a:p>
          <a:p>
            <a:pPr indent="0" marL="0">
              <a:lnSpc>
                <a:spcPct val="110000"/>
              </a:lnSpc>
              <a:buNone/>
            </a:pPr>
            <a:r>
              <a:rPr lang="en-US" sz="1250" dirty="0">
                <a:solidFill>
                  <a:srgbClr val="C9CDEB"/>
                </a:solidFill>
                <a:latin typeface="Courier New" pitchFamily="34" charset="0"/>
                <a:ea typeface="Courier New" pitchFamily="34" charset="-122"/>
                <a:cs typeface="Courier New" pitchFamily="34" charset="-120"/>
              </a:rPr>
              <a:t>MOTOR INSURANCE POLICY SCHEDULE</a:t>
            </a:r>
            <a:endParaRPr lang="en-US" sz="1250" dirty="0"/>
          </a:p>
          <a:p>
            <a:pPr indent="0" marL="0">
              <a:lnSpc>
                <a:spcPct val="110000"/>
              </a:lnSpc>
              <a:buNone/>
            </a:pPr>
            <a:r>
              <a:rPr lang="en-US" sz="1250" dirty="0">
                <a:solidFill>
                  <a:srgbClr val="C9CDEB"/>
                </a:solidFill>
                <a:latin typeface="Courier New" pitchFamily="34" charset="0"/>
                <a:ea typeface="Courier New" pitchFamily="34" charset="-122"/>
                <a:cs typeface="Courier New" pitchFamily="34" charset="-120"/>
              </a:rPr>
              <a:t> </a:t>
            </a:r>
            <a:endParaRPr lang="en-US" sz="1250" dirty="0"/>
          </a:p>
          <a:p>
            <a:pPr indent="0" marL="0">
              <a:lnSpc>
                <a:spcPct val="110000"/>
              </a:lnSpc>
              <a:buNone/>
            </a:pPr>
            <a:r>
              <a:rPr lang="en-US" sz="1250" dirty="0">
                <a:solidFill>
                  <a:srgbClr val="C9CDEB"/>
                </a:solidFill>
                <a:latin typeface="Courier New" pitchFamily="34" charset="0"/>
                <a:ea typeface="Courier New" pitchFamily="34" charset="-122"/>
                <a:cs typeface="Courier New" pitchFamily="34" charset="-120"/>
              </a:rPr>
              <a:t>Policy No: INS784521</a:t>
            </a:r>
            <a:endParaRPr lang="en-US" sz="1250" dirty="0"/>
          </a:p>
          <a:p>
            <a:pPr indent="0" marL="0">
              <a:lnSpc>
                <a:spcPct val="110000"/>
              </a:lnSpc>
              <a:buNone/>
            </a:pPr>
            <a:r>
              <a:rPr lang="en-US" sz="1250" dirty="0">
                <a:solidFill>
                  <a:srgbClr val="C9CDEB"/>
                </a:solidFill>
                <a:latin typeface="Courier New" pitchFamily="34" charset="0"/>
                <a:ea typeface="Courier New" pitchFamily="34" charset="-122"/>
                <a:cs typeface="Courier New" pitchFamily="34" charset="-120"/>
              </a:rPr>
              <a:t>Insured Name: Arun Kumar</a:t>
            </a:r>
            <a:endParaRPr lang="en-US" sz="1250" dirty="0"/>
          </a:p>
          <a:p>
            <a:pPr indent="0" marL="0">
              <a:lnSpc>
                <a:spcPct val="110000"/>
              </a:lnSpc>
              <a:buNone/>
            </a:pPr>
            <a:r>
              <a:rPr lang="en-US" sz="1250" dirty="0">
                <a:solidFill>
                  <a:srgbClr val="C9CDEB"/>
                </a:solidFill>
                <a:latin typeface="Courier New" pitchFamily="34" charset="0"/>
                <a:ea typeface="Courier New" pitchFamily="34" charset="-122"/>
                <a:cs typeface="Courier New" pitchFamily="34" charset="-120"/>
              </a:rPr>
              <a:t>Vehicle Registration No:</a:t>
            </a:r>
            <a:endParaRPr lang="en-US" sz="1250" dirty="0"/>
          </a:p>
          <a:p>
            <a:pPr indent="0" marL="0">
              <a:lnSpc>
                <a:spcPct val="110000"/>
              </a:lnSpc>
              <a:buNone/>
            </a:pPr>
            <a:r>
              <a:rPr lang="en-US" sz="1250" dirty="0">
                <a:solidFill>
                  <a:srgbClr val="C9CDEB"/>
                </a:solidFill>
                <a:latin typeface="Courier New" pitchFamily="34" charset="0"/>
                <a:ea typeface="Courier New" pitchFamily="34" charset="-122"/>
                <a:cs typeface="Courier New" pitchFamily="34" charset="-120"/>
              </a:rPr>
              <a:t>    TN 63 AB 1234</a:t>
            </a:r>
            <a:endParaRPr lang="en-US" sz="1250" dirty="0"/>
          </a:p>
          <a:p>
            <a:pPr indent="0" marL="0">
              <a:lnSpc>
                <a:spcPct val="110000"/>
              </a:lnSpc>
              <a:buNone/>
            </a:pPr>
            <a:r>
              <a:rPr lang="en-US" sz="1250" dirty="0">
                <a:solidFill>
                  <a:srgbClr val="C9CDEB"/>
                </a:solidFill>
                <a:latin typeface="Courier New" pitchFamily="34" charset="0"/>
                <a:ea typeface="Courier New" pitchFamily="34" charset="-122"/>
                <a:cs typeface="Courier New" pitchFamily="34" charset="-120"/>
              </a:rPr>
              <a:t>Period of Insurance:</a:t>
            </a:r>
            <a:endParaRPr lang="en-US" sz="1250" dirty="0"/>
          </a:p>
          <a:p>
            <a:pPr indent="0" marL="0">
              <a:lnSpc>
                <a:spcPct val="110000"/>
              </a:lnSpc>
              <a:buNone/>
            </a:pPr>
            <a:r>
              <a:rPr lang="en-US" sz="1250" dirty="0">
                <a:solidFill>
                  <a:srgbClr val="C9CDEB"/>
                </a:solidFill>
                <a:latin typeface="Courier New" pitchFamily="34" charset="0"/>
                <a:ea typeface="Courier New" pitchFamily="34" charset="-122"/>
                <a:cs typeface="Courier New" pitchFamily="34" charset="-120"/>
              </a:rPr>
              <a:t>    20/10/2025 to 20/10/2026</a:t>
            </a:r>
            <a:endParaRPr lang="en-US" sz="1250" dirty="0"/>
          </a:p>
          <a:p>
            <a:pPr indent="0" marL="0">
              <a:lnSpc>
                <a:spcPct val="110000"/>
              </a:lnSpc>
              <a:buNone/>
            </a:pPr>
            <a:r>
              <a:rPr lang="en-US" sz="1250" dirty="0">
                <a:solidFill>
                  <a:srgbClr val="C9CDEB"/>
                </a:solidFill>
                <a:latin typeface="Courier New" pitchFamily="34" charset="0"/>
                <a:ea typeface="Courier New" pitchFamily="34" charset="-122"/>
                <a:cs typeface="Courier New" pitchFamily="34" charset="-120"/>
              </a:rPr>
              <a:t>Total Premium: Rs. 14,250.00</a:t>
            </a:r>
            <a:endParaRPr lang="en-US" sz="1250" dirty="0"/>
          </a:p>
        </p:txBody>
      </p:sp>
      <p:sp>
        <p:nvSpPr>
          <p:cNvPr id="10" name="num_225"/>
          <p:cNvSpPr/>
          <p:nvPr/>
        </p:nvSpPr>
        <p:spPr>
          <a:xfrm>
            <a:off x="5577840" y="1783080"/>
            <a:ext cx="402336" cy="402336"/>
          </a:xfrm>
          <a:prstGeom prst="ellipse">
            <a:avLst/>
          </a:prstGeom>
          <a:solidFill>
            <a:schemeClr val="accent1"/>
          </a:solidFill>
          <a:ln/>
        </p:spPr>
      </p:sp>
      <p:sp>
        <p:nvSpPr>
          <p:cNvPr id="11" name="text_226"/>
          <p:cNvSpPr txBox="1"/>
          <p:nvPr/>
        </p:nvSpPr>
        <p:spPr>
          <a:xfrm>
            <a:off x="5577840" y="17830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text_227"/>
          <p:cNvSpPr txBox="1"/>
          <p:nvPr/>
        </p:nvSpPr>
        <p:spPr>
          <a:xfrm>
            <a:off x="6080760" y="1783080"/>
            <a:ext cx="1554480" cy="402336"/>
          </a:xfrm>
          <a:prstGeom prst="rect">
            <a:avLst/>
          </a:prstGeom>
          <a:noFill/>
          <a:ln/>
        </p:spPr>
        <p:txBody>
          <a:bodyPr wrap="square" lIns="0" tIns="0" rIns="0" bIns="0" rtlCol="0" anchor="ctr"/>
          <a:lstStyle/>
          <a:p>
            <a:pPr indent="0" marL="0">
              <a:buNone/>
            </a:pPr>
            <a:r>
              <a:rPr lang="en-US" sz="1250" dirty="0">
                <a:solidFill>
                  <a:srgbClr val="DDE0F5"/>
                </a:solidFill>
              </a:rPr>
              <a:t>pypdf reads the text</a:t>
            </a:r>
            <a:endParaRPr lang="en-US" sz="1250" dirty="0"/>
          </a:p>
        </p:txBody>
      </p:sp>
      <p:sp>
        <p:nvSpPr>
          <p:cNvPr id="13" name="vline_228"/>
          <p:cNvSpPr/>
          <p:nvPr/>
        </p:nvSpPr>
        <p:spPr>
          <a:xfrm>
            <a:off x="5779008" y="2221992"/>
            <a:ext cx="0" cy="576072"/>
          </a:xfrm>
          <a:prstGeom prst="line">
            <a:avLst/>
          </a:prstGeom>
          <a:noFill/>
          <a:ln w="19050">
            <a:solidFill>
              <a:srgbClr val="3B44A0"/>
            </a:solidFill>
            <a:prstDash val="solid"/>
          </a:ln>
        </p:spPr>
      </p:sp>
      <p:sp>
        <p:nvSpPr>
          <p:cNvPr id="14" name="num_229"/>
          <p:cNvSpPr/>
          <p:nvPr/>
        </p:nvSpPr>
        <p:spPr>
          <a:xfrm>
            <a:off x="5577840" y="2834640"/>
            <a:ext cx="402336" cy="402336"/>
          </a:xfrm>
          <a:prstGeom prst="ellipse">
            <a:avLst/>
          </a:prstGeom>
          <a:solidFill>
            <a:schemeClr val="accent1"/>
          </a:solidFill>
          <a:ln/>
        </p:spPr>
      </p:sp>
      <p:sp>
        <p:nvSpPr>
          <p:cNvPr id="15" name="text_230"/>
          <p:cNvSpPr txBox="1"/>
          <p:nvPr/>
        </p:nvSpPr>
        <p:spPr>
          <a:xfrm>
            <a:off x="5577840" y="283464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text_231"/>
          <p:cNvSpPr txBox="1"/>
          <p:nvPr/>
        </p:nvSpPr>
        <p:spPr>
          <a:xfrm>
            <a:off x="6080760" y="2834640"/>
            <a:ext cx="1554480" cy="402336"/>
          </a:xfrm>
          <a:prstGeom prst="rect">
            <a:avLst/>
          </a:prstGeom>
          <a:noFill/>
          <a:ln/>
        </p:spPr>
        <p:txBody>
          <a:bodyPr wrap="square" lIns="0" tIns="0" rIns="0" bIns="0" rtlCol="0" anchor="ctr"/>
          <a:lstStyle/>
          <a:p>
            <a:pPr indent="0" marL="0">
              <a:buNone/>
            </a:pPr>
            <a:r>
              <a:rPr lang="en-US" sz="1250" dirty="0">
                <a:solidFill>
                  <a:srgbClr val="DDE0F5"/>
                </a:solidFill>
              </a:rPr>
              <a:t>classifier → Insurance</a:t>
            </a:r>
            <a:endParaRPr lang="en-US" sz="1250" dirty="0"/>
          </a:p>
        </p:txBody>
      </p:sp>
      <p:sp>
        <p:nvSpPr>
          <p:cNvPr id="17" name="vline_232"/>
          <p:cNvSpPr/>
          <p:nvPr/>
        </p:nvSpPr>
        <p:spPr>
          <a:xfrm>
            <a:off x="5779008" y="3273552"/>
            <a:ext cx="0" cy="576072"/>
          </a:xfrm>
          <a:prstGeom prst="line">
            <a:avLst/>
          </a:prstGeom>
          <a:noFill/>
          <a:ln w="19050">
            <a:solidFill>
              <a:srgbClr val="3B44A0"/>
            </a:solidFill>
            <a:prstDash val="solid"/>
          </a:ln>
        </p:spPr>
      </p:sp>
      <p:sp>
        <p:nvSpPr>
          <p:cNvPr id="18" name="num_233"/>
          <p:cNvSpPr/>
          <p:nvPr/>
        </p:nvSpPr>
        <p:spPr>
          <a:xfrm>
            <a:off x="5577840" y="3886200"/>
            <a:ext cx="402336" cy="402336"/>
          </a:xfrm>
          <a:prstGeom prst="ellipse">
            <a:avLst/>
          </a:prstGeom>
          <a:solidFill>
            <a:schemeClr val="accent1"/>
          </a:solidFill>
          <a:ln/>
        </p:spPr>
      </p:sp>
      <p:sp>
        <p:nvSpPr>
          <p:cNvPr id="19" name="text_234"/>
          <p:cNvSpPr txBox="1"/>
          <p:nvPr/>
        </p:nvSpPr>
        <p:spPr>
          <a:xfrm>
            <a:off x="5577840" y="388620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0" name="text_235"/>
          <p:cNvSpPr txBox="1"/>
          <p:nvPr/>
        </p:nvSpPr>
        <p:spPr>
          <a:xfrm>
            <a:off x="6080760" y="3886200"/>
            <a:ext cx="1554480" cy="402336"/>
          </a:xfrm>
          <a:prstGeom prst="rect">
            <a:avLst/>
          </a:prstGeom>
          <a:noFill/>
          <a:ln/>
        </p:spPr>
        <p:txBody>
          <a:bodyPr wrap="square" lIns="0" tIns="0" rIns="0" bIns="0" rtlCol="0" anchor="ctr"/>
          <a:lstStyle/>
          <a:p>
            <a:pPr indent="0" marL="0">
              <a:buNone/>
            </a:pPr>
            <a:r>
              <a:rPr lang="en-US" sz="1250" dirty="0">
                <a:solidFill>
                  <a:srgbClr val="DDE0F5"/>
                </a:solidFill>
              </a:rPr>
              <a:t>regex extracts fields</a:t>
            </a:r>
            <a:endParaRPr lang="en-US" sz="1250" dirty="0"/>
          </a:p>
        </p:txBody>
      </p:sp>
      <p:sp>
        <p:nvSpPr>
          <p:cNvPr id="21" name="vline_236"/>
          <p:cNvSpPr/>
          <p:nvPr/>
        </p:nvSpPr>
        <p:spPr>
          <a:xfrm>
            <a:off x="5779008" y="4325112"/>
            <a:ext cx="0" cy="576072"/>
          </a:xfrm>
          <a:prstGeom prst="line">
            <a:avLst/>
          </a:prstGeom>
          <a:noFill/>
          <a:ln w="19050">
            <a:solidFill>
              <a:srgbClr val="3B44A0"/>
            </a:solidFill>
            <a:prstDash val="solid"/>
          </a:ln>
        </p:spPr>
      </p:sp>
      <p:sp>
        <p:nvSpPr>
          <p:cNvPr id="22" name="num_237"/>
          <p:cNvSpPr/>
          <p:nvPr/>
        </p:nvSpPr>
        <p:spPr>
          <a:xfrm>
            <a:off x="5577840" y="4937760"/>
            <a:ext cx="402336" cy="402336"/>
          </a:xfrm>
          <a:prstGeom prst="ellipse">
            <a:avLst/>
          </a:prstGeom>
          <a:solidFill>
            <a:schemeClr val="accent1"/>
          </a:solidFill>
          <a:ln/>
        </p:spPr>
      </p:sp>
      <p:sp>
        <p:nvSpPr>
          <p:cNvPr id="23" name="text_238"/>
          <p:cNvSpPr txBox="1"/>
          <p:nvPr/>
        </p:nvSpPr>
        <p:spPr>
          <a:xfrm>
            <a:off x="5577840" y="493776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_239"/>
          <p:cNvSpPr txBox="1"/>
          <p:nvPr/>
        </p:nvSpPr>
        <p:spPr>
          <a:xfrm>
            <a:off x="6080760" y="4937760"/>
            <a:ext cx="1554480" cy="402336"/>
          </a:xfrm>
          <a:prstGeom prst="rect">
            <a:avLst/>
          </a:prstGeom>
          <a:noFill/>
          <a:ln/>
        </p:spPr>
        <p:txBody>
          <a:bodyPr wrap="square" lIns="0" tIns="0" rIns="0" bIns="0" rtlCol="0" anchor="ctr"/>
          <a:lstStyle/>
          <a:p>
            <a:pPr indent="0" marL="0">
              <a:buNone/>
            </a:pPr>
            <a:r>
              <a:rPr lang="en-US" sz="1250" dirty="0">
                <a:solidFill>
                  <a:srgbClr val="DDE0F5"/>
                </a:solidFill>
              </a:rPr>
              <a:t>rules → Critical</a:t>
            </a:r>
            <a:endParaRPr lang="en-US" sz="1250" dirty="0"/>
          </a:p>
        </p:txBody>
      </p:sp>
      <p:sp>
        <p:nvSpPr>
          <p:cNvPr id="25" name="output_240"/>
          <p:cNvSpPr/>
          <p:nvPr/>
        </p:nvSpPr>
        <p:spPr>
          <a:xfrm>
            <a:off x="7772400" y="1554480"/>
            <a:ext cx="3840480" cy="4526280"/>
          </a:xfrm>
          <a:prstGeom prst="roundRect">
            <a:avLst>
              <a:gd name="adj" fmla="val 2857"/>
            </a:avLst>
          </a:prstGeom>
          <a:solidFill>
            <a:schemeClr val="tx2"/>
          </a:solidFill>
          <a:ln w="9525">
            <a:solidFill>
              <a:srgbClr val="2B3470"/>
            </a:solidFill>
            <a:prstDash val="solid"/>
          </a:ln>
        </p:spPr>
      </p:sp>
      <p:sp>
        <p:nvSpPr>
          <p:cNvPr id="26" name="text_241"/>
          <p:cNvSpPr txBox="1"/>
          <p:nvPr/>
        </p:nvSpPr>
        <p:spPr>
          <a:xfrm>
            <a:off x="8001000" y="1691640"/>
            <a:ext cx="347472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OUTPUT · saved to SQLite</a:t>
            </a:r>
            <a:endParaRPr lang="en-US" sz="1100" dirty="0"/>
          </a:p>
        </p:txBody>
      </p:sp>
      <p:sp>
        <p:nvSpPr>
          <p:cNvPr id="27" name="text_242"/>
          <p:cNvSpPr txBox="1"/>
          <p:nvPr/>
        </p:nvSpPr>
        <p:spPr>
          <a:xfrm>
            <a:off x="8001000" y="2103120"/>
            <a:ext cx="1234440" cy="365760"/>
          </a:xfrm>
          <a:prstGeom prst="rect">
            <a:avLst/>
          </a:prstGeom>
          <a:noFill/>
          <a:ln/>
        </p:spPr>
        <p:txBody>
          <a:bodyPr wrap="square" lIns="0" tIns="0" rIns="0" bIns="0" rtlCol="0" anchor="ctr"/>
          <a:lstStyle/>
          <a:p>
            <a:pPr indent="0" marL="0">
              <a:buNone/>
            </a:pPr>
            <a:r>
              <a:rPr lang="en-US" sz="1200" dirty="0">
                <a:solidFill>
                  <a:schemeClr val="bg2"/>
                </a:solidFill>
              </a:rPr>
              <a:t>Type</a:t>
            </a:r>
            <a:endParaRPr lang="en-US" sz="1200" dirty="0"/>
          </a:p>
        </p:txBody>
      </p:sp>
      <p:sp>
        <p:nvSpPr>
          <p:cNvPr id="28" name="text_243"/>
          <p:cNvSpPr txBox="1"/>
          <p:nvPr/>
        </p:nvSpPr>
        <p:spPr>
          <a:xfrm>
            <a:off x="9235440" y="2103120"/>
            <a:ext cx="2286000" cy="365760"/>
          </a:xfrm>
          <a:prstGeom prst="rect">
            <a:avLst/>
          </a:prstGeom>
          <a:noFill/>
          <a:ln/>
        </p:spPr>
        <p:txBody>
          <a:bodyPr wrap="square" lIns="0" tIns="0" rIns="0" bIns="0" rtlCol="0" anchor="ctr"/>
          <a:lstStyle/>
          <a:p>
            <a:pPr indent="0" marL="0">
              <a:buNone/>
            </a:pPr>
            <a:r>
              <a:rPr lang="en-US" sz="1300" b="1" dirty="0">
                <a:solidFill>
                  <a:schemeClr val="bg1"/>
                </a:solidFill>
              </a:rPr>
              <a:t>Insurance (90% sure)</a:t>
            </a:r>
            <a:endParaRPr lang="en-US" sz="1300" dirty="0"/>
          </a:p>
        </p:txBody>
      </p:sp>
      <p:sp>
        <p:nvSpPr>
          <p:cNvPr id="29" name="text_244"/>
          <p:cNvSpPr txBox="1"/>
          <p:nvPr/>
        </p:nvSpPr>
        <p:spPr>
          <a:xfrm>
            <a:off x="8001000" y="2560320"/>
            <a:ext cx="1234440" cy="365760"/>
          </a:xfrm>
          <a:prstGeom prst="rect">
            <a:avLst/>
          </a:prstGeom>
          <a:noFill/>
          <a:ln/>
        </p:spPr>
        <p:txBody>
          <a:bodyPr wrap="square" lIns="0" tIns="0" rIns="0" bIns="0" rtlCol="0" anchor="ctr"/>
          <a:lstStyle/>
          <a:p>
            <a:pPr indent="0" marL="0">
              <a:buNone/>
            </a:pPr>
            <a:r>
              <a:rPr lang="en-US" sz="1200" dirty="0">
                <a:solidFill>
                  <a:schemeClr val="bg2"/>
                </a:solidFill>
              </a:rPr>
              <a:t>Policy No</a:t>
            </a:r>
            <a:endParaRPr lang="en-US" sz="1200" dirty="0"/>
          </a:p>
        </p:txBody>
      </p:sp>
      <p:sp>
        <p:nvSpPr>
          <p:cNvPr id="30" name="text_245"/>
          <p:cNvSpPr txBox="1"/>
          <p:nvPr/>
        </p:nvSpPr>
        <p:spPr>
          <a:xfrm>
            <a:off x="9235440" y="2560320"/>
            <a:ext cx="2286000" cy="365760"/>
          </a:xfrm>
          <a:prstGeom prst="rect">
            <a:avLst/>
          </a:prstGeom>
          <a:noFill/>
          <a:ln/>
        </p:spPr>
        <p:txBody>
          <a:bodyPr wrap="square" lIns="0" tIns="0" rIns="0" bIns="0" rtlCol="0" anchor="ctr"/>
          <a:lstStyle/>
          <a:p>
            <a:pPr indent="0" marL="0">
              <a:buNone/>
            </a:pPr>
            <a:r>
              <a:rPr lang="en-US" sz="1300" b="1" dirty="0">
                <a:solidFill>
                  <a:schemeClr val="bg1"/>
                </a:solidFill>
              </a:rPr>
              <a:t>INS784521</a:t>
            </a:r>
            <a:endParaRPr lang="en-US" sz="1300" dirty="0"/>
          </a:p>
        </p:txBody>
      </p:sp>
      <p:sp>
        <p:nvSpPr>
          <p:cNvPr id="31" name="text_246"/>
          <p:cNvSpPr txBox="1"/>
          <p:nvPr/>
        </p:nvSpPr>
        <p:spPr>
          <a:xfrm>
            <a:off x="8001000" y="3017520"/>
            <a:ext cx="1234440" cy="365760"/>
          </a:xfrm>
          <a:prstGeom prst="rect">
            <a:avLst/>
          </a:prstGeom>
          <a:noFill/>
          <a:ln/>
        </p:spPr>
        <p:txBody>
          <a:bodyPr wrap="square" lIns="0" tIns="0" rIns="0" bIns="0" rtlCol="0" anchor="ctr"/>
          <a:lstStyle/>
          <a:p>
            <a:pPr indent="0" marL="0">
              <a:buNone/>
            </a:pPr>
            <a:r>
              <a:rPr lang="en-US" sz="1200" dirty="0">
                <a:solidFill>
                  <a:schemeClr val="bg2"/>
                </a:solidFill>
              </a:rPr>
              <a:t>Holder</a:t>
            </a:r>
            <a:endParaRPr lang="en-US" sz="1200" dirty="0"/>
          </a:p>
        </p:txBody>
      </p:sp>
      <p:sp>
        <p:nvSpPr>
          <p:cNvPr id="32" name="text_247"/>
          <p:cNvSpPr txBox="1"/>
          <p:nvPr/>
        </p:nvSpPr>
        <p:spPr>
          <a:xfrm>
            <a:off x="9235440" y="3017520"/>
            <a:ext cx="2286000" cy="365760"/>
          </a:xfrm>
          <a:prstGeom prst="rect">
            <a:avLst/>
          </a:prstGeom>
          <a:noFill/>
          <a:ln/>
        </p:spPr>
        <p:txBody>
          <a:bodyPr wrap="square" lIns="0" tIns="0" rIns="0" bIns="0" rtlCol="0" anchor="ctr"/>
          <a:lstStyle/>
          <a:p>
            <a:pPr indent="0" marL="0">
              <a:buNone/>
            </a:pPr>
            <a:r>
              <a:rPr lang="en-US" sz="1300" b="1" dirty="0">
                <a:solidFill>
                  <a:schemeClr val="bg1"/>
                </a:solidFill>
              </a:rPr>
              <a:t>Arun Kumar</a:t>
            </a:r>
            <a:endParaRPr lang="en-US" sz="1300" dirty="0"/>
          </a:p>
        </p:txBody>
      </p:sp>
      <p:sp>
        <p:nvSpPr>
          <p:cNvPr id="33" name="text_248"/>
          <p:cNvSpPr txBox="1"/>
          <p:nvPr/>
        </p:nvSpPr>
        <p:spPr>
          <a:xfrm>
            <a:off x="8001000" y="3474720"/>
            <a:ext cx="1234440" cy="365760"/>
          </a:xfrm>
          <a:prstGeom prst="rect">
            <a:avLst/>
          </a:prstGeom>
          <a:noFill/>
          <a:ln/>
        </p:spPr>
        <p:txBody>
          <a:bodyPr wrap="square" lIns="0" tIns="0" rIns="0" bIns="0" rtlCol="0" anchor="ctr"/>
          <a:lstStyle/>
          <a:p>
            <a:pPr indent="0" marL="0">
              <a:buNone/>
            </a:pPr>
            <a:r>
              <a:rPr lang="en-US" sz="1200" dirty="0">
                <a:solidFill>
                  <a:schemeClr val="bg2"/>
                </a:solidFill>
              </a:rPr>
              <a:t>Organization</a:t>
            </a:r>
            <a:endParaRPr lang="en-US" sz="1200" dirty="0"/>
          </a:p>
        </p:txBody>
      </p:sp>
      <p:sp>
        <p:nvSpPr>
          <p:cNvPr id="34" name="text_249"/>
          <p:cNvSpPr txBox="1"/>
          <p:nvPr/>
        </p:nvSpPr>
        <p:spPr>
          <a:xfrm>
            <a:off x="9235440" y="3474720"/>
            <a:ext cx="2286000" cy="365760"/>
          </a:xfrm>
          <a:prstGeom prst="rect">
            <a:avLst/>
          </a:prstGeom>
          <a:noFill/>
          <a:ln/>
        </p:spPr>
        <p:txBody>
          <a:bodyPr wrap="square" lIns="0" tIns="0" rIns="0" bIns="0" rtlCol="0" anchor="ctr"/>
          <a:lstStyle/>
          <a:p>
            <a:pPr indent="0" marL="0">
              <a:buNone/>
            </a:pPr>
            <a:r>
              <a:rPr lang="en-US" sz="1300" b="1" dirty="0">
                <a:solidFill>
                  <a:schemeClr val="bg1"/>
                </a:solidFill>
              </a:rPr>
              <a:t>Sundaram General Insurance</a:t>
            </a:r>
            <a:endParaRPr lang="en-US" sz="1300" dirty="0"/>
          </a:p>
        </p:txBody>
      </p:sp>
      <p:sp>
        <p:nvSpPr>
          <p:cNvPr id="35" name="text_250"/>
          <p:cNvSpPr txBox="1"/>
          <p:nvPr/>
        </p:nvSpPr>
        <p:spPr>
          <a:xfrm>
            <a:off x="8001000" y="3931920"/>
            <a:ext cx="1234440" cy="365760"/>
          </a:xfrm>
          <a:prstGeom prst="rect">
            <a:avLst/>
          </a:prstGeom>
          <a:noFill/>
          <a:ln/>
        </p:spPr>
        <p:txBody>
          <a:bodyPr wrap="square" lIns="0" tIns="0" rIns="0" bIns="0" rtlCol="0" anchor="ctr"/>
          <a:lstStyle/>
          <a:p>
            <a:pPr indent="0" marL="0">
              <a:buNone/>
            </a:pPr>
            <a:r>
              <a:rPr lang="en-US" sz="1200" dirty="0">
                <a:solidFill>
                  <a:schemeClr val="bg2"/>
                </a:solidFill>
              </a:rPr>
              <a:t>Vehicle</a:t>
            </a:r>
            <a:endParaRPr lang="en-US" sz="1200" dirty="0"/>
          </a:p>
        </p:txBody>
      </p:sp>
      <p:sp>
        <p:nvSpPr>
          <p:cNvPr id="36" name="text_251"/>
          <p:cNvSpPr txBox="1"/>
          <p:nvPr/>
        </p:nvSpPr>
        <p:spPr>
          <a:xfrm>
            <a:off x="9235440" y="3931920"/>
            <a:ext cx="2286000" cy="365760"/>
          </a:xfrm>
          <a:prstGeom prst="rect">
            <a:avLst/>
          </a:prstGeom>
          <a:noFill/>
          <a:ln/>
        </p:spPr>
        <p:txBody>
          <a:bodyPr wrap="square" lIns="0" tIns="0" rIns="0" bIns="0" rtlCol="0" anchor="ctr"/>
          <a:lstStyle/>
          <a:p>
            <a:pPr indent="0" marL="0">
              <a:buNone/>
            </a:pPr>
            <a:r>
              <a:rPr lang="en-US" sz="1300" b="1" dirty="0">
                <a:solidFill>
                  <a:schemeClr val="bg1"/>
                </a:solidFill>
              </a:rPr>
              <a:t>TN 63 AB 1234</a:t>
            </a:r>
            <a:endParaRPr lang="en-US" sz="1300" dirty="0"/>
          </a:p>
        </p:txBody>
      </p:sp>
      <p:sp>
        <p:nvSpPr>
          <p:cNvPr id="37" name="text_252"/>
          <p:cNvSpPr txBox="1"/>
          <p:nvPr/>
        </p:nvSpPr>
        <p:spPr>
          <a:xfrm>
            <a:off x="8001000" y="4389120"/>
            <a:ext cx="1234440" cy="365760"/>
          </a:xfrm>
          <a:prstGeom prst="rect">
            <a:avLst/>
          </a:prstGeom>
          <a:noFill/>
          <a:ln/>
        </p:spPr>
        <p:txBody>
          <a:bodyPr wrap="square" lIns="0" tIns="0" rIns="0" bIns="0" rtlCol="0" anchor="ctr"/>
          <a:lstStyle/>
          <a:p>
            <a:pPr indent="0" marL="0">
              <a:buNone/>
            </a:pPr>
            <a:r>
              <a:rPr lang="en-US" sz="1200" dirty="0">
                <a:solidFill>
                  <a:schemeClr val="bg2"/>
                </a:solidFill>
              </a:rPr>
              <a:t>Valid till</a:t>
            </a:r>
            <a:endParaRPr lang="en-US" sz="1200" dirty="0"/>
          </a:p>
        </p:txBody>
      </p:sp>
      <p:sp>
        <p:nvSpPr>
          <p:cNvPr id="38" name="text_253"/>
          <p:cNvSpPr txBox="1"/>
          <p:nvPr/>
        </p:nvSpPr>
        <p:spPr>
          <a:xfrm>
            <a:off x="9235440" y="4389120"/>
            <a:ext cx="2286000" cy="365760"/>
          </a:xfrm>
          <a:prstGeom prst="rect">
            <a:avLst/>
          </a:prstGeom>
          <a:noFill/>
          <a:ln/>
        </p:spPr>
        <p:txBody>
          <a:bodyPr wrap="square" lIns="0" tIns="0" rIns="0" bIns="0" rtlCol="0" anchor="ctr"/>
          <a:lstStyle/>
          <a:p>
            <a:pPr indent="0" marL="0">
              <a:buNone/>
            </a:pPr>
            <a:r>
              <a:rPr lang="en-US" sz="1300" b="1" dirty="0">
                <a:solidFill>
                  <a:schemeClr val="bg1"/>
                </a:solidFill>
              </a:rPr>
              <a:t>20 Oct 2026</a:t>
            </a:r>
            <a:endParaRPr lang="en-US" sz="1300" dirty="0"/>
          </a:p>
        </p:txBody>
      </p:sp>
      <p:sp>
        <p:nvSpPr>
          <p:cNvPr id="39" name="text_254"/>
          <p:cNvSpPr txBox="1"/>
          <p:nvPr/>
        </p:nvSpPr>
        <p:spPr>
          <a:xfrm>
            <a:off x="8001000" y="4846320"/>
            <a:ext cx="1234440" cy="365760"/>
          </a:xfrm>
          <a:prstGeom prst="rect">
            <a:avLst/>
          </a:prstGeom>
          <a:noFill/>
          <a:ln/>
        </p:spPr>
        <p:txBody>
          <a:bodyPr wrap="square" lIns="0" tIns="0" rIns="0" bIns="0" rtlCol="0" anchor="ctr"/>
          <a:lstStyle/>
          <a:p>
            <a:pPr indent="0" marL="0">
              <a:buNone/>
            </a:pPr>
            <a:r>
              <a:rPr lang="en-US" sz="1200" dirty="0">
                <a:solidFill>
                  <a:schemeClr val="bg2"/>
                </a:solidFill>
              </a:rPr>
              <a:t>Premium</a:t>
            </a:r>
            <a:endParaRPr lang="en-US" sz="1200" dirty="0"/>
          </a:p>
        </p:txBody>
      </p:sp>
      <p:sp>
        <p:nvSpPr>
          <p:cNvPr id="40" name="text_255"/>
          <p:cNvSpPr txBox="1"/>
          <p:nvPr/>
        </p:nvSpPr>
        <p:spPr>
          <a:xfrm>
            <a:off x="9235440" y="4846320"/>
            <a:ext cx="2286000" cy="365760"/>
          </a:xfrm>
          <a:prstGeom prst="rect">
            <a:avLst/>
          </a:prstGeom>
          <a:noFill/>
          <a:ln/>
        </p:spPr>
        <p:txBody>
          <a:bodyPr wrap="square" lIns="0" tIns="0" rIns="0" bIns="0" rtlCol="0" anchor="ctr"/>
          <a:lstStyle/>
          <a:p>
            <a:pPr indent="0" marL="0">
              <a:buNone/>
            </a:pPr>
            <a:r>
              <a:rPr lang="en-US" sz="1300" b="1" dirty="0">
                <a:solidFill>
                  <a:schemeClr val="bg1"/>
                </a:solidFill>
              </a:rPr>
              <a:t>₹14,250.00</a:t>
            </a:r>
            <a:endParaRPr lang="en-US" sz="1300" dirty="0"/>
          </a:p>
        </p:txBody>
      </p:sp>
      <p:sp>
        <p:nvSpPr>
          <p:cNvPr id="41" name="pill_256"/>
          <p:cNvSpPr/>
          <p:nvPr/>
        </p:nvSpPr>
        <p:spPr>
          <a:xfrm>
            <a:off x="8001000" y="5440680"/>
            <a:ext cx="3383280" cy="384048"/>
          </a:xfrm>
          <a:prstGeom prst="roundRect">
            <a:avLst>
              <a:gd name="adj" fmla="val 50000"/>
            </a:avLst>
          </a:prstGeom>
          <a:solidFill>
            <a:schemeClr val="accent5">
              <a:alpha val="22000"/>
            </a:schemeClr>
          </a:solidFill>
          <a:ln/>
        </p:spPr>
      </p:sp>
      <p:sp>
        <p:nvSpPr>
          <p:cNvPr id="42" name="text_257"/>
          <p:cNvSpPr txBox="1"/>
          <p:nvPr/>
        </p:nvSpPr>
        <p:spPr>
          <a:xfrm>
            <a:off x="8001000" y="5440680"/>
            <a:ext cx="3383280" cy="384048"/>
          </a:xfrm>
          <a:prstGeom prst="rect">
            <a:avLst/>
          </a:prstGeom>
          <a:noFill/>
          <a:ln/>
        </p:spPr>
        <p:txBody>
          <a:bodyPr wrap="square" lIns="0" tIns="0" rIns="0" bIns="0" rtlCol="0" anchor="ctr"/>
          <a:lstStyle/>
          <a:p>
            <a:pPr algn="ctr" indent="0" marL="0">
              <a:buNone/>
            </a:pPr>
            <a:r>
              <a:rPr lang="en-US" sz="1200" b="1" dirty="0">
                <a:solidFill>
                  <a:srgbClr val="FCA5A5"/>
                </a:solidFill>
              </a:rPr>
              <a:t>CRITICAL · expires within 7 days</a:t>
            </a:r>
            <a:endParaRPr lang="en-US" sz="12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DATABASE DESIGN</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One SQLite file, four tables</a:t>
            </a:r>
            <a:endParaRPr lang="en-US" sz="3200" dirty="0"/>
          </a:p>
        </p:txBody>
      </p:sp>
      <p:sp>
        <p:nvSpPr>
          <p:cNvPr id="4" name="tbl_documents_258"/>
          <p:cNvSpPr/>
          <p:nvPr/>
        </p:nvSpPr>
        <p:spPr>
          <a:xfrm>
            <a:off x="548640" y="1481328"/>
            <a:ext cx="3931920" cy="4572000"/>
          </a:xfrm>
          <a:prstGeom prst="roundRect">
            <a:avLst>
              <a:gd name="adj" fmla="val 2791"/>
            </a:avLst>
          </a:prstGeom>
          <a:solidFill>
            <a:schemeClr val="tx2"/>
          </a:solidFill>
          <a:ln w="9525">
            <a:solidFill>
              <a:srgbClr val="2B3470"/>
            </a:solidFill>
            <a:prstDash val="solid"/>
          </a:ln>
        </p:spPr>
      </p:sp>
      <p:sp>
        <p:nvSpPr>
          <p:cNvPr id="5" name="tbl_head_259"/>
          <p:cNvSpPr/>
          <p:nvPr/>
        </p:nvSpPr>
        <p:spPr>
          <a:xfrm>
            <a:off x="548640" y="1481328"/>
            <a:ext cx="3931920" cy="457200"/>
          </a:xfrm>
          <a:prstGeom prst="roundRect">
            <a:avLst>
              <a:gd name="adj" fmla="val 24000"/>
            </a:avLst>
          </a:prstGeom>
          <a:solidFill>
            <a:schemeClr val="accent6">
              <a:alpha val="28000"/>
            </a:schemeClr>
          </a:solidFill>
          <a:ln/>
        </p:spPr>
      </p:sp>
      <p:pic>
        <p:nvPicPr>
          <p:cNvPr id="6" name="tbl_icon_260" descr="/tmp/claude-0/-home-claude/584731ee-e493-5c78-a637-0b254e057472/scratchpad/deck/img/i_table.png">    </p:cNvPr>
          <p:cNvPicPr>
            <a:picLocks noChangeAspect="1"/>
          </p:cNvPicPr>
          <p:nvPr/>
        </p:nvPicPr>
        <p:blipFill>
          <a:blip r:embed="rId1"/>
          <a:stretch>
            <a:fillRect/>
          </a:stretch>
        </p:blipFill>
        <p:spPr>
          <a:xfrm>
            <a:off x="713232" y="1600200"/>
            <a:ext cx="219456" cy="219456"/>
          </a:xfrm>
          <a:prstGeom prst="rect">
            <a:avLst/>
          </a:prstGeom>
        </p:spPr>
      </p:pic>
      <p:sp>
        <p:nvSpPr>
          <p:cNvPr id="7" name="text_261"/>
          <p:cNvSpPr txBox="1"/>
          <p:nvPr/>
        </p:nvSpPr>
        <p:spPr>
          <a:xfrm>
            <a:off x="1024128" y="1481328"/>
            <a:ext cx="3383280" cy="457200"/>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documents</a:t>
            </a:r>
            <a:endParaRPr lang="en-US" sz="1500" dirty="0"/>
          </a:p>
        </p:txBody>
      </p:sp>
      <p:pic>
        <p:nvPicPr>
          <p:cNvPr id="8" name="pk_262" descr="/tmp/claude-0/-home-claude/584731ee-e493-5c78-a637-0b254e057472/scratchpad/deck/img/i_key.png">    </p:cNvPr>
          <p:cNvPicPr>
            <a:picLocks noChangeAspect="1"/>
          </p:cNvPicPr>
          <p:nvPr/>
        </p:nvPicPr>
        <p:blipFill>
          <a:blip r:embed="rId2"/>
          <a:stretch>
            <a:fillRect/>
          </a:stretch>
        </p:blipFill>
        <p:spPr>
          <a:xfrm>
            <a:off x="713232" y="2057400"/>
            <a:ext cx="146304" cy="146304"/>
          </a:xfrm>
          <a:prstGeom prst="rect">
            <a:avLst/>
          </a:prstGeom>
        </p:spPr>
      </p:pic>
      <p:sp>
        <p:nvSpPr>
          <p:cNvPr id="9" name="text_263"/>
          <p:cNvSpPr txBox="1"/>
          <p:nvPr/>
        </p:nvSpPr>
        <p:spPr>
          <a:xfrm>
            <a:off x="960120" y="1975104"/>
            <a:ext cx="2162556" cy="310896"/>
          </a:xfrm>
          <a:prstGeom prst="rect">
            <a:avLst/>
          </a:prstGeom>
          <a:noFill/>
          <a:ln/>
        </p:spPr>
        <p:txBody>
          <a:bodyPr wrap="square" lIns="0" tIns="0" rIns="0" bIns="0" rtlCol="0" anchor="ctr"/>
          <a:lstStyle/>
          <a:p>
            <a:pPr indent="0" marL="0">
              <a:buNone/>
            </a:pPr>
            <a:r>
              <a:rPr lang="en-US" sz="1150" dirty="0">
                <a:solidFill>
                  <a:srgbClr val="FCD34D"/>
                </a:solidFill>
                <a:latin typeface="Courier New" pitchFamily="34" charset="0"/>
                <a:ea typeface="Courier New" pitchFamily="34" charset="-122"/>
                <a:cs typeface="Courier New" pitchFamily="34" charset="-120"/>
              </a:rPr>
              <a:t>id</a:t>
            </a:r>
            <a:endParaRPr lang="en-US" sz="1150" dirty="0"/>
          </a:p>
        </p:txBody>
      </p:sp>
      <p:sp>
        <p:nvSpPr>
          <p:cNvPr id="10" name="text_264"/>
          <p:cNvSpPr txBox="1"/>
          <p:nvPr/>
        </p:nvSpPr>
        <p:spPr>
          <a:xfrm>
            <a:off x="2711196" y="1975104"/>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INTEGER PK</a:t>
            </a:r>
            <a:endParaRPr lang="en-US" sz="1050" dirty="0"/>
          </a:p>
        </p:txBody>
      </p:sp>
      <p:sp>
        <p:nvSpPr>
          <p:cNvPr id="11" name="text_265"/>
          <p:cNvSpPr txBox="1"/>
          <p:nvPr/>
        </p:nvSpPr>
        <p:spPr>
          <a:xfrm>
            <a:off x="960120" y="2286000"/>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filename</a:t>
            </a:r>
            <a:endParaRPr lang="en-US" sz="1150" dirty="0"/>
          </a:p>
        </p:txBody>
      </p:sp>
      <p:sp>
        <p:nvSpPr>
          <p:cNvPr id="12" name="text_266"/>
          <p:cNvSpPr txBox="1"/>
          <p:nvPr/>
        </p:nvSpPr>
        <p:spPr>
          <a:xfrm>
            <a:off x="2711196" y="2286000"/>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13" name="text_267"/>
          <p:cNvSpPr txBox="1"/>
          <p:nvPr/>
        </p:nvSpPr>
        <p:spPr>
          <a:xfrm>
            <a:off x="960120" y="2596896"/>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doc_type</a:t>
            </a:r>
            <a:endParaRPr lang="en-US" sz="1150" dirty="0"/>
          </a:p>
        </p:txBody>
      </p:sp>
      <p:sp>
        <p:nvSpPr>
          <p:cNvPr id="14" name="text_268"/>
          <p:cNvSpPr txBox="1"/>
          <p:nvPr/>
        </p:nvSpPr>
        <p:spPr>
          <a:xfrm>
            <a:off x="2711196" y="2596896"/>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15" name="text_269"/>
          <p:cNvSpPr txBox="1"/>
          <p:nvPr/>
        </p:nvSpPr>
        <p:spPr>
          <a:xfrm>
            <a:off x="960120" y="2907792"/>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holder_name</a:t>
            </a:r>
            <a:endParaRPr lang="en-US" sz="1150" dirty="0"/>
          </a:p>
        </p:txBody>
      </p:sp>
      <p:sp>
        <p:nvSpPr>
          <p:cNvPr id="16" name="text_270"/>
          <p:cNvSpPr txBox="1"/>
          <p:nvPr/>
        </p:nvSpPr>
        <p:spPr>
          <a:xfrm>
            <a:off x="2711196" y="2907792"/>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17" name="text_271"/>
          <p:cNvSpPr txBox="1"/>
          <p:nvPr/>
        </p:nvSpPr>
        <p:spPr>
          <a:xfrm>
            <a:off x="960120" y="3218688"/>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doc_number</a:t>
            </a:r>
            <a:endParaRPr lang="en-US" sz="1150" dirty="0"/>
          </a:p>
        </p:txBody>
      </p:sp>
      <p:sp>
        <p:nvSpPr>
          <p:cNvPr id="18" name="text_272"/>
          <p:cNvSpPr txBox="1"/>
          <p:nvPr/>
        </p:nvSpPr>
        <p:spPr>
          <a:xfrm>
            <a:off x="2711196" y="3218688"/>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19" name="text_273"/>
          <p:cNvSpPr txBox="1"/>
          <p:nvPr/>
        </p:nvSpPr>
        <p:spPr>
          <a:xfrm>
            <a:off x="960120" y="3529584"/>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organization</a:t>
            </a:r>
            <a:endParaRPr lang="en-US" sz="1150" dirty="0"/>
          </a:p>
        </p:txBody>
      </p:sp>
      <p:sp>
        <p:nvSpPr>
          <p:cNvPr id="20" name="text_274"/>
          <p:cNvSpPr txBox="1"/>
          <p:nvPr/>
        </p:nvSpPr>
        <p:spPr>
          <a:xfrm>
            <a:off x="2711196" y="3529584"/>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21" name="text_275"/>
          <p:cNvSpPr txBox="1"/>
          <p:nvPr/>
        </p:nvSpPr>
        <p:spPr>
          <a:xfrm>
            <a:off x="960120" y="3840480"/>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vehicle_no</a:t>
            </a:r>
            <a:endParaRPr lang="en-US" sz="1150" dirty="0"/>
          </a:p>
        </p:txBody>
      </p:sp>
      <p:sp>
        <p:nvSpPr>
          <p:cNvPr id="22" name="text_276"/>
          <p:cNvSpPr txBox="1"/>
          <p:nvPr/>
        </p:nvSpPr>
        <p:spPr>
          <a:xfrm>
            <a:off x="2711196" y="3840480"/>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23" name="text_277"/>
          <p:cNvSpPr txBox="1"/>
          <p:nvPr/>
        </p:nvSpPr>
        <p:spPr>
          <a:xfrm>
            <a:off x="960120" y="4151376"/>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amount</a:t>
            </a:r>
            <a:endParaRPr lang="en-US" sz="1150" dirty="0"/>
          </a:p>
        </p:txBody>
      </p:sp>
      <p:sp>
        <p:nvSpPr>
          <p:cNvPr id="24" name="text_278"/>
          <p:cNvSpPr txBox="1"/>
          <p:nvPr/>
        </p:nvSpPr>
        <p:spPr>
          <a:xfrm>
            <a:off x="2711196" y="4151376"/>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25" name="text_279"/>
          <p:cNvSpPr txBox="1"/>
          <p:nvPr/>
        </p:nvSpPr>
        <p:spPr>
          <a:xfrm>
            <a:off x="960120" y="4462272"/>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start_date</a:t>
            </a:r>
            <a:endParaRPr lang="en-US" sz="1150" dirty="0"/>
          </a:p>
        </p:txBody>
      </p:sp>
      <p:sp>
        <p:nvSpPr>
          <p:cNvPr id="26" name="text_280"/>
          <p:cNvSpPr txBox="1"/>
          <p:nvPr/>
        </p:nvSpPr>
        <p:spPr>
          <a:xfrm>
            <a:off x="2711196" y="4462272"/>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 (ISO)</a:t>
            </a:r>
            <a:endParaRPr lang="en-US" sz="1050" dirty="0"/>
          </a:p>
        </p:txBody>
      </p:sp>
      <p:sp>
        <p:nvSpPr>
          <p:cNvPr id="27" name="text_281"/>
          <p:cNvSpPr txBox="1"/>
          <p:nvPr/>
        </p:nvSpPr>
        <p:spPr>
          <a:xfrm>
            <a:off x="960120" y="4773168"/>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expiry_date</a:t>
            </a:r>
            <a:endParaRPr lang="en-US" sz="1150" dirty="0"/>
          </a:p>
        </p:txBody>
      </p:sp>
      <p:sp>
        <p:nvSpPr>
          <p:cNvPr id="28" name="text_282"/>
          <p:cNvSpPr txBox="1"/>
          <p:nvPr/>
        </p:nvSpPr>
        <p:spPr>
          <a:xfrm>
            <a:off x="2711196" y="4773168"/>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 (ISO)</a:t>
            </a:r>
            <a:endParaRPr lang="en-US" sz="1050" dirty="0"/>
          </a:p>
        </p:txBody>
      </p:sp>
      <p:sp>
        <p:nvSpPr>
          <p:cNvPr id="29" name="text_283"/>
          <p:cNvSpPr txBox="1"/>
          <p:nvPr/>
        </p:nvSpPr>
        <p:spPr>
          <a:xfrm>
            <a:off x="960120" y="5084064"/>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notes</a:t>
            </a:r>
            <a:endParaRPr lang="en-US" sz="1150" dirty="0"/>
          </a:p>
        </p:txBody>
      </p:sp>
      <p:sp>
        <p:nvSpPr>
          <p:cNvPr id="30" name="text_284"/>
          <p:cNvSpPr txBox="1"/>
          <p:nvPr/>
        </p:nvSpPr>
        <p:spPr>
          <a:xfrm>
            <a:off x="2711196" y="5084064"/>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31" name="text_285"/>
          <p:cNvSpPr txBox="1"/>
          <p:nvPr/>
        </p:nvSpPr>
        <p:spPr>
          <a:xfrm>
            <a:off x="960120" y="5394960"/>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stored_path</a:t>
            </a:r>
            <a:endParaRPr lang="en-US" sz="1150" dirty="0"/>
          </a:p>
        </p:txBody>
      </p:sp>
      <p:sp>
        <p:nvSpPr>
          <p:cNvPr id="32" name="text_286"/>
          <p:cNvSpPr txBox="1"/>
          <p:nvPr/>
        </p:nvSpPr>
        <p:spPr>
          <a:xfrm>
            <a:off x="2711196" y="5394960"/>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33" name="text_287"/>
          <p:cNvSpPr txBox="1"/>
          <p:nvPr/>
        </p:nvSpPr>
        <p:spPr>
          <a:xfrm>
            <a:off x="960120" y="5705856"/>
            <a:ext cx="2162556"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uploaded_at</a:t>
            </a:r>
            <a:endParaRPr lang="en-US" sz="1150" dirty="0"/>
          </a:p>
        </p:txBody>
      </p:sp>
      <p:sp>
        <p:nvSpPr>
          <p:cNvPr id="34" name="text_288"/>
          <p:cNvSpPr txBox="1"/>
          <p:nvPr/>
        </p:nvSpPr>
        <p:spPr>
          <a:xfrm>
            <a:off x="2711196" y="5705856"/>
            <a:ext cx="1604772"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35" name="tbl_reminders_289"/>
          <p:cNvSpPr/>
          <p:nvPr/>
        </p:nvSpPr>
        <p:spPr>
          <a:xfrm>
            <a:off x="5074920" y="1481328"/>
            <a:ext cx="3108960" cy="1463040"/>
          </a:xfrm>
          <a:prstGeom prst="roundRect">
            <a:avLst>
              <a:gd name="adj" fmla="val 7500"/>
            </a:avLst>
          </a:prstGeom>
          <a:solidFill>
            <a:schemeClr val="tx2"/>
          </a:solidFill>
          <a:ln w="9525">
            <a:solidFill>
              <a:srgbClr val="2B3470"/>
            </a:solidFill>
            <a:prstDash val="solid"/>
          </a:ln>
        </p:spPr>
      </p:sp>
      <p:sp>
        <p:nvSpPr>
          <p:cNvPr id="36" name="tbl_head_290"/>
          <p:cNvSpPr/>
          <p:nvPr/>
        </p:nvSpPr>
        <p:spPr>
          <a:xfrm>
            <a:off x="5074920" y="1481328"/>
            <a:ext cx="3108960" cy="457200"/>
          </a:xfrm>
          <a:prstGeom prst="roundRect">
            <a:avLst>
              <a:gd name="adj" fmla="val 24000"/>
            </a:avLst>
          </a:prstGeom>
          <a:solidFill>
            <a:schemeClr val="accent4">
              <a:alpha val="28000"/>
            </a:schemeClr>
          </a:solidFill>
          <a:ln/>
        </p:spPr>
      </p:sp>
      <p:pic>
        <p:nvPicPr>
          <p:cNvPr id="37" name="tbl_icon_291" descr="/tmp/claude-0/-home-claude/584731ee-e493-5c78-a637-0b254e057472/scratchpad/deck/img/i_table.png">    </p:cNvPr>
          <p:cNvPicPr>
            <a:picLocks noChangeAspect="1"/>
          </p:cNvPicPr>
          <p:nvPr/>
        </p:nvPicPr>
        <p:blipFill>
          <a:blip r:embed="rId3"/>
          <a:stretch>
            <a:fillRect/>
          </a:stretch>
        </p:blipFill>
        <p:spPr>
          <a:xfrm>
            <a:off x="5239512" y="1600200"/>
            <a:ext cx="219456" cy="219456"/>
          </a:xfrm>
          <a:prstGeom prst="rect">
            <a:avLst/>
          </a:prstGeom>
        </p:spPr>
      </p:pic>
      <p:sp>
        <p:nvSpPr>
          <p:cNvPr id="38" name="text_292"/>
          <p:cNvSpPr txBox="1"/>
          <p:nvPr/>
        </p:nvSpPr>
        <p:spPr>
          <a:xfrm>
            <a:off x="5550408" y="1481328"/>
            <a:ext cx="2560320" cy="457200"/>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reminders</a:t>
            </a:r>
            <a:endParaRPr lang="en-US" sz="1500" dirty="0"/>
          </a:p>
        </p:txBody>
      </p:sp>
      <p:pic>
        <p:nvPicPr>
          <p:cNvPr id="39" name="pk_293" descr="/tmp/claude-0/-home-claude/584731ee-e493-5c78-a637-0b254e057472/scratchpad/deck/img/i_key.png">    </p:cNvPr>
          <p:cNvPicPr>
            <a:picLocks noChangeAspect="1"/>
          </p:cNvPicPr>
          <p:nvPr/>
        </p:nvPicPr>
        <p:blipFill>
          <a:blip r:embed="rId4"/>
          <a:stretch>
            <a:fillRect/>
          </a:stretch>
        </p:blipFill>
        <p:spPr>
          <a:xfrm>
            <a:off x="5239512" y="2057400"/>
            <a:ext cx="146304" cy="146304"/>
          </a:xfrm>
          <a:prstGeom prst="rect">
            <a:avLst/>
          </a:prstGeom>
        </p:spPr>
      </p:pic>
      <p:sp>
        <p:nvSpPr>
          <p:cNvPr id="40" name="text_294"/>
          <p:cNvSpPr txBox="1"/>
          <p:nvPr/>
        </p:nvSpPr>
        <p:spPr>
          <a:xfrm>
            <a:off x="5486400" y="1975104"/>
            <a:ext cx="1709928" cy="310896"/>
          </a:xfrm>
          <a:prstGeom prst="rect">
            <a:avLst/>
          </a:prstGeom>
          <a:noFill/>
          <a:ln/>
        </p:spPr>
        <p:txBody>
          <a:bodyPr wrap="square" lIns="0" tIns="0" rIns="0" bIns="0" rtlCol="0" anchor="ctr"/>
          <a:lstStyle/>
          <a:p>
            <a:pPr indent="0" marL="0">
              <a:buNone/>
            </a:pPr>
            <a:r>
              <a:rPr lang="en-US" sz="1150" dirty="0">
                <a:solidFill>
                  <a:srgbClr val="FCD34D"/>
                </a:solidFill>
                <a:latin typeface="Courier New" pitchFamily="34" charset="0"/>
                <a:ea typeface="Courier New" pitchFamily="34" charset="-122"/>
                <a:cs typeface="Courier New" pitchFamily="34" charset="-120"/>
              </a:rPr>
              <a:t>id</a:t>
            </a:r>
            <a:endParaRPr lang="en-US" sz="1150" dirty="0"/>
          </a:p>
        </p:txBody>
      </p:sp>
      <p:sp>
        <p:nvSpPr>
          <p:cNvPr id="41" name="text_295"/>
          <p:cNvSpPr txBox="1"/>
          <p:nvPr/>
        </p:nvSpPr>
        <p:spPr>
          <a:xfrm>
            <a:off x="6784848" y="1975104"/>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INTEGER PK</a:t>
            </a:r>
            <a:endParaRPr lang="en-US" sz="1050" dirty="0"/>
          </a:p>
        </p:txBody>
      </p:sp>
      <p:sp>
        <p:nvSpPr>
          <p:cNvPr id="42" name="text_296"/>
          <p:cNvSpPr txBox="1"/>
          <p:nvPr/>
        </p:nvSpPr>
        <p:spPr>
          <a:xfrm>
            <a:off x="5486400" y="2286000"/>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document_id</a:t>
            </a:r>
            <a:endParaRPr lang="en-US" sz="1150" dirty="0"/>
          </a:p>
        </p:txBody>
      </p:sp>
      <p:sp>
        <p:nvSpPr>
          <p:cNvPr id="43" name="text_297"/>
          <p:cNvSpPr txBox="1"/>
          <p:nvPr/>
        </p:nvSpPr>
        <p:spPr>
          <a:xfrm>
            <a:off x="6784848" y="2286000"/>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FK → documents</a:t>
            </a:r>
            <a:endParaRPr lang="en-US" sz="1050" dirty="0"/>
          </a:p>
        </p:txBody>
      </p:sp>
      <p:sp>
        <p:nvSpPr>
          <p:cNvPr id="44" name="text_298"/>
          <p:cNvSpPr txBox="1"/>
          <p:nvPr/>
        </p:nvSpPr>
        <p:spPr>
          <a:xfrm>
            <a:off x="5486400" y="2596896"/>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dismissed_at</a:t>
            </a:r>
            <a:endParaRPr lang="en-US" sz="1150" dirty="0"/>
          </a:p>
        </p:txBody>
      </p:sp>
      <p:sp>
        <p:nvSpPr>
          <p:cNvPr id="45" name="text_299"/>
          <p:cNvSpPr txBox="1"/>
          <p:nvPr/>
        </p:nvSpPr>
        <p:spPr>
          <a:xfrm>
            <a:off x="6784848" y="2596896"/>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46" name="text_300"/>
          <p:cNvSpPr txBox="1"/>
          <p:nvPr/>
        </p:nvSpPr>
        <p:spPr>
          <a:xfrm>
            <a:off x="5074920" y="3017520"/>
            <a:ext cx="3108960" cy="274320"/>
          </a:xfrm>
          <a:prstGeom prst="rect">
            <a:avLst/>
          </a:prstGeom>
          <a:noFill/>
          <a:ln/>
        </p:spPr>
        <p:txBody>
          <a:bodyPr wrap="square" lIns="0" tIns="0" rIns="0" bIns="0" rtlCol="0" anchor="t"/>
          <a:lstStyle/>
          <a:p>
            <a:pPr indent="0" marL="0">
              <a:buNone/>
            </a:pPr>
            <a:r>
              <a:rPr lang="en-US" sz="1150" i="1" dirty="0">
                <a:solidFill>
                  <a:schemeClr val="bg2"/>
                </a:solidFill>
              </a:rPr>
              <a:t>reminders marked as completed</a:t>
            </a:r>
            <a:endParaRPr lang="en-US" sz="1150" dirty="0"/>
          </a:p>
        </p:txBody>
      </p:sp>
      <p:sp>
        <p:nvSpPr>
          <p:cNvPr id="47" name="tbl_users_301"/>
          <p:cNvSpPr/>
          <p:nvPr/>
        </p:nvSpPr>
        <p:spPr>
          <a:xfrm>
            <a:off x="5074920" y="3611880"/>
            <a:ext cx="3108960" cy="1463040"/>
          </a:xfrm>
          <a:prstGeom prst="roundRect">
            <a:avLst>
              <a:gd name="adj" fmla="val 7500"/>
            </a:avLst>
          </a:prstGeom>
          <a:solidFill>
            <a:schemeClr val="tx2"/>
          </a:solidFill>
          <a:ln w="9525">
            <a:solidFill>
              <a:srgbClr val="2B3470"/>
            </a:solidFill>
            <a:prstDash val="solid"/>
          </a:ln>
        </p:spPr>
      </p:sp>
      <p:sp>
        <p:nvSpPr>
          <p:cNvPr id="48" name="tbl_head_302"/>
          <p:cNvSpPr/>
          <p:nvPr/>
        </p:nvSpPr>
        <p:spPr>
          <a:xfrm>
            <a:off x="5074920" y="3611880"/>
            <a:ext cx="3108960" cy="457200"/>
          </a:xfrm>
          <a:prstGeom prst="roundRect">
            <a:avLst>
              <a:gd name="adj" fmla="val 24000"/>
            </a:avLst>
          </a:prstGeom>
          <a:solidFill>
            <a:schemeClr val="accent1">
              <a:alpha val="28000"/>
            </a:schemeClr>
          </a:solidFill>
          <a:ln/>
        </p:spPr>
      </p:sp>
      <p:pic>
        <p:nvPicPr>
          <p:cNvPr id="49" name="tbl_icon_303" descr="/tmp/claude-0/-home-claude/584731ee-e493-5c78-a637-0b254e057472/scratchpad/deck/img/i_table.png">    </p:cNvPr>
          <p:cNvPicPr>
            <a:picLocks noChangeAspect="1"/>
          </p:cNvPicPr>
          <p:nvPr/>
        </p:nvPicPr>
        <p:blipFill>
          <a:blip r:embed="rId5"/>
          <a:stretch>
            <a:fillRect/>
          </a:stretch>
        </p:blipFill>
        <p:spPr>
          <a:xfrm>
            <a:off x="5239512" y="3730752"/>
            <a:ext cx="219456" cy="219456"/>
          </a:xfrm>
          <a:prstGeom prst="rect">
            <a:avLst/>
          </a:prstGeom>
        </p:spPr>
      </p:pic>
      <p:sp>
        <p:nvSpPr>
          <p:cNvPr id="50" name="text_304"/>
          <p:cNvSpPr txBox="1"/>
          <p:nvPr/>
        </p:nvSpPr>
        <p:spPr>
          <a:xfrm>
            <a:off x="5550408" y="3611880"/>
            <a:ext cx="2560320" cy="457200"/>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users</a:t>
            </a:r>
            <a:endParaRPr lang="en-US" sz="1500" dirty="0"/>
          </a:p>
        </p:txBody>
      </p:sp>
      <p:pic>
        <p:nvPicPr>
          <p:cNvPr id="51" name="pk_305" descr="/tmp/claude-0/-home-claude/584731ee-e493-5c78-a637-0b254e057472/scratchpad/deck/img/i_key.png">    </p:cNvPr>
          <p:cNvPicPr>
            <a:picLocks noChangeAspect="1"/>
          </p:cNvPicPr>
          <p:nvPr/>
        </p:nvPicPr>
        <p:blipFill>
          <a:blip r:embed="rId6"/>
          <a:stretch>
            <a:fillRect/>
          </a:stretch>
        </p:blipFill>
        <p:spPr>
          <a:xfrm>
            <a:off x="5239512" y="4187952"/>
            <a:ext cx="146304" cy="146304"/>
          </a:xfrm>
          <a:prstGeom prst="rect">
            <a:avLst/>
          </a:prstGeom>
        </p:spPr>
      </p:pic>
      <p:sp>
        <p:nvSpPr>
          <p:cNvPr id="52" name="text_306"/>
          <p:cNvSpPr txBox="1"/>
          <p:nvPr/>
        </p:nvSpPr>
        <p:spPr>
          <a:xfrm>
            <a:off x="5486400" y="4105656"/>
            <a:ext cx="1709928" cy="310896"/>
          </a:xfrm>
          <a:prstGeom prst="rect">
            <a:avLst/>
          </a:prstGeom>
          <a:noFill/>
          <a:ln/>
        </p:spPr>
        <p:txBody>
          <a:bodyPr wrap="square" lIns="0" tIns="0" rIns="0" bIns="0" rtlCol="0" anchor="ctr"/>
          <a:lstStyle/>
          <a:p>
            <a:pPr indent="0" marL="0">
              <a:buNone/>
            </a:pPr>
            <a:r>
              <a:rPr lang="en-US" sz="1150" dirty="0">
                <a:solidFill>
                  <a:srgbClr val="FCD34D"/>
                </a:solidFill>
                <a:latin typeface="Courier New" pitchFamily="34" charset="0"/>
                <a:ea typeface="Courier New" pitchFamily="34" charset="-122"/>
                <a:cs typeface="Courier New" pitchFamily="34" charset="-120"/>
              </a:rPr>
              <a:t>id</a:t>
            </a:r>
            <a:endParaRPr lang="en-US" sz="1150" dirty="0"/>
          </a:p>
        </p:txBody>
      </p:sp>
      <p:sp>
        <p:nvSpPr>
          <p:cNvPr id="53" name="text_307"/>
          <p:cNvSpPr txBox="1"/>
          <p:nvPr/>
        </p:nvSpPr>
        <p:spPr>
          <a:xfrm>
            <a:off x="6784848" y="4105656"/>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INTEGER PK</a:t>
            </a:r>
            <a:endParaRPr lang="en-US" sz="1050" dirty="0"/>
          </a:p>
        </p:txBody>
      </p:sp>
      <p:sp>
        <p:nvSpPr>
          <p:cNvPr id="54" name="text_308"/>
          <p:cNvSpPr txBox="1"/>
          <p:nvPr/>
        </p:nvSpPr>
        <p:spPr>
          <a:xfrm>
            <a:off x="5486400" y="4416552"/>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name</a:t>
            </a:r>
            <a:endParaRPr lang="en-US" sz="1150" dirty="0"/>
          </a:p>
        </p:txBody>
      </p:sp>
      <p:sp>
        <p:nvSpPr>
          <p:cNvPr id="55" name="text_309"/>
          <p:cNvSpPr txBox="1"/>
          <p:nvPr/>
        </p:nvSpPr>
        <p:spPr>
          <a:xfrm>
            <a:off x="6784848" y="4416552"/>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56" name="text_310"/>
          <p:cNvSpPr txBox="1"/>
          <p:nvPr/>
        </p:nvSpPr>
        <p:spPr>
          <a:xfrm>
            <a:off x="5486400" y="4727448"/>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created_at</a:t>
            </a:r>
            <a:endParaRPr lang="en-US" sz="1150" dirty="0"/>
          </a:p>
        </p:txBody>
      </p:sp>
      <p:sp>
        <p:nvSpPr>
          <p:cNvPr id="57" name="text_311"/>
          <p:cNvSpPr txBox="1"/>
          <p:nvPr/>
        </p:nvSpPr>
        <p:spPr>
          <a:xfrm>
            <a:off x="6784848" y="4727448"/>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58" name="text_312"/>
          <p:cNvSpPr txBox="1"/>
          <p:nvPr/>
        </p:nvSpPr>
        <p:spPr>
          <a:xfrm>
            <a:off x="5074920" y="5148072"/>
            <a:ext cx="3108960" cy="274320"/>
          </a:xfrm>
          <a:prstGeom prst="rect">
            <a:avLst/>
          </a:prstGeom>
          <a:noFill/>
          <a:ln/>
        </p:spPr>
        <p:txBody>
          <a:bodyPr wrap="square" lIns="0" tIns="0" rIns="0" bIns="0" rtlCol="0" anchor="t"/>
          <a:lstStyle/>
          <a:p>
            <a:pPr indent="0" marL="0">
              <a:buNone/>
            </a:pPr>
            <a:r>
              <a:rPr lang="en-US" sz="1150" i="1" dirty="0">
                <a:solidFill>
                  <a:schemeClr val="bg2"/>
                </a:solidFill>
              </a:rPr>
              <a:t>profile name shown in the app</a:t>
            </a:r>
            <a:endParaRPr lang="en-US" sz="1150" dirty="0"/>
          </a:p>
        </p:txBody>
      </p:sp>
      <p:sp>
        <p:nvSpPr>
          <p:cNvPr id="59" name="tbl_activity_logs_313"/>
          <p:cNvSpPr/>
          <p:nvPr/>
        </p:nvSpPr>
        <p:spPr>
          <a:xfrm>
            <a:off x="8503920" y="1481328"/>
            <a:ext cx="3108960" cy="1773936"/>
          </a:xfrm>
          <a:prstGeom prst="roundRect">
            <a:avLst>
              <a:gd name="adj" fmla="val 6186"/>
            </a:avLst>
          </a:prstGeom>
          <a:solidFill>
            <a:schemeClr val="tx2"/>
          </a:solidFill>
          <a:ln w="9525">
            <a:solidFill>
              <a:srgbClr val="2B3470"/>
            </a:solidFill>
            <a:prstDash val="solid"/>
          </a:ln>
        </p:spPr>
      </p:sp>
      <p:sp>
        <p:nvSpPr>
          <p:cNvPr id="60" name="tbl_head_314"/>
          <p:cNvSpPr/>
          <p:nvPr/>
        </p:nvSpPr>
        <p:spPr>
          <a:xfrm>
            <a:off x="8503920" y="1481328"/>
            <a:ext cx="3108960" cy="457200"/>
          </a:xfrm>
          <a:prstGeom prst="roundRect">
            <a:avLst>
              <a:gd name="adj" fmla="val 24000"/>
            </a:avLst>
          </a:prstGeom>
          <a:solidFill>
            <a:schemeClr val="accent2">
              <a:alpha val="28000"/>
            </a:schemeClr>
          </a:solidFill>
          <a:ln/>
        </p:spPr>
      </p:sp>
      <p:pic>
        <p:nvPicPr>
          <p:cNvPr id="61" name="tbl_icon_315" descr="/tmp/claude-0/-home-claude/584731ee-e493-5c78-a637-0b254e057472/scratchpad/deck/img/i_table.png">    </p:cNvPr>
          <p:cNvPicPr>
            <a:picLocks noChangeAspect="1"/>
          </p:cNvPicPr>
          <p:nvPr/>
        </p:nvPicPr>
        <p:blipFill>
          <a:blip r:embed="rId7"/>
          <a:stretch>
            <a:fillRect/>
          </a:stretch>
        </p:blipFill>
        <p:spPr>
          <a:xfrm>
            <a:off x="8668512" y="1600200"/>
            <a:ext cx="219456" cy="219456"/>
          </a:xfrm>
          <a:prstGeom prst="rect">
            <a:avLst/>
          </a:prstGeom>
        </p:spPr>
      </p:pic>
      <p:sp>
        <p:nvSpPr>
          <p:cNvPr id="62" name="text_316"/>
          <p:cNvSpPr txBox="1"/>
          <p:nvPr/>
        </p:nvSpPr>
        <p:spPr>
          <a:xfrm>
            <a:off x="8979408" y="1481328"/>
            <a:ext cx="2560320" cy="457200"/>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activity_logs</a:t>
            </a:r>
            <a:endParaRPr lang="en-US" sz="1500" dirty="0"/>
          </a:p>
        </p:txBody>
      </p:sp>
      <p:pic>
        <p:nvPicPr>
          <p:cNvPr id="63" name="pk_317" descr="/tmp/claude-0/-home-claude/584731ee-e493-5c78-a637-0b254e057472/scratchpad/deck/img/i_key.png">    </p:cNvPr>
          <p:cNvPicPr>
            <a:picLocks noChangeAspect="1"/>
          </p:cNvPicPr>
          <p:nvPr/>
        </p:nvPicPr>
        <p:blipFill>
          <a:blip r:embed="rId8"/>
          <a:stretch>
            <a:fillRect/>
          </a:stretch>
        </p:blipFill>
        <p:spPr>
          <a:xfrm>
            <a:off x="8668512" y="2057400"/>
            <a:ext cx="146304" cy="146304"/>
          </a:xfrm>
          <a:prstGeom prst="rect">
            <a:avLst/>
          </a:prstGeom>
        </p:spPr>
      </p:pic>
      <p:sp>
        <p:nvSpPr>
          <p:cNvPr id="64" name="text_318"/>
          <p:cNvSpPr txBox="1"/>
          <p:nvPr/>
        </p:nvSpPr>
        <p:spPr>
          <a:xfrm>
            <a:off x="8915400" y="1975104"/>
            <a:ext cx="1709928" cy="310896"/>
          </a:xfrm>
          <a:prstGeom prst="rect">
            <a:avLst/>
          </a:prstGeom>
          <a:noFill/>
          <a:ln/>
        </p:spPr>
        <p:txBody>
          <a:bodyPr wrap="square" lIns="0" tIns="0" rIns="0" bIns="0" rtlCol="0" anchor="ctr"/>
          <a:lstStyle/>
          <a:p>
            <a:pPr indent="0" marL="0">
              <a:buNone/>
            </a:pPr>
            <a:r>
              <a:rPr lang="en-US" sz="1150" dirty="0">
                <a:solidFill>
                  <a:srgbClr val="FCD34D"/>
                </a:solidFill>
                <a:latin typeface="Courier New" pitchFamily="34" charset="0"/>
                <a:ea typeface="Courier New" pitchFamily="34" charset="-122"/>
                <a:cs typeface="Courier New" pitchFamily="34" charset="-120"/>
              </a:rPr>
              <a:t>id</a:t>
            </a:r>
            <a:endParaRPr lang="en-US" sz="1150" dirty="0"/>
          </a:p>
        </p:txBody>
      </p:sp>
      <p:sp>
        <p:nvSpPr>
          <p:cNvPr id="65" name="text_319"/>
          <p:cNvSpPr txBox="1"/>
          <p:nvPr/>
        </p:nvSpPr>
        <p:spPr>
          <a:xfrm>
            <a:off x="10213848" y="1975104"/>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INTEGER PK</a:t>
            </a:r>
            <a:endParaRPr lang="en-US" sz="1050" dirty="0"/>
          </a:p>
        </p:txBody>
      </p:sp>
      <p:sp>
        <p:nvSpPr>
          <p:cNvPr id="66" name="text_320"/>
          <p:cNvSpPr txBox="1"/>
          <p:nvPr/>
        </p:nvSpPr>
        <p:spPr>
          <a:xfrm>
            <a:off x="8915400" y="2286000"/>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action</a:t>
            </a:r>
            <a:endParaRPr lang="en-US" sz="1150" dirty="0"/>
          </a:p>
        </p:txBody>
      </p:sp>
      <p:sp>
        <p:nvSpPr>
          <p:cNvPr id="67" name="text_321"/>
          <p:cNvSpPr txBox="1"/>
          <p:nvPr/>
        </p:nvSpPr>
        <p:spPr>
          <a:xfrm>
            <a:off x="10213848" y="2286000"/>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68" name="text_322"/>
          <p:cNvSpPr txBox="1"/>
          <p:nvPr/>
        </p:nvSpPr>
        <p:spPr>
          <a:xfrm>
            <a:off x="8915400" y="2596896"/>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detail</a:t>
            </a:r>
            <a:endParaRPr lang="en-US" sz="1150" dirty="0"/>
          </a:p>
        </p:txBody>
      </p:sp>
      <p:sp>
        <p:nvSpPr>
          <p:cNvPr id="69" name="text_323"/>
          <p:cNvSpPr txBox="1"/>
          <p:nvPr/>
        </p:nvSpPr>
        <p:spPr>
          <a:xfrm>
            <a:off x="10213848" y="2596896"/>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70" name="text_324"/>
          <p:cNvSpPr txBox="1"/>
          <p:nvPr/>
        </p:nvSpPr>
        <p:spPr>
          <a:xfrm>
            <a:off x="8915400" y="2907792"/>
            <a:ext cx="1709928" cy="310896"/>
          </a:xfrm>
          <a:prstGeom prst="rect">
            <a:avLst/>
          </a:prstGeom>
          <a:noFill/>
          <a:ln/>
        </p:spPr>
        <p:txBody>
          <a:bodyPr wrap="square" lIns="0" tIns="0" rIns="0" bIns="0" rtlCol="0" anchor="ctr"/>
          <a:lstStyle/>
          <a:p>
            <a:pPr indent="0" marL="0">
              <a:buNone/>
            </a:pPr>
            <a:r>
              <a:rPr lang="en-US" sz="1150" dirty="0">
                <a:solidFill>
                  <a:srgbClr val="DDE0F5"/>
                </a:solidFill>
                <a:latin typeface="Courier New" pitchFamily="34" charset="0"/>
                <a:ea typeface="Courier New" pitchFamily="34" charset="-122"/>
                <a:cs typeface="Courier New" pitchFamily="34" charset="-120"/>
              </a:rPr>
              <a:t>created_at</a:t>
            </a:r>
            <a:endParaRPr lang="en-US" sz="1150" dirty="0"/>
          </a:p>
        </p:txBody>
      </p:sp>
      <p:sp>
        <p:nvSpPr>
          <p:cNvPr id="71" name="text_325"/>
          <p:cNvSpPr txBox="1"/>
          <p:nvPr/>
        </p:nvSpPr>
        <p:spPr>
          <a:xfrm>
            <a:off x="10213848" y="2907792"/>
            <a:ext cx="1234440" cy="310896"/>
          </a:xfrm>
          <a:prstGeom prst="rect">
            <a:avLst/>
          </a:prstGeom>
          <a:noFill/>
          <a:ln/>
        </p:spPr>
        <p:txBody>
          <a:bodyPr wrap="square" lIns="0" tIns="0" rIns="0" bIns="0" rtlCol="0" anchor="ctr"/>
          <a:lstStyle/>
          <a:p>
            <a:pPr algn="r" indent="0" marL="0">
              <a:buNone/>
            </a:pPr>
            <a:r>
              <a:rPr lang="en-US" sz="1050" dirty="0">
                <a:solidFill>
                  <a:schemeClr val="bg2"/>
                </a:solidFill>
              </a:rPr>
              <a:t>TEXT</a:t>
            </a:r>
            <a:endParaRPr lang="en-US" sz="1050" dirty="0"/>
          </a:p>
        </p:txBody>
      </p:sp>
      <p:sp>
        <p:nvSpPr>
          <p:cNvPr id="72" name="text_326"/>
          <p:cNvSpPr txBox="1"/>
          <p:nvPr/>
        </p:nvSpPr>
        <p:spPr>
          <a:xfrm>
            <a:off x="8503920" y="3328416"/>
            <a:ext cx="3108960" cy="274320"/>
          </a:xfrm>
          <a:prstGeom prst="rect">
            <a:avLst/>
          </a:prstGeom>
          <a:noFill/>
          <a:ln/>
        </p:spPr>
        <p:txBody>
          <a:bodyPr wrap="square" lIns="0" tIns="0" rIns="0" bIns="0" rtlCol="0" anchor="t"/>
          <a:lstStyle/>
          <a:p>
            <a:pPr indent="0" marL="0">
              <a:buNone/>
            </a:pPr>
            <a:r>
              <a:rPr lang="en-US" sz="1150" i="1" dirty="0">
                <a:solidFill>
                  <a:schemeClr val="bg2"/>
                </a:solidFill>
              </a:rPr>
              <a:t>audit trail of every change</a:t>
            </a:r>
            <a:endParaRPr lang="en-US" sz="1150" dirty="0"/>
          </a:p>
        </p:txBody>
      </p:sp>
      <p:sp>
        <p:nvSpPr>
          <p:cNvPr id="73" name="fk_line"/>
          <p:cNvSpPr/>
          <p:nvPr/>
        </p:nvSpPr>
        <p:spPr>
          <a:xfrm>
            <a:off x="4480560" y="2130552"/>
            <a:ext cx="594360" cy="310896"/>
          </a:xfrm>
          <a:prstGeom prst="line">
            <a:avLst/>
          </a:prstGeom>
          <a:noFill/>
          <a:ln w="19050">
            <a:solidFill>
              <a:srgbClr val="FBBF24"/>
            </a:solidFill>
            <a:prstDash val="dash"/>
            <a:headEnd type="oval"/>
            <a:tailEnd type="triangle"/>
          </a:ln>
        </p:spPr>
      </p:sp>
      <p:sp>
        <p:nvSpPr>
          <p:cNvPr id="74" name="why_sqlite_327"/>
          <p:cNvSpPr/>
          <p:nvPr/>
        </p:nvSpPr>
        <p:spPr>
          <a:xfrm>
            <a:off x="8503920" y="3794760"/>
            <a:ext cx="3108960" cy="2331720"/>
          </a:xfrm>
          <a:prstGeom prst="roundRect">
            <a:avLst>
              <a:gd name="adj" fmla="val 4706"/>
            </a:avLst>
          </a:prstGeom>
          <a:solidFill>
            <a:schemeClr val="accent6">
              <a:alpha val="14000"/>
            </a:schemeClr>
          </a:solidFill>
          <a:ln w="9525">
            <a:solidFill>
              <a:schemeClr val="accent6"/>
            </a:solidFill>
            <a:prstDash val="solid"/>
          </a:ln>
        </p:spPr>
      </p:sp>
      <p:sp>
        <p:nvSpPr>
          <p:cNvPr id="75" name="icon_bg_328"/>
          <p:cNvSpPr/>
          <p:nvPr/>
        </p:nvSpPr>
        <p:spPr>
          <a:xfrm>
            <a:off x="8686800" y="3977640"/>
            <a:ext cx="457200" cy="457200"/>
          </a:xfrm>
          <a:prstGeom prst="roundRect">
            <a:avLst>
              <a:gd name="adj" fmla="val 24000"/>
            </a:avLst>
          </a:prstGeom>
          <a:solidFill>
            <a:schemeClr val="accent6">
              <a:alpha val="22000"/>
            </a:schemeClr>
          </a:solidFill>
          <a:ln/>
        </p:spPr>
      </p:sp>
      <p:pic>
        <p:nvPicPr>
          <p:cNvPr id="76" name="icon_329" descr="/tmp/claude-0/-home-claude/584731ee-e493-5c78-a637-0b254e057472/scratchpad/deck/img/i_db.png">    </p:cNvPr>
          <p:cNvPicPr>
            <a:picLocks noChangeAspect="1"/>
          </p:cNvPicPr>
          <p:nvPr/>
        </p:nvPicPr>
        <p:blipFill>
          <a:blip r:embed="rId9"/>
          <a:stretch>
            <a:fillRect/>
          </a:stretch>
        </p:blipFill>
        <p:spPr>
          <a:xfrm>
            <a:off x="8796528" y="4087368"/>
            <a:ext cx="237744" cy="237744"/>
          </a:xfrm>
          <a:prstGeom prst="rect">
            <a:avLst/>
          </a:prstGeom>
        </p:spPr>
      </p:pic>
      <p:sp>
        <p:nvSpPr>
          <p:cNvPr id="77" name="text_330"/>
          <p:cNvSpPr txBox="1"/>
          <p:nvPr/>
        </p:nvSpPr>
        <p:spPr>
          <a:xfrm>
            <a:off x="9262872" y="4005072"/>
            <a:ext cx="2194560" cy="365760"/>
          </a:xfrm>
          <a:prstGeom prst="rect">
            <a:avLst/>
          </a:prstGeom>
          <a:noFill/>
          <a:ln/>
        </p:spPr>
        <p:txBody>
          <a:bodyPr wrap="square" lIns="0" tIns="0" rIns="0" bIns="0" rtlCol="0" anchor="t"/>
          <a:lstStyle/>
          <a:p>
            <a:pPr indent="0" marL="0">
              <a:buNone/>
            </a:pPr>
            <a:r>
              <a:rPr lang="en-US" sz="1500" b="1" dirty="0">
                <a:solidFill>
                  <a:schemeClr val="bg1"/>
                </a:solidFill>
              </a:rPr>
              <a:t>Why SQLite</a:t>
            </a:r>
            <a:endParaRPr lang="en-US" sz="1500" dirty="0"/>
          </a:p>
        </p:txBody>
      </p:sp>
      <p:sp>
        <p:nvSpPr>
          <p:cNvPr id="78" name="text_331"/>
          <p:cNvSpPr txBox="1"/>
          <p:nvPr/>
        </p:nvSpPr>
        <p:spPr>
          <a:xfrm>
            <a:off x="8686800" y="4526280"/>
            <a:ext cx="2788920" cy="14630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DDE0F5"/>
                </a:solidFill>
              </a:rPr>
              <a:t>One file: data/lifeadmin.db</a:t>
            </a:r>
            <a:endParaRPr lang="en-US" sz="1200" dirty="0"/>
          </a:p>
          <a:p>
            <a:pPr marL="342900" indent="-342900">
              <a:spcAft>
                <a:spcPts val="400"/>
              </a:spcAft>
              <a:buSzPct val="100000"/>
              <a:buChar char="•"/>
            </a:pPr>
            <a:r>
              <a:rPr lang="en-US" sz="1200" dirty="0">
                <a:solidFill>
                  <a:srgbClr val="DDE0F5"/>
                </a:solidFill>
              </a:rPr>
              <a:t>Built into Python, zero setup</a:t>
            </a:r>
            <a:endParaRPr lang="en-US" sz="1200" dirty="0"/>
          </a:p>
          <a:p>
            <a:pPr marL="342900" indent="-342900">
              <a:spcAft>
                <a:spcPts val="400"/>
              </a:spcAft>
              <a:buSzPct val="100000"/>
              <a:buChar char="•"/>
            </a:pPr>
            <a:r>
              <a:rPr lang="en-US" sz="1200" dirty="0">
                <a:solidFill>
                  <a:srgbClr val="DDE0F5"/>
                </a:solidFill>
              </a:rPr>
              <a:t>Foreign key with cascade delete</a:t>
            </a:r>
            <a:endParaRPr lang="en-US" sz="1200" dirty="0"/>
          </a:p>
          <a:p>
            <a:pPr marL="342900" indent="-342900">
              <a:spcAft>
                <a:spcPts val="400"/>
              </a:spcAft>
              <a:buSzPct val="100000"/>
              <a:buChar char="•"/>
            </a:pPr>
            <a:r>
              <a:rPr lang="en-US" sz="1200" dirty="0">
                <a:solidFill>
                  <a:srgbClr val="DDE0F5"/>
                </a:solidFill>
              </a:rPr>
              <a:t>Works fully offline</a:t>
            </a:r>
            <a:endParaRPr lang="en-US" sz="12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PYTHON FILES</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Frontend and backend files</a:t>
            </a:r>
            <a:endParaRPr lang="en-US" sz="3200" dirty="0"/>
          </a:p>
        </p:txBody>
      </p:sp>
      <p:sp>
        <p:nvSpPr>
          <p:cNvPr id="4" name="fe_col_332"/>
          <p:cNvSpPr/>
          <p:nvPr/>
        </p:nvSpPr>
        <p:spPr>
          <a:xfrm>
            <a:off x="548640" y="1508760"/>
            <a:ext cx="4206240" cy="4526280"/>
          </a:xfrm>
          <a:prstGeom prst="roundRect">
            <a:avLst>
              <a:gd name="adj" fmla="val 2609"/>
            </a:avLst>
          </a:prstGeom>
          <a:solidFill>
            <a:schemeClr val="accent2">
              <a:alpha val="12000"/>
            </a:schemeClr>
          </a:solidFill>
          <a:ln w="9525">
            <a:solidFill>
              <a:schemeClr val="accent2"/>
            </a:solidFill>
            <a:prstDash val="solid"/>
          </a:ln>
        </p:spPr>
      </p:sp>
      <p:sp>
        <p:nvSpPr>
          <p:cNvPr id="5" name="icon_bg_333"/>
          <p:cNvSpPr/>
          <p:nvPr/>
        </p:nvSpPr>
        <p:spPr>
          <a:xfrm>
            <a:off x="749808" y="1691640"/>
            <a:ext cx="502920" cy="502920"/>
          </a:xfrm>
          <a:prstGeom prst="roundRect">
            <a:avLst>
              <a:gd name="adj" fmla="val 24000"/>
            </a:avLst>
          </a:prstGeom>
          <a:solidFill>
            <a:schemeClr val="accent2">
              <a:alpha val="22000"/>
            </a:schemeClr>
          </a:solidFill>
          <a:ln/>
        </p:spPr>
      </p:sp>
      <p:pic>
        <p:nvPicPr>
          <p:cNvPr id="6" name="icon_334" descr="/tmp/claude-0/-home-claude/584731ee-e493-5c78-a637-0b254e057472/scratchpad/deck/img/i_layout.png">    </p:cNvPr>
          <p:cNvPicPr>
            <a:picLocks noChangeAspect="1"/>
          </p:cNvPicPr>
          <p:nvPr/>
        </p:nvPicPr>
        <p:blipFill>
          <a:blip r:embed="rId1"/>
          <a:stretch>
            <a:fillRect/>
          </a:stretch>
        </p:blipFill>
        <p:spPr>
          <a:xfrm>
            <a:off x="870509" y="1812341"/>
            <a:ext cx="261518" cy="261518"/>
          </a:xfrm>
          <a:prstGeom prst="rect">
            <a:avLst/>
          </a:prstGeom>
        </p:spPr>
      </p:pic>
      <p:sp>
        <p:nvSpPr>
          <p:cNvPr id="7" name="text_335"/>
          <p:cNvSpPr txBox="1"/>
          <p:nvPr/>
        </p:nvSpPr>
        <p:spPr>
          <a:xfrm>
            <a:off x="1389888" y="1691640"/>
            <a:ext cx="2743200" cy="256032"/>
          </a:xfrm>
          <a:prstGeom prst="rect">
            <a:avLst/>
          </a:prstGeom>
          <a:noFill/>
          <a:ln/>
        </p:spPr>
        <p:txBody>
          <a:bodyPr wrap="square" lIns="0" tIns="0" rIns="0" bIns="0" rtlCol="0" anchor="t"/>
          <a:lstStyle/>
          <a:p>
            <a:pPr indent="0" marL="0">
              <a:buNone/>
            </a:pPr>
            <a:r>
              <a:rPr lang="en-US" sz="1100" b="1" spc="200" kern="0" dirty="0">
                <a:solidFill>
                  <a:schemeClr val="accent2"/>
                </a:solidFill>
              </a:rPr>
              <a:t>FRONTEND</a:t>
            </a:r>
            <a:endParaRPr lang="en-US" sz="1100" dirty="0"/>
          </a:p>
        </p:txBody>
      </p:sp>
      <p:sp>
        <p:nvSpPr>
          <p:cNvPr id="8" name="text_336"/>
          <p:cNvSpPr txBox="1"/>
          <p:nvPr/>
        </p:nvSpPr>
        <p:spPr>
          <a:xfrm>
            <a:off x="1389888" y="1920240"/>
            <a:ext cx="3200400" cy="292608"/>
          </a:xfrm>
          <a:prstGeom prst="rect">
            <a:avLst/>
          </a:prstGeom>
          <a:noFill/>
          <a:ln/>
        </p:spPr>
        <p:txBody>
          <a:bodyPr wrap="square" lIns="0" tIns="0" rIns="0" bIns="0" rtlCol="0" anchor="t"/>
          <a:lstStyle/>
          <a:p>
            <a:pPr indent="0" marL="0">
              <a:buNone/>
            </a:pPr>
            <a:r>
              <a:rPr lang="en-US" sz="1500" b="1" dirty="0">
                <a:solidFill>
                  <a:schemeClr val="bg1"/>
                </a:solidFill>
              </a:rPr>
              <a:t>What the user sees</a:t>
            </a:r>
            <a:endParaRPr lang="en-US" sz="1500" dirty="0"/>
          </a:p>
        </p:txBody>
      </p:sp>
      <p:sp>
        <p:nvSpPr>
          <p:cNvPr id="9" name="fe_file_337"/>
          <p:cNvSpPr/>
          <p:nvPr/>
        </p:nvSpPr>
        <p:spPr>
          <a:xfrm>
            <a:off x="749808" y="2487168"/>
            <a:ext cx="3803904" cy="1024128"/>
          </a:xfrm>
          <a:prstGeom prst="roundRect">
            <a:avLst>
              <a:gd name="adj" fmla="val 10714"/>
            </a:avLst>
          </a:prstGeom>
          <a:solidFill>
            <a:schemeClr val="tx2"/>
          </a:solidFill>
          <a:ln w="9525">
            <a:solidFill>
              <a:srgbClr val="2B3470"/>
            </a:solidFill>
            <a:prstDash val="solid"/>
          </a:ln>
        </p:spPr>
      </p:sp>
      <p:sp>
        <p:nvSpPr>
          <p:cNvPr id="10" name="text_338"/>
          <p:cNvSpPr txBox="1"/>
          <p:nvPr/>
        </p:nvSpPr>
        <p:spPr>
          <a:xfrm>
            <a:off x="932688" y="2606040"/>
            <a:ext cx="2743200" cy="310896"/>
          </a:xfrm>
          <a:prstGeom prst="rect">
            <a:avLst/>
          </a:prstGeom>
          <a:noFill/>
          <a:ln/>
        </p:spPr>
        <p:txBody>
          <a:bodyPr wrap="square" lIns="0" tIns="0" rIns="0" bIns="0" rtlCol="0" anchor="t"/>
          <a:lstStyle/>
          <a:p>
            <a:pPr indent="0" marL="0">
              <a:buNone/>
            </a:pPr>
            <a:r>
              <a:rPr lang="en-US" sz="1400" b="1" dirty="0">
                <a:solidFill>
                  <a:srgbClr val="FFD5CC"/>
                </a:solidFill>
                <a:latin typeface="Courier New" pitchFamily="34" charset="0"/>
                <a:ea typeface="Courier New" pitchFamily="34" charset="-122"/>
                <a:cs typeface="Courier New" pitchFamily="34" charset="-120"/>
              </a:rPr>
              <a:t>app.py</a:t>
            </a:r>
            <a:endParaRPr lang="en-US" sz="1400" dirty="0"/>
          </a:p>
        </p:txBody>
      </p:sp>
      <p:sp>
        <p:nvSpPr>
          <p:cNvPr id="11" name="text_339"/>
          <p:cNvSpPr txBox="1"/>
          <p:nvPr/>
        </p:nvSpPr>
        <p:spPr>
          <a:xfrm>
            <a:off x="3520440" y="2624328"/>
            <a:ext cx="914400" cy="274320"/>
          </a:xfrm>
          <a:prstGeom prst="rect">
            <a:avLst/>
          </a:prstGeom>
          <a:noFill/>
          <a:ln/>
        </p:spPr>
        <p:txBody>
          <a:bodyPr wrap="square" lIns="0" tIns="0" rIns="0" bIns="0" rtlCol="0" anchor="t"/>
          <a:lstStyle/>
          <a:p>
            <a:pPr algn="r" indent="0" marL="0">
              <a:buNone/>
            </a:pPr>
            <a:r>
              <a:rPr lang="en-US" sz="1050" dirty="0">
                <a:solidFill>
                  <a:schemeClr val="bg2"/>
                </a:solidFill>
              </a:rPr>
              <a:t>624 lines</a:t>
            </a:r>
            <a:endParaRPr lang="en-US" sz="1050" dirty="0"/>
          </a:p>
        </p:txBody>
      </p:sp>
      <p:sp>
        <p:nvSpPr>
          <p:cNvPr id="12" name="text_340"/>
          <p:cNvSpPr txBox="1"/>
          <p:nvPr/>
        </p:nvSpPr>
        <p:spPr>
          <a:xfrm>
            <a:off x="932688" y="2962656"/>
            <a:ext cx="3474720" cy="457200"/>
          </a:xfrm>
          <a:prstGeom prst="rect">
            <a:avLst/>
          </a:prstGeom>
          <a:noFill/>
          <a:ln/>
        </p:spPr>
        <p:txBody>
          <a:bodyPr wrap="square" lIns="0" tIns="0" rIns="0" bIns="0" rtlCol="0" anchor="t"/>
          <a:lstStyle/>
          <a:p>
            <a:pPr indent="0" marL="0">
              <a:buNone/>
            </a:pPr>
            <a:r>
              <a:rPr lang="en-US" sz="1200" dirty="0">
                <a:solidFill>
                  <a:schemeClr val="bg2"/>
                </a:solidFill>
              </a:rPr>
              <a:t>Entry point; the 4 screens, sidebar, search, forms</a:t>
            </a:r>
            <a:endParaRPr lang="en-US" sz="1200" dirty="0"/>
          </a:p>
        </p:txBody>
      </p:sp>
      <p:sp>
        <p:nvSpPr>
          <p:cNvPr id="13" name="fe_file_341"/>
          <p:cNvSpPr/>
          <p:nvPr/>
        </p:nvSpPr>
        <p:spPr>
          <a:xfrm>
            <a:off x="749808" y="3675888"/>
            <a:ext cx="3803904" cy="1024128"/>
          </a:xfrm>
          <a:prstGeom prst="roundRect">
            <a:avLst>
              <a:gd name="adj" fmla="val 10714"/>
            </a:avLst>
          </a:prstGeom>
          <a:solidFill>
            <a:schemeClr val="tx2"/>
          </a:solidFill>
          <a:ln w="9525">
            <a:solidFill>
              <a:srgbClr val="2B3470"/>
            </a:solidFill>
            <a:prstDash val="solid"/>
          </a:ln>
        </p:spPr>
      </p:sp>
      <p:sp>
        <p:nvSpPr>
          <p:cNvPr id="14" name="text_342"/>
          <p:cNvSpPr txBox="1"/>
          <p:nvPr/>
        </p:nvSpPr>
        <p:spPr>
          <a:xfrm>
            <a:off x="932688" y="3794760"/>
            <a:ext cx="2743200" cy="310896"/>
          </a:xfrm>
          <a:prstGeom prst="rect">
            <a:avLst/>
          </a:prstGeom>
          <a:noFill/>
          <a:ln/>
        </p:spPr>
        <p:txBody>
          <a:bodyPr wrap="square" lIns="0" tIns="0" rIns="0" bIns="0" rtlCol="0" anchor="t"/>
          <a:lstStyle/>
          <a:p>
            <a:pPr indent="0" marL="0">
              <a:buNone/>
            </a:pPr>
            <a:r>
              <a:rPr lang="en-US" sz="1400" b="1" dirty="0">
                <a:solidFill>
                  <a:srgbClr val="FFD5CC"/>
                </a:solidFill>
                <a:latin typeface="Courier New" pitchFamily="34" charset="0"/>
                <a:ea typeface="Courier New" pitchFamily="34" charset="-122"/>
                <a:cs typeface="Courier New" pitchFamily="34" charset="-120"/>
              </a:rPr>
              <a:t>lifeadmin/style.py</a:t>
            </a:r>
            <a:endParaRPr lang="en-US" sz="1400" dirty="0"/>
          </a:p>
        </p:txBody>
      </p:sp>
      <p:sp>
        <p:nvSpPr>
          <p:cNvPr id="15" name="text_343"/>
          <p:cNvSpPr txBox="1"/>
          <p:nvPr/>
        </p:nvSpPr>
        <p:spPr>
          <a:xfrm>
            <a:off x="3520440" y="3813048"/>
            <a:ext cx="914400" cy="274320"/>
          </a:xfrm>
          <a:prstGeom prst="rect">
            <a:avLst/>
          </a:prstGeom>
          <a:noFill/>
          <a:ln/>
        </p:spPr>
        <p:txBody>
          <a:bodyPr wrap="square" lIns="0" tIns="0" rIns="0" bIns="0" rtlCol="0" anchor="t"/>
          <a:lstStyle/>
          <a:p>
            <a:pPr algn="r" indent="0" marL="0">
              <a:buNone/>
            </a:pPr>
            <a:r>
              <a:rPr lang="en-US" sz="1050" dirty="0">
                <a:solidFill>
                  <a:schemeClr val="bg2"/>
                </a:solidFill>
              </a:rPr>
              <a:t>496 lines</a:t>
            </a:r>
            <a:endParaRPr lang="en-US" sz="1050" dirty="0"/>
          </a:p>
        </p:txBody>
      </p:sp>
      <p:sp>
        <p:nvSpPr>
          <p:cNvPr id="16" name="text_344"/>
          <p:cNvSpPr txBox="1"/>
          <p:nvPr/>
        </p:nvSpPr>
        <p:spPr>
          <a:xfrm>
            <a:off x="932688" y="4151376"/>
            <a:ext cx="3474720" cy="457200"/>
          </a:xfrm>
          <a:prstGeom prst="rect">
            <a:avLst/>
          </a:prstGeom>
          <a:noFill/>
          <a:ln/>
        </p:spPr>
        <p:txBody>
          <a:bodyPr wrap="square" lIns="0" tIns="0" rIns="0" bIns="0" rtlCol="0" anchor="t"/>
          <a:lstStyle/>
          <a:p>
            <a:pPr indent="0" marL="0">
              <a:buNone/>
            </a:pPr>
            <a:r>
              <a:rPr lang="en-US" sz="1200" dirty="0">
                <a:solidFill>
                  <a:schemeClr val="bg2"/>
                </a:solidFill>
              </a:rPr>
              <a:t>Theme, CSS, icons and UI components</a:t>
            </a:r>
            <a:endParaRPr lang="en-US" sz="1200" dirty="0"/>
          </a:p>
        </p:txBody>
      </p:sp>
      <p:sp>
        <p:nvSpPr>
          <p:cNvPr id="17" name="fe_file_345"/>
          <p:cNvSpPr/>
          <p:nvPr/>
        </p:nvSpPr>
        <p:spPr>
          <a:xfrm>
            <a:off x="749808" y="4864608"/>
            <a:ext cx="3803904" cy="1024128"/>
          </a:xfrm>
          <a:prstGeom prst="roundRect">
            <a:avLst>
              <a:gd name="adj" fmla="val 10714"/>
            </a:avLst>
          </a:prstGeom>
          <a:solidFill>
            <a:schemeClr val="tx2"/>
          </a:solidFill>
          <a:ln w="9525">
            <a:solidFill>
              <a:srgbClr val="2B3470"/>
            </a:solidFill>
            <a:prstDash val="solid"/>
          </a:ln>
        </p:spPr>
      </p:sp>
      <p:sp>
        <p:nvSpPr>
          <p:cNvPr id="18" name="text_346"/>
          <p:cNvSpPr txBox="1"/>
          <p:nvPr/>
        </p:nvSpPr>
        <p:spPr>
          <a:xfrm>
            <a:off x="932688" y="4983480"/>
            <a:ext cx="2743200" cy="310896"/>
          </a:xfrm>
          <a:prstGeom prst="rect">
            <a:avLst/>
          </a:prstGeom>
          <a:noFill/>
          <a:ln/>
        </p:spPr>
        <p:txBody>
          <a:bodyPr wrap="square" lIns="0" tIns="0" rIns="0" bIns="0" rtlCol="0" anchor="t"/>
          <a:lstStyle/>
          <a:p>
            <a:pPr indent="0" marL="0">
              <a:buNone/>
            </a:pPr>
            <a:r>
              <a:rPr lang="en-US" sz="1400" b="1" dirty="0">
                <a:solidFill>
                  <a:srgbClr val="FFD5CC"/>
                </a:solidFill>
                <a:latin typeface="Courier New" pitchFamily="34" charset="0"/>
                <a:ea typeface="Courier New" pitchFamily="34" charset="-122"/>
                <a:cs typeface="Courier New" pitchFamily="34" charset="-120"/>
              </a:rPr>
              <a:t>.streamlit/config.toml</a:t>
            </a:r>
            <a:endParaRPr lang="en-US" sz="1400" dirty="0"/>
          </a:p>
        </p:txBody>
      </p:sp>
      <p:sp>
        <p:nvSpPr>
          <p:cNvPr id="19" name="text_347"/>
          <p:cNvSpPr txBox="1"/>
          <p:nvPr/>
        </p:nvSpPr>
        <p:spPr>
          <a:xfrm>
            <a:off x="932688" y="5340096"/>
            <a:ext cx="3474720" cy="457200"/>
          </a:xfrm>
          <a:prstGeom prst="rect">
            <a:avLst/>
          </a:prstGeom>
          <a:noFill/>
          <a:ln/>
        </p:spPr>
        <p:txBody>
          <a:bodyPr wrap="square" lIns="0" tIns="0" rIns="0" bIns="0" rtlCol="0" anchor="t"/>
          <a:lstStyle/>
          <a:p>
            <a:pPr indent="0" marL="0">
              <a:buNone/>
            </a:pPr>
            <a:r>
              <a:rPr lang="en-US" sz="1200" dirty="0">
                <a:solidFill>
                  <a:schemeClr val="bg2"/>
                </a:solidFill>
              </a:rPr>
              <a:t>Dark theme colours, 10 MB upload limit</a:t>
            </a:r>
            <a:endParaRPr lang="en-US" sz="1200" dirty="0"/>
          </a:p>
        </p:txBody>
      </p:sp>
      <p:sp>
        <p:nvSpPr>
          <p:cNvPr id="20" name="be_col_348"/>
          <p:cNvSpPr/>
          <p:nvPr/>
        </p:nvSpPr>
        <p:spPr>
          <a:xfrm>
            <a:off x="4983480" y="1508760"/>
            <a:ext cx="6629400" cy="4526280"/>
          </a:xfrm>
          <a:prstGeom prst="roundRect">
            <a:avLst>
              <a:gd name="adj" fmla="val 2424"/>
            </a:avLst>
          </a:prstGeom>
          <a:solidFill>
            <a:schemeClr val="accent1">
              <a:alpha val="12000"/>
            </a:schemeClr>
          </a:solidFill>
          <a:ln w="9525">
            <a:solidFill>
              <a:schemeClr val="accent1"/>
            </a:solidFill>
            <a:prstDash val="solid"/>
          </a:ln>
        </p:spPr>
      </p:sp>
      <p:sp>
        <p:nvSpPr>
          <p:cNvPr id="21" name="icon_bg_349"/>
          <p:cNvSpPr/>
          <p:nvPr/>
        </p:nvSpPr>
        <p:spPr>
          <a:xfrm>
            <a:off x="5184648" y="1691640"/>
            <a:ext cx="502920" cy="502920"/>
          </a:xfrm>
          <a:prstGeom prst="roundRect">
            <a:avLst>
              <a:gd name="adj" fmla="val 24000"/>
            </a:avLst>
          </a:prstGeom>
          <a:solidFill>
            <a:schemeClr val="accent1">
              <a:alpha val="22000"/>
            </a:schemeClr>
          </a:solidFill>
          <a:ln/>
        </p:spPr>
      </p:sp>
      <p:pic>
        <p:nvPicPr>
          <p:cNvPr id="22" name="icon_350" descr="/tmp/claude-0/-home-claude/584731ee-e493-5c78-a637-0b254e057472/scratchpad/deck/img/i_gears.png">    </p:cNvPr>
          <p:cNvPicPr>
            <a:picLocks noChangeAspect="1"/>
          </p:cNvPicPr>
          <p:nvPr/>
        </p:nvPicPr>
        <p:blipFill>
          <a:blip r:embed="rId2"/>
          <a:stretch>
            <a:fillRect/>
          </a:stretch>
        </p:blipFill>
        <p:spPr>
          <a:xfrm>
            <a:off x="5305349" y="1812341"/>
            <a:ext cx="261518" cy="261518"/>
          </a:xfrm>
          <a:prstGeom prst="rect">
            <a:avLst/>
          </a:prstGeom>
        </p:spPr>
      </p:pic>
      <p:sp>
        <p:nvSpPr>
          <p:cNvPr id="23" name="text_351"/>
          <p:cNvSpPr txBox="1"/>
          <p:nvPr/>
        </p:nvSpPr>
        <p:spPr>
          <a:xfrm>
            <a:off x="5824728" y="1691640"/>
            <a:ext cx="4572000" cy="256032"/>
          </a:xfrm>
          <a:prstGeom prst="rect">
            <a:avLst/>
          </a:prstGeom>
          <a:noFill/>
          <a:ln/>
        </p:spPr>
        <p:txBody>
          <a:bodyPr wrap="square" lIns="0" tIns="0" rIns="0" bIns="0" rtlCol="0" anchor="t"/>
          <a:lstStyle/>
          <a:p>
            <a:pPr indent="0" marL="0">
              <a:buNone/>
            </a:pPr>
            <a:r>
              <a:rPr lang="en-US" sz="1100" b="1" spc="200" kern="0" dirty="0">
                <a:solidFill>
                  <a:srgbClr val="A5A8FF"/>
                </a:solidFill>
              </a:rPr>
              <a:t>BACKEND  ·  lifeadmin/ package</a:t>
            </a:r>
            <a:endParaRPr lang="en-US" sz="1100" dirty="0"/>
          </a:p>
        </p:txBody>
      </p:sp>
      <p:sp>
        <p:nvSpPr>
          <p:cNvPr id="24" name="text_352"/>
          <p:cNvSpPr txBox="1"/>
          <p:nvPr/>
        </p:nvSpPr>
        <p:spPr>
          <a:xfrm>
            <a:off x="5824728" y="1920240"/>
            <a:ext cx="5486400" cy="292608"/>
          </a:xfrm>
          <a:prstGeom prst="rect">
            <a:avLst/>
          </a:prstGeom>
          <a:noFill/>
          <a:ln/>
        </p:spPr>
        <p:txBody>
          <a:bodyPr wrap="square" lIns="0" tIns="0" rIns="0" bIns="0" rtlCol="0" anchor="t"/>
          <a:lstStyle/>
          <a:p>
            <a:pPr indent="0" marL="0">
              <a:buNone/>
            </a:pPr>
            <a:r>
              <a:rPr lang="en-US" sz="1500" b="1" dirty="0">
                <a:solidFill>
                  <a:schemeClr val="bg1"/>
                </a:solidFill>
              </a:rPr>
              <a:t>Reads, understands and stores documents</a:t>
            </a:r>
            <a:endParaRPr lang="en-US" sz="1500" dirty="0"/>
          </a:p>
        </p:txBody>
      </p:sp>
      <p:sp>
        <p:nvSpPr>
          <p:cNvPr id="25" name="be_file_353"/>
          <p:cNvSpPr/>
          <p:nvPr/>
        </p:nvSpPr>
        <p:spPr>
          <a:xfrm>
            <a:off x="5184648" y="2487168"/>
            <a:ext cx="3017520" cy="603504"/>
          </a:xfrm>
          <a:prstGeom prst="roundRect">
            <a:avLst>
              <a:gd name="adj" fmla="val 18182"/>
            </a:avLst>
          </a:prstGeom>
          <a:solidFill>
            <a:schemeClr val="tx2"/>
          </a:solidFill>
          <a:ln w="9525">
            <a:solidFill>
              <a:srgbClr val="2B3470"/>
            </a:solidFill>
            <a:prstDash val="solid"/>
          </a:ln>
        </p:spPr>
      </p:sp>
      <p:sp>
        <p:nvSpPr>
          <p:cNvPr id="26" name="text_354"/>
          <p:cNvSpPr txBox="1"/>
          <p:nvPr/>
        </p:nvSpPr>
        <p:spPr>
          <a:xfrm>
            <a:off x="5321808" y="2542032"/>
            <a:ext cx="2743200" cy="256032"/>
          </a:xfrm>
          <a:prstGeom prst="rect">
            <a:avLst/>
          </a:prstGeom>
          <a:noFill/>
          <a:ln/>
        </p:spPr>
        <p:txBody>
          <a:bodyPr wrap="square" lIns="0" tIns="0" rIns="0" bIns="0" rtlCol="0" anchor="t"/>
          <a:lstStyle/>
          <a:p>
            <a:pPr indent="0" marL="0">
              <a:buNone/>
            </a:pPr>
            <a:r>
              <a:rPr lang="en-US" sz="1250" b="1" dirty="0">
                <a:solidFill>
                  <a:srgbClr val="C7CAFF"/>
                </a:solidFill>
                <a:latin typeface="Courier New" pitchFamily="34" charset="0"/>
                <a:ea typeface="Courier New" pitchFamily="34" charset="-122"/>
                <a:cs typeface="Courier New" pitchFamily="34" charset="-120"/>
              </a:rPr>
              <a:t>pipeline.py</a:t>
            </a:r>
            <a:endParaRPr lang="en-US" sz="1250" dirty="0"/>
          </a:p>
        </p:txBody>
      </p:sp>
      <p:sp>
        <p:nvSpPr>
          <p:cNvPr id="27" name="text_355"/>
          <p:cNvSpPr txBox="1"/>
          <p:nvPr/>
        </p:nvSpPr>
        <p:spPr>
          <a:xfrm>
            <a:off x="5321808" y="2798064"/>
            <a:ext cx="2788920" cy="237744"/>
          </a:xfrm>
          <a:prstGeom prst="rect">
            <a:avLst/>
          </a:prstGeom>
          <a:noFill/>
          <a:ln/>
        </p:spPr>
        <p:txBody>
          <a:bodyPr wrap="square" lIns="0" tIns="0" rIns="0" bIns="0" rtlCol="0" anchor="t"/>
          <a:lstStyle/>
          <a:p>
            <a:pPr indent="0" marL="0">
              <a:buNone/>
            </a:pPr>
            <a:r>
              <a:rPr lang="en-US" sz="1100" dirty="0">
                <a:solidFill>
                  <a:schemeClr val="bg2"/>
                </a:solidFill>
              </a:rPr>
              <a:t>Runs the 5 steps for each upload</a:t>
            </a:r>
            <a:endParaRPr lang="en-US" sz="1100" dirty="0"/>
          </a:p>
        </p:txBody>
      </p:sp>
      <p:sp>
        <p:nvSpPr>
          <p:cNvPr id="28" name="be_file_356"/>
          <p:cNvSpPr/>
          <p:nvPr/>
        </p:nvSpPr>
        <p:spPr>
          <a:xfrm>
            <a:off x="8339328" y="2487168"/>
            <a:ext cx="3017520" cy="603504"/>
          </a:xfrm>
          <a:prstGeom prst="roundRect">
            <a:avLst>
              <a:gd name="adj" fmla="val 18182"/>
            </a:avLst>
          </a:prstGeom>
          <a:solidFill>
            <a:schemeClr val="tx2"/>
          </a:solidFill>
          <a:ln w="9525">
            <a:solidFill>
              <a:srgbClr val="2B3470"/>
            </a:solidFill>
            <a:prstDash val="solid"/>
          </a:ln>
        </p:spPr>
      </p:sp>
      <p:sp>
        <p:nvSpPr>
          <p:cNvPr id="29" name="text_357"/>
          <p:cNvSpPr txBox="1"/>
          <p:nvPr/>
        </p:nvSpPr>
        <p:spPr>
          <a:xfrm>
            <a:off x="8476488" y="2542032"/>
            <a:ext cx="2743200" cy="256032"/>
          </a:xfrm>
          <a:prstGeom prst="rect">
            <a:avLst/>
          </a:prstGeom>
          <a:noFill/>
          <a:ln/>
        </p:spPr>
        <p:txBody>
          <a:bodyPr wrap="square" lIns="0" tIns="0" rIns="0" bIns="0" rtlCol="0" anchor="t"/>
          <a:lstStyle/>
          <a:p>
            <a:pPr indent="0" marL="0">
              <a:buNone/>
            </a:pPr>
            <a:r>
              <a:rPr lang="en-US" sz="1250" b="1" dirty="0">
                <a:solidFill>
                  <a:srgbClr val="C7CAFF"/>
                </a:solidFill>
                <a:latin typeface="Courier New" pitchFamily="34" charset="0"/>
                <a:ea typeface="Courier New" pitchFamily="34" charset="-122"/>
                <a:cs typeface="Courier New" pitchFamily="34" charset="-120"/>
              </a:rPr>
              <a:t>extractor.py</a:t>
            </a:r>
            <a:endParaRPr lang="en-US" sz="1250" dirty="0"/>
          </a:p>
        </p:txBody>
      </p:sp>
      <p:sp>
        <p:nvSpPr>
          <p:cNvPr id="30" name="text_358"/>
          <p:cNvSpPr txBox="1"/>
          <p:nvPr/>
        </p:nvSpPr>
        <p:spPr>
          <a:xfrm>
            <a:off x="8476488" y="2798064"/>
            <a:ext cx="2788920" cy="237744"/>
          </a:xfrm>
          <a:prstGeom prst="rect">
            <a:avLst/>
          </a:prstGeom>
          <a:noFill/>
          <a:ln/>
        </p:spPr>
        <p:txBody>
          <a:bodyPr wrap="square" lIns="0" tIns="0" rIns="0" bIns="0" rtlCol="0" anchor="t"/>
          <a:lstStyle/>
          <a:p>
            <a:pPr indent="0" marL="0">
              <a:buNone/>
            </a:pPr>
            <a:r>
              <a:rPr lang="en-US" sz="1100" dirty="0">
                <a:solidFill>
                  <a:schemeClr val="bg2"/>
                </a:solidFill>
              </a:rPr>
              <a:t>Checks file; reads PDF/Word/Excel</a:t>
            </a:r>
            <a:endParaRPr lang="en-US" sz="1100" dirty="0"/>
          </a:p>
        </p:txBody>
      </p:sp>
      <p:sp>
        <p:nvSpPr>
          <p:cNvPr id="31" name="be_file_359"/>
          <p:cNvSpPr/>
          <p:nvPr/>
        </p:nvSpPr>
        <p:spPr>
          <a:xfrm>
            <a:off x="5184648" y="3200400"/>
            <a:ext cx="3017520" cy="603504"/>
          </a:xfrm>
          <a:prstGeom prst="roundRect">
            <a:avLst>
              <a:gd name="adj" fmla="val 18182"/>
            </a:avLst>
          </a:prstGeom>
          <a:solidFill>
            <a:schemeClr val="tx2"/>
          </a:solidFill>
          <a:ln w="9525">
            <a:solidFill>
              <a:srgbClr val="2B3470"/>
            </a:solidFill>
            <a:prstDash val="solid"/>
          </a:ln>
        </p:spPr>
      </p:sp>
      <p:sp>
        <p:nvSpPr>
          <p:cNvPr id="32" name="text_360"/>
          <p:cNvSpPr txBox="1"/>
          <p:nvPr/>
        </p:nvSpPr>
        <p:spPr>
          <a:xfrm>
            <a:off x="5321808" y="3255264"/>
            <a:ext cx="2743200" cy="256032"/>
          </a:xfrm>
          <a:prstGeom prst="rect">
            <a:avLst/>
          </a:prstGeom>
          <a:noFill/>
          <a:ln/>
        </p:spPr>
        <p:txBody>
          <a:bodyPr wrap="square" lIns="0" tIns="0" rIns="0" bIns="0" rtlCol="0" anchor="t"/>
          <a:lstStyle/>
          <a:p>
            <a:pPr indent="0" marL="0">
              <a:buNone/>
            </a:pPr>
            <a:r>
              <a:rPr lang="en-US" sz="1250" b="1" dirty="0">
                <a:solidFill>
                  <a:srgbClr val="C7CAFF"/>
                </a:solidFill>
                <a:latin typeface="Courier New" pitchFamily="34" charset="0"/>
                <a:ea typeface="Courier New" pitchFamily="34" charset="-122"/>
                <a:cs typeface="Courier New" pitchFamily="34" charset="-120"/>
              </a:rPr>
              <a:t>classifier.py</a:t>
            </a:r>
            <a:endParaRPr lang="en-US" sz="1250" dirty="0"/>
          </a:p>
        </p:txBody>
      </p:sp>
      <p:sp>
        <p:nvSpPr>
          <p:cNvPr id="33" name="text_361"/>
          <p:cNvSpPr txBox="1"/>
          <p:nvPr/>
        </p:nvSpPr>
        <p:spPr>
          <a:xfrm>
            <a:off x="5321808" y="3511296"/>
            <a:ext cx="2788920" cy="237744"/>
          </a:xfrm>
          <a:prstGeom prst="rect">
            <a:avLst/>
          </a:prstGeom>
          <a:noFill/>
          <a:ln/>
        </p:spPr>
        <p:txBody>
          <a:bodyPr wrap="square" lIns="0" tIns="0" rIns="0" bIns="0" rtlCol="0" anchor="t"/>
          <a:lstStyle/>
          <a:p>
            <a:pPr indent="0" marL="0">
              <a:buNone/>
            </a:pPr>
            <a:r>
              <a:rPr lang="en-US" sz="1100" dirty="0">
                <a:solidFill>
                  <a:schemeClr val="bg2"/>
                </a:solidFill>
              </a:rPr>
              <a:t>Detects document type</a:t>
            </a:r>
            <a:endParaRPr lang="en-US" sz="1100" dirty="0"/>
          </a:p>
        </p:txBody>
      </p:sp>
      <p:sp>
        <p:nvSpPr>
          <p:cNvPr id="34" name="be_file_362"/>
          <p:cNvSpPr/>
          <p:nvPr/>
        </p:nvSpPr>
        <p:spPr>
          <a:xfrm>
            <a:off x="8339328" y="3200400"/>
            <a:ext cx="3017520" cy="603504"/>
          </a:xfrm>
          <a:prstGeom prst="roundRect">
            <a:avLst>
              <a:gd name="adj" fmla="val 18182"/>
            </a:avLst>
          </a:prstGeom>
          <a:solidFill>
            <a:schemeClr val="tx2"/>
          </a:solidFill>
          <a:ln w="9525">
            <a:solidFill>
              <a:srgbClr val="2B3470"/>
            </a:solidFill>
            <a:prstDash val="solid"/>
          </a:ln>
        </p:spPr>
      </p:sp>
      <p:sp>
        <p:nvSpPr>
          <p:cNvPr id="35" name="text_363"/>
          <p:cNvSpPr txBox="1"/>
          <p:nvPr/>
        </p:nvSpPr>
        <p:spPr>
          <a:xfrm>
            <a:off x="8476488" y="3255264"/>
            <a:ext cx="2743200" cy="256032"/>
          </a:xfrm>
          <a:prstGeom prst="rect">
            <a:avLst/>
          </a:prstGeom>
          <a:noFill/>
          <a:ln/>
        </p:spPr>
        <p:txBody>
          <a:bodyPr wrap="square" lIns="0" tIns="0" rIns="0" bIns="0" rtlCol="0" anchor="t"/>
          <a:lstStyle/>
          <a:p>
            <a:pPr indent="0" marL="0">
              <a:buNone/>
            </a:pPr>
            <a:r>
              <a:rPr lang="en-US" sz="1250" b="1" dirty="0">
                <a:solidFill>
                  <a:srgbClr val="C7CAFF"/>
                </a:solidFill>
                <a:latin typeface="Courier New" pitchFamily="34" charset="0"/>
                <a:ea typeface="Courier New" pitchFamily="34" charset="-122"/>
                <a:cs typeface="Courier New" pitchFamily="34" charset="-120"/>
              </a:rPr>
              <a:t>parser.py</a:t>
            </a:r>
            <a:endParaRPr lang="en-US" sz="1250" dirty="0"/>
          </a:p>
        </p:txBody>
      </p:sp>
      <p:sp>
        <p:nvSpPr>
          <p:cNvPr id="36" name="text_364"/>
          <p:cNvSpPr txBox="1"/>
          <p:nvPr/>
        </p:nvSpPr>
        <p:spPr>
          <a:xfrm>
            <a:off x="8476488" y="3511296"/>
            <a:ext cx="2788920" cy="237744"/>
          </a:xfrm>
          <a:prstGeom prst="rect">
            <a:avLst/>
          </a:prstGeom>
          <a:noFill/>
          <a:ln/>
        </p:spPr>
        <p:txBody>
          <a:bodyPr wrap="square" lIns="0" tIns="0" rIns="0" bIns="0" rtlCol="0" anchor="t"/>
          <a:lstStyle/>
          <a:p>
            <a:pPr indent="0" marL="0">
              <a:buNone/>
            </a:pPr>
            <a:r>
              <a:rPr lang="en-US" sz="1100" dirty="0">
                <a:solidFill>
                  <a:schemeClr val="bg2"/>
                </a:solidFill>
              </a:rPr>
              <a:t>Regex: dates, numbers, names, ₹</a:t>
            </a:r>
            <a:endParaRPr lang="en-US" sz="1100" dirty="0"/>
          </a:p>
        </p:txBody>
      </p:sp>
      <p:sp>
        <p:nvSpPr>
          <p:cNvPr id="37" name="be_file_365"/>
          <p:cNvSpPr/>
          <p:nvPr/>
        </p:nvSpPr>
        <p:spPr>
          <a:xfrm>
            <a:off x="5184648" y="3913632"/>
            <a:ext cx="3017520" cy="603504"/>
          </a:xfrm>
          <a:prstGeom prst="roundRect">
            <a:avLst>
              <a:gd name="adj" fmla="val 18182"/>
            </a:avLst>
          </a:prstGeom>
          <a:solidFill>
            <a:schemeClr val="tx2"/>
          </a:solidFill>
          <a:ln w="9525">
            <a:solidFill>
              <a:srgbClr val="2B3470"/>
            </a:solidFill>
            <a:prstDash val="solid"/>
          </a:ln>
        </p:spPr>
      </p:sp>
      <p:sp>
        <p:nvSpPr>
          <p:cNvPr id="38" name="text_366"/>
          <p:cNvSpPr txBox="1"/>
          <p:nvPr/>
        </p:nvSpPr>
        <p:spPr>
          <a:xfrm>
            <a:off x="5321808" y="3968496"/>
            <a:ext cx="2743200" cy="256032"/>
          </a:xfrm>
          <a:prstGeom prst="rect">
            <a:avLst/>
          </a:prstGeom>
          <a:noFill/>
          <a:ln/>
        </p:spPr>
        <p:txBody>
          <a:bodyPr wrap="square" lIns="0" tIns="0" rIns="0" bIns="0" rtlCol="0" anchor="t"/>
          <a:lstStyle/>
          <a:p>
            <a:pPr indent="0" marL="0">
              <a:buNone/>
            </a:pPr>
            <a:r>
              <a:rPr lang="en-US" sz="1250" b="1" dirty="0">
                <a:solidFill>
                  <a:srgbClr val="C7CAFF"/>
                </a:solidFill>
                <a:latin typeface="Courier New" pitchFamily="34" charset="0"/>
                <a:ea typeface="Courier New" pitchFamily="34" charset="-122"/>
                <a:cs typeface="Courier New" pitchFamily="34" charset="-120"/>
              </a:rPr>
              <a:t>reminders.py</a:t>
            </a:r>
            <a:endParaRPr lang="en-US" sz="1250" dirty="0"/>
          </a:p>
        </p:txBody>
      </p:sp>
      <p:sp>
        <p:nvSpPr>
          <p:cNvPr id="39" name="text_367"/>
          <p:cNvSpPr txBox="1"/>
          <p:nvPr/>
        </p:nvSpPr>
        <p:spPr>
          <a:xfrm>
            <a:off x="5321808" y="4224528"/>
            <a:ext cx="2788920" cy="237744"/>
          </a:xfrm>
          <a:prstGeom prst="rect">
            <a:avLst/>
          </a:prstGeom>
          <a:noFill/>
          <a:ln/>
        </p:spPr>
        <p:txBody>
          <a:bodyPr wrap="square" lIns="0" tIns="0" rIns="0" bIns="0" rtlCol="0" anchor="t"/>
          <a:lstStyle/>
          <a:p>
            <a:pPr indent="0" marL="0">
              <a:buNone/>
            </a:pPr>
            <a:r>
              <a:rPr lang="en-US" sz="1100" dirty="0">
                <a:solidFill>
                  <a:schemeClr val="bg2"/>
                </a:solidFill>
              </a:rPr>
              <a:t>Active / Expiring / Critical rules</a:t>
            </a:r>
            <a:endParaRPr lang="en-US" sz="1100" dirty="0"/>
          </a:p>
        </p:txBody>
      </p:sp>
      <p:sp>
        <p:nvSpPr>
          <p:cNvPr id="40" name="be_file_368"/>
          <p:cNvSpPr/>
          <p:nvPr/>
        </p:nvSpPr>
        <p:spPr>
          <a:xfrm>
            <a:off x="8339328" y="3913632"/>
            <a:ext cx="3017520" cy="603504"/>
          </a:xfrm>
          <a:prstGeom prst="roundRect">
            <a:avLst>
              <a:gd name="adj" fmla="val 18182"/>
            </a:avLst>
          </a:prstGeom>
          <a:solidFill>
            <a:schemeClr val="tx2"/>
          </a:solidFill>
          <a:ln w="9525">
            <a:solidFill>
              <a:srgbClr val="2B3470"/>
            </a:solidFill>
            <a:prstDash val="solid"/>
          </a:ln>
        </p:spPr>
      </p:sp>
      <p:sp>
        <p:nvSpPr>
          <p:cNvPr id="41" name="text_369"/>
          <p:cNvSpPr txBox="1"/>
          <p:nvPr/>
        </p:nvSpPr>
        <p:spPr>
          <a:xfrm>
            <a:off x="8476488" y="3968496"/>
            <a:ext cx="2743200" cy="256032"/>
          </a:xfrm>
          <a:prstGeom prst="rect">
            <a:avLst/>
          </a:prstGeom>
          <a:noFill/>
          <a:ln/>
        </p:spPr>
        <p:txBody>
          <a:bodyPr wrap="square" lIns="0" tIns="0" rIns="0" bIns="0" rtlCol="0" anchor="t"/>
          <a:lstStyle/>
          <a:p>
            <a:pPr indent="0" marL="0">
              <a:buNone/>
            </a:pPr>
            <a:r>
              <a:rPr lang="en-US" sz="1250" b="1" dirty="0">
                <a:solidFill>
                  <a:srgbClr val="C7CAFF"/>
                </a:solidFill>
                <a:latin typeface="Courier New" pitchFamily="34" charset="0"/>
                <a:ea typeface="Courier New" pitchFamily="34" charset="-122"/>
                <a:cs typeface="Courier New" pitchFamily="34" charset="-120"/>
              </a:rPr>
              <a:t>health.py</a:t>
            </a:r>
            <a:endParaRPr lang="en-US" sz="1250" dirty="0"/>
          </a:p>
        </p:txBody>
      </p:sp>
      <p:sp>
        <p:nvSpPr>
          <p:cNvPr id="42" name="text_370"/>
          <p:cNvSpPr txBox="1"/>
          <p:nvPr/>
        </p:nvSpPr>
        <p:spPr>
          <a:xfrm>
            <a:off x="8476488" y="4224528"/>
            <a:ext cx="2788920" cy="237744"/>
          </a:xfrm>
          <a:prstGeom prst="rect">
            <a:avLst/>
          </a:prstGeom>
          <a:noFill/>
          <a:ln/>
        </p:spPr>
        <p:txBody>
          <a:bodyPr wrap="square" lIns="0" tIns="0" rIns="0" bIns="0" rtlCol="0" anchor="t"/>
          <a:lstStyle/>
          <a:p>
            <a:pPr indent="0" marL="0">
              <a:buNone/>
            </a:pPr>
            <a:r>
              <a:rPr lang="en-US" sz="1100" dirty="0">
                <a:solidFill>
                  <a:schemeClr val="bg2"/>
                </a:solidFill>
              </a:rPr>
              <a:t>Document health score</a:t>
            </a:r>
            <a:endParaRPr lang="en-US" sz="1100" dirty="0"/>
          </a:p>
        </p:txBody>
      </p:sp>
      <p:sp>
        <p:nvSpPr>
          <p:cNvPr id="43" name="be_file_371"/>
          <p:cNvSpPr/>
          <p:nvPr/>
        </p:nvSpPr>
        <p:spPr>
          <a:xfrm>
            <a:off x="5184648" y="4626864"/>
            <a:ext cx="3017520" cy="603504"/>
          </a:xfrm>
          <a:prstGeom prst="roundRect">
            <a:avLst>
              <a:gd name="adj" fmla="val 18182"/>
            </a:avLst>
          </a:prstGeom>
          <a:solidFill>
            <a:schemeClr val="tx2"/>
          </a:solidFill>
          <a:ln w="9525">
            <a:solidFill>
              <a:srgbClr val="2B3470"/>
            </a:solidFill>
            <a:prstDash val="solid"/>
          </a:ln>
        </p:spPr>
      </p:sp>
      <p:sp>
        <p:nvSpPr>
          <p:cNvPr id="44" name="text_372"/>
          <p:cNvSpPr txBox="1"/>
          <p:nvPr/>
        </p:nvSpPr>
        <p:spPr>
          <a:xfrm>
            <a:off x="5321808" y="4681728"/>
            <a:ext cx="2743200" cy="256032"/>
          </a:xfrm>
          <a:prstGeom prst="rect">
            <a:avLst/>
          </a:prstGeom>
          <a:noFill/>
          <a:ln/>
        </p:spPr>
        <p:txBody>
          <a:bodyPr wrap="square" lIns="0" tIns="0" rIns="0" bIns="0" rtlCol="0" anchor="t"/>
          <a:lstStyle/>
          <a:p>
            <a:pPr indent="0" marL="0">
              <a:buNone/>
            </a:pPr>
            <a:r>
              <a:rPr lang="en-US" sz="1250" b="1" dirty="0">
                <a:solidFill>
                  <a:srgbClr val="C7CAFF"/>
                </a:solidFill>
                <a:latin typeface="Courier New" pitchFamily="34" charset="0"/>
                <a:ea typeface="Courier New" pitchFamily="34" charset="-122"/>
                <a:cs typeface="Courier New" pitchFamily="34" charset="-120"/>
              </a:rPr>
              <a:t>database.py</a:t>
            </a:r>
            <a:endParaRPr lang="en-US" sz="1250" dirty="0"/>
          </a:p>
        </p:txBody>
      </p:sp>
      <p:sp>
        <p:nvSpPr>
          <p:cNvPr id="45" name="text_373"/>
          <p:cNvSpPr txBox="1"/>
          <p:nvPr/>
        </p:nvSpPr>
        <p:spPr>
          <a:xfrm>
            <a:off x="5321808" y="4937760"/>
            <a:ext cx="2788920" cy="237744"/>
          </a:xfrm>
          <a:prstGeom prst="rect">
            <a:avLst/>
          </a:prstGeom>
          <a:noFill/>
          <a:ln/>
        </p:spPr>
        <p:txBody>
          <a:bodyPr wrap="square" lIns="0" tIns="0" rIns="0" bIns="0" rtlCol="0" anchor="t"/>
          <a:lstStyle/>
          <a:p>
            <a:pPr indent="0" marL="0">
              <a:buNone/>
            </a:pPr>
            <a:r>
              <a:rPr lang="en-US" sz="1100" dirty="0">
                <a:solidFill>
                  <a:schemeClr val="bg2"/>
                </a:solidFill>
              </a:rPr>
              <a:t>SQLite tables and queries</a:t>
            </a:r>
            <a:endParaRPr lang="en-US" sz="1100" dirty="0"/>
          </a:p>
        </p:txBody>
      </p:sp>
      <p:sp>
        <p:nvSpPr>
          <p:cNvPr id="46" name="be_file_374"/>
          <p:cNvSpPr/>
          <p:nvPr/>
        </p:nvSpPr>
        <p:spPr>
          <a:xfrm>
            <a:off x="8339328" y="4626864"/>
            <a:ext cx="3017520" cy="603504"/>
          </a:xfrm>
          <a:prstGeom prst="roundRect">
            <a:avLst>
              <a:gd name="adj" fmla="val 18182"/>
            </a:avLst>
          </a:prstGeom>
          <a:solidFill>
            <a:schemeClr val="tx2"/>
          </a:solidFill>
          <a:ln w="9525">
            <a:solidFill>
              <a:srgbClr val="2B3470"/>
            </a:solidFill>
            <a:prstDash val="solid"/>
          </a:ln>
        </p:spPr>
      </p:sp>
      <p:sp>
        <p:nvSpPr>
          <p:cNvPr id="47" name="text_375"/>
          <p:cNvSpPr txBox="1"/>
          <p:nvPr/>
        </p:nvSpPr>
        <p:spPr>
          <a:xfrm>
            <a:off x="8476488" y="4681728"/>
            <a:ext cx="2743200" cy="256032"/>
          </a:xfrm>
          <a:prstGeom prst="rect">
            <a:avLst/>
          </a:prstGeom>
          <a:noFill/>
          <a:ln/>
        </p:spPr>
        <p:txBody>
          <a:bodyPr wrap="square" lIns="0" tIns="0" rIns="0" bIns="0" rtlCol="0" anchor="t"/>
          <a:lstStyle/>
          <a:p>
            <a:pPr indent="0" marL="0">
              <a:buNone/>
            </a:pPr>
            <a:r>
              <a:rPr lang="en-US" sz="1250" b="1" dirty="0">
                <a:solidFill>
                  <a:srgbClr val="C7CAFF"/>
                </a:solidFill>
                <a:latin typeface="Courier New" pitchFamily="34" charset="0"/>
                <a:ea typeface="Courier New" pitchFamily="34" charset="-122"/>
                <a:cs typeface="Courier New" pitchFamily="34" charset="-120"/>
              </a:rPr>
              <a:t>models.py</a:t>
            </a:r>
            <a:endParaRPr lang="en-US" sz="1250" dirty="0"/>
          </a:p>
        </p:txBody>
      </p:sp>
      <p:sp>
        <p:nvSpPr>
          <p:cNvPr id="48" name="text_376"/>
          <p:cNvSpPr txBox="1"/>
          <p:nvPr/>
        </p:nvSpPr>
        <p:spPr>
          <a:xfrm>
            <a:off x="8476488" y="4937760"/>
            <a:ext cx="2788920" cy="237744"/>
          </a:xfrm>
          <a:prstGeom prst="rect">
            <a:avLst/>
          </a:prstGeom>
          <a:noFill/>
          <a:ln/>
        </p:spPr>
        <p:txBody>
          <a:bodyPr wrap="square" lIns="0" tIns="0" rIns="0" bIns="0" rtlCol="0" anchor="t"/>
          <a:lstStyle/>
          <a:p>
            <a:pPr indent="0" marL="0">
              <a:buNone/>
            </a:pPr>
            <a:r>
              <a:rPr lang="en-US" sz="1100" dirty="0">
                <a:solidFill>
                  <a:schemeClr val="bg2"/>
                </a:solidFill>
              </a:rPr>
              <a:t>Document data class</a:t>
            </a:r>
            <a:endParaRPr lang="en-US" sz="1100" dirty="0"/>
          </a:p>
        </p:txBody>
      </p:sp>
      <p:sp>
        <p:nvSpPr>
          <p:cNvPr id="49" name="be_file_377"/>
          <p:cNvSpPr/>
          <p:nvPr/>
        </p:nvSpPr>
        <p:spPr>
          <a:xfrm>
            <a:off x="5184648" y="5340096"/>
            <a:ext cx="3017520" cy="603504"/>
          </a:xfrm>
          <a:prstGeom prst="roundRect">
            <a:avLst>
              <a:gd name="adj" fmla="val 18182"/>
            </a:avLst>
          </a:prstGeom>
          <a:solidFill>
            <a:schemeClr val="tx2"/>
          </a:solidFill>
          <a:ln w="9525">
            <a:solidFill>
              <a:srgbClr val="2B3470"/>
            </a:solidFill>
            <a:prstDash val="solid"/>
          </a:ln>
        </p:spPr>
      </p:sp>
      <p:sp>
        <p:nvSpPr>
          <p:cNvPr id="50" name="text_378"/>
          <p:cNvSpPr txBox="1"/>
          <p:nvPr/>
        </p:nvSpPr>
        <p:spPr>
          <a:xfrm>
            <a:off x="5321808" y="5394960"/>
            <a:ext cx="2743200" cy="256032"/>
          </a:xfrm>
          <a:prstGeom prst="rect">
            <a:avLst/>
          </a:prstGeom>
          <a:noFill/>
          <a:ln/>
        </p:spPr>
        <p:txBody>
          <a:bodyPr wrap="square" lIns="0" tIns="0" rIns="0" bIns="0" rtlCol="0" anchor="t"/>
          <a:lstStyle/>
          <a:p>
            <a:pPr indent="0" marL="0">
              <a:buNone/>
            </a:pPr>
            <a:r>
              <a:rPr lang="en-US" sz="1250" b="1" dirty="0">
                <a:solidFill>
                  <a:srgbClr val="C7CAFF"/>
                </a:solidFill>
                <a:latin typeface="Courier New" pitchFamily="34" charset="0"/>
                <a:ea typeface="Courier New" pitchFamily="34" charset="-122"/>
                <a:cs typeface="Courier New" pitchFamily="34" charset="-120"/>
              </a:rPr>
              <a:t>export.py</a:t>
            </a:r>
            <a:endParaRPr lang="en-US" sz="1250" dirty="0"/>
          </a:p>
        </p:txBody>
      </p:sp>
      <p:sp>
        <p:nvSpPr>
          <p:cNvPr id="51" name="text_379"/>
          <p:cNvSpPr txBox="1"/>
          <p:nvPr/>
        </p:nvSpPr>
        <p:spPr>
          <a:xfrm>
            <a:off x="5321808" y="5650992"/>
            <a:ext cx="2788920" cy="237744"/>
          </a:xfrm>
          <a:prstGeom prst="rect">
            <a:avLst/>
          </a:prstGeom>
          <a:noFill/>
          <a:ln/>
        </p:spPr>
        <p:txBody>
          <a:bodyPr wrap="square" lIns="0" tIns="0" rIns="0" bIns="0" rtlCol="0" anchor="t"/>
          <a:lstStyle/>
          <a:p>
            <a:pPr indent="0" marL="0">
              <a:buNone/>
            </a:pPr>
            <a:r>
              <a:rPr lang="en-US" sz="1100" dirty="0">
                <a:solidFill>
                  <a:schemeClr val="bg2"/>
                </a:solidFill>
              </a:rPr>
              <a:t>CSV and .ics calendar export</a:t>
            </a:r>
            <a:endParaRPr lang="en-US" sz="1100" dirty="0"/>
          </a:p>
        </p:txBody>
      </p:sp>
      <p:sp>
        <p:nvSpPr>
          <p:cNvPr id="52" name="be_file_380"/>
          <p:cNvSpPr/>
          <p:nvPr/>
        </p:nvSpPr>
        <p:spPr>
          <a:xfrm>
            <a:off x="8339328" y="5340096"/>
            <a:ext cx="3017520" cy="603504"/>
          </a:xfrm>
          <a:prstGeom prst="roundRect">
            <a:avLst>
              <a:gd name="adj" fmla="val 18182"/>
            </a:avLst>
          </a:prstGeom>
          <a:solidFill>
            <a:schemeClr val="tx2"/>
          </a:solidFill>
          <a:ln w="9525">
            <a:solidFill>
              <a:srgbClr val="2B3470"/>
            </a:solidFill>
            <a:prstDash val="solid"/>
          </a:ln>
        </p:spPr>
      </p:sp>
      <p:sp>
        <p:nvSpPr>
          <p:cNvPr id="53" name="text_381"/>
          <p:cNvSpPr txBox="1"/>
          <p:nvPr/>
        </p:nvSpPr>
        <p:spPr>
          <a:xfrm>
            <a:off x="8476488" y="5394960"/>
            <a:ext cx="2743200" cy="256032"/>
          </a:xfrm>
          <a:prstGeom prst="rect">
            <a:avLst/>
          </a:prstGeom>
          <a:noFill/>
          <a:ln/>
        </p:spPr>
        <p:txBody>
          <a:bodyPr wrap="square" lIns="0" tIns="0" rIns="0" bIns="0" rtlCol="0" anchor="t"/>
          <a:lstStyle/>
          <a:p>
            <a:pPr indent="0" marL="0">
              <a:buNone/>
            </a:pPr>
            <a:r>
              <a:rPr lang="en-US" sz="1250" b="1" dirty="0">
                <a:solidFill>
                  <a:srgbClr val="C7CAFF"/>
                </a:solidFill>
                <a:latin typeface="Courier New" pitchFamily="34" charset="0"/>
                <a:ea typeface="Courier New" pitchFamily="34" charset="-122"/>
                <a:cs typeface="Courier New" pitchFamily="34" charset="-120"/>
              </a:rPr>
              <a:t>preview.py</a:t>
            </a:r>
            <a:endParaRPr lang="en-US" sz="1250" dirty="0"/>
          </a:p>
        </p:txBody>
      </p:sp>
      <p:sp>
        <p:nvSpPr>
          <p:cNvPr id="54" name="text_382"/>
          <p:cNvSpPr txBox="1"/>
          <p:nvPr/>
        </p:nvSpPr>
        <p:spPr>
          <a:xfrm>
            <a:off x="8476488" y="5650992"/>
            <a:ext cx="2788920" cy="237744"/>
          </a:xfrm>
          <a:prstGeom prst="rect">
            <a:avLst/>
          </a:prstGeom>
          <a:noFill/>
          <a:ln/>
        </p:spPr>
        <p:txBody>
          <a:bodyPr wrap="square" lIns="0" tIns="0" rIns="0" bIns="0" rtlCol="0" anchor="t"/>
          <a:lstStyle/>
          <a:p>
            <a:pPr indent="0" marL="0">
              <a:buNone/>
            </a:pPr>
            <a:r>
              <a:rPr lang="en-US" sz="1100" dirty="0">
                <a:solidFill>
                  <a:schemeClr val="bg2"/>
                </a:solidFill>
              </a:rPr>
              <a:t>Thumbnails, Aadhaar masking</a:t>
            </a:r>
            <a:endParaRPr lang="en-US" sz="1100" dirty="0"/>
          </a:p>
        </p:txBody>
      </p:sp>
      <p:sp>
        <p:nvSpPr>
          <p:cNvPr id="55" name="text_383"/>
          <p:cNvSpPr txBox="1"/>
          <p:nvPr/>
        </p:nvSpPr>
        <p:spPr>
          <a:xfrm>
            <a:off x="548640" y="6089904"/>
            <a:ext cx="11064240" cy="219456"/>
          </a:xfrm>
          <a:prstGeom prst="rect">
            <a:avLst/>
          </a:prstGeom>
          <a:noFill/>
          <a:ln/>
        </p:spPr>
        <p:txBody>
          <a:bodyPr wrap="square" lIns="0" tIns="0" rIns="0" bIns="0" rtlCol="0" anchor="t"/>
          <a:lstStyle/>
          <a:p>
            <a:pPr indent="0" marL="0">
              <a:buNone/>
            </a:pPr>
            <a:r>
              <a:rPr lang="en-US" sz="1050" i="1" dirty="0">
                <a:solidFill>
                  <a:schemeClr val="bg2"/>
                </a:solidFill>
              </a:rPr>
              <a:t>Also: tests/test_lifeadmin.py (28 tests)  ·  scripts/smoke_ui.py  ·  scripts/make_samples.py</a:t>
            </a:r>
            <a:endParaRPr lang="en-US" sz="105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THE WEBSITE</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The website in action</a:t>
            </a:r>
            <a:endParaRPr lang="en-US" sz="3200" dirty="0"/>
          </a:p>
        </p:txBody>
      </p:sp>
      <p:sp>
        <p:nvSpPr>
          <p:cNvPr id="4" name="frame_384"/>
          <p:cNvSpPr/>
          <p:nvPr/>
        </p:nvSpPr>
        <p:spPr>
          <a:xfrm>
            <a:off x="484632" y="1508760"/>
            <a:ext cx="6894576" cy="4357116"/>
          </a:xfrm>
          <a:prstGeom prst="roundRect">
            <a:avLst>
              <a:gd name="adj" fmla="val 2099"/>
            </a:avLst>
          </a:prstGeom>
          <a:solidFill>
            <a:schemeClr val="tx2"/>
          </a:solidFill>
          <a:ln w="12700">
            <a:solidFill>
              <a:srgbClr val="3B44A0"/>
            </a:solidFill>
            <a:prstDash val="solid"/>
          </a:ln>
          <a:effectLst>
            <a:outerShdw sx="100000" sy="100000" kx="0" ky="0" algn="bl" rotWithShape="0" blurRad="127000" dist="38100" dir="5400000">
              <a:srgbClr val="000000">
                <a:alpha val="35000"/>
              </a:srgbClr>
            </a:outerShdw>
          </a:effectLst>
        </p:spPr>
      </p:sp>
      <p:pic>
        <p:nvPicPr>
          <p:cNvPr id="5" name="screenshot_385" descr="/tmp/claude-0/-home-claude/584731ee-e493-5c78-a637-0b254e057472/scratchpad/deck/img/dashboard.png">    </p:cNvPr>
          <p:cNvPicPr>
            <a:picLocks noChangeAspect="1"/>
          </p:cNvPicPr>
          <p:nvPr/>
        </p:nvPicPr>
        <p:blipFill>
          <a:blip r:embed="rId1"/>
          <a:stretch>
            <a:fillRect/>
          </a:stretch>
        </p:blipFill>
        <p:spPr>
          <a:xfrm>
            <a:off x="548640" y="1572768"/>
            <a:ext cx="6766560" cy="4229100"/>
          </a:xfrm>
          <a:prstGeom prst="rect">
            <a:avLst/>
          </a:prstGeom>
        </p:spPr>
      </p:pic>
      <p:sp>
        <p:nvSpPr>
          <p:cNvPr id="6" name="text_386"/>
          <p:cNvSpPr txBox="1"/>
          <p:nvPr/>
        </p:nvSpPr>
        <p:spPr>
          <a:xfrm>
            <a:off x="548640" y="5925312"/>
            <a:ext cx="6766560" cy="274320"/>
          </a:xfrm>
          <a:prstGeom prst="rect">
            <a:avLst/>
          </a:prstGeom>
          <a:noFill/>
          <a:ln/>
        </p:spPr>
        <p:txBody>
          <a:bodyPr wrap="square" lIns="0" tIns="0" rIns="0" bIns="0" rtlCol="0" anchor="t"/>
          <a:lstStyle/>
          <a:p>
            <a:pPr indent="0" marL="0">
              <a:buNone/>
            </a:pPr>
            <a:r>
              <a:rPr lang="en-US" sz="1250" dirty="0">
                <a:solidFill>
                  <a:schemeClr val="bg2"/>
                </a:solidFill>
              </a:rPr>
              <a:t>Dashboard: KPI cards, health donut, upcoming deadlines</a:t>
            </a:r>
            <a:endParaRPr lang="en-US" sz="1250" dirty="0"/>
          </a:p>
        </p:txBody>
      </p:sp>
      <p:sp>
        <p:nvSpPr>
          <p:cNvPr id="7" name="frame_387"/>
          <p:cNvSpPr/>
          <p:nvPr/>
        </p:nvSpPr>
        <p:spPr>
          <a:xfrm>
            <a:off x="7616952" y="1508760"/>
            <a:ext cx="4059936" cy="1956816"/>
          </a:xfrm>
          <a:prstGeom prst="roundRect">
            <a:avLst>
              <a:gd name="adj" fmla="val 4673"/>
            </a:avLst>
          </a:prstGeom>
          <a:solidFill>
            <a:schemeClr val="tx2"/>
          </a:solidFill>
          <a:ln w="12700">
            <a:solidFill>
              <a:srgbClr val="3B44A0"/>
            </a:solidFill>
            <a:prstDash val="solid"/>
          </a:ln>
          <a:effectLst>
            <a:outerShdw sx="100000" sy="100000" kx="0" ky="0" algn="bl" rotWithShape="0" blurRad="127000" dist="38100" dir="5400000">
              <a:srgbClr val="000000">
                <a:alpha val="35000"/>
              </a:srgbClr>
            </a:outerShdw>
          </a:effectLst>
        </p:spPr>
      </p:sp>
      <p:pic>
        <p:nvPicPr>
          <p:cNvPr id="8" name="upload_crop" descr="/tmp/claude-0/-home-claude/584731ee-e493-5c78-a637-0b254e057472/scratchpad/deck/img/upload.png">    </p:cNvPr>
          <p:cNvPicPr>
            <a:picLocks noChangeAspect="1"/>
          </p:cNvPicPr>
          <p:nvPr/>
        </p:nvPicPr>
        <p:blipFill>
          <a:blip r:embed="rId2"/>
          <a:srcRect l="20250" r="26000" t="12400" b="47600"/>
          <a:stretch/>
        </p:blipFill>
        <p:spPr>
          <a:xfrm>
            <a:off x="7680960" y="1572768"/>
            <a:ext cx="3931920" cy="1828800"/>
          </a:xfrm>
          <a:prstGeom prst="rect">
            <a:avLst/>
          </a:prstGeom>
        </p:spPr>
      </p:pic>
      <p:sp>
        <p:nvSpPr>
          <p:cNvPr id="9" name="frame_388"/>
          <p:cNvSpPr/>
          <p:nvPr/>
        </p:nvSpPr>
        <p:spPr>
          <a:xfrm>
            <a:off x="7616952" y="3886200"/>
            <a:ext cx="4059936" cy="1956816"/>
          </a:xfrm>
          <a:prstGeom prst="roundRect">
            <a:avLst>
              <a:gd name="adj" fmla="val 4673"/>
            </a:avLst>
          </a:prstGeom>
          <a:solidFill>
            <a:schemeClr val="tx2"/>
          </a:solidFill>
          <a:ln w="12700">
            <a:solidFill>
              <a:srgbClr val="3B44A0"/>
            </a:solidFill>
            <a:prstDash val="solid"/>
          </a:ln>
          <a:effectLst>
            <a:outerShdw sx="100000" sy="100000" kx="0" ky="0" algn="bl" rotWithShape="0" blurRad="127000" dist="38100" dir="5400000">
              <a:srgbClr val="000000">
                <a:alpha val="35000"/>
              </a:srgbClr>
            </a:outerShdw>
          </a:effectLst>
        </p:spPr>
      </p:sp>
      <p:pic>
        <p:nvPicPr>
          <p:cNvPr id="10" name="rem_crop" descr="/tmp/claude-0/-home-claude/584731ee-e493-5c78-a637-0b254e057472/scratchpad/deck/img/reminders.png">    </p:cNvPr>
          <p:cNvPicPr>
            <a:picLocks noChangeAspect="1"/>
          </p:cNvPicPr>
          <p:nvPr/>
        </p:nvPicPr>
        <p:blipFill>
          <a:blip r:embed="rId3"/>
          <a:srcRect l="18750" r="27500" t="12400" b="47600"/>
          <a:stretch/>
        </p:blipFill>
        <p:spPr>
          <a:xfrm>
            <a:off x="7680960" y="3950208"/>
            <a:ext cx="3931920" cy="1828800"/>
          </a:xfrm>
          <a:prstGeom prst="rect">
            <a:avLst/>
          </a:prstGeom>
        </p:spPr>
      </p:pic>
      <p:sp>
        <p:nvSpPr>
          <p:cNvPr id="11" name="text_389"/>
          <p:cNvSpPr txBox="1"/>
          <p:nvPr/>
        </p:nvSpPr>
        <p:spPr>
          <a:xfrm>
            <a:off x="7680960" y="3493008"/>
            <a:ext cx="3931920" cy="256032"/>
          </a:xfrm>
          <a:prstGeom prst="rect">
            <a:avLst/>
          </a:prstGeom>
          <a:noFill/>
          <a:ln/>
        </p:spPr>
        <p:txBody>
          <a:bodyPr wrap="square" lIns="0" tIns="0" rIns="0" bIns="0" rtlCol="0" anchor="t"/>
          <a:lstStyle/>
          <a:p>
            <a:pPr indent="0" marL="0">
              <a:buNone/>
            </a:pPr>
            <a:r>
              <a:rPr lang="en-US" sz="1150" dirty="0">
                <a:solidFill>
                  <a:schemeClr val="bg2"/>
                </a:solidFill>
              </a:rPr>
              <a:t>Upload: drag &amp; drop, auto-filled review form</a:t>
            </a:r>
            <a:endParaRPr lang="en-US" sz="1150" dirty="0"/>
          </a:p>
        </p:txBody>
      </p:sp>
      <p:sp>
        <p:nvSpPr>
          <p:cNvPr id="12" name="text_390"/>
          <p:cNvSpPr txBox="1"/>
          <p:nvPr/>
        </p:nvSpPr>
        <p:spPr>
          <a:xfrm>
            <a:off x="7680960" y="5870448"/>
            <a:ext cx="3931920" cy="256032"/>
          </a:xfrm>
          <a:prstGeom prst="rect">
            <a:avLst/>
          </a:prstGeom>
          <a:noFill/>
          <a:ln/>
        </p:spPr>
        <p:txBody>
          <a:bodyPr wrap="square" lIns="0" tIns="0" rIns="0" bIns="0" rtlCol="0" anchor="t"/>
          <a:lstStyle/>
          <a:p>
            <a:pPr indent="0" marL="0">
              <a:buNone/>
            </a:pPr>
            <a:r>
              <a:rPr lang="en-US" sz="1150" dirty="0">
                <a:solidFill>
                  <a:schemeClr val="bg2"/>
                </a:solidFill>
              </a:rPr>
              <a:t>Reminders: tabs, deadline calendar, export</a:t>
            </a:r>
            <a:endParaRPr lang="en-US" sz="115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WEBSITE ROADMAP</a:t>
            </a:r>
            <a:endParaRPr lang="en-US" sz="1200" dirty="0"/>
          </a:p>
        </p:txBody>
      </p:sp>
      <p:sp>
        <p:nvSpPr>
          <p:cNvPr id="3" name="Text 0"/>
          <p:cNvSpPr/>
          <p:nvPr>
            <p:ph idx="101" type="title" hasCustomPrompt="1"/>
          </p:nvPr>
        </p:nvSpPr>
        <p:spPr>
          <a:xfrm>
            <a:off x="548640" y="603504"/>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Done, today, and what's next</a:t>
            </a:r>
            <a:endParaRPr lang="en-US" sz="3200" dirty="0"/>
          </a:p>
        </p:txBody>
      </p:sp>
      <p:sp>
        <p:nvSpPr>
          <p:cNvPr id="4" name="track_done"/>
          <p:cNvSpPr/>
          <p:nvPr/>
        </p:nvSpPr>
        <p:spPr>
          <a:xfrm>
            <a:off x="1600200" y="2240280"/>
            <a:ext cx="4480560" cy="0"/>
          </a:xfrm>
          <a:prstGeom prst="line">
            <a:avLst/>
          </a:prstGeom>
          <a:noFill/>
          <a:ln w="38100">
            <a:solidFill>
              <a:srgbClr val="22C55E"/>
            </a:solidFill>
            <a:prstDash val="solid"/>
          </a:ln>
        </p:spPr>
      </p:sp>
      <p:sp>
        <p:nvSpPr>
          <p:cNvPr id="5" name="track_next"/>
          <p:cNvSpPr/>
          <p:nvPr/>
        </p:nvSpPr>
        <p:spPr>
          <a:xfrm>
            <a:off x="6080760" y="2240280"/>
            <a:ext cx="4480560" cy="0"/>
          </a:xfrm>
          <a:prstGeom prst="line">
            <a:avLst/>
          </a:prstGeom>
          <a:noFill/>
          <a:ln w="31750">
            <a:solidFill>
              <a:srgbClr val="5B5EF4"/>
            </a:solidFill>
            <a:prstDash val="dash"/>
          </a:ln>
        </p:spPr>
      </p:sp>
      <p:sp>
        <p:nvSpPr>
          <p:cNvPr id="6" name="text_391"/>
          <p:cNvSpPr txBox="1"/>
          <p:nvPr/>
        </p:nvSpPr>
        <p:spPr>
          <a:xfrm>
            <a:off x="594360" y="1463040"/>
            <a:ext cx="2011680" cy="274320"/>
          </a:xfrm>
          <a:prstGeom prst="rect">
            <a:avLst/>
          </a:prstGeom>
          <a:noFill/>
          <a:ln/>
        </p:spPr>
        <p:txBody>
          <a:bodyPr wrap="square" lIns="0" tIns="0" rIns="0" bIns="0" rtlCol="0" anchor="t"/>
          <a:lstStyle/>
          <a:p>
            <a:pPr algn="ctr" indent="0" marL="0">
              <a:buNone/>
            </a:pPr>
            <a:r>
              <a:rPr lang="en-US" sz="1100" b="1" spc="100" kern="0" dirty="0">
                <a:solidFill>
                  <a:schemeClr val="accent3"/>
                </a:solidFill>
              </a:rPr>
              <a:t>DONE · 8 OCT</a:t>
            </a:r>
            <a:endParaRPr lang="en-US" sz="1100" dirty="0"/>
          </a:p>
        </p:txBody>
      </p:sp>
      <p:sp>
        <p:nvSpPr>
          <p:cNvPr id="7" name="dot_392"/>
          <p:cNvSpPr/>
          <p:nvPr/>
        </p:nvSpPr>
        <p:spPr>
          <a:xfrm>
            <a:off x="1399032" y="2039112"/>
            <a:ext cx="402336" cy="402336"/>
          </a:xfrm>
          <a:prstGeom prst="ellipse">
            <a:avLst/>
          </a:prstGeom>
          <a:solidFill>
            <a:schemeClr val="accent3"/>
          </a:solidFill>
          <a:ln w="31750">
            <a:solidFill>
              <a:schemeClr val="accent3"/>
            </a:solidFill>
            <a:prstDash val="solid"/>
          </a:ln>
        </p:spPr>
      </p:sp>
      <p:pic>
        <p:nvPicPr>
          <p:cNvPr id="8" name="tick_393" descr="/tmp/claude-0/-home-claude/584731ee-e493-5c78-a637-0b254e057472/scratchpad/deck/img/i_check.png">    </p:cNvPr>
          <p:cNvPicPr>
            <a:picLocks noChangeAspect="1"/>
          </p:cNvPicPr>
          <p:nvPr/>
        </p:nvPicPr>
        <p:blipFill>
          <a:blip r:embed="rId1"/>
          <a:stretch>
            <a:fillRect/>
          </a:stretch>
        </p:blipFill>
        <p:spPr>
          <a:xfrm>
            <a:off x="1481328" y="2121408"/>
            <a:ext cx="237744" cy="237744"/>
          </a:xfrm>
          <a:prstGeom prst="rect">
            <a:avLst/>
          </a:prstGeom>
        </p:spPr>
      </p:pic>
      <p:sp>
        <p:nvSpPr>
          <p:cNvPr id="9" name="phase_card_394"/>
          <p:cNvSpPr/>
          <p:nvPr/>
        </p:nvSpPr>
        <p:spPr>
          <a:xfrm>
            <a:off x="548640" y="2743200"/>
            <a:ext cx="2103120" cy="2011680"/>
          </a:xfrm>
          <a:prstGeom prst="roundRect">
            <a:avLst>
              <a:gd name="adj" fmla="val 5455"/>
            </a:avLst>
          </a:prstGeom>
          <a:solidFill>
            <a:schemeClr val="tx2"/>
          </a:solidFill>
          <a:ln w="9525">
            <a:solidFill>
              <a:srgbClr val="2B3470"/>
            </a:solidFill>
            <a:prstDash val="solid"/>
          </a:ln>
        </p:spPr>
      </p:sp>
      <p:sp>
        <p:nvSpPr>
          <p:cNvPr id="10" name="text_395"/>
          <p:cNvSpPr txBox="1"/>
          <p:nvPr/>
        </p:nvSpPr>
        <p:spPr>
          <a:xfrm>
            <a:off x="704088" y="2907792"/>
            <a:ext cx="1828800" cy="365760"/>
          </a:xfrm>
          <a:prstGeom prst="rect">
            <a:avLst/>
          </a:prstGeom>
          <a:noFill/>
          <a:ln/>
        </p:spPr>
        <p:txBody>
          <a:bodyPr wrap="square" lIns="0" tIns="0" rIns="0" bIns="0" rtlCol="0" anchor="t"/>
          <a:lstStyle/>
          <a:p>
            <a:pPr indent="0" marL="0">
              <a:buNone/>
            </a:pPr>
            <a:r>
              <a:rPr lang="en-US" sz="1700" b="1" dirty="0">
                <a:solidFill>
                  <a:schemeClr val="bg1"/>
                </a:solidFill>
              </a:rPr>
              <a:t>Core engine</a:t>
            </a:r>
            <a:endParaRPr lang="en-US" sz="1700" dirty="0"/>
          </a:p>
        </p:txBody>
      </p:sp>
      <p:sp>
        <p:nvSpPr>
          <p:cNvPr id="11" name="text_396"/>
          <p:cNvSpPr txBox="1"/>
          <p:nvPr/>
        </p:nvSpPr>
        <p:spPr>
          <a:xfrm>
            <a:off x="704088" y="3364992"/>
            <a:ext cx="1828800" cy="12801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C9CDEB"/>
                </a:solidFill>
              </a:rPr>
              <a:t>Extraction + classifier</a:t>
            </a:r>
            <a:endParaRPr lang="en-US" sz="1300" dirty="0"/>
          </a:p>
          <a:p>
            <a:pPr marL="152400" indent="-152400">
              <a:spcAft>
                <a:spcPts val="600"/>
              </a:spcAft>
              <a:buSzPct val="100000"/>
              <a:buChar char="•"/>
            </a:pPr>
            <a:r>
              <a:rPr lang="en-US" sz="1300" dirty="0">
                <a:solidFill>
                  <a:srgbClr val="C9CDEB"/>
                </a:solidFill>
              </a:rPr>
              <a:t>SQLite database</a:t>
            </a:r>
            <a:endParaRPr lang="en-US" sz="1300" dirty="0"/>
          </a:p>
          <a:p>
            <a:pPr marL="152400" indent="-152400">
              <a:spcAft>
                <a:spcPts val="600"/>
              </a:spcAft>
              <a:buSzPct val="100000"/>
              <a:buChar char="•"/>
            </a:pPr>
            <a:r>
              <a:rPr lang="en-US" sz="1300" dirty="0">
                <a:solidFill>
                  <a:srgbClr val="C9CDEB"/>
                </a:solidFill>
              </a:rPr>
              <a:t>21 tests</a:t>
            </a:r>
            <a:endParaRPr lang="en-US" sz="1300" dirty="0"/>
          </a:p>
        </p:txBody>
      </p:sp>
      <p:sp>
        <p:nvSpPr>
          <p:cNvPr id="12" name="text_397"/>
          <p:cNvSpPr txBox="1"/>
          <p:nvPr/>
        </p:nvSpPr>
        <p:spPr>
          <a:xfrm>
            <a:off x="2834640" y="1463040"/>
            <a:ext cx="2011680" cy="274320"/>
          </a:xfrm>
          <a:prstGeom prst="rect">
            <a:avLst/>
          </a:prstGeom>
          <a:noFill/>
          <a:ln/>
        </p:spPr>
        <p:txBody>
          <a:bodyPr wrap="square" lIns="0" tIns="0" rIns="0" bIns="0" rtlCol="0" anchor="t"/>
          <a:lstStyle/>
          <a:p>
            <a:pPr algn="ctr" indent="0" marL="0">
              <a:buNone/>
            </a:pPr>
            <a:r>
              <a:rPr lang="en-US" sz="1100" b="1" spc="100" kern="0" dirty="0">
                <a:solidFill>
                  <a:schemeClr val="accent3"/>
                </a:solidFill>
              </a:rPr>
              <a:t>DONE · 12 OCT</a:t>
            </a:r>
            <a:endParaRPr lang="en-US" sz="1100" dirty="0"/>
          </a:p>
        </p:txBody>
      </p:sp>
      <p:sp>
        <p:nvSpPr>
          <p:cNvPr id="13" name="dot_398"/>
          <p:cNvSpPr/>
          <p:nvPr/>
        </p:nvSpPr>
        <p:spPr>
          <a:xfrm>
            <a:off x="3639312" y="2039112"/>
            <a:ext cx="402336" cy="402336"/>
          </a:xfrm>
          <a:prstGeom prst="ellipse">
            <a:avLst/>
          </a:prstGeom>
          <a:solidFill>
            <a:schemeClr val="accent3"/>
          </a:solidFill>
          <a:ln w="31750">
            <a:solidFill>
              <a:schemeClr val="accent3"/>
            </a:solidFill>
            <a:prstDash val="solid"/>
          </a:ln>
        </p:spPr>
      </p:sp>
      <p:pic>
        <p:nvPicPr>
          <p:cNvPr id="14" name="tick_399" descr="/tmp/claude-0/-home-claude/584731ee-e493-5c78-a637-0b254e057472/scratchpad/deck/img/i_check.png">    </p:cNvPr>
          <p:cNvPicPr>
            <a:picLocks noChangeAspect="1"/>
          </p:cNvPicPr>
          <p:nvPr/>
        </p:nvPicPr>
        <p:blipFill>
          <a:blip r:embed="rId2"/>
          <a:stretch>
            <a:fillRect/>
          </a:stretch>
        </p:blipFill>
        <p:spPr>
          <a:xfrm>
            <a:off x="3721608" y="2121408"/>
            <a:ext cx="237744" cy="237744"/>
          </a:xfrm>
          <a:prstGeom prst="rect">
            <a:avLst/>
          </a:prstGeom>
        </p:spPr>
      </p:pic>
      <p:sp>
        <p:nvSpPr>
          <p:cNvPr id="15" name="phase_card_400"/>
          <p:cNvSpPr/>
          <p:nvPr/>
        </p:nvSpPr>
        <p:spPr>
          <a:xfrm>
            <a:off x="2788920" y="2743200"/>
            <a:ext cx="2103120" cy="2011680"/>
          </a:xfrm>
          <a:prstGeom prst="roundRect">
            <a:avLst>
              <a:gd name="adj" fmla="val 5455"/>
            </a:avLst>
          </a:prstGeom>
          <a:solidFill>
            <a:schemeClr val="tx2"/>
          </a:solidFill>
          <a:ln w="9525">
            <a:solidFill>
              <a:srgbClr val="2B3470"/>
            </a:solidFill>
            <a:prstDash val="solid"/>
          </a:ln>
        </p:spPr>
      </p:sp>
      <p:sp>
        <p:nvSpPr>
          <p:cNvPr id="16" name="text_401"/>
          <p:cNvSpPr txBox="1"/>
          <p:nvPr/>
        </p:nvSpPr>
        <p:spPr>
          <a:xfrm>
            <a:off x="2944368" y="2907792"/>
            <a:ext cx="1828800" cy="365760"/>
          </a:xfrm>
          <a:prstGeom prst="rect">
            <a:avLst/>
          </a:prstGeom>
          <a:noFill/>
          <a:ln/>
        </p:spPr>
        <p:txBody>
          <a:bodyPr wrap="square" lIns="0" tIns="0" rIns="0" bIns="0" rtlCol="0" anchor="t"/>
          <a:lstStyle/>
          <a:p>
            <a:pPr indent="0" marL="0">
              <a:buNone/>
            </a:pPr>
            <a:r>
              <a:rPr lang="en-US" sz="1700" b="1" dirty="0">
                <a:solidFill>
                  <a:schemeClr val="bg1"/>
                </a:solidFill>
              </a:rPr>
              <a:t>Full website</a:t>
            </a:r>
            <a:endParaRPr lang="en-US" sz="1700" dirty="0"/>
          </a:p>
        </p:txBody>
      </p:sp>
      <p:sp>
        <p:nvSpPr>
          <p:cNvPr id="17" name="text_402"/>
          <p:cNvSpPr txBox="1"/>
          <p:nvPr/>
        </p:nvSpPr>
        <p:spPr>
          <a:xfrm>
            <a:off x="2944368" y="3364992"/>
            <a:ext cx="1828800" cy="12801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C9CDEB"/>
                </a:solidFill>
              </a:rPr>
              <a:t>4 screens</a:t>
            </a:r>
            <a:endParaRPr lang="en-US" sz="1300" dirty="0"/>
          </a:p>
          <a:p>
            <a:pPr marL="152400" indent="-152400">
              <a:spcAft>
                <a:spcPts val="600"/>
              </a:spcAft>
              <a:buSzPct val="100000"/>
              <a:buChar char="•"/>
            </a:pPr>
            <a:r>
              <a:rPr lang="en-US" sz="1300" dirty="0">
                <a:solidFill>
                  <a:srgbClr val="C9CDEB"/>
                </a:solidFill>
              </a:rPr>
              <a:t>Word &amp; Excel upload</a:t>
            </a:r>
            <a:endParaRPr lang="en-US" sz="1300" dirty="0"/>
          </a:p>
          <a:p>
            <a:pPr marL="152400" indent="-152400">
              <a:spcAft>
                <a:spcPts val="600"/>
              </a:spcAft>
              <a:buSzPct val="100000"/>
              <a:buChar char="•"/>
            </a:pPr>
            <a:r>
              <a:rPr lang="en-US" sz="1300" dirty="0">
                <a:solidFill>
                  <a:srgbClr val="C9CDEB"/>
                </a:solidFill>
              </a:rPr>
              <a:t>28 tests</a:t>
            </a:r>
            <a:endParaRPr lang="en-US" sz="1300" dirty="0"/>
          </a:p>
        </p:txBody>
      </p:sp>
      <p:sp>
        <p:nvSpPr>
          <p:cNvPr id="18" name="text_403"/>
          <p:cNvSpPr txBox="1"/>
          <p:nvPr/>
        </p:nvSpPr>
        <p:spPr>
          <a:xfrm>
            <a:off x="5074920" y="1463040"/>
            <a:ext cx="2011680" cy="274320"/>
          </a:xfrm>
          <a:prstGeom prst="rect">
            <a:avLst/>
          </a:prstGeom>
          <a:noFill/>
          <a:ln/>
        </p:spPr>
        <p:txBody>
          <a:bodyPr wrap="square" lIns="0" tIns="0" rIns="0" bIns="0" rtlCol="0" anchor="t"/>
          <a:lstStyle/>
          <a:p>
            <a:pPr algn="ctr" indent="0" marL="0">
              <a:buNone/>
            </a:pPr>
            <a:r>
              <a:rPr lang="en-US" sz="1100" b="1" spc="100" kern="0" dirty="0">
                <a:solidFill>
                  <a:schemeClr val="accent2"/>
                </a:solidFill>
              </a:rPr>
              <a:t>TODAY · 15 OCT</a:t>
            </a:r>
            <a:endParaRPr lang="en-US" sz="1100" dirty="0"/>
          </a:p>
        </p:txBody>
      </p:sp>
      <p:sp>
        <p:nvSpPr>
          <p:cNvPr id="19" name="today_glow"/>
          <p:cNvSpPr/>
          <p:nvPr/>
        </p:nvSpPr>
        <p:spPr>
          <a:xfrm>
            <a:off x="5751576" y="1911096"/>
            <a:ext cx="658368" cy="658368"/>
          </a:xfrm>
          <a:prstGeom prst="ellipse">
            <a:avLst/>
          </a:prstGeom>
          <a:solidFill>
            <a:schemeClr val="accent2">
              <a:alpha val="30000"/>
            </a:schemeClr>
          </a:solidFill>
          <a:ln/>
        </p:spPr>
      </p:sp>
      <p:sp>
        <p:nvSpPr>
          <p:cNvPr id="20" name="dot_404"/>
          <p:cNvSpPr/>
          <p:nvPr/>
        </p:nvSpPr>
        <p:spPr>
          <a:xfrm>
            <a:off x="5879592" y="2039112"/>
            <a:ext cx="402336" cy="402336"/>
          </a:xfrm>
          <a:prstGeom prst="ellipse">
            <a:avLst/>
          </a:prstGeom>
          <a:solidFill>
            <a:schemeClr val="accent2"/>
          </a:solidFill>
          <a:ln w="31750">
            <a:solidFill>
              <a:schemeClr val="accent2"/>
            </a:solidFill>
            <a:prstDash val="solid"/>
          </a:ln>
        </p:spPr>
      </p:sp>
      <p:sp>
        <p:nvSpPr>
          <p:cNvPr id="21" name="phase_card_405"/>
          <p:cNvSpPr/>
          <p:nvPr/>
        </p:nvSpPr>
        <p:spPr>
          <a:xfrm>
            <a:off x="5029200" y="2743200"/>
            <a:ext cx="2103120" cy="2011680"/>
          </a:xfrm>
          <a:prstGeom prst="roundRect">
            <a:avLst>
              <a:gd name="adj" fmla="val 5455"/>
            </a:avLst>
          </a:prstGeom>
          <a:solidFill>
            <a:srgbClr val="1E1A3F"/>
          </a:solidFill>
          <a:ln w="19050">
            <a:solidFill>
              <a:srgbClr val="FF6B57"/>
            </a:solidFill>
            <a:prstDash val="solid"/>
          </a:ln>
        </p:spPr>
      </p:sp>
      <p:sp>
        <p:nvSpPr>
          <p:cNvPr id="22" name="text_406"/>
          <p:cNvSpPr txBox="1"/>
          <p:nvPr/>
        </p:nvSpPr>
        <p:spPr>
          <a:xfrm>
            <a:off x="5184648" y="2907792"/>
            <a:ext cx="1828800" cy="365760"/>
          </a:xfrm>
          <a:prstGeom prst="rect">
            <a:avLst/>
          </a:prstGeom>
          <a:noFill/>
          <a:ln/>
        </p:spPr>
        <p:txBody>
          <a:bodyPr wrap="square" lIns="0" tIns="0" rIns="0" bIns="0" rtlCol="0" anchor="t"/>
          <a:lstStyle/>
          <a:p>
            <a:pPr indent="0" marL="0">
              <a:buNone/>
            </a:pPr>
            <a:r>
              <a:rPr lang="en-US" sz="1700" b="1" dirty="0">
                <a:solidFill>
                  <a:schemeClr val="bg1"/>
                </a:solidFill>
              </a:rPr>
              <a:t>Review 2</a:t>
            </a:r>
            <a:endParaRPr lang="en-US" sz="1700" dirty="0"/>
          </a:p>
        </p:txBody>
      </p:sp>
      <p:sp>
        <p:nvSpPr>
          <p:cNvPr id="23" name="text_407"/>
          <p:cNvSpPr txBox="1"/>
          <p:nvPr/>
        </p:nvSpPr>
        <p:spPr>
          <a:xfrm>
            <a:off x="5184648" y="3364992"/>
            <a:ext cx="1828800" cy="12801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C9CDEB"/>
                </a:solidFill>
              </a:rPr>
              <a:t>Architecture + demo</a:t>
            </a:r>
            <a:endParaRPr lang="en-US" sz="1300" dirty="0"/>
          </a:p>
          <a:p>
            <a:pPr marL="152400" indent="-152400">
              <a:spcAft>
                <a:spcPts val="600"/>
              </a:spcAft>
              <a:buSzPct val="100000"/>
              <a:buChar char="•"/>
            </a:pPr>
            <a:r>
              <a:rPr lang="en-US" sz="1300" dirty="0">
                <a:solidFill>
                  <a:srgbClr val="C9CDEB"/>
                </a:solidFill>
              </a:rPr>
              <a:t>Approval to upload</a:t>
            </a:r>
            <a:endParaRPr lang="en-US" sz="1300" dirty="0"/>
          </a:p>
        </p:txBody>
      </p:sp>
      <p:sp>
        <p:nvSpPr>
          <p:cNvPr id="24" name="text_408"/>
          <p:cNvSpPr txBox="1"/>
          <p:nvPr/>
        </p:nvSpPr>
        <p:spPr>
          <a:xfrm>
            <a:off x="7315200" y="1463040"/>
            <a:ext cx="2011680" cy="274320"/>
          </a:xfrm>
          <a:prstGeom prst="rect">
            <a:avLst/>
          </a:prstGeom>
          <a:noFill/>
          <a:ln/>
        </p:spPr>
        <p:txBody>
          <a:bodyPr wrap="square" lIns="0" tIns="0" rIns="0" bIns="0" rtlCol="0" anchor="t"/>
          <a:lstStyle/>
          <a:p>
            <a:pPr algn="ctr" indent="0" marL="0">
              <a:buNone/>
            </a:pPr>
            <a:r>
              <a:rPr lang="en-US" sz="1100" b="1" spc="100" kern="0" dirty="0">
                <a:solidFill>
                  <a:schemeClr val="accent1"/>
                </a:solidFill>
              </a:rPr>
              <a:t>NEXT</a:t>
            </a:r>
            <a:endParaRPr lang="en-US" sz="1100" dirty="0"/>
          </a:p>
        </p:txBody>
      </p:sp>
      <p:sp>
        <p:nvSpPr>
          <p:cNvPr id="25" name="dot_409"/>
          <p:cNvSpPr/>
          <p:nvPr/>
        </p:nvSpPr>
        <p:spPr>
          <a:xfrm>
            <a:off x="8119872" y="2039112"/>
            <a:ext cx="402336" cy="402336"/>
          </a:xfrm>
          <a:prstGeom prst="ellipse">
            <a:avLst/>
          </a:prstGeom>
          <a:solidFill>
            <a:schemeClr val="tx1"/>
          </a:solidFill>
          <a:ln w="31750">
            <a:solidFill>
              <a:schemeClr val="accent1"/>
            </a:solidFill>
            <a:prstDash val="solid"/>
          </a:ln>
        </p:spPr>
      </p:sp>
      <p:sp>
        <p:nvSpPr>
          <p:cNvPr id="26" name="phase_card_410"/>
          <p:cNvSpPr/>
          <p:nvPr/>
        </p:nvSpPr>
        <p:spPr>
          <a:xfrm>
            <a:off x="7269480" y="2743200"/>
            <a:ext cx="2103120" cy="2011680"/>
          </a:xfrm>
          <a:prstGeom prst="roundRect">
            <a:avLst>
              <a:gd name="adj" fmla="val 5455"/>
            </a:avLst>
          </a:prstGeom>
          <a:solidFill>
            <a:schemeClr val="tx2"/>
          </a:solidFill>
          <a:ln w="9525">
            <a:solidFill>
              <a:srgbClr val="2B3470"/>
            </a:solidFill>
            <a:prstDash val="solid"/>
          </a:ln>
        </p:spPr>
      </p:sp>
      <p:sp>
        <p:nvSpPr>
          <p:cNvPr id="27" name="text_411"/>
          <p:cNvSpPr txBox="1"/>
          <p:nvPr/>
        </p:nvSpPr>
        <p:spPr>
          <a:xfrm>
            <a:off x="7424928" y="2907792"/>
            <a:ext cx="1828800" cy="365760"/>
          </a:xfrm>
          <a:prstGeom prst="rect">
            <a:avLst/>
          </a:prstGeom>
          <a:noFill/>
          <a:ln/>
        </p:spPr>
        <p:txBody>
          <a:bodyPr wrap="square" lIns="0" tIns="0" rIns="0" bIns="0" rtlCol="0" anchor="t"/>
          <a:lstStyle/>
          <a:p>
            <a:pPr indent="0" marL="0">
              <a:buNone/>
            </a:pPr>
            <a:r>
              <a:rPr lang="en-US" sz="1700" b="1" dirty="0">
                <a:solidFill>
                  <a:schemeClr val="bg1"/>
                </a:solidFill>
              </a:rPr>
              <a:t>Publish</a:t>
            </a:r>
            <a:endParaRPr lang="en-US" sz="1700" dirty="0"/>
          </a:p>
        </p:txBody>
      </p:sp>
      <p:sp>
        <p:nvSpPr>
          <p:cNvPr id="28" name="text_412"/>
          <p:cNvSpPr txBox="1"/>
          <p:nvPr/>
        </p:nvSpPr>
        <p:spPr>
          <a:xfrm>
            <a:off x="7424928" y="3364992"/>
            <a:ext cx="1828800" cy="12801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C9CDEB"/>
                </a:solidFill>
              </a:rPr>
              <a:t>Upload source files</a:t>
            </a:r>
            <a:endParaRPr lang="en-US" sz="1300" dirty="0"/>
          </a:p>
          <a:p>
            <a:pPr marL="152400" indent="-152400">
              <a:spcAft>
                <a:spcPts val="600"/>
              </a:spcAft>
              <a:buSzPct val="100000"/>
              <a:buChar char="•"/>
            </a:pPr>
            <a:r>
              <a:rPr lang="en-US" sz="1300" dirty="0">
                <a:solidFill>
                  <a:srgbClr val="C9CDEB"/>
                </a:solidFill>
              </a:rPr>
              <a:t>GitHub + live demo link</a:t>
            </a:r>
            <a:endParaRPr lang="en-US" sz="1300" dirty="0"/>
          </a:p>
        </p:txBody>
      </p:sp>
      <p:sp>
        <p:nvSpPr>
          <p:cNvPr id="29" name="text_413"/>
          <p:cNvSpPr txBox="1"/>
          <p:nvPr/>
        </p:nvSpPr>
        <p:spPr>
          <a:xfrm>
            <a:off x="9555480" y="1463040"/>
            <a:ext cx="2011680" cy="274320"/>
          </a:xfrm>
          <a:prstGeom prst="rect">
            <a:avLst/>
          </a:prstGeom>
          <a:noFill/>
          <a:ln/>
        </p:spPr>
        <p:txBody>
          <a:bodyPr wrap="square" lIns="0" tIns="0" rIns="0" bIns="0" rtlCol="0" anchor="t"/>
          <a:lstStyle/>
          <a:p>
            <a:pPr algn="ctr" indent="0" marL="0">
              <a:buNone/>
            </a:pPr>
            <a:r>
              <a:rPr lang="en-US" sz="1100" b="1" spc="100" kern="0" dirty="0">
                <a:solidFill>
                  <a:schemeClr val="accent1"/>
                </a:solidFill>
              </a:rPr>
              <a:t>LATER</a:t>
            </a:r>
            <a:endParaRPr lang="en-US" sz="1100" dirty="0"/>
          </a:p>
        </p:txBody>
      </p:sp>
      <p:sp>
        <p:nvSpPr>
          <p:cNvPr id="30" name="dot_414"/>
          <p:cNvSpPr/>
          <p:nvPr/>
        </p:nvSpPr>
        <p:spPr>
          <a:xfrm>
            <a:off x="10360152" y="2039112"/>
            <a:ext cx="402336" cy="402336"/>
          </a:xfrm>
          <a:prstGeom prst="ellipse">
            <a:avLst/>
          </a:prstGeom>
          <a:solidFill>
            <a:schemeClr val="tx1"/>
          </a:solidFill>
          <a:ln w="31750">
            <a:solidFill>
              <a:schemeClr val="accent1"/>
            </a:solidFill>
            <a:prstDash val="solid"/>
          </a:ln>
        </p:spPr>
      </p:sp>
      <p:sp>
        <p:nvSpPr>
          <p:cNvPr id="31" name="phase_card_415"/>
          <p:cNvSpPr/>
          <p:nvPr/>
        </p:nvSpPr>
        <p:spPr>
          <a:xfrm>
            <a:off x="9509760" y="2743200"/>
            <a:ext cx="2103120" cy="2011680"/>
          </a:xfrm>
          <a:prstGeom prst="roundRect">
            <a:avLst>
              <a:gd name="adj" fmla="val 5455"/>
            </a:avLst>
          </a:prstGeom>
          <a:solidFill>
            <a:schemeClr val="tx2"/>
          </a:solidFill>
          <a:ln w="9525">
            <a:solidFill>
              <a:srgbClr val="2B3470"/>
            </a:solidFill>
            <a:prstDash val="solid"/>
          </a:ln>
        </p:spPr>
      </p:sp>
      <p:sp>
        <p:nvSpPr>
          <p:cNvPr id="32" name="text_416"/>
          <p:cNvSpPr txBox="1"/>
          <p:nvPr/>
        </p:nvSpPr>
        <p:spPr>
          <a:xfrm>
            <a:off x="9665208" y="2907792"/>
            <a:ext cx="1828800" cy="365760"/>
          </a:xfrm>
          <a:prstGeom prst="rect">
            <a:avLst/>
          </a:prstGeom>
          <a:noFill/>
          <a:ln/>
        </p:spPr>
        <p:txBody>
          <a:bodyPr wrap="square" lIns="0" tIns="0" rIns="0" bIns="0" rtlCol="0" anchor="t"/>
          <a:lstStyle/>
          <a:p>
            <a:pPr indent="0" marL="0">
              <a:buNone/>
            </a:pPr>
            <a:r>
              <a:rPr lang="en-US" sz="1700" b="1" dirty="0">
                <a:solidFill>
                  <a:schemeClr val="bg1"/>
                </a:solidFill>
              </a:rPr>
              <a:t>Extend</a:t>
            </a:r>
            <a:endParaRPr lang="en-US" sz="1700" dirty="0"/>
          </a:p>
        </p:txBody>
      </p:sp>
      <p:sp>
        <p:nvSpPr>
          <p:cNvPr id="33" name="text_417"/>
          <p:cNvSpPr txBox="1"/>
          <p:nvPr/>
        </p:nvSpPr>
        <p:spPr>
          <a:xfrm>
            <a:off x="9665208" y="3364992"/>
            <a:ext cx="1828800" cy="12801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C9CDEB"/>
                </a:solidFill>
              </a:rPr>
              <a:t>Email / WhatsApp alerts</a:t>
            </a:r>
            <a:endParaRPr lang="en-US" sz="1300" dirty="0"/>
          </a:p>
          <a:p>
            <a:pPr marL="152400" indent="-152400">
              <a:spcAft>
                <a:spcPts val="600"/>
              </a:spcAft>
              <a:buSzPct val="100000"/>
              <a:buChar char="•"/>
            </a:pPr>
            <a:r>
              <a:rPr lang="en-US" sz="1300" dirty="0">
                <a:solidFill>
                  <a:srgbClr val="C9CDEB"/>
                </a:solidFill>
              </a:rPr>
              <a:t>Multi-user login</a:t>
            </a:r>
            <a:endParaRPr lang="en-US" sz="1300" dirty="0"/>
          </a:p>
        </p:txBody>
      </p:sp>
      <p:sp>
        <p:nvSpPr>
          <p:cNvPr id="34" name="close_418"/>
          <p:cNvSpPr/>
          <p:nvPr/>
        </p:nvSpPr>
        <p:spPr>
          <a:xfrm>
            <a:off x="548640" y="5029200"/>
            <a:ext cx="11064240" cy="1097280"/>
          </a:xfrm>
          <a:prstGeom prst="roundRect">
            <a:avLst>
              <a:gd name="adj" fmla="val 13333"/>
            </a:avLst>
          </a:prstGeom>
          <a:solidFill>
            <a:schemeClr val="accent1">
              <a:alpha val="90000"/>
            </a:schemeClr>
          </a:solidFill>
          <a:ln/>
        </p:spPr>
      </p:sp>
      <p:pic>
        <p:nvPicPr>
          <p:cNvPr id="35" name="close_logo" descr="/tmp/claude-0/-home-claude/584731ee-e493-5c78-a637-0b254e057472/scratchpad/deck/img/logo.png">    </p:cNvPr>
          <p:cNvPicPr>
            <a:picLocks noChangeAspect="1"/>
          </p:cNvPicPr>
          <p:nvPr/>
        </p:nvPicPr>
        <p:blipFill>
          <a:blip r:embed="rId3"/>
          <a:stretch>
            <a:fillRect/>
          </a:stretch>
        </p:blipFill>
        <p:spPr>
          <a:xfrm>
            <a:off x="822960" y="5193792"/>
            <a:ext cx="768096" cy="768096"/>
          </a:xfrm>
          <a:prstGeom prst="rect">
            <a:avLst/>
          </a:prstGeom>
        </p:spPr>
      </p:pic>
      <p:sp>
        <p:nvSpPr>
          <p:cNvPr id="36" name="text_419"/>
          <p:cNvSpPr txBox="1"/>
          <p:nvPr/>
        </p:nvSpPr>
        <p:spPr>
          <a:xfrm>
            <a:off x="1783080" y="5138928"/>
            <a:ext cx="5486400" cy="502920"/>
          </a:xfrm>
          <a:prstGeom prst="rect">
            <a:avLst/>
          </a:prstGeom>
          <a:noFill/>
          <a:ln/>
        </p:spPr>
        <p:txBody>
          <a:bodyPr wrap="square" lIns="0" tIns="0" rIns="0" bIns="0" rtlCol="0" anchor="ctr"/>
          <a:lstStyle/>
          <a:p>
            <a:pPr indent="0" marL="0">
              <a:buNone/>
            </a:pPr>
            <a:r>
              <a:rPr lang="en-US" sz="2600" b="1" dirty="0">
                <a:solidFill>
                  <a:schemeClr val="bg1"/>
                </a:solidFill>
              </a:rPr>
              <a:t>Thank you · Questions?</a:t>
            </a:r>
            <a:endParaRPr lang="en-US" sz="2600" dirty="0"/>
          </a:p>
        </p:txBody>
      </p:sp>
      <p:sp>
        <p:nvSpPr>
          <p:cNvPr id="37" name="text_420"/>
          <p:cNvSpPr txBox="1"/>
          <p:nvPr/>
        </p:nvSpPr>
        <p:spPr>
          <a:xfrm>
            <a:off x="1783080" y="5623560"/>
            <a:ext cx="5486400" cy="365760"/>
          </a:xfrm>
          <a:prstGeom prst="rect">
            <a:avLst/>
          </a:prstGeom>
          <a:noFill/>
          <a:ln/>
        </p:spPr>
        <p:txBody>
          <a:bodyPr wrap="square" lIns="0" tIns="0" rIns="0" bIns="0" rtlCol="0" anchor="t"/>
          <a:lstStyle/>
          <a:p>
            <a:pPr indent="0" marL="0">
              <a:buNone/>
            </a:pPr>
            <a:r>
              <a:rPr lang="en-US" sz="1500" i="1" dirty="0">
                <a:solidFill>
                  <a:srgbClr val="E0E1FF"/>
                </a:solidFill>
              </a:rPr>
              <a:t>Less chaos. More life.</a:t>
            </a:r>
            <a:endParaRPr lang="en-US" sz="1500" dirty="0"/>
          </a:p>
        </p:txBody>
      </p:sp>
      <p:sp>
        <p:nvSpPr>
          <p:cNvPr id="38" name="text_421"/>
          <p:cNvSpPr txBox="1"/>
          <p:nvPr/>
        </p:nvSpPr>
        <p:spPr>
          <a:xfrm>
            <a:off x="7589520" y="5029200"/>
            <a:ext cx="3840480" cy="1097280"/>
          </a:xfrm>
          <a:prstGeom prst="rect">
            <a:avLst/>
          </a:prstGeom>
          <a:noFill/>
          <a:ln/>
        </p:spPr>
        <p:txBody>
          <a:bodyPr wrap="square" lIns="0" tIns="0" rIns="0" bIns="0" rtlCol="0" anchor="ctr"/>
          <a:lstStyle/>
          <a:p>
            <a:pPr algn="r" indent="0" marL="0">
              <a:buNone/>
            </a:pPr>
            <a:r>
              <a:rPr lang="en-US" sz="1300" dirty="0">
                <a:solidFill>
                  <a:srgbClr val="E0E1FF"/>
                </a:solidFill>
                <a:latin typeface="Courier New" pitchFamily="34" charset="0"/>
                <a:ea typeface="Courier New" pitchFamily="34" charset="-122"/>
                <a:cs typeface="Courier New" pitchFamily="34" charset="-120"/>
              </a:rPr>
              <a:t>Run it: streamlit run app.py</a:t>
            </a:r>
            <a:endParaRPr lang="en-US" sz="1300" dirty="0"/>
          </a:p>
        </p:txBody>
      </p:sp>
      <p:sp>
        <p:nvSpPr>
          <p:cNvPr id="25" name="Slide Number Placeholder 0"/>
          <p:cNvSpPr>
            <a:spLocks noGrp="1"/>
          </p:cNvSpPr>
          <p:nvPr>
            <p:ph type="sldNum" sz="quarter" idx="4294967295"/>
          </p:nvPr>
        </p:nvSpPr>
        <p:spPr>
          <a:xfrm>
            <a:off x="11109960" y="6355080"/>
            <a:ext cx="5303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LifeAdmin Night">
  <a:themeElements>
    <a:clrScheme name="LifeAdmin Night">
      <a:dk1>
        <a:srgbClr val="070B1F"/>
      </a:dk1>
      <a:lt1>
        <a:srgbClr val="FFFFFF"/>
      </a:lt1>
      <a:dk2>
        <a:srgbClr val="121A44"/>
      </a:dk2>
      <a:lt2>
        <a:srgbClr val="A3ABD1"/>
      </a:lt2>
      <a:accent1>
        <a:srgbClr val="5B5EF4"/>
      </a:accent1>
      <a:accent2>
        <a:srgbClr val="FF6B57"/>
      </a:accent2>
      <a:accent3>
        <a:srgbClr val="22C55E"/>
      </a:accent3>
      <a:accent4>
        <a:srgbClr val="F5A524"/>
      </a:accent4>
      <a:accent5>
        <a:srgbClr val="EF4444"/>
      </a:accent5>
      <a:accent6>
        <a:srgbClr val="14B8A6"/>
      </a:accent6>
      <a:hlink>
        <a:srgbClr val="8F94FF"/>
      </a:hlink>
      <a:folHlink>
        <a:srgbClr val="7C7FFA"/>
      </a:folHlink>
    </a:clrScheme>
    <a:fontScheme name="LifeAdmin N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LifeAdmin — Project Review 2</dc:title>
  <dc:subject>Architecture, website roadmap and code</dc:subject>
  <dc:creator>A. Adityavardhan Reddy</dc:creator>
  <cp:lastModifiedBy>A. Adityavardhan Reddy</cp:lastModifiedBy>
  <cp:revision>1</cp:revision>
  <dcterms:created xsi:type="dcterms:W3CDTF">2026-10-15T07:51:37Z</dcterms:created>
  <dcterms:modified xsi:type="dcterms:W3CDTF">2026-10-15T07:51:37Z</dcterms:modified>
</cp:coreProperties>
</file>